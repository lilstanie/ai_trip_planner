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Group 14 from the Monday 10 to 12 class, and this is AI Trip Planner, a one-person AI travel agency.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UC-A1 turns one free-text message into a validated plan. The LLM acts three times: it extracts the stated facts, the supervisor delegates to specialists, and it writes the reply. Code fences each step: the Zod contract validates the brief, a missing fact ends the turn with one question instead of a default, and at most three revision rounds run, each kept only if the plan score improves.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UC-B1 arranges flights and moves between cities. The transport LLM only selects offered flight ids and a departure slot for each hop. Code then checks every choice against the evidence, one fare per hop, day bounds and route fit, and takes prices and durations from the providers. A missing fare stays unknown, never free, and an invalid choice falls back to a deterministic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C owns accommodation and budget. The ad hoc requirement: the hotel must fit the money left after flights, a budget overrun should swap to a cheaper hotel that still meets the traveller's rules, and an impossible budget should name the minimum. That gave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collaboration shows roles, not classes: the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diagram shows an overrun: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machine follows the accommodation section through one turn, and maps its internal states onto the three statuses the traveller sees.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UC-D1 shows both specialists working from evidence: the guide uses map coordinates and weather data; dining uses restaurant candidates and confirmed dietary preferences. The LLM drafts guidance, while deterministic code validates its output and budget. Forecasts are distinguished from climate context, and unavailable weather is disclosed.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UC-E1 edits an existing trip through the timeline or map while keeping routes, budget and uncertain prices visible. Timeline and map operations go to a deterministic preview endpoint, which validates the schema and version, checks routes and conflicts, recalculates costs, and marks changed prices as unverified. The chat LLM can update the brief or replan, but it does not create an edit request. The state machine ends in Applied only after the browser accepts the validated preview.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8.png"/><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2.pn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2.png"/><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cxnSp>
        <p:nvCxnSpPr>
          <p:cNvPr id="2" name="Connector 1"/>
          <p:cNvCxnSpPr/>
          <p:nvPr/>
        </p:nvCxnSpPr>
        <p:spPr>
          <a:xfrm flipV="1">
            <a:off x="8138160" y="777240"/>
            <a:ext cx="1234440" cy="36576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372600" y="777240"/>
            <a:ext cx="1188720" cy="6858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9692640" y="1463040"/>
            <a:ext cx="868680" cy="86868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0" y="2331720"/>
            <a:ext cx="1325880" cy="4572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7936992" y="941832"/>
            <a:ext cx="402336" cy="402336"/>
          </a:xfrm>
          <a:prstGeom prst="ellipse">
            <a:avLst/>
          </a:prstGeom>
          <a:solidFill>
            <a:srgbClr val="1F7A8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A</a:t>
            </a:r>
          </a:p>
        </p:txBody>
      </p:sp>
      <p:sp>
        <p:nvSpPr>
          <p:cNvPr id="7" name="Oval 6"/>
          <p:cNvSpPr/>
          <p:nvPr/>
        </p:nvSpPr>
        <p:spPr>
          <a:xfrm>
            <a:off x="9171432" y="576072"/>
            <a:ext cx="402336" cy="402336"/>
          </a:xfrm>
          <a:prstGeom prst="ellipse">
            <a:avLst/>
          </a:prstGeom>
          <a:solidFill>
            <a:srgbClr val="6B4F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8" name="Oval 7"/>
          <p:cNvSpPr/>
          <p:nvPr/>
        </p:nvSpPr>
        <p:spPr>
          <a:xfrm>
            <a:off x="10360152" y="1261872"/>
            <a:ext cx="402336" cy="402336"/>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C</a:t>
            </a:r>
          </a:p>
        </p:txBody>
      </p:sp>
      <p:sp>
        <p:nvSpPr>
          <p:cNvPr id="9" name="Oval 8"/>
          <p:cNvSpPr/>
          <p:nvPr/>
        </p:nvSpPr>
        <p:spPr>
          <a:xfrm>
            <a:off x="9491472" y="2130551"/>
            <a:ext cx="402336" cy="402336"/>
          </a:xfrm>
          <a:prstGeom prst="ellipse">
            <a:avLst/>
          </a:prstGeom>
          <a:solidFill>
            <a:srgbClr val="2E7D4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D</a:t>
            </a:r>
          </a:p>
        </p:txBody>
      </p:sp>
      <p:sp>
        <p:nvSpPr>
          <p:cNvPr id="10" name="Oval 9"/>
          <p:cNvSpPr/>
          <p:nvPr/>
        </p:nvSpPr>
        <p:spPr>
          <a:xfrm>
            <a:off x="10817352" y="2587751"/>
            <a:ext cx="402336" cy="402336"/>
          </a:xfrm>
          <a:prstGeom prst="ellipse">
            <a:avLst/>
          </a:prstGeom>
          <a:solidFill>
            <a:srgbClr val="2F5DA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E</a:t>
            </a:r>
          </a:p>
        </p:txBody>
      </p:sp>
      <p:sp>
        <p:nvSpPr>
          <p:cNvPr id="11" name="TextBox 10"/>
          <p:cNvSpPr txBox="1"/>
          <p:nvPr/>
        </p:nvSpPr>
        <p:spPr>
          <a:xfrm>
            <a:off x="822960" y="1600200"/>
            <a:ext cx="73152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ELEC5620  ·  STAGE 1  ·  MON 10-12 GROUP 14</a:t>
            </a:r>
          </a:p>
        </p:txBody>
      </p:sp>
      <p:sp>
        <p:nvSpPr>
          <p:cNvPr id="12" name="TextBox 11"/>
          <p:cNvSpPr txBox="1"/>
          <p:nvPr/>
        </p:nvSpPr>
        <p:spPr>
          <a:xfrm>
            <a:off x="822960" y="2011680"/>
            <a:ext cx="8229600" cy="1005840"/>
          </a:xfrm>
          <a:prstGeom prst="rect">
            <a:avLst/>
          </a:prstGeom>
          <a:noFill/>
        </p:spPr>
        <p:txBody>
          <a:bodyPr wrap="square" lIns="0" rIns="0" tIns="0" bIns="0" anchor="t">
            <a:spAutoFit/>
          </a:bodyPr>
          <a:lstStyle/>
          <a:p>
            <a:pPr algn="l">
              <a:lnSpc>
                <a:spcPct val="115000"/>
              </a:lnSpc>
              <a:spcAft>
                <a:spcPts val="0"/>
              </a:spcAft>
            </a:pPr>
            <a:r>
              <a:rPr sz="6000" b="1" i="0">
                <a:solidFill>
                  <a:srgbClr val="FFFFFF"/>
                </a:solidFill>
                <a:latin typeface="Georgia"/>
              </a:rPr>
              <a:t>AI Trip Planner</a:t>
            </a:r>
          </a:p>
        </p:txBody>
      </p:sp>
      <p:sp>
        <p:nvSpPr>
          <p:cNvPr id="13" name="Rectangle 12"/>
          <p:cNvSpPr/>
          <p:nvPr/>
        </p:nvSpPr>
        <p:spPr>
          <a:xfrm>
            <a:off x="841248" y="3127248"/>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383280"/>
            <a:ext cx="7863840" cy="731520"/>
          </a:xfrm>
          <a:prstGeom prst="rect">
            <a:avLst/>
          </a:prstGeom>
          <a:noFill/>
        </p:spPr>
        <p:txBody>
          <a:bodyPr wrap="square" lIns="0" rIns="0" tIns="0" bIns="0" anchor="t">
            <a:spAutoFit/>
          </a:bodyPr>
          <a:lstStyle/>
          <a:p>
            <a:pPr algn="l">
              <a:lnSpc>
                <a:spcPct val="115000"/>
              </a:lnSpc>
              <a:spcAft>
                <a:spcPts val="0"/>
              </a:spcAft>
            </a:pPr>
            <a:r>
              <a:rPr sz="1800" b="0" i="0">
                <a:solidFill>
                  <a:srgbClr val="C9D3E3"/>
                </a:solidFill>
                <a:latin typeface="Arial"/>
              </a:rPr>
              <a:t>A one-person AI travel agency: seven AI roles plan a trip together, one human runs the company.</a:t>
            </a:r>
          </a:p>
        </p:txBody>
      </p:sp>
      <p:sp>
        <p:nvSpPr>
          <p:cNvPr id="15" name="Rounded Rectangle 14"/>
          <p:cNvSpPr/>
          <p:nvPr/>
        </p:nvSpPr>
        <p:spPr>
          <a:xfrm>
            <a:off x="822960"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4617720"/>
            <a:ext cx="2032345" cy="64008"/>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05840" y="4846320"/>
            <a:ext cx="329184" cy="329184"/>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8" name="TextBox 17"/>
          <p:cNvSpPr txBox="1"/>
          <p:nvPr/>
        </p:nvSpPr>
        <p:spPr>
          <a:xfrm>
            <a:off x="1426464"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Ziqi He</a:t>
            </a:r>
          </a:p>
        </p:txBody>
      </p:sp>
      <p:sp>
        <p:nvSpPr>
          <p:cNvPr id="19" name="TextBox 18"/>
          <p:cNvSpPr txBox="1"/>
          <p:nvPr/>
        </p:nvSpPr>
        <p:spPr>
          <a:xfrm>
            <a:off x="1005840"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Orchestrator</a:t>
            </a:r>
          </a:p>
        </p:txBody>
      </p:sp>
      <p:sp>
        <p:nvSpPr>
          <p:cNvPr id="20" name="Rounded Rectangle 19"/>
          <p:cNvSpPr/>
          <p:nvPr/>
        </p:nvSpPr>
        <p:spPr>
          <a:xfrm>
            <a:off x="3019897"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019897" y="4617720"/>
            <a:ext cx="2032345"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02777" y="4846320"/>
            <a:ext cx="329184" cy="329184"/>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23" name="TextBox 22"/>
          <p:cNvSpPr txBox="1"/>
          <p:nvPr/>
        </p:nvSpPr>
        <p:spPr>
          <a:xfrm>
            <a:off x="3623401"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Tingsong Jin</a:t>
            </a:r>
          </a:p>
        </p:txBody>
      </p:sp>
      <p:sp>
        <p:nvSpPr>
          <p:cNvPr id="24" name="TextBox 23"/>
          <p:cNvSpPr txBox="1"/>
          <p:nvPr/>
        </p:nvSpPr>
        <p:spPr>
          <a:xfrm>
            <a:off x="3202777"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Itinerary and transport</a:t>
            </a:r>
          </a:p>
        </p:txBody>
      </p:sp>
      <p:sp>
        <p:nvSpPr>
          <p:cNvPr id="25" name="Rounded Rectangle 24"/>
          <p:cNvSpPr/>
          <p:nvPr/>
        </p:nvSpPr>
        <p:spPr>
          <a:xfrm>
            <a:off x="5216834"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216834" y="4617720"/>
            <a:ext cx="2032345"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99714" y="4846320"/>
            <a:ext cx="329184" cy="329184"/>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28" name="TextBox 27"/>
          <p:cNvSpPr txBox="1"/>
          <p:nvPr/>
        </p:nvSpPr>
        <p:spPr>
          <a:xfrm>
            <a:off x="5820338"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Yi Qiao</a:t>
            </a:r>
          </a:p>
        </p:txBody>
      </p:sp>
      <p:sp>
        <p:nvSpPr>
          <p:cNvPr id="29" name="TextBox 28"/>
          <p:cNvSpPr txBox="1"/>
          <p:nvPr/>
        </p:nvSpPr>
        <p:spPr>
          <a:xfrm>
            <a:off x="5399714"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Accommodation and budget</a:t>
            </a:r>
          </a:p>
        </p:txBody>
      </p:sp>
      <p:sp>
        <p:nvSpPr>
          <p:cNvPr id="30" name="Rounded Rectangle 29"/>
          <p:cNvSpPr/>
          <p:nvPr/>
        </p:nvSpPr>
        <p:spPr>
          <a:xfrm>
            <a:off x="7413772"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13772" y="4617720"/>
            <a:ext cx="2032345"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596652" y="4846320"/>
            <a:ext cx="329184" cy="329184"/>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33" name="TextBox 32"/>
          <p:cNvSpPr txBox="1"/>
          <p:nvPr/>
        </p:nvSpPr>
        <p:spPr>
          <a:xfrm>
            <a:off x="8017276"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Jiahang Bian</a:t>
            </a:r>
          </a:p>
        </p:txBody>
      </p:sp>
      <p:sp>
        <p:nvSpPr>
          <p:cNvPr id="34" name="TextBox 33"/>
          <p:cNvSpPr txBox="1"/>
          <p:nvPr/>
        </p:nvSpPr>
        <p:spPr>
          <a:xfrm>
            <a:off x="7596652"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Destination and dining</a:t>
            </a:r>
          </a:p>
        </p:txBody>
      </p:sp>
      <p:sp>
        <p:nvSpPr>
          <p:cNvPr id="35" name="Rounded Rectangle 34"/>
          <p:cNvSpPr/>
          <p:nvPr/>
        </p:nvSpPr>
        <p:spPr>
          <a:xfrm>
            <a:off x="9610709"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610709" y="4617720"/>
            <a:ext cx="2032345" cy="64008"/>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793589" y="4846320"/>
            <a:ext cx="329184" cy="329184"/>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
        <p:nvSpPr>
          <p:cNvPr id="38" name="TextBox 37"/>
          <p:cNvSpPr txBox="1"/>
          <p:nvPr/>
        </p:nvSpPr>
        <p:spPr>
          <a:xfrm>
            <a:off x="10214213"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Weihao Wang</a:t>
            </a:r>
          </a:p>
        </p:txBody>
      </p:sp>
      <p:sp>
        <p:nvSpPr>
          <p:cNvPr id="39" name="TextBox 38"/>
          <p:cNvSpPr txBox="1"/>
          <p:nvPr/>
        </p:nvSpPr>
        <p:spPr>
          <a:xfrm>
            <a:off x="9793589"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THE PROBLEM</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Every travel choice constrains the others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02 / 24</a:t>
            </a:r>
          </a:p>
        </p:txBody>
      </p:sp>
      <p:sp>
        <p:nvSpPr>
          <p:cNvPr id="8" name="Rounded Rectangle 7"/>
          <p:cNvSpPr/>
          <p:nvPr/>
        </p:nvSpPr>
        <p:spPr>
          <a:xfrm>
            <a:off x="548640"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14400"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ayers-14213D.png"/>
          <p:cNvPicPr>
            <a:picLocks noChangeAspect="1"/>
          </p:cNvPicPr>
          <p:nvPr/>
        </p:nvPicPr>
        <p:blipFill>
          <a:blip r:embed="rId3"/>
          <a:stretch>
            <a:fillRect/>
          </a:stretch>
        </p:blipFill>
        <p:spPr>
          <a:xfrm>
            <a:off x="1097280" y="2212848"/>
            <a:ext cx="457200" cy="457200"/>
          </a:xfrm>
          <a:prstGeom prst="rect">
            <a:avLst/>
          </a:prstGeom>
        </p:spPr>
      </p:pic>
      <p:sp>
        <p:nvSpPr>
          <p:cNvPr id="11" name="TextBox 10"/>
          <p:cNvSpPr txBox="1"/>
          <p:nvPr/>
        </p:nvSpPr>
        <p:spPr>
          <a:xfrm>
            <a:off x="914400"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Too many sites</a:t>
            </a:r>
          </a:p>
        </p:txBody>
      </p:sp>
      <p:sp>
        <p:nvSpPr>
          <p:cNvPr id="12" name="TextBox 11"/>
          <p:cNvSpPr txBox="1"/>
          <p:nvPr/>
        </p:nvSpPr>
        <p:spPr>
          <a:xfrm>
            <a:off x="914400"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Flights, hotels, maps, food blogs and a budget spreadsheet, each on its own.</a:t>
            </a:r>
          </a:p>
        </p:txBody>
      </p:sp>
      <p:sp>
        <p:nvSpPr>
          <p:cNvPr id="13" name="Rounded Rectangle 12"/>
          <p:cNvSpPr/>
          <p:nvPr/>
        </p:nvSpPr>
        <p:spPr>
          <a:xfrm>
            <a:off x="4322978"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688738"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ot-14213D.png"/>
          <p:cNvPicPr>
            <a:picLocks noChangeAspect="1"/>
          </p:cNvPicPr>
          <p:nvPr/>
        </p:nvPicPr>
        <p:blipFill>
          <a:blip r:embed="rId4"/>
          <a:stretch>
            <a:fillRect/>
          </a:stretch>
        </p:blipFill>
        <p:spPr>
          <a:xfrm>
            <a:off x="4871618" y="2212848"/>
            <a:ext cx="457200" cy="457200"/>
          </a:xfrm>
          <a:prstGeom prst="rect">
            <a:avLst/>
          </a:prstGeom>
        </p:spPr>
      </p:pic>
      <p:sp>
        <p:nvSpPr>
          <p:cNvPr id="16" name="TextBox 15"/>
          <p:cNvSpPr txBox="1"/>
          <p:nvPr/>
        </p:nvSpPr>
        <p:spPr>
          <a:xfrm>
            <a:off x="4688738"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Chatbots invent facts</a:t>
            </a:r>
          </a:p>
        </p:txBody>
      </p:sp>
      <p:sp>
        <p:nvSpPr>
          <p:cNvPr id="17" name="TextBox 16"/>
          <p:cNvSpPr txBox="1"/>
          <p:nvPr/>
        </p:nvSpPr>
        <p:spPr>
          <a:xfrm>
            <a:off x="4688738"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One model writes a nice itinerary with made-up prices, and never checks that the parts fit.</a:t>
            </a:r>
          </a:p>
        </p:txBody>
      </p:sp>
      <p:sp>
        <p:nvSpPr>
          <p:cNvPr id="18" name="Rounded Rectangle 17"/>
          <p:cNvSpPr/>
          <p:nvPr/>
        </p:nvSpPr>
        <p:spPr>
          <a:xfrm>
            <a:off x="8097316" y="1664208"/>
            <a:ext cx="3545738" cy="4206240"/>
          </a:xfrm>
          <a:prstGeom prst="roundRect">
            <a:avLst>
              <a:gd name="adj" fmla="val 309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463076" y="2029968"/>
            <a:ext cx="822960" cy="82296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parkles-FFFFFF.png"/>
          <p:cNvPicPr>
            <a:picLocks noChangeAspect="1"/>
          </p:cNvPicPr>
          <p:nvPr/>
        </p:nvPicPr>
        <p:blipFill>
          <a:blip r:embed="rId5"/>
          <a:stretch>
            <a:fillRect/>
          </a:stretch>
        </p:blipFill>
        <p:spPr>
          <a:xfrm>
            <a:off x="8645956" y="2212848"/>
            <a:ext cx="457200" cy="457200"/>
          </a:xfrm>
          <a:prstGeom prst="rect">
            <a:avLst/>
          </a:prstGeom>
        </p:spPr>
      </p:pic>
      <p:sp>
        <p:nvSpPr>
          <p:cNvPr id="21" name="TextBox 20"/>
          <p:cNvSpPr txBox="1"/>
          <p:nvPr/>
        </p:nvSpPr>
        <p:spPr>
          <a:xfrm>
            <a:off x="8463076"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FFFFFF"/>
                </a:solidFill>
                <a:latin typeface="Georgia"/>
              </a:rPr>
              <a:t>Our answer</a:t>
            </a:r>
          </a:p>
        </p:txBody>
      </p:sp>
      <p:sp>
        <p:nvSpPr>
          <p:cNvPr id="22" name="TextBox 21"/>
          <p:cNvSpPr txBox="1"/>
          <p:nvPr/>
        </p:nvSpPr>
        <p:spPr>
          <a:xfrm>
            <a:off x="8463076"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C9D3E3"/>
                </a:solidFill>
                <a:latin typeface="Arial"/>
              </a:rPr>
              <a:t>Specialist agents plan together on real data, and code checks their work.</a:t>
            </a:r>
          </a:p>
        </p:txBody>
      </p:sp>
      <p:sp>
        <p:nvSpPr>
          <p:cNvPr id="23" name="TextBox 22"/>
          <p:cNvSpPr txBox="1"/>
          <p:nvPr/>
        </p:nvSpPr>
        <p:spPr>
          <a:xfrm>
            <a:off x="8463076" y="5276088"/>
            <a:ext cx="2814218"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AI Trip 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USERS AND AI ROLES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Two humans, seven AI roles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03 / 24</a:t>
            </a:r>
          </a:p>
        </p:txBody>
      </p:sp>
      <p:sp>
        <p:nvSpPr>
          <p:cNvPr id="8" name="TextBox 7"/>
          <p:cNvSpPr txBox="1"/>
          <p:nvPr/>
        </p:nvSpPr>
        <p:spPr>
          <a:xfrm>
            <a:off x="5486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HUMANS</a:t>
            </a:r>
          </a:p>
        </p:txBody>
      </p:sp>
      <p:sp>
        <p:nvSpPr>
          <p:cNvPr id="9" name="Rounded Rectangle 8"/>
          <p:cNvSpPr/>
          <p:nvPr/>
        </p:nvSpPr>
        <p:spPr>
          <a:xfrm>
            <a:off x="548640" y="184708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22959" y="212140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user-14213D.png"/>
          <p:cNvPicPr>
            <a:picLocks noChangeAspect="1"/>
          </p:cNvPicPr>
          <p:nvPr/>
        </p:nvPicPr>
        <p:blipFill>
          <a:blip r:embed="rId3"/>
          <a:stretch>
            <a:fillRect/>
          </a:stretch>
        </p:blipFill>
        <p:spPr>
          <a:xfrm>
            <a:off x="941832" y="2240280"/>
            <a:ext cx="329184" cy="329184"/>
          </a:xfrm>
          <a:prstGeom prst="rect">
            <a:avLst/>
          </a:prstGeom>
        </p:spPr>
      </p:pic>
      <p:sp>
        <p:nvSpPr>
          <p:cNvPr id="12" name="TextBox 11"/>
          <p:cNvSpPr txBox="1"/>
          <p:nvPr/>
        </p:nvSpPr>
        <p:spPr>
          <a:xfrm>
            <a:off x="822959" y="280720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Traveller</a:t>
            </a:r>
          </a:p>
        </p:txBody>
      </p:sp>
      <p:sp>
        <p:nvSpPr>
          <p:cNvPr id="13" name="TextBox 12"/>
          <p:cNvSpPr txBox="1"/>
          <p:nvPr/>
        </p:nvSpPr>
        <p:spPr>
          <a:xfrm>
            <a:off x="822959" y="317296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Describes the trip, reads and edits the plan</a:t>
            </a:r>
          </a:p>
        </p:txBody>
      </p:sp>
      <p:sp>
        <p:nvSpPr>
          <p:cNvPr id="14" name="Rounded Rectangle 13"/>
          <p:cNvSpPr/>
          <p:nvPr/>
        </p:nvSpPr>
        <p:spPr>
          <a:xfrm>
            <a:off x="548640" y="399592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22959" y="42702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riefcase-14213D.png"/>
          <p:cNvPicPr>
            <a:picLocks noChangeAspect="1"/>
          </p:cNvPicPr>
          <p:nvPr/>
        </p:nvPicPr>
        <p:blipFill>
          <a:blip r:embed="rId4"/>
          <a:stretch>
            <a:fillRect/>
          </a:stretch>
        </p:blipFill>
        <p:spPr>
          <a:xfrm>
            <a:off x="941832" y="4389120"/>
            <a:ext cx="329184" cy="329184"/>
          </a:xfrm>
          <a:prstGeom prst="rect">
            <a:avLst/>
          </a:prstGeom>
        </p:spPr>
      </p:pic>
      <p:sp>
        <p:nvSpPr>
          <p:cNvPr id="17" name="TextBox 16"/>
          <p:cNvSpPr txBox="1"/>
          <p:nvPr/>
        </p:nvSpPr>
        <p:spPr>
          <a:xfrm>
            <a:off x="822959" y="495604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Founder / operator</a:t>
            </a:r>
          </a:p>
        </p:txBody>
      </p:sp>
      <p:sp>
        <p:nvSpPr>
          <p:cNvPr id="18" name="TextBox 17"/>
          <p:cNvSpPr txBox="1"/>
          <p:nvPr/>
        </p:nvSpPr>
        <p:spPr>
          <a:xfrm>
            <a:off x="822959" y="532180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Runs the agency: models, providers, quotas, Agent Lab</a:t>
            </a:r>
          </a:p>
        </p:txBody>
      </p:sp>
      <p:sp>
        <p:nvSpPr>
          <p:cNvPr id="19" name="TextBox 18"/>
          <p:cNvSpPr txBox="1"/>
          <p:nvPr/>
        </p:nvSpPr>
        <p:spPr>
          <a:xfrm>
            <a:off x="3566160"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AI ROLES</a:t>
            </a:r>
          </a:p>
        </p:txBody>
      </p:sp>
      <p:sp>
        <p:nvSpPr>
          <p:cNvPr id="20" name="Rounded Rectangle 19"/>
          <p:cNvSpPr/>
          <p:nvPr/>
        </p:nvSpPr>
        <p:spPr>
          <a:xfrm>
            <a:off x="3566160" y="1847088"/>
            <a:ext cx="8076895" cy="841248"/>
          </a:xfrm>
          <a:prstGeom prst="roundRect">
            <a:avLst>
              <a:gd name="adj" fmla="val 1304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messages-square-FFFFFF.png"/>
          <p:cNvPicPr>
            <a:picLocks noChangeAspect="1"/>
          </p:cNvPicPr>
          <p:nvPr/>
        </p:nvPicPr>
        <p:blipFill>
          <a:blip r:embed="rId5"/>
          <a:stretch>
            <a:fillRect/>
          </a:stretch>
        </p:blipFill>
        <p:spPr>
          <a:xfrm>
            <a:off x="3840480" y="2093976"/>
            <a:ext cx="347472" cy="347472"/>
          </a:xfrm>
          <a:prstGeom prst="rect">
            <a:avLst/>
          </a:prstGeom>
        </p:spPr>
      </p:pic>
      <p:sp>
        <p:nvSpPr>
          <p:cNvPr id="22" name="TextBox 21"/>
          <p:cNvSpPr txBox="1"/>
          <p:nvPr/>
        </p:nvSpPr>
        <p:spPr>
          <a:xfrm>
            <a:off x="4389120" y="1956816"/>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FFFFFF"/>
                </a:solidFill>
                <a:latin typeface="Arial"/>
              </a:rPr>
              <a:t>Travel Coordinator</a:t>
            </a:r>
          </a:p>
        </p:txBody>
      </p:sp>
      <p:sp>
        <p:nvSpPr>
          <p:cNvPr id="23" name="TextBox 22"/>
          <p:cNvSpPr txBox="1"/>
          <p:nvPr/>
        </p:nvSpPr>
        <p:spPr>
          <a:xfrm>
            <a:off x="7040879" y="1956816"/>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C9D3E3"/>
                </a:solidFill>
                <a:latin typeface="Arial"/>
              </a:rPr>
              <a:t>Chats with the traveller, builds the TripBrief, asks for missing facts</a:t>
            </a:r>
          </a:p>
        </p:txBody>
      </p:sp>
      <p:sp>
        <p:nvSpPr>
          <p:cNvPr id="24" name="Rounded Rectangle 23"/>
          <p:cNvSpPr/>
          <p:nvPr/>
        </p:nvSpPr>
        <p:spPr>
          <a:xfrm>
            <a:off x="3566160" y="2871216"/>
            <a:ext cx="8076895" cy="841248"/>
          </a:xfrm>
          <a:prstGeom prst="roundRect">
            <a:avLst>
              <a:gd name="adj" fmla="val 130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workflow-14213D.png"/>
          <p:cNvPicPr>
            <a:picLocks noChangeAspect="1"/>
          </p:cNvPicPr>
          <p:nvPr/>
        </p:nvPicPr>
        <p:blipFill>
          <a:blip r:embed="rId6"/>
          <a:stretch>
            <a:fillRect/>
          </a:stretch>
        </p:blipFill>
        <p:spPr>
          <a:xfrm>
            <a:off x="3840480" y="3118104"/>
            <a:ext cx="347472" cy="347472"/>
          </a:xfrm>
          <a:prstGeom prst="rect">
            <a:avLst/>
          </a:prstGeom>
        </p:spPr>
      </p:pic>
      <p:sp>
        <p:nvSpPr>
          <p:cNvPr id="26" name="TextBox 25"/>
          <p:cNvSpPr txBox="1"/>
          <p:nvPr/>
        </p:nvSpPr>
        <p:spPr>
          <a:xfrm>
            <a:off x="4389120" y="2980944"/>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14213D"/>
                </a:solidFill>
                <a:latin typeface="Arial"/>
              </a:rPr>
              <a:t>Planning Supervisor</a:t>
            </a:r>
          </a:p>
        </p:txBody>
      </p:sp>
      <p:sp>
        <p:nvSpPr>
          <p:cNvPr id="27" name="TextBox 26"/>
          <p:cNvSpPr txBox="1"/>
          <p:nvPr/>
        </p:nvSpPr>
        <p:spPr>
          <a:xfrm>
            <a:off x="7040879" y="2980944"/>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Picks which specialists each step needs</a:t>
            </a:r>
          </a:p>
        </p:txBody>
      </p:sp>
      <p:sp>
        <p:nvSpPr>
          <p:cNvPr id="28" name="TextBox 27"/>
          <p:cNvSpPr txBox="1"/>
          <p:nvPr/>
        </p:nvSpPr>
        <p:spPr>
          <a:xfrm>
            <a:off x="3566160" y="395020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FIVE SPECIALISTS</a:t>
            </a:r>
          </a:p>
        </p:txBody>
      </p:sp>
      <p:sp>
        <p:nvSpPr>
          <p:cNvPr id="29" name="Rounded Rectangle 28"/>
          <p:cNvSpPr/>
          <p:nvPr/>
        </p:nvSpPr>
        <p:spPr>
          <a:xfrm>
            <a:off x="3566160"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566160"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calendar-days-14213D.png"/>
          <p:cNvPicPr>
            <a:picLocks noChangeAspect="1"/>
          </p:cNvPicPr>
          <p:nvPr/>
        </p:nvPicPr>
        <p:blipFill>
          <a:blip r:embed="rId7"/>
          <a:stretch>
            <a:fillRect/>
          </a:stretch>
        </p:blipFill>
        <p:spPr>
          <a:xfrm>
            <a:off x="3749039" y="4535424"/>
            <a:ext cx="384048" cy="384048"/>
          </a:xfrm>
          <a:prstGeom prst="rect">
            <a:avLst/>
          </a:prstGeom>
        </p:spPr>
      </p:pic>
      <p:sp>
        <p:nvSpPr>
          <p:cNvPr id="32" name="TextBox 31"/>
          <p:cNvSpPr txBox="1"/>
          <p:nvPr/>
        </p:nvSpPr>
        <p:spPr>
          <a:xfrm>
            <a:off x="3749039"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Itinerary</a:t>
            </a:r>
          </a:p>
        </p:txBody>
      </p:sp>
      <p:sp>
        <p:nvSpPr>
          <p:cNvPr id="33" name="TextBox 32"/>
          <p:cNvSpPr txBox="1"/>
          <p:nvPr/>
        </p:nvSpPr>
        <p:spPr>
          <a:xfrm>
            <a:off x="3749039"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Day plan, route checks</a:t>
            </a:r>
          </a:p>
        </p:txBody>
      </p:sp>
      <p:sp>
        <p:nvSpPr>
          <p:cNvPr id="34" name="Rounded Rectangle 33"/>
          <p:cNvSpPr/>
          <p:nvPr/>
        </p:nvSpPr>
        <p:spPr>
          <a:xfrm>
            <a:off x="5207142"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207142"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plane-14213D.png"/>
          <p:cNvPicPr>
            <a:picLocks noChangeAspect="1"/>
          </p:cNvPicPr>
          <p:nvPr/>
        </p:nvPicPr>
        <p:blipFill>
          <a:blip r:embed="rId8"/>
          <a:stretch>
            <a:fillRect/>
          </a:stretch>
        </p:blipFill>
        <p:spPr>
          <a:xfrm>
            <a:off x="5390022" y="4535424"/>
            <a:ext cx="384048" cy="384048"/>
          </a:xfrm>
          <a:prstGeom prst="rect">
            <a:avLst/>
          </a:prstGeom>
        </p:spPr>
      </p:pic>
      <p:sp>
        <p:nvSpPr>
          <p:cNvPr id="37" name="TextBox 36"/>
          <p:cNvSpPr txBox="1"/>
          <p:nvPr/>
        </p:nvSpPr>
        <p:spPr>
          <a:xfrm>
            <a:off x="5390022"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Transport</a:t>
            </a:r>
          </a:p>
        </p:txBody>
      </p:sp>
      <p:sp>
        <p:nvSpPr>
          <p:cNvPr id="38" name="TextBox 37"/>
          <p:cNvSpPr txBox="1"/>
          <p:nvPr/>
        </p:nvSpPr>
        <p:spPr>
          <a:xfrm>
            <a:off x="5390022"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Flights, rail, local routes</a:t>
            </a:r>
          </a:p>
        </p:txBody>
      </p:sp>
      <p:sp>
        <p:nvSpPr>
          <p:cNvPr id="39" name="Rounded Rectangle 38"/>
          <p:cNvSpPr/>
          <p:nvPr/>
        </p:nvSpPr>
        <p:spPr>
          <a:xfrm>
            <a:off x="6848124"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848124" y="4297680"/>
            <a:ext cx="1512966"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bed-double-14213D.png"/>
          <p:cNvPicPr>
            <a:picLocks noChangeAspect="1"/>
          </p:cNvPicPr>
          <p:nvPr/>
        </p:nvPicPr>
        <p:blipFill>
          <a:blip r:embed="rId9"/>
          <a:stretch>
            <a:fillRect/>
          </a:stretch>
        </p:blipFill>
        <p:spPr>
          <a:xfrm>
            <a:off x="7031004" y="4535424"/>
            <a:ext cx="384048" cy="384048"/>
          </a:xfrm>
          <a:prstGeom prst="rect">
            <a:avLst/>
          </a:prstGeom>
        </p:spPr>
      </p:pic>
      <p:sp>
        <p:nvSpPr>
          <p:cNvPr id="42" name="TextBox 41"/>
          <p:cNvSpPr txBox="1"/>
          <p:nvPr/>
        </p:nvSpPr>
        <p:spPr>
          <a:xfrm>
            <a:off x="7031004"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Accommodation</a:t>
            </a:r>
          </a:p>
        </p:txBody>
      </p:sp>
      <p:sp>
        <p:nvSpPr>
          <p:cNvPr id="43" name="TextBox 42"/>
          <p:cNvSpPr txBox="1"/>
          <p:nvPr/>
        </p:nvSpPr>
        <p:spPr>
          <a:xfrm>
            <a:off x="7031004"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Stays, room allocation</a:t>
            </a:r>
          </a:p>
        </p:txBody>
      </p:sp>
      <p:sp>
        <p:nvSpPr>
          <p:cNvPr id="44" name="Rounded Rectangle 43"/>
          <p:cNvSpPr/>
          <p:nvPr/>
        </p:nvSpPr>
        <p:spPr>
          <a:xfrm>
            <a:off x="8489106"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8489106"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ompass-14213D.png"/>
          <p:cNvPicPr>
            <a:picLocks noChangeAspect="1"/>
          </p:cNvPicPr>
          <p:nvPr/>
        </p:nvPicPr>
        <p:blipFill>
          <a:blip r:embed="rId10"/>
          <a:stretch>
            <a:fillRect/>
          </a:stretch>
        </p:blipFill>
        <p:spPr>
          <a:xfrm>
            <a:off x="8671986" y="4535424"/>
            <a:ext cx="384048" cy="384048"/>
          </a:xfrm>
          <a:prstGeom prst="rect">
            <a:avLst/>
          </a:prstGeom>
        </p:spPr>
      </p:pic>
      <p:sp>
        <p:nvSpPr>
          <p:cNvPr id="47" name="TextBox 46"/>
          <p:cNvSpPr txBox="1"/>
          <p:nvPr/>
        </p:nvSpPr>
        <p:spPr>
          <a:xfrm>
            <a:off x="8671986"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Destination</a:t>
            </a:r>
          </a:p>
        </p:txBody>
      </p:sp>
      <p:sp>
        <p:nvSpPr>
          <p:cNvPr id="48" name="TextBox 47"/>
          <p:cNvSpPr txBox="1"/>
          <p:nvPr/>
        </p:nvSpPr>
        <p:spPr>
          <a:xfrm>
            <a:off x="8671986"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Sights, customs, packing</a:t>
            </a:r>
          </a:p>
        </p:txBody>
      </p:sp>
      <p:sp>
        <p:nvSpPr>
          <p:cNvPr id="49" name="Rounded Rectangle 48"/>
          <p:cNvSpPr/>
          <p:nvPr/>
        </p:nvSpPr>
        <p:spPr>
          <a:xfrm>
            <a:off x="10130088"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0130088"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utensils-14213D.png"/>
          <p:cNvPicPr>
            <a:picLocks noChangeAspect="1"/>
          </p:cNvPicPr>
          <p:nvPr/>
        </p:nvPicPr>
        <p:blipFill>
          <a:blip r:embed="rId11"/>
          <a:stretch>
            <a:fillRect/>
          </a:stretch>
        </p:blipFill>
        <p:spPr>
          <a:xfrm>
            <a:off x="10312968" y="4535424"/>
            <a:ext cx="384048" cy="384048"/>
          </a:xfrm>
          <a:prstGeom prst="rect">
            <a:avLst/>
          </a:prstGeom>
        </p:spPr>
      </p:pic>
      <p:sp>
        <p:nvSpPr>
          <p:cNvPr id="52" name="TextBox 51"/>
          <p:cNvSpPr txBox="1"/>
          <p:nvPr/>
        </p:nvSpPr>
        <p:spPr>
          <a:xfrm>
            <a:off x="10312968"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Dining</a:t>
            </a:r>
          </a:p>
        </p:txBody>
      </p:sp>
      <p:sp>
        <p:nvSpPr>
          <p:cNvPr id="53" name="TextBox 52"/>
          <p:cNvSpPr txBox="1"/>
          <p:nvPr/>
        </p:nvSpPr>
        <p:spPr>
          <a:xfrm>
            <a:off x="10312968"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Venues, dietary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ARCHITECTURE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graph drives the agents, not the other way round</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04 / 24</a:t>
            </a:r>
          </a:p>
        </p:txBody>
      </p:sp>
      <p:sp>
        <p:nvSpPr>
          <p:cNvPr id="8" name="TextBox 7"/>
          <p:cNvSpPr txBox="1"/>
          <p:nvPr/>
        </p:nvSpPr>
        <p:spPr>
          <a:xfrm>
            <a:off x="548640" y="1481328"/>
            <a:ext cx="736092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LANGGRAPH WORKFLOW</a:t>
            </a:r>
          </a:p>
        </p:txBody>
      </p:sp>
      <p:sp>
        <p:nvSpPr>
          <p:cNvPr id="9" name="Rounded Rectangle 8"/>
          <p:cNvSpPr/>
          <p:nvPr/>
        </p:nvSpPr>
        <p:spPr>
          <a:xfrm>
            <a:off x="548640" y="1801368"/>
            <a:ext cx="7360920" cy="1600200"/>
          </a:xfrm>
          <a:prstGeom prst="roundRect">
            <a:avLst>
              <a:gd name="adj" fmla="val 685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workflow.png"/>
          <p:cNvPicPr>
            <a:picLocks noChangeAspect="1"/>
          </p:cNvPicPr>
          <p:nvPr/>
        </p:nvPicPr>
        <p:blipFill>
          <a:blip r:embed="rId3"/>
          <a:stretch>
            <a:fillRect/>
          </a:stretch>
        </p:blipFill>
        <p:spPr>
          <a:xfrm>
            <a:off x="676656" y="2217465"/>
            <a:ext cx="7104888" cy="768004"/>
          </a:xfrm>
          <a:prstGeom prst="rect">
            <a:avLst/>
          </a:prstGeom>
        </p:spPr>
      </p:pic>
      <p:sp>
        <p:nvSpPr>
          <p:cNvPr id="11" name="Oval 10"/>
          <p:cNvSpPr/>
          <p:nvPr/>
        </p:nvSpPr>
        <p:spPr>
          <a:xfrm>
            <a:off x="1711802"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2" name="Oval 11"/>
          <p:cNvSpPr/>
          <p:nvPr/>
        </p:nvSpPr>
        <p:spPr>
          <a:xfrm>
            <a:off x="2919633"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3" name="Oval 12"/>
          <p:cNvSpPr/>
          <p:nvPr/>
        </p:nvSpPr>
        <p:spPr>
          <a:xfrm>
            <a:off x="5086624" y="209566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4" name="Oval 13"/>
          <p:cNvSpPr/>
          <p:nvPr/>
        </p:nvSpPr>
        <p:spPr>
          <a:xfrm>
            <a:off x="640080" y="36850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1024127" y="367588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Plan in stages</a:t>
            </a:r>
          </a:p>
          <a:p>
            <a:pPr algn="l">
              <a:lnSpc>
                <a:spcPct val="115000"/>
              </a:lnSpc>
              <a:spcAft>
                <a:spcPts val="200"/>
              </a:spcAft>
            </a:pPr>
            <a:r>
              <a:rPr sz="1300" b="0" i="0">
                <a:solidFill>
                  <a:srgbClr val="2A3550"/>
                </a:solidFill>
                <a:latin typeface="Arial"/>
              </a:rPr>
              <a:t>Transport, then accommodation, then itinerary and dining, all on one shared board.</a:t>
            </a:r>
          </a:p>
        </p:txBody>
      </p:sp>
      <p:sp>
        <p:nvSpPr>
          <p:cNvPr id="16" name="Oval 15"/>
          <p:cNvSpPr/>
          <p:nvPr/>
        </p:nvSpPr>
        <p:spPr>
          <a:xfrm>
            <a:off x="640080" y="45079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1024127" y="4498848"/>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Code finds conflicts</a:t>
            </a:r>
          </a:p>
          <a:p>
            <a:pPr algn="l">
              <a:lnSpc>
                <a:spcPct val="115000"/>
              </a:lnSpc>
              <a:spcAft>
                <a:spcPts val="200"/>
              </a:spcAft>
            </a:pPr>
            <a:r>
              <a:rPr sz="1300" b="0" i="0">
                <a:solidFill>
                  <a:srgbClr val="2A3550"/>
                </a:solidFill>
                <a:latin typeface="Arial"/>
              </a:rPr>
              <a:t>Budget, time and route conflicts are detected in code, not by a model.</a:t>
            </a:r>
          </a:p>
        </p:txBody>
      </p:sp>
      <p:sp>
        <p:nvSpPr>
          <p:cNvPr id="18" name="Oval 17"/>
          <p:cNvSpPr/>
          <p:nvPr/>
        </p:nvSpPr>
        <p:spPr>
          <a:xfrm>
            <a:off x="640080" y="533095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1024127" y="532180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Targeted revision</a:t>
            </a:r>
          </a:p>
          <a:p>
            <a:pPr algn="l">
              <a:lnSpc>
                <a:spcPct val="115000"/>
              </a:lnSpc>
              <a:spcAft>
                <a:spcPts val="200"/>
              </a:spcAft>
            </a:pPr>
            <a:r>
              <a:rPr sz="1300" b="0" i="0">
                <a:solidFill>
                  <a:srgbClr val="2A3550"/>
                </a:solidFill>
                <a:latin typeface="Arial"/>
              </a:rPr>
              <a:t>Only the agents involved revise, at most three rounds, kept only if the plan improves.</a:t>
            </a:r>
          </a:p>
        </p:txBody>
      </p:sp>
      <p:sp>
        <p:nvSpPr>
          <p:cNvPr id="20" name="TextBox 19"/>
          <p:cNvSpPr txBox="1"/>
          <p:nvPr/>
        </p:nvSpPr>
        <p:spPr>
          <a:xfrm>
            <a:off x="818388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REQUEST PATH</a:t>
            </a:r>
          </a:p>
        </p:txBody>
      </p:sp>
      <p:sp>
        <p:nvSpPr>
          <p:cNvPr id="21" name="Rounded Rectangle 20"/>
          <p:cNvSpPr/>
          <p:nvPr/>
        </p:nvSpPr>
        <p:spPr>
          <a:xfrm>
            <a:off x="8183880" y="1801368"/>
            <a:ext cx="3459175" cy="4434840"/>
          </a:xfrm>
          <a:prstGeom prst="roundRect">
            <a:avLst>
              <a:gd name="adj" fmla="val 317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architecture.png"/>
          <p:cNvPicPr>
            <a:picLocks noChangeAspect="1"/>
          </p:cNvPicPr>
          <p:nvPr/>
        </p:nvPicPr>
        <p:blipFill>
          <a:blip r:embed="rId4"/>
          <a:stretch>
            <a:fillRect/>
          </a:stretch>
        </p:blipFill>
        <p:spPr>
          <a:xfrm>
            <a:off x="8409998" y="1929384"/>
            <a:ext cx="3006938" cy="417880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UC-A1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Three LLM calls, each fenced by code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05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1F7A8C"/>
                </a:solidFill>
                <a:latin typeface="Arial"/>
              </a:rPr>
              <a:t>Ad hoc requirement  </a:t>
            </a:r>
            <a:r>
              <a:rPr sz="1200" b="0" i="0">
                <a:solidFill>
                  <a:srgbClr val="2A3550"/>
                </a:solidFill>
                <a:latin typeface="Arial"/>
              </a:rPr>
              <a:t>AH-A1: understand my one-line request; ask once if something is missing; fix clashes</a:t>
            </a:r>
            <a:r>
              <a:rPr sz="1200" b="1" i="0">
                <a:solidFill>
                  <a:srgbClr val="1F7A8C"/>
                </a:solidFill>
                <a:latin typeface="Arial"/>
              </a:rPr>
              <a:t>      Use case  </a:t>
            </a:r>
            <a:r>
              <a:rPr sz="1200" b="0" i="0">
                <a:solidFill>
                  <a:srgbClr val="2A3550"/>
                </a:solidFill>
                <a:latin typeface="Arial"/>
              </a:rPr>
              <a:t>UC-A1 Generate Itinerary</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a-activity.png"/>
          <p:cNvPicPr>
            <a:picLocks noChangeAspect="1"/>
          </p:cNvPicPr>
          <p:nvPr/>
        </p:nvPicPr>
        <p:blipFill>
          <a:blip r:embed="rId3"/>
          <a:stretch>
            <a:fillRect/>
          </a:stretch>
        </p:blipFill>
        <p:spPr>
          <a:xfrm>
            <a:off x="1844544" y="2679192"/>
            <a:ext cx="984408"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sequence.png"/>
          <p:cNvPicPr>
            <a:picLocks noChangeAspect="1"/>
          </p:cNvPicPr>
          <p:nvPr/>
        </p:nvPicPr>
        <p:blipFill>
          <a:blip r:embed="rId4"/>
          <a:stretch>
            <a:fillRect/>
          </a:stretch>
        </p:blipFill>
        <p:spPr>
          <a:xfrm>
            <a:off x="4435754" y="3276587"/>
            <a:ext cx="3320186" cy="2234208"/>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a-state.png"/>
          <p:cNvPicPr>
            <a:picLocks noChangeAspect="1"/>
          </p:cNvPicPr>
          <p:nvPr/>
        </p:nvPicPr>
        <p:blipFill>
          <a:blip r:embed="rId5"/>
          <a:stretch>
            <a:fillRect/>
          </a:stretch>
        </p:blipFill>
        <p:spPr>
          <a:xfrm>
            <a:off x="9006268" y="2679192"/>
            <a:ext cx="16973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REQUIREMENT CLASSIFICATION</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Each member owns two core features and one optional</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06 / 24</a:t>
            </a:r>
          </a:p>
        </p:txBody>
      </p:sp>
      <p:sp>
        <p:nvSpPr>
          <p:cNvPr id="8" name="TextBox 7"/>
          <p:cNvSpPr txBox="1"/>
          <p:nvPr/>
        </p:nvSpPr>
        <p:spPr>
          <a:xfrm>
            <a:off x="30632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1</a:t>
            </a:r>
          </a:p>
        </p:txBody>
      </p:sp>
      <p:sp>
        <p:nvSpPr>
          <p:cNvPr id="9" name="TextBox 8"/>
          <p:cNvSpPr txBox="1"/>
          <p:nvPr/>
        </p:nvSpPr>
        <p:spPr>
          <a:xfrm>
            <a:off x="617220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2</a:t>
            </a:r>
          </a:p>
        </p:txBody>
      </p:sp>
      <p:sp>
        <p:nvSpPr>
          <p:cNvPr id="10" name="TextBox 9"/>
          <p:cNvSpPr txBox="1"/>
          <p:nvPr/>
        </p:nvSpPr>
        <p:spPr>
          <a:xfrm>
            <a:off x="928116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OPTIONAL</a:t>
            </a:r>
          </a:p>
        </p:txBody>
      </p:sp>
      <p:sp>
        <p:nvSpPr>
          <p:cNvPr id="11" name="Rounded Rectangle 10"/>
          <p:cNvSpPr/>
          <p:nvPr/>
        </p:nvSpPr>
        <p:spPr>
          <a:xfrm>
            <a:off x="548640" y="182880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13232" y="1956816"/>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3" name="TextBox 12"/>
          <p:cNvSpPr txBox="1"/>
          <p:nvPr/>
        </p:nvSpPr>
        <p:spPr>
          <a:xfrm>
            <a:off x="1115568" y="182880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Ziqi He</a:t>
            </a:r>
          </a:p>
        </p:txBody>
      </p:sp>
      <p:sp>
        <p:nvSpPr>
          <p:cNvPr id="14" name="TextBox 13"/>
          <p:cNvSpPr txBox="1"/>
          <p:nvPr/>
        </p:nvSpPr>
        <p:spPr>
          <a:xfrm>
            <a:off x="306324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Brief extraction and clarifying questions</a:t>
            </a:r>
          </a:p>
        </p:txBody>
      </p:sp>
      <p:sp>
        <p:nvSpPr>
          <p:cNvPr id="15" name="TextBox 14"/>
          <p:cNvSpPr txBox="1"/>
          <p:nvPr/>
        </p:nvSpPr>
        <p:spPr>
          <a:xfrm>
            <a:off x="617220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Orchestration, revision routing, round control</a:t>
            </a:r>
          </a:p>
        </p:txBody>
      </p:sp>
      <p:sp>
        <p:nvSpPr>
          <p:cNvPr id="16" name="Rounded Rectangle 15"/>
          <p:cNvSpPr/>
          <p:nvPr/>
        </p:nvSpPr>
        <p:spPr>
          <a:xfrm>
            <a:off x="9281160" y="196596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Agent Lab and Failure Lab</a:t>
            </a:r>
          </a:p>
        </p:txBody>
      </p:sp>
      <p:sp>
        <p:nvSpPr>
          <p:cNvPr id="17" name="Rounded Rectangle 16"/>
          <p:cNvSpPr/>
          <p:nvPr/>
        </p:nvSpPr>
        <p:spPr>
          <a:xfrm>
            <a:off x="548640" y="246888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3232" y="2596896"/>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19" name="TextBox 18"/>
          <p:cNvSpPr txBox="1"/>
          <p:nvPr/>
        </p:nvSpPr>
        <p:spPr>
          <a:xfrm>
            <a:off x="1115568" y="246888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Tingsong Jin</a:t>
            </a:r>
          </a:p>
        </p:txBody>
      </p:sp>
      <p:sp>
        <p:nvSpPr>
          <p:cNvPr id="20" name="TextBox 19"/>
          <p:cNvSpPr txBox="1"/>
          <p:nvPr/>
        </p:nvSpPr>
        <p:spPr>
          <a:xfrm>
            <a:off x="306324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Itinerary with route feasibility</a:t>
            </a:r>
          </a:p>
        </p:txBody>
      </p:sp>
      <p:sp>
        <p:nvSpPr>
          <p:cNvPr id="21" name="TextBox 20"/>
          <p:cNvSpPr txBox="1"/>
          <p:nvPr/>
        </p:nvSpPr>
        <p:spPr>
          <a:xfrm>
            <a:off x="617220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Flights, rail and local transport</a:t>
            </a:r>
          </a:p>
        </p:txBody>
      </p:sp>
      <p:sp>
        <p:nvSpPr>
          <p:cNvPr id="22" name="Rounded Rectangle 21"/>
          <p:cNvSpPr/>
          <p:nvPr/>
        </p:nvSpPr>
        <p:spPr>
          <a:xfrm>
            <a:off x="9281160" y="260604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Traveller-chosen leg mode</a:t>
            </a:r>
          </a:p>
        </p:txBody>
      </p:sp>
      <p:sp>
        <p:nvSpPr>
          <p:cNvPr id="23" name="Rounded Rectangle 22"/>
          <p:cNvSpPr/>
          <p:nvPr/>
        </p:nvSpPr>
        <p:spPr>
          <a:xfrm>
            <a:off x="548640" y="310896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13232" y="323697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5" name="TextBox 24"/>
          <p:cNvSpPr txBox="1"/>
          <p:nvPr/>
        </p:nvSpPr>
        <p:spPr>
          <a:xfrm>
            <a:off x="1115568" y="310896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Yi Qiao</a:t>
            </a:r>
          </a:p>
        </p:txBody>
      </p:sp>
      <p:sp>
        <p:nvSpPr>
          <p:cNvPr id="26" name="TextBox 25"/>
          <p:cNvSpPr txBox="1"/>
          <p:nvPr/>
        </p:nvSpPr>
        <p:spPr>
          <a:xfrm>
            <a:off x="306324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Accommodation, individual or group</a:t>
            </a:r>
          </a:p>
        </p:txBody>
      </p:sp>
      <p:sp>
        <p:nvSpPr>
          <p:cNvPr id="27" name="TextBox 26"/>
          <p:cNvSpPr txBox="1"/>
          <p:nvPr/>
        </p:nvSpPr>
        <p:spPr>
          <a:xfrm>
            <a:off x="617220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Budget management</a:t>
            </a:r>
          </a:p>
        </p:txBody>
      </p:sp>
      <p:sp>
        <p:nvSpPr>
          <p:cNvPr id="28" name="Rounded Rectangle 27"/>
          <p:cNvSpPr/>
          <p:nvPr/>
        </p:nvSpPr>
        <p:spPr>
          <a:xfrm>
            <a:off x="9281160" y="324612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Keep a booked stay</a:t>
            </a:r>
          </a:p>
        </p:txBody>
      </p:sp>
      <p:sp>
        <p:nvSpPr>
          <p:cNvPr id="29" name="Rounded Rectangle 28"/>
          <p:cNvSpPr/>
          <p:nvPr/>
        </p:nvSpPr>
        <p:spPr>
          <a:xfrm>
            <a:off x="548640" y="3749039"/>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3877055"/>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1" name="TextBox 30"/>
          <p:cNvSpPr txBox="1"/>
          <p:nvPr/>
        </p:nvSpPr>
        <p:spPr>
          <a:xfrm>
            <a:off x="1115568" y="3749039"/>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Jiahang Bian</a:t>
            </a:r>
          </a:p>
        </p:txBody>
      </p:sp>
      <p:sp>
        <p:nvSpPr>
          <p:cNvPr id="32" name="TextBox 31"/>
          <p:cNvSpPr txBox="1"/>
          <p:nvPr/>
        </p:nvSpPr>
        <p:spPr>
          <a:xfrm>
            <a:off x="306324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Destination guide</a:t>
            </a:r>
          </a:p>
        </p:txBody>
      </p:sp>
      <p:sp>
        <p:nvSpPr>
          <p:cNvPr id="33" name="TextBox 32"/>
          <p:cNvSpPr txBox="1"/>
          <p:nvPr/>
        </p:nvSpPr>
        <p:spPr>
          <a:xfrm>
            <a:off x="617220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Dining with dietary needs</a:t>
            </a:r>
          </a:p>
        </p:txBody>
      </p:sp>
      <p:sp>
        <p:nvSpPr>
          <p:cNvPr id="34" name="Rounded Rectangle 33"/>
          <p:cNvSpPr/>
          <p:nvPr/>
        </p:nvSpPr>
        <p:spPr>
          <a:xfrm>
            <a:off x="9281160" y="388620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Weather-based packing</a:t>
            </a:r>
          </a:p>
        </p:txBody>
      </p:sp>
      <p:sp>
        <p:nvSpPr>
          <p:cNvPr id="35" name="Rounded Rectangle 34"/>
          <p:cNvSpPr/>
          <p:nvPr/>
        </p:nvSpPr>
        <p:spPr>
          <a:xfrm>
            <a:off x="548640" y="438912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13232" y="4517136"/>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37" name="TextBox 36"/>
          <p:cNvSpPr txBox="1"/>
          <p:nvPr/>
        </p:nvSpPr>
        <p:spPr>
          <a:xfrm>
            <a:off x="1115568" y="438912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Weihao Wang</a:t>
            </a:r>
          </a:p>
        </p:txBody>
      </p:sp>
      <p:sp>
        <p:nvSpPr>
          <p:cNvPr id="38" name="TextBox 37"/>
          <p:cNvSpPr txBox="1"/>
          <p:nvPr/>
        </p:nvSpPr>
        <p:spPr>
          <a:xfrm>
            <a:off x="306324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Chat, timeline and map editing</a:t>
            </a:r>
          </a:p>
        </p:txBody>
      </p:sp>
      <p:sp>
        <p:nvSpPr>
          <p:cNvPr id="39" name="TextBox 38"/>
          <p:cNvSpPr txBox="1"/>
          <p:nvPr/>
        </p:nvSpPr>
        <p:spPr>
          <a:xfrm>
            <a:off x="617220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Preferences and memory</a:t>
            </a:r>
          </a:p>
        </p:txBody>
      </p:sp>
      <p:sp>
        <p:nvSpPr>
          <p:cNvPr id="40" name="Rounded Rectangle 39"/>
          <p:cNvSpPr/>
          <p:nvPr/>
        </p:nvSpPr>
        <p:spPr>
          <a:xfrm>
            <a:off x="9281160" y="452628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Accounts and cloud sync</a:t>
            </a:r>
          </a:p>
        </p:txBody>
      </p:sp>
      <p:sp>
        <p:nvSpPr>
          <p:cNvPr id="41" name="Rounded Rectangle 40"/>
          <p:cNvSpPr/>
          <p:nvPr/>
        </p:nvSpPr>
        <p:spPr>
          <a:xfrm>
            <a:off x="548640" y="5184648"/>
            <a:ext cx="11094415" cy="1005840"/>
          </a:xfrm>
          <a:prstGeom prst="roundRect">
            <a:avLst>
              <a:gd name="adj" fmla="val 10909"/>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cale-F2A65A.png"/>
          <p:cNvPicPr>
            <a:picLocks noChangeAspect="1"/>
          </p:cNvPicPr>
          <p:nvPr/>
        </p:nvPicPr>
        <p:blipFill>
          <a:blip r:embed="rId3"/>
          <a:stretch>
            <a:fillRect/>
          </a:stretch>
        </p:blipFill>
        <p:spPr>
          <a:xfrm>
            <a:off x="868680" y="5477256"/>
            <a:ext cx="420624" cy="420624"/>
          </a:xfrm>
          <a:prstGeom prst="rect">
            <a:avLst/>
          </a:prstGeom>
        </p:spPr>
      </p:pic>
      <p:sp>
        <p:nvSpPr>
          <p:cNvPr id="43" name="TextBox 42"/>
          <p:cNvSpPr txBox="1"/>
          <p:nvPr/>
        </p:nvSpPr>
        <p:spPr>
          <a:xfrm>
            <a:off x="1554480" y="5276088"/>
            <a:ext cx="2926080" cy="822960"/>
          </a:xfrm>
          <a:prstGeom prst="rect">
            <a:avLst/>
          </a:prstGeom>
          <a:noFill/>
        </p:spPr>
        <p:txBody>
          <a:bodyPr wrap="square" lIns="0" rIns="0" tIns="0" bIns="0" anchor="ctr">
            <a:spAutoFit/>
          </a:bodyPr>
          <a:lstStyle/>
          <a:p>
            <a:pPr algn="l">
              <a:lnSpc>
                <a:spcPct val="115000"/>
              </a:lnSpc>
              <a:spcAft>
                <a:spcPts val="0"/>
              </a:spcAft>
            </a:pPr>
            <a:r>
              <a:rPr sz="2000" b="1" i="0">
                <a:solidFill>
                  <a:srgbClr val="FFFFFF"/>
                </a:solidFill>
                <a:latin typeface="Georgia"/>
              </a:rPr>
              <a:t>Models choose,
code decides.</a:t>
            </a:r>
          </a:p>
        </p:txBody>
      </p:sp>
      <p:sp>
        <p:nvSpPr>
          <p:cNvPr id="44" name="TextBox 43"/>
          <p:cNvSpPr txBox="1"/>
          <p:nvPr/>
        </p:nvSpPr>
        <p:spPr>
          <a:xfrm>
            <a:off x="4572000" y="5276088"/>
            <a:ext cx="6796735" cy="822960"/>
          </a:xfrm>
          <a:prstGeom prst="rect">
            <a:avLst/>
          </a:prstGeom>
          <a:noFill/>
        </p:spPr>
        <p:txBody>
          <a:bodyPr wrap="square" lIns="0" rIns="0" tIns="0" bIns="0" anchor="ctr">
            <a:spAutoFit/>
          </a:bodyPr>
          <a:lstStyle/>
          <a:p>
            <a:pPr algn="l">
              <a:lnSpc>
                <a:spcPct val="115000"/>
              </a:lnSpc>
              <a:spcAft>
                <a:spcPts val="0"/>
              </a:spcAft>
            </a:pPr>
            <a:r>
              <a:rPr sz="1400" b="0" i="0">
                <a:solidFill>
                  <a:srgbClr val="C9D3E3"/>
                </a:solidFill>
                <a:latin typeface="Arial"/>
              </a:rPr>
              <a:t>Agreed scope: a single-user planner with AUD estimates; no booking or payment. No invented prices, no relaxed preferences.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FEATURE MODEL</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Seven feature groups with their constraints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07 / 24</a:t>
            </a:r>
          </a:p>
        </p:txBody>
      </p:sp>
      <p:sp>
        <p:nvSpPr>
          <p:cNvPr id="8" name="Rounded Rectangle 7"/>
          <p:cNvSpPr/>
          <p:nvPr/>
        </p:nvSpPr>
        <p:spPr>
          <a:xfrm>
            <a:off x="548640"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essages-square-C2571A.png"/>
          <p:cNvPicPr>
            <a:picLocks noChangeAspect="1"/>
          </p:cNvPicPr>
          <p:nvPr/>
        </p:nvPicPr>
        <p:blipFill>
          <a:blip r:embed="rId3"/>
          <a:stretch>
            <a:fillRect/>
          </a:stretch>
        </p:blipFill>
        <p:spPr>
          <a:xfrm>
            <a:off x="749808" y="1664208"/>
            <a:ext cx="292608" cy="292608"/>
          </a:xfrm>
          <a:prstGeom prst="rect">
            <a:avLst/>
          </a:prstGeom>
        </p:spPr>
      </p:pic>
      <p:sp>
        <p:nvSpPr>
          <p:cNvPr id="10" name="TextBox 9"/>
          <p:cNvSpPr txBox="1"/>
          <p:nvPr/>
        </p:nvSpPr>
        <p:spPr>
          <a:xfrm>
            <a:off x="1152144"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Conversation</a:t>
            </a:r>
          </a:p>
        </p:txBody>
      </p:sp>
      <p:sp>
        <p:nvSpPr>
          <p:cNvPr id="11" name="TextBox 10"/>
          <p:cNvSpPr txBox="1"/>
          <p:nvPr/>
        </p:nvSpPr>
        <p:spPr>
          <a:xfrm>
            <a:off x="749808"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Chat intake</a:t>
            </a:r>
          </a:p>
          <a:p>
            <a:pPr algn="l">
              <a:lnSpc>
                <a:spcPct val="112000"/>
              </a:lnSpc>
              <a:spcAft>
                <a:spcPts val="100"/>
              </a:spcAft>
            </a:pPr>
            <a:r>
              <a:rPr sz="1150" b="0" i="0">
                <a:solidFill>
                  <a:srgbClr val="2A3550"/>
                </a:solidFill>
                <a:latin typeface="Arial"/>
              </a:rPr>
              <a:t>● Brief extraction</a:t>
            </a:r>
          </a:p>
          <a:p>
            <a:pPr algn="l">
              <a:lnSpc>
                <a:spcPct val="112000"/>
              </a:lnSpc>
              <a:spcAft>
                <a:spcPts val="100"/>
              </a:spcAft>
            </a:pPr>
            <a:r>
              <a:rPr sz="1150" b="0" i="0">
                <a:solidFill>
                  <a:srgbClr val="2A3550"/>
                </a:solidFill>
                <a:latin typeface="Arial"/>
              </a:rPr>
              <a:t>   ⊕ LLM | rule parser</a:t>
            </a:r>
          </a:p>
          <a:p>
            <a:pPr algn="l">
              <a:lnSpc>
                <a:spcPct val="112000"/>
              </a:lnSpc>
              <a:spcAft>
                <a:spcPts val="100"/>
              </a:spcAft>
            </a:pPr>
            <a:r>
              <a:rPr sz="1150" b="0" i="0">
                <a:solidFill>
                  <a:srgbClr val="2A3550"/>
                </a:solidFill>
                <a:latin typeface="Arial"/>
              </a:rPr>
              <a:t>● Clarifying questions</a:t>
            </a:r>
          </a:p>
          <a:p>
            <a:pPr algn="l">
              <a:lnSpc>
                <a:spcPct val="112000"/>
              </a:lnSpc>
              <a:spcAft>
                <a:spcPts val="100"/>
              </a:spcAft>
            </a:pPr>
            <a:r>
              <a:rPr sz="1150" b="0" i="0">
                <a:solidFill>
                  <a:srgbClr val="2A3550"/>
                </a:solidFill>
                <a:latin typeface="Arial"/>
              </a:rPr>
              <a:t>○ Attachments</a:t>
            </a:r>
          </a:p>
        </p:txBody>
      </p:sp>
      <p:sp>
        <p:nvSpPr>
          <p:cNvPr id="12" name="Rounded Rectangle 11"/>
          <p:cNvSpPr/>
          <p:nvPr/>
        </p:nvSpPr>
        <p:spPr>
          <a:xfrm>
            <a:off x="3363391"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workflow-C2571A.png"/>
          <p:cNvPicPr>
            <a:picLocks noChangeAspect="1"/>
          </p:cNvPicPr>
          <p:nvPr/>
        </p:nvPicPr>
        <p:blipFill>
          <a:blip r:embed="rId4"/>
          <a:stretch>
            <a:fillRect/>
          </a:stretch>
        </p:blipFill>
        <p:spPr>
          <a:xfrm>
            <a:off x="3564559" y="1664208"/>
            <a:ext cx="292608" cy="292608"/>
          </a:xfrm>
          <a:prstGeom prst="rect">
            <a:avLst/>
          </a:prstGeom>
        </p:spPr>
      </p:pic>
      <p:sp>
        <p:nvSpPr>
          <p:cNvPr id="14" name="TextBox 13"/>
          <p:cNvSpPr txBox="1"/>
          <p:nvPr/>
        </p:nvSpPr>
        <p:spPr>
          <a:xfrm>
            <a:off x="3966895"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Multi-agent planning</a:t>
            </a:r>
          </a:p>
        </p:txBody>
      </p:sp>
      <p:sp>
        <p:nvSpPr>
          <p:cNvPr id="15" name="TextBox 14"/>
          <p:cNvSpPr txBox="1"/>
          <p:nvPr/>
        </p:nvSpPr>
        <p:spPr>
          <a:xfrm>
            <a:off x="3564559"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Supervisor delegation</a:t>
            </a:r>
          </a:p>
          <a:p>
            <a:pPr algn="l">
              <a:lnSpc>
                <a:spcPct val="112000"/>
              </a:lnSpc>
              <a:spcAft>
                <a:spcPts val="100"/>
              </a:spcAft>
            </a:pPr>
            <a:r>
              <a:rPr sz="1150" b="0" i="0">
                <a:solidFill>
                  <a:srgbClr val="2A3550"/>
                </a:solidFill>
                <a:latin typeface="Arial"/>
              </a:rPr>
              <a:t>● Staged planning board</a:t>
            </a:r>
          </a:p>
          <a:p>
            <a:pPr algn="l">
              <a:lnSpc>
                <a:spcPct val="112000"/>
              </a:lnSpc>
              <a:spcAft>
                <a:spcPts val="100"/>
              </a:spcAft>
            </a:pPr>
            <a:r>
              <a:rPr sz="1150" b="0" i="0">
                <a:solidFill>
                  <a:srgbClr val="2A3550"/>
                </a:solidFill>
                <a:latin typeface="Arial"/>
              </a:rPr>
              <a:t>● Conflict detection</a:t>
            </a:r>
          </a:p>
          <a:p>
            <a:pPr algn="l">
              <a:lnSpc>
                <a:spcPct val="112000"/>
              </a:lnSpc>
              <a:spcAft>
                <a:spcPts val="100"/>
              </a:spcAft>
            </a:pPr>
            <a:r>
              <a:rPr sz="1150" b="0" i="0">
                <a:solidFill>
                  <a:srgbClr val="2A3550"/>
                </a:solidFill>
                <a:latin typeface="Arial"/>
              </a:rPr>
              <a:t>   ⊗ budget, time, geography, infeasible</a:t>
            </a:r>
          </a:p>
          <a:p>
            <a:pPr algn="l">
              <a:lnSpc>
                <a:spcPct val="112000"/>
              </a:lnSpc>
              <a:spcAft>
                <a:spcPts val="100"/>
              </a:spcAft>
            </a:pPr>
            <a:r>
              <a:rPr sz="1150" b="0" i="0">
                <a:solidFill>
                  <a:srgbClr val="2A3550"/>
                </a:solidFill>
                <a:latin typeface="Arial"/>
              </a:rPr>
              <a:t>● Targeted revision ≤ 3</a:t>
            </a:r>
          </a:p>
        </p:txBody>
      </p:sp>
      <p:sp>
        <p:nvSpPr>
          <p:cNvPr id="16" name="Rounded Rectangle 15"/>
          <p:cNvSpPr/>
          <p:nvPr/>
        </p:nvSpPr>
        <p:spPr>
          <a:xfrm>
            <a:off x="6178143"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oxes-C2571A.png"/>
          <p:cNvPicPr>
            <a:picLocks noChangeAspect="1"/>
          </p:cNvPicPr>
          <p:nvPr/>
        </p:nvPicPr>
        <p:blipFill>
          <a:blip r:embed="rId5"/>
          <a:stretch>
            <a:fillRect/>
          </a:stretch>
        </p:blipFill>
        <p:spPr>
          <a:xfrm>
            <a:off x="6379311" y="1664208"/>
            <a:ext cx="292608" cy="292608"/>
          </a:xfrm>
          <a:prstGeom prst="rect">
            <a:avLst/>
          </a:prstGeom>
        </p:spPr>
      </p:pic>
      <p:sp>
        <p:nvSpPr>
          <p:cNvPr id="18" name="TextBox 17"/>
          <p:cNvSpPr txBox="1"/>
          <p:nvPr/>
        </p:nvSpPr>
        <p:spPr>
          <a:xfrm>
            <a:off x="6781647"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roles</a:t>
            </a:r>
          </a:p>
        </p:txBody>
      </p:sp>
      <p:sp>
        <p:nvSpPr>
          <p:cNvPr id="19" name="TextBox 18"/>
          <p:cNvSpPr txBox="1"/>
          <p:nvPr/>
        </p:nvSpPr>
        <p:spPr>
          <a:xfrm>
            <a:off x="6379311"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Itinerary  ● Dining</a:t>
            </a:r>
          </a:p>
          <a:p>
            <a:pPr algn="l">
              <a:lnSpc>
                <a:spcPct val="112000"/>
              </a:lnSpc>
              <a:spcAft>
                <a:spcPts val="100"/>
              </a:spcAft>
            </a:pPr>
            <a:r>
              <a:rPr sz="1150" b="0" i="0">
                <a:solidFill>
                  <a:srgbClr val="2A3550"/>
                </a:solidFill>
                <a:latin typeface="Arial"/>
              </a:rPr>
              <a:t>● Transport</a:t>
            </a:r>
          </a:p>
          <a:p>
            <a:pPr algn="l">
              <a:lnSpc>
                <a:spcPct val="112000"/>
              </a:lnSpc>
              <a:spcAft>
                <a:spcPts val="100"/>
              </a:spcAft>
            </a:pPr>
            <a:r>
              <a:rPr sz="1150" b="0" i="0">
                <a:solidFill>
                  <a:srgbClr val="2A3550"/>
                </a:solidFill>
                <a:latin typeface="Arial"/>
              </a:rPr>
              <a:t>   ○ Traveller arranges flights</a:t>
            </a:r>
          </a:p>
          <a:p>
            <a:pPr algn="l">
              <a:lnSpc>
                <a:spcPct val="112000"/>
              </a:lnSpc>
              <a:spcAft>
                <a:spcPts val="100"/>
              </a:spcAft>
            </a:pPr>
            <a:r>
              <a:rPr sz="1150" b="0" i="0">
                <a:solidFill>
                  <a:srgbClr val="2A3550"/>
                </a:solidFill>
                <a:latin typeface="Arial"/>
              </a:rPr>
              <a:t>● Accommodation</a:t>
            </a:r>
          </a:p>
          <a:p>
            <a:pPr algn="l">
              <a:lnSpc>
                <a:spcPct val="112000"/>
              </a:lnSpc>
              <a:spcAft>
                <a:spcPts val="100"/>
              </a:spcAft>
            </a:pPr>
            <a:r>
              <a:rPr sz="1150" b="0" i="0">
                <a:solidFill>
                  <a:srgbClr val="2A3550"/>
                </a:solidFill>
                <a:latin typeface="Arial"/>
              </a:rPr>
              <a:t>   ⊕ shared | individual  ○ booked</a:t>
            </a:r>
          </a:p>
          <a:p>
            <a:pPr algn="l">
              <a:lnSpc>
                <a:spcPct val="112000"/>
              </a:lnSpc>
              <a:spcAft>
                <a:spcPts val="100"/>
              </a:spcAft>
            </a:pPr>
            <a:r>
              <a:rPr sz="1150" b="0" i="0">
                <a:solidFill>
                  <a:srgbClr val="2A3550"/>
                </a:solidFill>
                <a:latin typeface="Arial"/>
              </a:rPr>
              <a:t>● Destination  ○ packing</a:t>
            </a:r>
          </a:p>
        </p:txBody>
      </p:sp>
      <p:sp>
        <p:nvSpPr>
          <p:cNvPr id="20" name="Rounded Rectangle 19"/>
          <p:cNvSpPr/>
          <p:nvPr/>
        </p:nvSpPr>
        <p:spPr>
          <a:xfrm>
            <a:off x="8992895"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wallet-C2571A.png"/>
          <p:cNvPicPr>
            <a:picLocks noChangeAspect="1"/>
          </p:cNvPicPr>
          <p:nvPr/>
        </p:nvPicPr>
        <p:blipFill>
          <a:blip r:embed="rId6"/>
          <a:stretch>
            <a:fillRect/>
          </a:stretch>
        </p:blipFill>
        <p:spPr>
          <a:xfrm>
            <a:off x="9194063" y="1664208"/>
            <a:ext cx="292608" cy="292608"/>
          </a:xfrm>
          <a:prstGeom prst="rect">
            <a:avLst/>
          </a:prstGeom>
        </p:spPr>
      </p:pic>
      <p:sp>
        <p:nvSpPr>
          <p:cNvPr id="22" name="TextBox 21"/>
          <p:cNvSpPr txBox="1"/>
          <p:nvPr/>
        </p:nvSpPr>
        <p:spPr>
          <a:xfrm>
            <a:off x="9596399"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Budget</a:t>
            </a:r>
          </a:p>
        </p:txBody>
      </p:sp>
      <p:sp>
        <p:nvSpPr>
          <p:cNvPr id="23" name="TextBox 22"/>
          <p:cNvSpPr txBox="1"/>
          <p:nvPr/>
        </p:nvSpPr>
        <p:spPr>
          <a:xfrm>
            <a:off x="9194063"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Cost roll-up in AUD</a:t>
            </a:r>
          </a:p>
          <a:p>
            <a:pPr algn="l">
              <a:lnSpc>
                <a:spcPct val="112000"/>
              </a:lnSpc>
              <a:spcAft>
                <a:spcPts val="100"/>
              </a:spcAft>
            </a:pPr>
            <a:r>
              <a:rPr sz="1150" b="0" i="0">
                <a:solidFill>
                  <a:srgbClr val="2A3550"/>
                </a:solidFill>
                <a:latin typeface="Arial"/>
              </a:rPr>
              <a:t>● Stage allocation</a:t>
            </a:r>
          </a:p>
          <a:p>
            <a:pPr algn="l">
              <a:lnSpc>
                <a:spcPct val="112000"/>
              </a:lnSpc>
              <a:spcAft>
                <a:spcPts val="100"/>
              </a:spcAft>
            </a:pPr>
            <a:r>
              <a:rPr sz="1150" b="0" i="0">
                <a:solidFill>
                  <a:srgbClr val="2A3550"/>
                </a:solidFill>
                <a:latin typeface="Arial"/>
              </a:rPr>
              <a:t>● Minimum-cost floor</a:t>
            </a:r>
          </a:p>
        </p:txBody>
      </p:sp>
      <p:sp>
        <p:nvSpPr>
          <p:cNvPr id="24" name="Rounded Rectangle 23"/>
          <p:cNvSpPr/>
          <p:nvPr/>
        </p:nvSpPr>
        <p:spPr>
          <a:xfrm>
            <a:off x="548640"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hield-check-C2571A.png"/>
          <p:cNvPicPr>
            <a:picLocks noChangeAspect="1"/>
          </p:cNvPicPr>
          <p:nvPr/>
        </p:nvPicPr>
        <p:blipFill>
          <a:blip r:embed="rId7"/>
          <a:stretch>
            <a:fillRect/>
          </a:stretch>
        </p:blipFill>
        <p:spPr>
          <a:xfrm>
            <a:off x="749808" y="3703320"/>
            <a:ext cx="292608" cy="292608"/>
          </a:xfrm>
          <a:prstGeom prst="rect">
            <a:avLst/>
          </a:prstGeom>
        </p:spPr>
      </p:pic>
      <p:sp>
        <p:nvSpPr>
          <p:cNvPr id="26" name="TextBox 25"/>
          <p:cNvSpPr txBox="1"/>
          <p:nvPr/>
        </p:nvSpPr>
        <p:spPr>
          <a:xfrm>
            <a:off x="1152144"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Evidence &amp; tools</a:t>
            </a:r>
          </a:p>
        </p:txBody>
      </p:sp>
      <p:sp>
        <p:nvSpPr>
          <p:cNvPr id="27" name="TextBox 26"/>
          <p:cNvSpPr txBox="1"/>
          <p:nvPr/>
        </p:nvSpPr>
        <p:spPr>
          <a:xfrm>
            <a:off x="749808"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Live providers | mock fixtures</a:t>
            </a:r>
          </a:p>
          <a:p>
            <a:pPr algn="l">
              <a:lnSpc>
                <a:spcPct val="112000"/>
              </a:lnSpc>
              <a:spcAft>
                <a:spcPts val="100"/>
              </a:spcAft>
            </a:pPr>
            <a:r>
              <a:rPr sz="1150" b="0" i="0">
                <a:solidFill>
                  <a:srgbClr val="2A3550"/>
                </a:solidFill>
                <a:latin typeface="Arial"/>
              </a:rPr>
              <a:t>● Provenance labels</a:t>
            </a:r>
          </a:p>
        </p:txBody>
      </p:sp>
      <p:sp>
        <p:nvSpPr>
          <p:cNvPr id="28" name="Rounded Rectangle 27"/>
          <p:cNvSpPr/>
          <p:nvPr/>
        </p:nvSpPr>
        <p:spPr>
          <a:xfrm>
            <a:off x="3363391"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monitor-C2571A.png"/>
          <p:cNvPicPr>
            <a:picLocks noChangeAspect="1"/>
          </p:cNvPicPr>
          <p:nvPr/>
        </p:nvPicPr>
        <p:blipFill>
          <a:blip r:embed="rId8"/>
          <a:stretch>
            <a:fillRect/>
          </a:stretch>
        </p:blipFill>
        <p:spPr>
          <a:xfrm>
            <a:off x="3564559" y="3703320"/>
            <a:ext cx="292608" cy="292608"/>
          </a:xfrm>
          <a:prstGeom prst="rect">
            <a:avLst/>
          </a:prstGeom>
        </p:spPr>
      </p:pic>
      <p:sp>
        <p:nvSpPr>
          <p:cNvPr id="30" name="TextBox 29"/>
          <p:cNvSpPr txBox="1"/>
          <p:nvPr/>
        </p:nvSpPr>
        <p:spPr>
          <a:xfrm>
            <a:off x="3966895"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Workspace</a:t>
            </a:r>
          </a:p>
        </p:txBody>
      </p:sp>
      <p:sp>
        <p:nvSpPr>
          <p:cNvPr id="31" name="TextBox 30"/>
          <p:cNvSpPr txBox="1"/>
          <p:nvPr/>
        </p:nvSpPr>
        <p:spPr>
          <a:xfrm>
            <a:off x="3564559"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Timeline | map</a:t>
            </a:r>
          </a:p>
          <a:p>
            <a:pPr algn="l">
              <a:lnSpc>
                <a:spcPct val="112000"/>
              </a:lnSpc>
              <a:spcAft>
                <a:spcPts val="100"/>
              </a:spcAft>
            </a:pPr>
            <a:r>
              <a:rPr sz="1150" b="0" i="0">
                <a:solidFill>
                  <a:srgbClr val="2A3550"/>
                </a:solidFill>
                <a:latin typeface="Arial"/>
              </a:rPr>
              <a:t>● Plan editing</a:t>
            </a:r>
          </a:p>
          <a:p>
            <a:pPr algn="l">
              <a:lnSpc>
                <a:spcPct val="112000"/>
              </a:lnSpc>
              <a:spcAft>
                <a:spcPts val="100"/>
              </a:spcAft>
            </a:pPr>
            <a:r>
              <a:rPr sz="1150" b="0" i="0">
                <a:solidFill>
                  <a:srgbClr val="2A3550"/>
                </a:solidFill>
                <a:latin typeface="Arial"/>
              </a:rPr>
              <a:t>● Preferences &amp; filters</a:t>
            </a:r>
          </a:p>
          <a:p>
            <a:pPr algn="l">
              <a:lnSpc>
                <a:spcPct val="112000"/>
              </a:lnSpc>
              <a:spcAft>
                <a:spcPts val="100"/>
              </a:spcAft>
            </a:pPr>
            <a:r>
              <a:rPr sz="1150" b="0" i="0">
                <a:solidFill>
                  <a:srgbClr val="2A3550"/>
                </a:solidFill>
                <a:latin typeface="Arial"/>
              </a:rPr>
              <a:t>○ Accounts &amp; cloud sync</a:t>
            </a:r>
          </a:p>
          <a:p>
            <a:pPr algn="l">
              <a:lnSpc>
                <a:spcPct val="112000"/>
              </a:lnSpc>
              <a:spcAft>
                <a:spcPts val="100"/>
              </a:spcAft>
            </a:pPr>
            <a:r>
              <a:rPr sz="1150" b="0" i="0">
                <a:solidFill>
                  <a:srgbClr val="2A3550"/>
                </a:solidFill>
                <a:latin typeface="Arial"/>
              </a:rPr>
              <a:t>○ Agent Lab</a:t>
            </a:r>
          </a:p>
        </p:txBody>
      </p:sp>
      <p:sp>
        <p:nvSpPr>
          <p:cNvPr id="32" name="Rounded Rectangle 31"/>
          <p:cNvSpPr/>
          <p:nvPr/>
        </p:nvSpPr>
        <p:spPr>
          <a:xfrm>
            <a:off x="6178143"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cpu-C2571A.png"/>
          <p:cNvPicPr>
            <a:picLocks noChangeAspect="1"/>
          </p:cNvPicPr>
          <p:nvPr/>
        </p:nvPicPr>
        <p:blipFill>
          <a:blip r:embed="rId9"/>
          <a:stretch>
            <a:fillRect/>
          </a:stretch>
        </p:blipFill>
        <p:spPr>
          <a:xfrm>
            <a:off x="6379311" y="3703320"/>
            <a:ext cx="292608" cy="292608"/>
          </a:xfrm>
          <a:prstGeom prst="rect">
            <a:avLst/>
          </a:prstGeom>
        </p:spPr>
      </p:pic>
      <p:sp>
        <p:nvSpPr>
          <p:cNvPr id="34" name="TextBox 33"/>
          <p:cNvSpPr txBox="1"/>
          <p:nvPr/>
        </p:nvSpPr>
        <p:spPr>
          <a:xfrm>
            <a:off x="6781647"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Memory</a:t>
            </a:r>
          </a:p>
        </p:txBody>
      </p:sp>
      <p:sp>
        <p:nvSpPr>
          <p:cNvPr id="35" name="TextBox 34"/>
          <p:cNvSpPr txBox="1"/>
          <p:nvPr/>
        </p:nvSpPr>
        <p:spPr>
          <a:xfrm>
            <a:off x="6379311"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Session chat history</a:t>
            </a:r>
          </a:p>
          <a:p>
            <a:pPr algn="l">
              <a:lnSpc>
                <a:spcPct val="112000"/>
              </a:lnSpc>
              <a:spcAft>
                <a:spcPts val="100"/>
              </a:spcAft>
            </a:pPr>
            <a:r>
              <a:rPr sz="1150" b="0" i="0">
                <a:solidFill>
                  <a:srgbClr val="2A3550"/>
                </a:solidFill>
                <a:latin typeface="Arial"/>
              </a:rPr>
              <a:t>● Long-term preferences</a:t>
            </a:r>
          </a:p>
          <a:p>
            <a:pPr algn="l">
              <a:lnSpc>
                <a:spcPct val="112000"/>
              </a:lnSpc>
              <a:spcAft>
                <a:spcPts val="100"/>
              </a:spcAft>
            </a:pPr>
            <a:r>
              <a:rPr sz="1150" b="0" i="0">
                <a:solidFill>
                  <a:srgbClr val="2A3550"/>
                </a:solidFill>
                <a:latin typeface="Arial"/>
              </a:rPr>
              <a:t>⊕ Redis REST | in-process</a:t>
            </a:r>
          </a:p>
        </p:txBody>
      </p:sp>
      <p:sp>
        <p:nvSpPr>
          <p:cNvPr id="36" name="Rounded Rectangle 35"/>
          <p:cNvSpPr/>
          <p:nvPr/>
        </p:nvSpPr>
        <p:spPr>
          <a:xfrm>
            <a:off x="8992895" y="3520440"/>
            <a:ext cx="2650159" cy="1874519"/>
          </a:xfrm>
          <a:prstGeom prst="roundRect">
            <a:avLst>
              <a:gd name="adj" fmla="val 58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221495" y="3703320"/>
            <a:ext cx="2238679" cy="1600199"/>
          </a:xfrm>
          <a:prstGeom prst="rect">
            <a:avLst/>
          </a:prstGeom>
          <a:noFill/>
        </p:spPr>
        <p:txBody>
          <a:bodyPr wrap="square" lIns="0" rIns="0" tIns="0" bIns="0" anchor="t">
            <a:spAutoFit/>
          </a:bodyPr>
          <a:lstStyle/>
          <a:p>
            <a:pPr algn="l">
              <a:lnSpc>
                <a:spcPct val="110000"/>
              </a:lnSpc>
              <a:spcAft>
                <a:spcPts val="200"/>
              </a:spcAft>
            </a:pPr>
            <a:r>
              <a:rPr sz="1050" b="1" i="0">
                <a:solidFill>
                  <a:srgbClr val="F2A65A"/>
                </a:solidFill>
                <a:latin typeface="Arial"/>
              </a:rPr>
              <a:t>Notation</a:t>
            </a:r>
          </a:p>
          <a:p>
            <a:pPr algn="l">
              <a:lnSpc>
                <a:spcPct val="110000"/>
              </a:lnSpc>
              <a:spcAft>
                <a:spcPts val="200"/>
              </a:spcAft>
            </a:pPr>
            <a:r>
              <a:rPr sz="1050" b="0" i="0">
                <a:solidFill>
                  <a:srgbClr val="DDE3EE"/>
                </a:solidFill>
                <a:latin typeface="Arial"/>
              </a:rPr>
              <a:t>● mandatory   ○ optional</a:t>
            </a:r>
          </a:p>
          <a:p>
            <a:pPr algn="l">
              <a:lnSpc>
                <a:spcPct val="110000"/>
              </a:lnSpc>
              <a:spcAft>
                <a:spcPts val="200"/>
              </a:spcAft>
            </a:pPr>
            <a:r>
              <a:rPr sz="1050" b="0" i="0">
                <a:solidFill>
                  <a:srgbClr val="DDE3EE"/>
                </a:solidFill>
                <a:latin typeface="Arial"/>
              </a:rPr>
              <a:t>⊕ exactly one   ⊗ one or more</a:t>
            </a:r>
          </a:p>
          <a:p>
            <a:pPr algn="l">
              <a:lnSpc>
                <a:spcPct val="110000"/>
              </a:lnSpc>
              <a:spcAft>
                <a:spcPts val="200"/>
              </a:spcAft>
            </a:pPr>
            <a:r>
              <a:rPr sz="1050" b="1" i="0">
                <a:solidFill>
                  <a:srgbClr val="F2A65A"/>
                </a:solidFill>
                <a:latin typeface="Arial"/>
              </a:rPr>
              <a:t>Constraints</a:t>
            </a:r>
          </a:p>
          <a:p>
            <a:pPr algn="l">
              <a:lnSpc>
                <a:spcPct val="110000"/>
              </a:lnSpc>
              <a:spcAft>
                <a:spcPts val="200"/>
              </a:spcAft>
            </a:pPr>
            <a:r>
              <a:rPr sz="1050" b="0" i="0">
                <a:solidFill>
                  <a:srgbClr val="DDE3EE"/>
                </a:solidFill>
                <a:latin typeface="Arial"/>
              </a:rPr>
              <a:t>Revision requires conflict detection; infeasible budget requires the floor; live providers require keys.</a:t>
            </a:r>
          </a:p>
        </p:txBody>
      </p:sp>
      <p:sp>
        <p:nvSpPr>
          <p:cNvPr id="38" name="TextBox 37"/>
          <p:cNvSpPr txBox="1"/>
          <p:nvPr/>
        </p:nvSpPr>
        <p:spPr>
          <a:xfrm>
            <a:off x="548640" y="5943600"/>
            <a:ext cx="11094415" cy="274320"/>
          </a:xfrm>
          <a:prstGeom prst="rect">
            <a:avLst/>
          </a:prstGeom>
          <a:noFill/>
        </p:spPr>
        <p:txBody>
          <a:bodyPr wrap="square" lIns="0" rIns="0" tIns="0" bIns="0" anchor="t">
            <a:spAutoFit/>
          </a:bodyPr>
          <a:lstStyle/>
          <a:p>
            <a:pPr algn="l">
              <a:lnSpc>
                <a:spcPct val="115000"/>
              </a:lnSpc>
              <a:spcAft>
                <a:spcPts val="0"/>
              </a:spcAft>
            </a:pPr>
            <a:r>
              <a:rPr sz="1200" b="1" i="0">
                <a:solidFill>
                  <a:srgbClr val="C2571A"/>
                </a:solidFill>
                <a:latin typeface="Arial"/>
              </a:rPr>
              <a:t>Non-functional:  </a:t>
            </a:r>
            <a:r>
              <a:rPr sz="1200" b="0" i="0">
                <a:solidFill>
                  <a:srgbClr val="2A3550"/>
                </a:solidFill>
                <a:latin typeface="Arial"/>
              </a:rPr>
              <a:t>schema checks at every boundary · money in integer cents · a provenance label on every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USE CASES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Ten use cases, one traveller, three external systems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08 / 24</a:t>
            </a:r>
          </a:p>
        </p:txBody>
      </p:sp>
      <p:sp>
        <p:nvSpPr>
          <p:cNvPr id="8" name="Rounded Rectangle 7"/>
          <p:cNvSpPr/>
          <p:nvPr/>
        </p:nvSpPr>
        <p:spPr>
          <a:xfrm>
            <a:off x="548640" y="1481328"/>
            <a:ext cx="3931920" cy="4754880"/>
          </a:xfrm>
          <a:prstGeom prst="roundRect">
            <a:avLst>
              <a:gd name="adj" fmla="val 279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use-case.png"/>
          <p:cNvPicPr>
            <a:picLocks noChangeAspect="1"/>
          </p:cNvPicPr>
          <p:nvPr/>
        </p:nvPicPr>
        <p:blipFill>
          <a:blip r:embed="rId3"/>
          <a:stretch>
            <a:fillRect/>
          </a:stretch>
        </p:blipFill>
        <p:spPr>
          <a:xfrm>
            <a:off x="715060" y="1609344"/>
            <a:ext cx="3599078" cy="4498848"/>
          </a:xfrm>
          <a:prstGeom prst="rect">
            <a:avLst/>
          </a:prstGeom>
        </p:spPr>
      </p:pic>
      <p:sp>
        <p:nvSpPr>
          <p:cNvPr id="10" name="TextBox 9"/>
          <p:cNvSpPr txBox="1"/>
          <p:nvPr/>
        </p:nvSpPr>
        <p:spPr>
          <a:xfrm>
            <a:off x="4754879"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WHO OWNS WHICH USE CASE</a:t>
            </a:r>
          </a:p>
        </p:txBody>
      </p:sp>
      <p:sp>
        <p:nvSpPr>
          <p:cNvPr id="11" name="Rounded Rectangle 10"/>
          <p:cNvSpPr/>
          <p:nvPr/>
        </p:nvSpPr>
        <p:spPr>
          <a:xfrm>
            <a:off x="4754879" y="184708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901183" y="1965960"/>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3" name="TextBox 12"/>
          <p:cNvSpPr txBox="1"/>
          <p:nvPr/>
        </p:nvSpPr>
        <p:spPr>
          <a:xfrm>
            <a:off x="5321807" y="184708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Generate Itinerary</a:t>
            </a:r>
          </a:p>
        </p:txBody>
      </p:sp>
      <p:sp>
        <p:nvSpPr>
          <p:cNvPr id="14" name="TextBox 13"/>
          <p:cNvSpPr txBox="1"/>
          <p:nvPr/>
        </p:nvSpPr>
        <p:spPr>
          <a:xfrm>
            <a:off x="9326880" y="1847088"/>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«include» three use cases</a:t>
            </a:r>
          </a:p>
        </p:txBody>
      </p:sp>
      <p:sp>
        <p:nvSpPr>
          <p:cNvPr id="15" name="Rounded Rectangle 14"/>
          <p:cNvSpPr/>
          <p:nvPr/>
        </p:nvSpPr>
        <p:spPr>
          <a:xfrm>
            <a:off x="4754879" y="246888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01183" y="2587752"/>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17" name="TextBox 16"/>
          <p:cNvSpPr txBox="1"/>
          <p:nvPr/>
        </p:nvSpPr>
        <p:spPr>
          <a:xfrm>
            <a:off x="5321807" y="246888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Transportation</a:t>
            </a:r>
          </a:p>
        </p:txBody>
      </p:sp>
      <p:sp>
        <p:nvSpPr>
          <p:cNvPr id="18" name="TextBox 17"/>
          <p:cNvSpPr txBox="1"/>
          <p:nvPr/>
        </p:nvSpPr>
        <p:spPr>
          <a:xfrm>
            <a:off x="9326880" y="2468880"/>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Maps / Routes API</a:t>
            </a:r>
          </a:p>
        </p:txBody>
      </p:sp>
      <p:sp>
        <p:nvSpPr>
          <p:cNvPr id="19" name="Rounded Rectangle 18"/>
          <p:cNvSpPr/>
          <p:nvPr/>
        </p:nvSpPr>
        <p:spPr>
          <a:xfrm>
            <a:off x="4754879" y="3090672"/>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901183" y="3209544"/>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1" name="TextBox 20"/>
          <p:cNvSpPr txBox="1"/>
          <p:nvPr/>
        </p:nvSpPr>
        <p:spPr>
          <a:xfrm>
            <a:off x="5321807" y="3090672"/>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Accommodation</a:t>
            </a:r>
          </a:p>
        </p:txBody>
      </p:sp>
      <p:sp>
        <p:nvSpPr>
          <p:cNvPr id="22" name="TextBox 21"/>
          <p:cNvSpPr txBox="1"/>
          <p:nvPr/>
        </p:nvSpPr>
        <p:spPr>
          <a:xfrm>
            <a:off x="9326880" y="3090672"/>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Hotel search</a:t>
            </a:r>
          </a:p>
        </p:txBody>
      </p:sp>
      <p:sp>
        <p:nvSpPr>
          <p:cNvPr id="23" name="Rounded Rectangle 22"/>
          <p:cNvSpPr/>
          <p:nvPr/>
        </p:nvSpPr>
        <p:spPr>
          <a:xfrm>
            <a:off x="4754879" y="3712464"/>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901183" y="383133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5" name="TextBox 24"/>
          <p:cNvSpPr txBox="1"/>
          <p:nvPr/>
        </p:nvSpPr>
        <p:spPr>
          <a:xfrm>
            <a:off x="5321807" y="3712464"/>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Manage Budget</a:t>
            </a:r>
          </a:p>
        </p:txBody>
      </p:sp>
      <p:sp>
        <p:nvSpPr>
          <p:cNvPr id="26" name="TextBox 25"/>
          <p:cNvSpPr txBox="1"/>
          <p:nvPr/>
        </p:nvSpPr>
        <p:spPr>
          <a:xfrm>
            <a:off x="9326880" y="3712464"/>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«extend» Edit Itinerary</a:t>
            </a:r>
          </a:p>
        </p:txBody>
      </p:sp>
      <p:sp>
        <p:nvSpPr>
          <p:cNvPr id="27" name="Rounded Rectangle 26"/>
          <p:cNvSpPr/>
          <p:nvPr/>
        </p:nvSpPr>
        <p:spPr>
          <a:xfrm>
            <a:off x="4754879" y="4334256"/>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901183" y="4453128"/>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29" name="TextBox 28"/>
          <p:cNvSpPr txBox="1"/>
          <p:nvPr/>
        </p:nvSpPr>
        <p:spPr>
          <a:xfrm>
            <a:off x="5321807" y="4334256"/>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Weather clothing advice</a:t>
            </a:r>
          </a:p>
        </p:txBody>
      </p:sp>
      <p:sp>
        <p:nvSpPr>
          <p:cNvPr id="30" name="TextBox 29"/>
          <p:cNvSpPr txBox="1"/>
          <p:nvPr/>
        </p:nvSpPr>
        <p:spPr>
          <a:xfrm>
            <a:off x="9326880" y="4334256"/>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Weather API</a:t>
            </a:r>
          </a:p>
        </p:txBody>
      </p:sp>
      <p:sp>
        <p:nvSpPr>
          <p:cNvPr id="31" name="Rounded Rectangle 30"/>
          <p:cNvSpPr/>
          <p:nvPr/>
        </p:nvSpPr>
        <p:spPr>
          <a:xfrm>
            <a:off x="4754879" y="495604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901183" y="5074920"/>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3" name="TextBox 32"/>
          <p:cNvSpPr txBox="1"/>
          <p:nvPr/>
        </p:nvSpPr>
        <p:spPr>
          <a:xfrm>
            <a:off x="5321807" y="495604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Food recommendation</a:t>
            </a:r>
          </a:p>
        </p:txBody>
      </p:sp>
      <p:sp>
        <p:nvSpPr>
          <p:cNvPr id="34" name="Rounded Rectangle 33"/>
          <p:cNvSpPr/>
          <p:nvPr/>
        </p:nvSpPr>
        <p:spPr>
          <a:xfrm>
            <a:off x="4754879" y="557784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4901183" y="5696712"/>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36" name="TextBox 35"/>
          <p:cNvSpPr txBox="1"/>
          <p:nvPr/>
        </p:nvSpPr>
        <p:spPr>
          <a:xfrm>
            <a:off x="5321807" y="557784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Set Preferences · Submit Requirement · Edit ·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UC-B1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picks offered fares; code checks every hop</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09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6B4FA0"/>
                </a:solidFill>
                <a:latin typeface="Arial"/>
              </a:rPr>
              <a:t>Ad hoc requirement  </a:t>
            </a:r>
            <a:r>
              <a:rPr sz="1200" b="0" i="0">
                <a:solidFill>
                  <a:srgbClr val="2A3550"/>
                </a:solidFill>
                <a:latin typeface="Arial"/>
              </a:rPr>
              <a:t>AH-B1: use real fares and times; honour my train choice or say it is unavailable</a:t>
            </a:r>
            <a:r>
              <a:rPr sz="1200" b="1" i="0">
                <a:solidFill>
                  <a:srgbClr val="6B4FA0"/>
                </a:solidFill>
                <a:latin typeface="Arial"/>
              </a:rPr>
              <a:t>      Use case  </a:t>
            </a:r>
            <a:r>
              <a:rPr sz="1200" b="0" i="0">
                <a:solidFill>
                  <a:srgbClr val="2A3550"/>
                </a:solidFill>
                <a:latin typeface="Arial"/>
              </a:rPr>
              <a:t>UC-B1 Arrange Transportation</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ctivity.png"/>
          <p:cNvPicPr>
            <a:picLocks noChangeAspect="1"/>
          </p:cNvPicPr>
          <p:nvPr/>
        </p:nvPicPr>
        <p:blipFill>
          <a:blip r:embed="rId3"/>
          <a:stretch>
            <a:fillRect/>
          </a:stretch>
        </p:blipFill>
        <p:spPr>
          <a:xfrm>
            <a:off x="1682381" y="2679192"/>
            <a:ext cx="1308735"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sequence.png"/>
          <p:cNvPicPr>
            <a:picLocks noChangeAspect="1"/>
          </p:cNvPicPr>
          <p:nvPr/>
        </p:nvPicPr>
        <p:blipFill>
          <a:blip r:embed="rId4"/>
          <a:stretch>
            <a:fillRect/>
          </a:stretch>
        </p:blipFill>
        <p:spPr>
          <a:xfrm>
            <a:off x="4474930" y="2679192"/>
            <a:ext cx="3241833" cy="3429000"/>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state.png"/>
          <p:cNvPicPr>
            <a:picLocks noChangeAspect="1"/>
          </p:cNvPicPr>
          <p:nvPr/>
        </p:nvPicPr>
        <p:blipFill>
          <a:blip r:embed="rId5"/>
          <a:stretch>
            <a:fillRect/>
          </a:stretch>
        </p:blipFill>
        <p:spPr>
          <a:xfrm>
            <a:off x="9011983" y="2679192"/>
            <a:ext cx="1685925"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ACCOMMODATION AND BUDGET</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From one ad hoc requirement to two use cases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10 / 24</a:t>
            </a:r>
          </a:p>
        </p:txBody>
      </p:sp>
      <p:sp>
        <p:nvSpPr>
          <p:cNvPr id="8" name="Rounded Rectangle 7"/>
          <p:cNvSpPr/>
          <p:nvPr/>
        </p:nvSpPr>
        <p:spPr>
          <a:xfrm>
            <a:off x="548640" y="1481328"/>
            <a:ext cx="11094415" cy="1783080"/>
          </a:xfrm>
          <a:prstGeom prst="roundRect">
            <a:avLst>
              <a:gd name="adj" fmla="val 61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uote-F2A65A.png"/>
          <p:cNvPicPr>
            <a:picLocks noChangeAspect="1"/>
          </p:cNvPicPr>
          <p:nvPr/>
        </p:nvPicPr>
        <p:blipFill>
          <a:blip r:embed="rId3"/>
          <a:stretch>
            <a:fillRect/>
          </a:stretch>
        </p:blipFill>
        <p:spPr>
          <a:xfrm>
            <a:off x="868680" y="1755648"/>
            <a:ext cx="502920" cy="502920"/>
          </a:xfrm>
          <a:prstGeom prst="rect">
            <a:avLst/>
          </a:prstGeom>
        </p:spPr>
      </p:pic>
      <p:sp>
        <p:nvSpPr>
          <p:cNvPr id="10" name="TextBox 9"/>
          <p:cNvSpPr txBox="1"/>
          <p:nvPr/>
        </p:nvSpPr>
        <p:spPr>
          <a:xfrm>
            <a:off x="1645919" y="1709928"/>
            <a:ext cx="9631375" cy="1188720"/>
          </a:xfrm>
          <a:prstGeom prst="rect">
            <a:avLst/>
          </a:prstGeom>
          <a:noFill/>
        </p:spPr>
        <p:txBody>
          <a:bodyPr wrap="square" lIns="0" rIns="0" tIns="0" bIns="0" anchor="t">
            <a:spAutoFit/>
          </a:bodyPr>
          <a:lstStyle/>
          <a:p>
            <a:pPr algn="l">
              <a:lnSpc>
                <a:spcPct val="120000"/>
              </a:lnSpc>
              <a:spcAft>
                <a:spcPts val="0"/>
              </a:spcAft>
            </a:pPr>
            <a:r>
              <a:rPr sz="1650" b="0" i="1">
                <a:solidFill>
                  <a:srgbClr val="FFFFFF"/>
                </a:solidFill>
                <a:latin typeface="Georgia"/>
              </a:rPr>
              <a:t>Flights get paid first, so the hotel has to fit in whatever money is left. If the trip ends up over budget, swap the hotel for a cheaper one that still meets my rules. If no hotel can ever fit, tell me the minimum I'd need.</a:t>
            </a:r>
          </a:p>
        </p:txBody>
      </p:sp>
      <p:sp>
        <p:nvSpPr>
          <p:cNvPr id="11" name="TextBox 10"/>
          <p:cNvSpPr txBox="1"/>
          <p:nvPr/>
        </p:nvSpPr>
        <p:spPr>
          <a:xfrm>
            <a:off x="1645919" y="2898648"/>
            <a:ext cx="54864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AH-C1, in the traveller's words</a:t>
            </a:r>
          </a:p>
        </p:txBody>
      </p:sp>
      <p:sp>
        <p:nvSpPr>
          <p:cNvPr id="12" name="Rounded Rectangle 11"/>
          <p:cNvSpPr/>
          <p:nvPr/>
        </p:nvSpPr>
        <p:spPr>
          <a:xfrm>
            <a:off x="548640"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48640"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68680"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ed-double-C2571A.png"/>
          <p:cNvPicPr>
            <a:picLocks noChangeAspect="1"/>
          </p:cNvPicPr>
          <p:nvPr/>
        </p:nvPicPr>
        <p:blipFill>
          <a:blip r:embed="rId4"/>
          <a:stretch>
            <a:fillRect/>
          </a:stretch>
        </p:blipFill>
        <p:spPr>
          <a:xfrm>
            <a:off x="987552" y="3931920"/>
            <a:ext cx="329184" cy="329184"/>
          </a:xfrm>
          <a:prstGeom prst="rect">
            <a:avLst/>
          </a:prstGeom>
        </p:spPr>
      </p:pic>
      <p:sp>
        <p:nvSpPr>
          <p:cNvPr id="16" name="TextBox 15"/>
          <p:cNvSpPr txBox="1"/>
          <p:nvPr/>
        </p:nvSpPr>
        <p:spPr>
          <a:xfrm>
            <a:off x="1600200"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UC-C1  Arrange Accommodation</a:t>
            </a:r>
          </a:p>
        </p:txBody>
      </p:sp>
      <p:pic>
        <p:nvPicPr>
          <p:cNvPr id="17" name="Picture 16" descr="check-C2571A.png"/>
          <p:cNvPicPr>
            <a:picLocks noChangeAspect="1"/>
          </p:cNvPicPr>
          <p:nvPr/>
        </p:nvPicPr>
        <p:blipFill>
          <a:blip r:embed="rId5"/>
          <a:stretch>
            <a:fillRect/>
          </a:stretch>
        </p:blipFill>
        <p:spPr>
          <a:xfrm>
            <a:off x="914400" y="4581144"/>
            <a:ext cx="219456" cy="219456"/>
          </a:xfrm>
          <a:prstGeom prst="rect">
            <a:avLst/>
          </a:prstGeom>
        </p:spPr>
      </p:pic>
      <p:sp>
        <p:nvSpPr>
          <p:cNvPr id="18" name="TextBox 17"/>
          <p:cNvSpPr txBox="1"/>
          <p:nvPr/>
        </p:nvSpPr>
        <p:spPr>
          <a:xfrm>
            <a:off x="1280160"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party size</a:t>
            </a:r>
          </a:p>
        </p:txBody>
      </p:sp>
      <p:pic>
        <p:nvPicPr>
          <p:cNvPr id="19" name="Picture 18" descr="check-C2571A.png"/>
          <p:cNvPicPr>
            <a:picLocks noChangeAspect="1"/>
          </p:cNvPicPr>
          <p:nvPr/>
        </p:nvPicPr>
        <p:blipFill>
          <a:blip r:embed="rId5"/>
          <a:stretch>
            <a:fillRect/>
          </a:stretch>
        </p:blipFill>
        <p:spPr>
          <a:xfrm>
            <a:off x="914400" y="4992624"/>
            <a:ext cx="219456" cy="219456"/>
          </a:xfrm>
          <a:prstGeom prst="rect">
            <a:avLst/>
          </a:prstGeom>
        </p:spPr>
      </p:pic>
      <p:sp>
        <p:nvSpPr>
          <p:cNvPr id="20" name="TextBox 19"/>
          <p:cNvSpPr txBox="1"/>
          <p:nvPr/>
        </p:nvSpPr>
        <p:spPr>
          <a:xfrm>
            <a:off x="1280160"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Filter by rating and free cancellation</a:t>
            </a:r>
          </a:p>
        </p:txBody>
      </p:sp>
      <p:pic>
        <p:nvPicPr>
          <p:cNvPr id="21" name="Picture 20" descr="check-C2571A.png"/>
          <p:cNvPicPr>
            <a:picLocks noChangeAspect="1"/>
          </p:cNvPicPr>
          <p:nvPr/>
        </p:nvPicPr>
        <p:blipFill>
          <a:blip r:embed="rId5"/>
          <a:stretch>
            <a:fillRect/>
          </a:stretch>
        </p:blipFill>
        <p:spPr>
          <a:xfrm>
            <a:off x="914400" y="5404104"/>
            <a:ext cx="219456" cy="219456"/>
          </a:xfrm>
          <a:prstGeom prst="rect">
            <a:avLst/>
          </a:prstGeom>
        </p:spPr>
      </p:pic>
      <p:sp>
        <p:nvSpPr>
          <p:cNvPr id="22" name="TextBox 21"/>
          <p:cNvSpPr txBox="1"/>
          <p:nvPr/>
        </p:nvSpPr>
        <p:spPr>
          <a:xfrm>
            <a:off x="1280160"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LLM picks one candidate id</a:t>
            </a:r>
          </a:p>
        </p:txBody>
      </p:sp>
      <p:pic>
        <p:nvPicPr>
          <p:cNvPr id="23" name="Picture 22" descr="check-C2571A.png"/>
          <p:cNvPicPr>
            <a:picLocks noChangeAspect="1"/>
          </p:cNvPicPr>
          <p:nvPr/>
        </p:nvPicPr>
        <p:blipFill>
          <a:blip r:embed="rId5"/>
          <a:stretch>
            <a:fillRect/>
          </a:stretch>
        </p:blipFill>
        <p:spPr>
          <a:xfrm>
            <a:off x="914400" y="5815584"/>
            <a:ext cx="219456" cy="219456"/>
          </a:xfrm>
          <a:prstGeom prst="rect">
            <a:avLst/>
          </a:prstGeom>
        </p:spPr>
      </p:pic>
      <p:sp>
        <p:nvSpPr>
          <p:cNvPr id="24" name="TextBox 23"/>
          <p:cNvSpPr txBox="1"/>
          <p:nvPr/>
        </p:nvSpPr>
        <p:spPr>
          <a:xfrm>
            <a:off x="1280160"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Code validates and prices it in cents</a:t>
            </a:r>
          </a:p>
        </p:txBody>
      </p:sp>
      <p:sp>
        <p:nvSpPr>
          <p:cNvPr id="25" name="Rounded Rectangle 24"/>
          <p:cNvSpPr/>
          <p:nvPr/>
        </p:nvSpPr>
        <p:spPr>
          <a:xfrm>
            <a:off x="6233007"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233007"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553047"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wallet-C2571A.png"/>
          <p:cNvPicPr>
            <a:picLocks noChangeAspect="1"/>
          </p:cNvPicPr>
          <p:nvPr/>
        </p:nvPicPr>
        <p:blipFill>
          <a:blip r:embed="rId6"/>
          <a:stretch>
            <a:fillRect/>
          </a:stretch>
        </p:blipFill>
        <p:spPr>
          <a:xfrm>
            <a:off x="6671919" y="3931920"/>
            <a:ext cx="329184" cy="329184"/>
          </a:xfrm>
          <a:prstGeom prst="rect">
            <a:avLst/>
          </a:prstGeom>
        </p:spPr>
      </p:pic>
      <p:sp>
        <p:nvSpPr>
          <p:cNvPr id="29" name="TextBox 28"/>
          <p:cNvSpPr txBox="1"/>
          <p:nvPr/>
        </p:nvSpPr>
        <p:spPr>
          <a:xfrm>
            <a:off x="7284567"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UC-C2  Manage Budget</a:t>
            </a:r>
          </a:p>
        </p:txBody>
      </p:sp>
      <p:pic>
        <p:nvPicPr>
          <p:cNvPr id="30" name="Picture 29" descr="check-C2571A.png"/>
          <p:cNvPicPr>
            <a:picLocks noChangeAspect="1"/>
          </p:cNvPicPr>
          <p:nvPr/>
        </p:nvPicPr>
        <p:blipFill>
          <a:blip r:embed="rId5"/>
          <a:stretch>
            <a:fillRect/>
          </a:stretch>
        </p:blipFill>
        <p:spPr>
          <a:xfrm>
            <a:off x="6598767" y="4581144"/>
            <a:ext cx="219456" cy="219456"/>
          </a:xfrm>
          <a:prstGeom prst="rect">
            <a:avLst/>
          </a:prstGeom>
        </p:spPr>
      </p:pic>
      <p:sp>
        <p:nvSpPr>
          <p:cNvPr id="31" name="TextBox 30"/>
          <p:cNvSpPr txBox="1"/>
          <p:nvPr/>
        </p:nvSpPr>
        <p:spPr>
          <a:xfrm>
            <a:off x="6964527"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Roll up costs in AUD</a:t>
            </a:r>
          </a:p>
        </p:txBody>
      </p:sp>
      <p:pic>
        <p:nvPicPr>
          <p:cNvPr id="32" name="Picture 31" descr="check-C2571A.png"/>
          <p:cNvPicPr>
            <a:picLocks noChangeAspect="1"/>
          </p:cNvPicPr>
          <p:nvPr/>
        </p:nvPicPr>
        <p:blipFill>
          <a:blip r:embed="rId5"/>
          <a:stretch>
            <a:fillRect/>
          </a:stretch>
        </p:blipFill>
        <p:spPr>
          <a:xfrm>
            <a:off x="6598767" y="4992624"/>
            <a:ext cx="219456" cy="219456"/>
          </a:xfrm>
          <a:prstGeom prst="rect">
            <a:avLst/>
          </a:prstGeom>
        </p:spPr>
      </p:pic>
      <p:sp>
        <p:nvSpPr>
          <p:cNvPr id="33" name="TextBox 32"/>
          <p:cNvSpPr txBox="1"/>
          <p:nvPr/>
        </p:nvSpPr>
        <p:spPr>
          <a:xfrm>
            <a:off x="6964527"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Spread an overrun over what each section can still cut</a:t>
            </a:r>
          </a:p>
        </p:txBody>
      </p:sp>
      <p:pic>
        <p:nvPicPr>
          <p:cNvPr id="34" name="Picture 33" descr="check-C2571A.png"/>
          <p:cNvPicPr>
            <a:picLocks noChangeAspect="1"/>
          </p:cNvPicPr>
          <p:nvPr/>
        </p:nvPicPr>
        <p:blipFill>
          <a:blip r:embed="rId5"/>
          <a:stretch>
            <a:fillRect/>
          </a:stretch>
        </p:blipFill>
        <p:spPr>
          <a:xfrm>
            <a:off x="6598767" y="5404104"/>
            <a:ext cx="219456" cy="219456"/>
          </a:xfrm>
          <a:prstGeom prst="rect">
            <a:avLst/>
          </a:prstGeom>
        </p:spPr>
      </p:pic>
      <p:sp>
        <p:nvSpPr>
          <p:cNvPr id="35" name="TextBox 34"/>
          <p:cNvSpPr txBox="1"/>
          <p:nvPr/>
        </p:nvSpPr>
        <p:spPr>
          <a:xfrm>
            <a:off x="6964527"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Revise only the sections asked to save</a:t>
            </a:r>
          </a:p>
        </p:txBody>
      </p:sp>
      <p:pic>
        <p:nvPicPr>
          <p:cNvPr id="36" name="Picture 35" descr="check-C2571A.png"/>
          <p:cNvPicPr>
            <a:picLocks noChangeAspect="1"/>
          </p:cNvPicPr>
          <p:nvPr/>
        </p:nvPicPr>
        <p:blipFill>
          <a:blip r:embed="rId5"/>
          <a:stretch>
            <a:fillRect/>
          </a:stretch>
        </p:blipFill>
        <p:spPr>
          <a:xfrm>
            <a:off x="6598767" y="5815584"/>
            <a:ext cx="219456" cy="219456"/>
          </a:xfrm>
          <a:prstGeom prst="rect">
            <a:avLst/>
          </a:prstGeom>
        </p:spPr>
      </p:pic>
      <p:sp>
        <p:nvSpPr>
          <p:cNvPr id="37" name="TextBox 36"/>
          <p:cNvSpPr txBox="1"/>
          <p:nvPr/>
        </p:nvSpPr>
        <p:spPr>
          <a:xfrm>
            <a:off x="6964527"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Report the minimum budget when nothing fits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Object diagram: a Tokyo trip that is AUD 640 over budget</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11 / 24</a:t>
            </a:r>
          </a:p>
        </p:txBody>
      </p:sp>
      <p:sp>
        <p:nvSpPr>
          <p:cNvPr id="8" name="Rounded Rectangle 7"/>
          <p:cNvSpPr/>
          <p:nvPr/>
        </p:nvSpPr>
        <p:spPr>
          <a:xfrm>
            <a:off x="548640" y="1481328"/>
            <a:ext cx="11094415" cy="3383280"/>
          </a:xfrm>
          <a:prstGeom prst="roundRect">
            <a:avLst>
              <a:gd name="adj" fmla="val 32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object.png"/>
          <p:cNvPicPr>
            <a:picLocks noChangeAspect="1"/>
          </p:cNvPicPr>
          <p:nvPr/>
        </p:nvPicPr>
        <p:blipFill>
          <a:blip r:embed="rId3"/>
          <a:stretch>
            <a:fillRect/>
          </a:stretch>
        </p:blipFill>
        <p:spPr>
          <a:xfrm>
            <a:off x="1735143" y="1609344"/>
            <a:ext cx="8721408" cy="3127248"/>
          </a:xfrm>
          <a:prstGeom prst="rect">
            <a:avLst/>
          </a:prstGeom>
        </p:spPr>
      </p:pic>
      <p:sp>
        <p:nvSpPr>
          <p:cNvPr id="10" name="Oval 9"/>
          <p:cNvSpPr/>
          <p:nvPr/>
        </p:nvSpPr>
        <p:spPr>
          <a:xfrm>
            <a:off x="4127191" y="347362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1632868" y="319217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9316429" y="1534728"/>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Rounded Rectangle 12"/>
          <p:cNvSpPr/>
          <p:nvPr/>
        </p:nvSpPr>
        <p:spPr>
          <a:xfrm>
            <a:off x="548640"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49808"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1115568"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Budget vs total</a:t>
            </a:r>
          </a:p>
        </p:txBody>
      </p:sp>
      <p:sp>
        <p:nvSpPr>
          <p:cNvPr id="16" name="TextBox 15"/>
          <p:cNvSpPr txBox="1"/>
          <p:nvPr/>
        </p:nvSpPr>
        <p:spPr>
          <a:xfrm>
            <a:off x="749808"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2,300 vs 2,940</a:t>
            </a:r>
          </a:p>
        </p:txBody>
      </p:sp>
      <p:sp>
        <p:nvSpPr>
          <p:cNvPr id="17" name="TextBox 16"/>
          <p:cNvSpPr txBox="1"/>
          <p:nvPr/>
        </p:nvSpPr>
        <p:spPr>
          <a:xfrm>
            <a:off x="749808"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 by AUD 640</a:t>
            </a:r>
          </a:p>
        </p:txBody>
      </p:sp>
      <p:sp>
        <p:nvSpPr>
          <p:cNvPr id="18" name="Rounded Rectangle 17"/>
          <p:cNvSpPr/>
          <p:nvPr/>
        </p:nvSpPr>
        <p:spPr>
          <a:xfrm>
            <a:off x="4307738"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508906"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0" name="TextBox 19"/>
          <p:cNvSpPr txBox="1"/>
          <p:nvPr/>
        </p:nvSpPr>
        <p:spPr>
          <a:xfrm>
            <a:off x="4874666"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Accommodation asked to save</a:t>
            </a:r>
          </a:p>
        </p:txBody>
      </p:sp>
      <p:sp>
        <p:nvSpPr>
          <p:cNvPr id="21" name="TextBox 20"/>
          <p:cNvSpPr txBox="1"/>
          <p:nvPr/>
        </p:nvSpPr>
        <p:spPr>
          <a:xfrm>
            <a:off x="4508906"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379.26</a:t>
            </a:r>
          </a:p>
        </p:txBody>
      </p:sp>
      <p:sp>
        <p:nvSpPr>
          <p:cNvPr id="22" name="TextBox 21"/>
          <p:cNvSpPr txBox="1"/>
          <p:nvPr/>
        </p:nvSpPr>
        <p:spPr>
          <a:xfrm>
            <a:off x="4508906"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overrun spread by room to cut</a:t>
            </a:r>
          </a:p>
        </p:txBody>
      </p:sp>
      <p:sp>
        <p:nvSpPr>
          <p:cNvPr id="23" name="Rounded Rectangle 22"/>
          <p:cNvSpPr/>
          <p:nvPr/>
        </p:nvSpPr>
        <p:spPr>
          <a:xfrm>
            <a:off x="8066836"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68004"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8633764"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Hotel moves</a:t>
            </a:r>
          </a:p>
        </p:txBody>
      </p:sp>
      <p:sp>
        <p:nvSpPr>
          <p:cNvPr id="26" name="TextBox 25"/>
          <p:cNvSpPr txBox="1"/>
          <p:nvPr/>
        </p:nvSpPr>
        <p:spPr>
          <a:xfrm>
            <a:off x="8268004"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standard → saver</a:t>
            </a:r>
          </a:p>
        </p:txBody>
      </p:sp>
      <p:sp>
        <p:nvSpPr>
          <p:cNvPr id="27" name="TextBox 26"/>
          <p:cNvSpPr txBox="1"/>
          <p:nvPr/>
        </p:nvSpPr>
        <p:spPr>
          <a:xfrm>
            <a:off x="8268004"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AUD 1,520 → AUD 880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Collaboration and structured class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12 / 24</a:t>
            </a:r>
          </a:p>
        </p:txBody>
      </p:sp>
      <p:sp>
        <p:nvSpPr>
          <p:cNvPr id="8" name="TextBox 7"/>
          <p:cNvSpPr txBox="1"/>
          <p:nvPr/>
        </p:nvSpPr>
        <p:spPr>
          <a:xfrm>
            <a:off x="548640" y="148132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COLLABORATION  ·  NEGOTIATE TRIP PLAN</a:t>
            </a:r>
          </a:p>
        </p:txBody>
      </p:sp>
      <p:sp>
        <p:nvSpPr>
          <p:cNvPr id="9" name="Rounded Rectangle 8"/>
          <p:cNvSpPr/>
          <p:nvPr/>
        </p:nvSpPr>
        <p:spPr>
          <a:xfrm>
            <a:off x="548640" y="1801368"/>
            <a:ext cx="7863840" cy="1828800"/>
          </a:xfrm>
          <a:prstGeom prst="roundRect">
            <a:avLst>
              <a:gd name="adj" fmla="val 6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ollaboration.png"/>
          <p:cNvPicPr>
            <a:picLocks noChangeAspect="1"/>
          </p:cNvPicPr>
          <p:nvPr/>
        </p:nvPicPr>
        <p:blipFill>
          <a:blip r:embed="rId3"/>
          <a:stretch>
            <a:fillRect/>
          </a:stretch>
        </p:blipFill>
        <p:spPr>
          <a:xfrm>
            <a:off x="855079" y="1929384"/>
            <a:ext cx="7250961" cy="1572768"/>
          </a:xfrm>
          <a:prstGeom prst="rect">
            <a:avLst/>
          </a:prstGeom>
        </p:spPr>
      </p:pic>
      <p:sp>
        <p:nvSpPr>
          <p:cNvPr id="11" name="Oval 10"/>
          <p:cNvSpPr/>
          <p:nvPr/>
        </p:nvSpPr>
        <p:spPr>
          <a:xfrm>
            <a:off x="3292010" y="242133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2" name="TextBox 11"/>
          <p:cNvSpPr txBox="1"/>
          <p:nvPr/>
        </p:nvSpPr>
        <p:spPr>
          <a:xfrm>
            <a:off x="548640" y="385876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STRUCTURED CLASS  ·  TRIPPLANNINGWORKFLOW</a:t>
            </a:r>
          </a:p>
        </p:txBody>
      </p:sp>
      <p:sp>
        <p:nvSpPr>
          <p:cNvPr id="13" name="Rounded Rectangle 12"/>
          <p:cNvSpPr/>
          <p:nvPr/>
        </p:nvSpPr>
        <p:spPr>
          <a:xfrm>
            <a:off x="548640" y="4178808"/>
            <a:ext cx="7863840" cy="2057400"/>
          </a:xfrm>
          <a:prstGeom prst="roundRect">
            <a:avLst>
              <a:gd name="adj" fmla="val 533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ructured-class.png"/>
          <p:cNvPicPr>
            <a:picLocks noChangeAspect="1"/>
          </p:cNvPicPr>
          <p:nvPr/>
        </p:nvPicPr>
        <p:blipFill>
          <a:blip r:embed="rId4"/>
          <a:stretch>
            <a:fillRect/>
          </a:stretch>
        </p:blipFill>
        <p:spPr>
          <a:xfrm>
            <a:off x="2020954" y="4306824"/>
            <a:ext cx="4919210" cy="1801368"/>
          </a:xfrm>
          <a:prstGeom prst="rect">
            <a:avLst/>
          </a:prstGeom>
        </p:spPr>
      </p:pic>
      <p:sp>
        <p:nvSpPr>
          <p:cNvPr id="15" name="Oval 14"/>
          <p:cNvSpPr/>
          <p:nvPr/>
        </p:nvSpPr>
        <p:spPr>
          <a:xfrm>
            <a:off x="4195823" y="44758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6" name="Oval 15"/>
          <p:cNvSpPr/>
          <p:nvPr/>
        </p:nvSpPr>
        <p:spPr>
          <a:xfrm>
            <a:off x="5991335" y="420569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7" name="Oval 16"/>
          <p:cNvSpPr/>
          <p:nvPr/>
        </p:nvSpPr>
        <p:spPr>
          <a:xfrm>
            <a:off x="868680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8" name="TextBox 17"/>
          <p:cNvSpPr txBox="1"/>
          <p:nvPr/>
        </p:nvSpPr>
        <p:spPr>
          <a:xfrm>
            <a:off x="9070848" y="157276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Roles, not classes</a:t>
            </a:r>
          </a:p>
          <a:p>
            <a:pPr algn="l">
              <a:lnSpc>
                <a:spcPct val="115000"/>
              </a:lnSpc>
              <a:spcAft>
                <a:spcPts val="200"/>
              </a:spcAft>
            </a:pPr>
            <a:r>
              <a:rPr sz="1300" b="0" i="0">
                <a:solidFill>
                  <a:srgbClr val="2A3550"/>
                </a:solidFill>
                <a:latin typeface="Arial"/>
              </a:rPr>
              <a:t>My budget code plays the judge: it turns proposals into targeted revision requests.</a:t>
            </a:r>
          </a:p>
        </p:txBody>
      </p:sp>
      <p:sp>
        <p:nvSpPr>
          <p:cNvPr id="19" name="Oval 18"/>
          <p:cNvSpPr/>
          <p:nvPr/>
        </p:nvSpPr>
        <p:spPr>
          <a:xfrm>
            <a:off x="8686800" y="309067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0" name="TextBox 19"/>
          <p:cNvSpPr txBox="1"/>
          <p:nvPr/>
        </p:nvSpPr>
        <p:spPr>
          <a:xfrm>
            <a:off x="9070848" y="308152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Parts with multiplicity</a:t>
            </a:r>
          </a:p>
          <a:p>
            <a:pPr algn="l">
              <a:lnSpc>
                <a:spcPct val="115000"/>
              </a:lnSpc>
              <a:spcAft>
                <a:spcPts val="200"/>
              </a:spcAft>
            </a:pPr>
            <a:r>
              <a:rPr sz="1300" b="0" i="0">
                <a:solidFill>
                  <a:srgbClr val="2A3550"/>
                </a:solidFill>
                <a:latin typeface="Arial"/>
              </a:rPr>
              <a:t>The policy and budget calculator are parts of the workflow, one of each.</a:t>
            </a:r>
          </a:p>
        </p:txBody>
      </p:sp>
      <p:sp>
        <p:nvSpPr>
          <p:cNvPr id="21" name="Oval 20"/>
          <p:cNvSpPr/>
          <p:nvPr/>
        </p:nvSpPr>
        <p:spPr>
          <a:xfrm>
            <a:off x="8686800" y="45994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2" name="TextBox 21"/>
          <p:cNvSpPr txBox="1"/>
          <p:nvPr/>
        </p:nvSpPr>
        <p:spPr>
          <a:xfrm>
            <a:off x="9070848" y="459028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Injected ports</a:t>
            </a:r>
          </a:p>
          <a:p>
            <a:pPr algn="l">
              <a:lnSpc>
                <a:spcPct val="115000"/>
              </a:lnSpc>
              <a:spcAft>
                <a:spcPts val="200"/>
              </a:spcAft>
            </a:pPr>
            <a:r>
              <a:rPr sz="1300" b="0" i="0">
                <a:solidFill>
                  <a:srgbClr val="2A3550"/>
                </a:solidFill>
                <a:latin typeface="Arial"/>
              </a:rPr>
              <a:t>Plan, progress, tools, memory and model enter only through ports, so tests swap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ACTIVITY DIAGRAM · UC-C1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chooses once; code checks before any price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13 / 24</a:t>
            </a:r>
          </a:p>
        </p:txBody>
      </p:sp>
      <p:sp>
        <p:nvSpPr>
          <p:cNvPr id="8" name="Rounded Rectangle 7"/>
          <p:cNvSpPr/>
          <p:nvPr/>
        </p:nvSpPr>
        <p:spPr>
          <a:xfrm>
            <a:off x="548640" y="1481328"/>
            <a:ext cx="11094415" cy="3703320"/>
          </a:xfrm>
          <a:prstGeom prst="roundRect">
            <a:avLst>
              <a:gd name="adj" fmla="val 296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ctivity.png"/>
          <p:cNvPicPr>
            <a:picLocks noChangeAspect="1"/>
          </p:cNvPicPr>
          <p:nvPr/>
        </p:nvPicPr>
        <p:blipFill>
          <a:blip r:embed="rId3"/>
          <a:stretch>
            <a:fillRect/>
          </a:stretch>
        </p:blipFill>
        <p:spPr>
          <a:xfrm>
            <a:off x="838545" y="1609344"/>
            <a:ext cx="10514603" cy="3447287"/>
          </a:xfrm>
          <a:prstGeom prst="rect">
            <a:avLst/>
          </a:prstGeom>
        </p:spPr>
      </p:pic>
      <p:sp>
        <p:nvSpPr>
          <p:cNvPr id="10" name="Oval 9"/>
          <p:cNvSpPr/>
          <p:nvPr/>
        </p:nvSpPr>
        <p:spPr>
          <a:xfrm>
            <a:off x="9113068" y="388528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3960912" y="257531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2068284" y="1747967"/>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7746170" y="26097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14" name="Oval 13"/>
          <p:cNvSpPr/>
          <p:nvPr/>
        </p:nvSpPr>
        <p:spPr>
          <a:xfrm>
            <a:off x="548640"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932688"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LLM, once</a:t>
            </a:r>
          </a:p>
          <a:p>
            <a:pPr algn="l">
              <a:lnSpc>
                <a:spcPct val="115000"/>
              </a:lnSpc>
              <a:spcAft>
                <a:spcPts val="200"/>
              </a:spcAft>
            </a:pPr>
            <a:r>
              <a:rPr sz="1250" b="0" i="0">
                <a:solidFill>
                  <a:srgbClr val="2A3550"/>
                </a:solidFill>
                <a:latin typeface="Arial"/>
              </a:rPr>
              <a:t>Chooses one candidate id per stay.</a:t>
            </a:r>
          </a:p>
        </p:txBody>
      </p:sp>
      <p:sp>
        <p:nvSpPr>
          <p:cNvPr id="16" name="Oval 15"/>
          <p:cNvSpPr/>
          <p:nvPr/>
        </p:nvSpPr>
        <p:spPr>
          <a:xfrm>
            <a:off x="3367963"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3752011"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Guarded</a:t>
            </a:r>
          </a:p>
          <a:p>
            <a:pPr algn="l">
              <a:lnSpc>
                <a:spcPct val="115000"/>
              </a:lnSpc>
              <a:spcAft>
                <a:spcPts val="200"/>
              </a:spcAft>
            </a:pPr>
            <a:r>
              <a:rPr sz="1250" b="0" i="0">
                <a:solidFill>
                  <a:srgbClr val="2A3550"/>
                </a:solidFill>
                <a:latin typeface="Arial"/>
              </a:rPr>
              <a:t>Unknown id or off-schema output falls back to a deterministic pick.</a:t>
            </a:r>
          </a:p>
        </p:txBody>
      </p:sp>
      <p:sp>
        <p:nvSpPr>
          <p:cNvPr id="18" name="Oval 17"/>
          <p:cNvSpPr/>
          <p:nvPr/>
        </p:nvSpPr>
        <p:spPr>
          <a:xfrm>
            <a:off x="6187287"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6571335"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Booked stay</a:t>
            </a:r>
          </a:p>
          <a:p>
            <a:pPr algn="l">
              <a:lnSpc>
                <a:spcPct val="115000"/>
              </a:lnSpc>
              <a:spcAft>
                <a:spcPts val="200"/>
              </a:spcAft>
            </a:pPr>
            <a:r>
              <a:rPr sz="1250" b="0" i="0">
                <a:solidFill>
                  <a:srgbClr val="2A3550"/>
                </a:solidFill>
                <a:latin typeface="Arial"/>
              </a:rPr>
              <a:t>Skips the search entirely.</a:t>
            </a:r>
          </a:p>
        </p:txBody>
      </p:sp>
      <p:sp>
        <p:nvSpPr>
          <p:cNvPr id="20" name="Oval 19"/>
          <p:cNvSpPr/>
          <p:nvPr/>
        </p:nvSpPr>
        <p:spPr>
          <a:xfrm>
            <a:off x="9006611"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1" name="TextBox 20"/>
          <p:cNvSpPr txBox="1"/>
          <p:nvPr/>
        </p:nvSpPr>
        <p:spPr>
          <a:xfrm>
            <a:off x="9390659"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Priced in cents</a:t>
            </a:r>
          </a:p>
          <a:p>
            <a:pPr algn="l">
              <a:lnSpc>
                <a:spcPct val="115000"/>
              </a:lnSpc>
              <a:spcAft>
                <a:spcPts val="200"/>
              </a:spcAft>
            </a:pPr>
            <a:r>
              <a:rPr sz="1250" b="0" i="0">
                <a:solidFill>
                  <a:srgbClr val="2A3550"/>
                </a:solidFill>
                <a:latin typeface="Arial"/>
              </a:rPr>
              <a:t>Plus the cheapest eligible total as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SEQUENCE DIAGRAM · UC-C2</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Budget overrun and a targeted revision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14 / 24</a:t>
            </a:r>
          </a:p>
        </p:txBody>
      </p:sp>
      <p:sp>
        <p:nvSpPr>
          <p:cNvPr id="8" name="Rounded Rectangle 7"/>
          <p:cNvSpPr/>
          <p:nvPr/>
        </p:nvSpPr>
        <p:spPr>
          <a:xfrm>
            <a:off x="548640" y="1481328"/>
            <a:ext cx="7223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sequence.png"/>
          <p:cNvPicPr>
            <a:picLocks noChangeAspect="1"/>
          </p:cNvPicPr>
          <p:nvPr/>
        </p:nvPicPr>
        <p:blipFill>
          <a:blip r:embed="rId3"/>
          <a:stretch>
            <a:fillRect/>
          </a:stretch>
        </p:blipFill>
        <p:spPr>
          <a:xfrm>
            <a:off x="1223752" y="1609344"/>
            <a:ext cx="5873534" cy="4498848"/>
          </a:xfrm>
          <a:prstGeom prst="rect">
            <a:avLst/>
          </a:prstGeom>
        </p:spPr>
      </p:pic>
      <p:sp>
        <p:nvSpPr>
          <p:cNvPr id="10" name="Oval 9"/>
          <p:cNvSpPr/>
          <p:nvPr/>
        </p:nvSpPr>
        <p:spPr>
          <a:xfrm>
            <a:off x="6255303" y="333920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4610713" y="38565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4728184" y="426146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3024859" y="49362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14" name="Oval 13"/>
          <p:cNvSpPr/>
          <p:nvPr/>
        </p:nvSpPr>
        <p:spPr>
          <a:xfrm>
            <a:off x="8046719"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8430767" y="1572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1</a:t>
            </a:r>
          </a:p>
          <a:p>
            <a:pPr algn="l">
              <a:lnSpc>
                <a:spcPct val="115000"/>
              </a:lnSpc>
              <a:spcAft>
                <a:spcPts val="200"/>
              </a:spcAft>
            </a:pPr>
            <a:r>
              <a:rPr sz="1300" b="0" i="0">
                <a:solidFill>
                  <a:srgbClr val="2A3550"/>
                </a:solidFill>
                <a:latin typeface="Arial"/>
              </a:rPr>
              <a:t>The total is over budget.</a:t>
            </a:r>
          </a:p>
        </p:txBody>
      </p:sp>
      <p:sp>
        <p:nvSpPr>
          <p:cNvPr id="16" name="Oval 15"/>
          <p:cNvSpPr/>
          <p:nvPr/>
        </p:nvSpPr>
        <p:spPr>
          <a:xfrm>
            <a:off x="8046719" y="2724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8430767" y="2715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detectConflicts</a:t>
            </a:r>
          </a:p>
          <a:p>
            <a:pPr algn="l">
              <a:lnSpc>
                <a:spcPct val="115000"/>
              </a:lnSpc>
              <a:spcAft>
                <a:spcPts val="200"/>
              </a:spcAft>
            </a:pPr>
            <a:r>
              <a:rPr sz="1300" b="0" i="0">
                <a:solidFill>
                  <a:srgbClr val="2A3550"/>
                </a:solidFill>
                <a:latin typeface="Arial"/>
              </a:rPr>
              <a:t>Sends a revision request with a target saving.</a:t>
            </a:r>
          </a:p>
        </p:txBody>
      </p:sp>
      <p:sp>
        <p:nvSpPr>
          <p:cNvPr id="18" name="Oval 17"/>
          <p:cNvSpPr/>
          <p:nvPr/>
        </p:nvSpPr>
        <p:spPr>
          <a:xfrm>
            <a:off x="8046719" y="3867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8430767" y="3858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2</a:t>
            </a:r>
          </a:p>
          <a:p>
            <a:pPr algn="l">
              <a:lnSpc>
                <a:spcPct val="115000"/>
              </a:lnSpc>
              <a:spcAft>
                <a:spcPts val="200"/>
              </a:spcAft>
            </a:pPr>
            <a:r>
              <a:rPr sz="1300" b="0" i="0">
                <a:solidFill>
                  <a:srgbClr val="2A3550"/>
                </a:solidFill>
                <a:latin typeface="Arial"/>
              </a:rPr>
              <a:t>Only the targeted agents revise.</a:t>
            </a:r>
          </a:p>
        </p:txBody>
      </p:sp>
      <p:sp>
        <p:nvSpPr>
          <p:cNvPr id="20" name="Oval 19"/>
          <p:cNvSpPr/>
          <p:nvPr/>
        </p:nvSpPr>
        <p:spPr>
          <a:xfrm>
            <a:off x="8046719" y="5010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1" name="TextBox 20"/>
          <p:cNvSpPr txBox="1"/>
          <p:nvPr/>
        </p:nvSpPr>
        <p:spPr>
          <a:xfrm>
            <a:off x="8430767" y="5001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Kept only if better</a:t>
            </a:r>
          </a:p>
          <a:p>
            <a:pPr algn="l">
              <a:lnSpc>
                <a:spcPct val="115000"/>
              </a:lnSpc>
              <a:spcAft>
                <a:spcPts val="200"/>
              </a:spcAft>
            </a:pPr>
            <a:r>
              <a:rPr sz="1300" b="0" i="0">
                <a:solidFill>
                  <a:srgbClr val="2A3550"/>
                </a:solidFill>
                <a:latin typeface="Arial"/>
              </a:rPr>
              <a:t>Otherwise the previous proposals stay. Infeasible: one conflict naming the minimum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STATE MACHINE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accommodation section within one planning turn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15 / 24</a:t>
            </a:r>
          </a:p>
        </p:txBody>
      </p:sp>
      <p:sp>
        <p:nvSpPr>
          <p:cNvPr id="8" name="Rounded Rectangle 7"/>
          <p:cNvSpPr/>
          <p:nvPr/>
        </p:nvSpPr>
        <p:spPr>
          <a:xfrm>
            <a:off x="548640" y="1481328"/>
            <a:ext cx="4937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state.png"/>
          <p:cNvPicPr>
            <a:picLocks noChangeAspect="1"/>
          </p:cNvPicPr>
          <p:nvPr/>
        </p:nvPicPr>
        <p:blipFill>
          <a:blip r:embed="rId3"/>
          <a:stretch>
            <a:fillRect/>
          </a:stretch>
        </p:blipFill>
        <p:spPr>
          <a:xfrm>
            <a:off x="950727" y="1609344"/>
            <a:ext cx="4133584" cy="4498848"/>
          </a:xfrm>
          <a:prstGeom prst="rect">
            <a:avLst/>
          </a:prstGeom>
        </p:spPr>
      </p:pic>
      <p:sp>
        <p:nvSpPr>
          <p:cNvPr id="10" name="TextBox 9"/>
          <p:cNvSpPr txBox="1"/>
          <p:nvPr/>
        </p:nvSpPr>
        <p:spPr>
          <a:xfrm>
            <a:off x="580644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INTERNAL STATE</a:t>
            </a:r>
          </a:p>
        </p:txBody>
      </p:sp>
      <p:sp>
        <p:nvSpPr>
          <p:cNvPr id="11" name="TextBox 10"/>
          <p:cNvSpPr txBox="1"/>
          <p:nvPr/>
        </p:nvSpPr>
        <p:spPr>
          <a:xfrm>
            <a:off x="9539935" y="1481328"/>
            <a:ext cx="2103120" cy="274320"/>
          </a:xfrm>
          <a:prstGeom prst="rect">
            <a:avLst/>
          </a:prstGeom>
          <a:noFill/>
        </p:spPr>
        <p:txBody>
          <a:bodyPr wrap="square" lIns="0" rIns="0" tIns="0" bIns="0" anchor="t">
            <a:spAutoFit/>
          </a:bodyPr>
          <a:lstStyle/>
          <a:p>
            <a:pPr algn="r">
              <a:lnSpc>
                <a:spcPct val="115000"/>
              </a:lnSpc>
              <a:spcAft>
                <a:spcPts val="0"/>
              </a:spcAft>
            </a:pPr>
            <a:r>
              <a:rPr sz="1100" b="1" i="0">
                <a:solidFill>
                  <a:srgbClr val="5A6478"/>
                </a:solidFill>
                <a:latin typeface="Arial"/>
              </a:rPr>
              <a:t>TRAVELLER SEES</a:t>
            </a:r>
          </a:p>
        </p:txBody>
      </p:sp>
      <p:sp>
        <p:nvSpPr>
          <p:cNvPr id="12" name="Rounded Rectangle 11"/>
          <p:cNvSpPr/>
          <p:nvPr/>
        </p:nvSpPr>
        <p:spPr>
          <a:xfrm>
            <a:off x="5806440" y="1847088"/>
            <a:ext cx="5836615" cy="1417320"/>
          </a:xfrm>
          <a:prstGeom prst="roundRect">
            <a:avLst>
              <a:gd name="adj" fmla="val 774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035040" y="2075688"/>
            <a:ext cx="992124"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Waiting</a:t>
            </a:r>
          </a:p>
        </p:txBody>
      </p:sp>
      <p:sp>
        <p:nvSpPr>
          <p:cNvPr id="14" name="Rounded Rectangle 13"/>
          <p:cNvSpPr/>
          <p:nvPr/>
        </p:nvSpPr>
        <p:spPr>
          <a:xfrm>
            <a:off x="7136892" y="207568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Planning</a:t>
            </a:r>
          </a:p>
        </p:txBody>
      </p:sp>
      <p:sp>
        <p:nvSpPr>
          <p:cNvPr id="15" name="Rounded Rectangle 14"/>
          <p:cNvSpPr/>
          <p:nvPr/>
        </p:nvSpPr>
        <p:spPr>
          <a:xfrm>
            <a:off x="8334756" y="2075688"/>
            <a:ext cx="704088"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Kept</a:t>
            </a:r>
          </a:p>
        </p:txBody>
      </p:sp>
      <p:sp>
        <p:nvSpPr>
          <p:cNvPr id="16" name="Rounded Rectangle 15"/>
          <p:cNvSpPr/>
          <p:nvPr/>
        </p:nvSpPr>
        <p:spPr>
          <a:xfrm>
            <a:off x="6035040" y="2487168"/>
            <a:ext cx="137617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UnderReview</a:t>
            </a:r>
          </a:p>
        </p:txBody>
      </p:sp>
      <p:sp>
        <p:nvSpPr>
          <p:cNvPr id="17" name="Rounded Rectangle 16"/>
          <p:cNvSpPr/>
          <p:nvPr/>
        </p:nvSpPr>
        <p:spPr>
          <a:xfrm>
            <a:off x="7520940" y="248716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Revising</a:t>
            </a:r>
          </a:p>
        </p:txBody>
      </p:sp>
      <p:pic>
        <p:nvPicPr>
          <p:cNvPr id="18" name="Picture 17" descr="arrow-right-9AA5B8.png"/>
          <p:cNvPicPr>
            <a:picLocks noChangeAspect="1"/>
          </p:cNvPicPr>
          <p:nvPr/>
        </p:nvPicPr>
        <p:blipFill>
          <a:blip r:embed="rId4"/>
          <a:stretch>
            <a:fillRect/>
          </a:stretch>
        </p:blipFill>
        <p:spPr>
          <a:xfrm>
            <a:off x="9402775" y="2436876"/>
            <a:ext cx="237744" cy="237744"/>
          </a:xfrm>
          <a:prstGeom prst="rect">
            <a:avLst/>
          </a:prstGeom>
        </p:spPr>
      </p:pic>
      <p:sp>
        <p:nvSpPr>
          <p:cNvPr id="19" name="Rounded Rectangle 18"/>
          <p:cNvSpPr/>
          <p:nvPr/>
        </p:nvSpPr>
        <p:spPr>
          <a:xfrm>
            <a:off x="9859975" y="2382012"/>
            <a:ext cx="1554480" cy="347472"/>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14213D"/>
                </a:solidFill>
                <a:latin typeface="Arial"/>
              </a:rPr>
              <a:t>planning</a:t>
            </a:r>
          </a:p>
        </p:txBody>
      </p:sp>
      <p:sp>
        <p:nvSpPr>
          <p:cNvPr id="20" name="Rounded Rectangle 19"/>
          <p:cNvSpPr/>
          <p:nvPr/>
        </p:nvSpPr>
        <p:spPr>
          <a:xfrm>
            <a:off x="5806440" y="3447288"/>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035040" y="3675887"/>
            <a:ext cx="800100"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Draft</a:t>
            </a:r>
          </a:p>
        </p:txBody>
      </p:sp>
      <p:pic>
        <p:nvPicPr>
          <p:cNvPr id="22" name="Picture 21" descr="arrow-right-9AA5B8.png"/>
          <p:cNvPicPr>
            <a:picLocks noChangeAspect="1"/>
          </p:cNvPicPr>
          <p:nvPr/>
        </p:nvPicPr>
        <p:blipFill>
          <a:blip r:embed="rId4"/>
          <a:stretch>
            <a:fillRect/>
          </a:stretch>
        </p:blipFill>
        <p:spPr>
          <a:xfrm>
            <a:off x="9402775" y="3703320"/>
            <a:ext cx="237744" cy="237744"/>
          </a:xfrm>
          <a:prstGeom prst="rect">
            <a:avLst/>
          </a:prstGeom>
        </p:spPr>
      </p:pic>
      <p:sp>
        <p:nvSpPr>
          <p:cNvPr id="23" name="Rounded Rectangle 22"/>
          <p:cNvSpPr/>
          <p:nvPr/>
        </p:nvSpPr>
        <p:spPr>
          <a:xfrm>
            <a:off x="9859975" y="3648456"/>
            <a:ext cx="1554480" cy="347472"/>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2E7D4F"/>
                </a:solidFill>
                <a:latin typeface="Arial"/>
              </a:rPr>
              <a:t>draft</a:t>
            </a:r>
          </a:p>
        </p:txBody>
      </p:sp>
      <p:sp>
        <p:nvSpPr>
          <p:cNvPr id="24" name="Rounded Rectangle 23"/>
          <p:cNvSpPr/>
          <p:nvPr/>
        </p:nvSpPr>
        <p:spPr>
          <a:xfrm>
            <a:off x="5806440" y="4379976"/>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035040" y="4608576"/>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NeedsYou</a:t>
            </a:r>
          </a:p>
        </p:txBody>
      </p:sp>
      <p:pic>
        <p:nvPicPr>
          <p:cNvPr id="26" name="Picture 25" descr="arrow-right-9AA5B8.png"/>
          <p:cNvPicPr>
            <a:picLocks noChangeAspect="1"/>
          </p:cNvPicPr>
          <p:nvPr/>
        </p:nvPicPr>
        <p:blipFill>
          <a:blip r:embed="rId4"/>
          <a:stretch>
            <a:fillRect/>
          </a:stretch>
        </p:blipFill>
        <p:spPr>
          <a:xfrm>
            <a:off x="9402775" y="4636008"/>
            <a:ext cx="237744" cy="237744"/>
          </a:xfrm>
          <a:prstGeom prst="rect">
            <a:avLst/>
          </a:prstGeom>
        </p:spPr>
      </p:pic>
      <p:sp>
        <p:nvSpPr>
          <p:cNvPr id="27" name="Rounded Rectangle 26"/>
          <p:cNvSpPr/>
          <p:nvPr/>
        </p:nvSpPr>
        <p:spPr>
          <a:xfrm>
            <a:off x="9859975" y="4581144"/>
            <a:ext cx="1554480" cy="347472"/>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C2571A"/>
                </a:solidFill>
                <a:latin typeface="Arial"/>
              </a:rPr>
              <a:t>needs_you</a:t>
            </a:r>
          </a:p>
        </p:txBody>
      </p:sp>
      <p:sp>
        <p:nvSpPr>
          <p:cNvPr id="28" name="Rounded Rectangle 27"/>
          <p:cNvSpPr/>
          <p:nvPr/>
        </p:nvSpPr>
        <p:spPr>
          <a:xfrm>
            <a:off x="5806440" y="5312664"/>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035040" y="5541264"/>
            <a:ext cx="89611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Failed</a:t>
            </a:r>
          </a:p>
        </p:txBody>
      </p:sp>
      <p:pic>
        <p:nvPicPr>
          <p:cNvPr id="30" name="Picture 29" descr="arrow-right-9AA5B8.png"/>
          <p:cNvPicPr>
            <a:picLocks noChangeAspect="1"/>
          </p:cNvPicPr>
          <p:nvPr/>
        </p:nvPicPr>
        <p:blipFill>
          <a:blip r:embed="rId4"/>
          <a:stretch>
            <a:fillRect/>
          </a:stretch>
        </p:blipFill>
        <p:spPr>
          <a:xfrm>
            <a:off x="9402775" y="5568696"/>
            <a:ext cx="237744" cy="237744"/>
          </a:xfrm>
          <a:prstGeom prst="rect">
            <a:avLst/>
          </a:prstGeom>
        </p:spPr>
      </p:pic>
      <p:sp>
        <p:nvSpPr>
          <p:cNvPr id="31" name="Rounded Rectangle 30"/>
          <p:cNvSpPr/>
          <p:nvPr/>
        </p:nvSpPr>
        <p:spPr>
          <a:xfrm>
            <a:off x="9859975" y="5513832"/>
            <a:ext cx="1554480" cy="347472"/>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9B2C2C"/>
                </a:solidFill>
                <a:latin typeface="Arial"/>
              </a:rPr>
              <a:t>run stops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ELEMENTARY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Six class diagrams drawn from the code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16 / 24</a:t>
            </a:r>
          </a:p>
        </p:txBody>
      </p:sp>
      <p:sp>
        <p:nvSpPr>
          <p:cNvPr id="8" name="Rounded Rectangle 7"/>
          <p:cNvSpPr/>
          <p:nvPr/>
        </p:nvSpPr>
        <p:spPr>
          <a:xfrm>
            <a:off x="548640" y="1481328"/>
            <a:ext cx="11094415" cy="3794760"/>
          </a:xfrm>
          <a:prstGeom prst="roundRect">
            <a:avLst>
              <a:gd name="adj" fmla="val 289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ass-spine.png"/>
          <p:cNvPicPr>
            <a:picLocks noChangeAspect="1"/>
          </p:cNvPicPr>
          <p:nvPr/>
        </p:nvPicPr>
        <p:blipFill>
          <a:blip r:embed="rId3"/>
          <a:stretch>
            <a:fillRect/>
          </a:stretch>
        </p:blipFill>
        <p:spPr>
          <a:xfrm>
            <a:off x="2087579" y="1609344"/>
            <a:ext cx="8016535" cy="3538728"/>
          </a:xfrm>
          <a:prstGeom prst="rect">
            <a:avLst/>
          </a:prstGeom>
        </p:spPr>
      </p:pic>
      <p:sp>
        <p:nvSpPr>
          <p:cNvPr id="10" name="Rounded Rectangle 9"/>
          <p:cNvSpPr/>
          <p:nvPr/>
        </p:nvSpPr>
        <p:spPr>
          <a:xfrm>
            <a:off x="548640" y="5458968"/>
            <a:ext cx="1734769" cy="777240"/>
          </a:xfrm>
          <a:prstGeom prst="roundRect">
            <a:avLst>
              <a:gd name="adj" fmla="val 14117"/>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F2A65A"/>
                </a:solidFill>
                <a:latin typeface="Georgia"/>
              </a:rPr>
              <a:t>1</a:t>
            </a:r>
          </a:p>
        </p:txBody>
      </p:sp>
      <p:sp>
        <p:nvSpPr>
          <p:cNvPr id="12" name="TextBox 11"/>
          <p:cNvSpPr txBox="1"/>
          <p:nvPr/>
        </p:nvSpPr>
        <p:spPr>
          <a:xfrm>
            <a:off x="731520"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FFFFFF"/>
                </a:solidFill>
                <a:latin typeface="Arial"/>
              </a:rPr>
              <a:t>Structural spine</a:t>
            </a:r>
          </a:p>
        </p:txBody>
      </p:sp>
      <p:sp>
        <p:nvSpPr>
          <p:cNvPr id="13" name="Rounded Rectangle 12"/>
          <p:cNvSpPr/>
          <p:nvPr/>
        </p:nvSpPr>
        <p:spPr>
          <a:xfrm>
            <a:off x="2420569"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603449"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2</a:t>
            </a:r>
          </a:p>
        </p:txBody>
      </p:sp>
      <p:sp>
        <p:nvSpPr>
          <p:cNvPr id="15" name="TextBox 14"/>
          <p:cNvSpPr txBox="1"/>
          <p:nvPr/>
        </p:nvSpPr>
        <p:spPr>
          <a:xfrm>
            <a:off x="2603449"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Domain contracts</a:t>
            </a:r>
          </a:p>
        </p:txBody>
      </p:sp>
      <p:sp>
        <p:nvSpPr>
          <p:cNvPr id="16" name="Rounded Rectangle 15"/>
          <p:cNvSpPr/>
          <p:nvPr/>
        </p:nvSpPr>
        <p:spPr>
          <a:xfrm>
            <a:off x="4292498"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5378"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3</a:t>
            </a:r>
          </a:p>
        </p:txBody>
      </p:sp>
      <p:sp>
        <p:nvSpPr>
          <p:cNvPr id="18" name="TextBox 17"/>
          <p:cNvSpPr txBox="1"/>
          <p:nvPr/>
        </p:nvSpPr>
        <p:spPr>
          <a:xfrm>
            <a:off x="4475378"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Specialists</a:t>
            </a:r>
          </a:p>
        </p:txBody>
      </p:sp>
      <p:sp>
        <p:nvSpPr>
          <p:cNvPr id="19" name="Rounded Rectangle 18"/>
          <p:cNvSpPr/>
          <p:nvPr/>
        </p:nvSpPr>
        <p:spPr>
          <a:xfrm>
            <a:off x="6164427"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7307"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4</a:t>
            </a:r>
          </a:p>
        </p:txBody>
      </p:sp>
      <p:sp>
        <p:nvSpPr>
          <p:cNvPr id="21" name="TextBox 20"/>
          <p:cNvSpPr txBox="1"/>
          <p:nvPr/>
        </p:nvSpPr>
        <p:spPr>
          <a:xfrm>
            <a:off x="6347307"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Ports and adapters</a:t>
            </a:r>
          </a:p>
        </p:txBody>
      </p:sp>
      <p:sp>
        <p:nvSpPr>
          <p:cNvPr id="22" name="Rounded Rectangle 21"/>
          <p:cNvSpPr/>
          <p:nvPr/>
        </p:nvSpPr>
        <p:spPr>
          <a:xfrm>
            <a:off x="803635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1923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5</a:t>
            </a:r>
          </a:p>
        </p:txBody>
      </p:sp>
      <p:sp>
        <p:nvSpPr>
          <p:cNvPr id="24" name="TextBox 23"/>
          <p:cNvSpPr txBox="1"/>
          <p:nvPr/>
        </p:nvSpPr>
        <p:spPr>
          <a:xfrm>
            <a:off x="821923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Use case trace</a:t>
            </a:r>
          </a:p>
        </p:txBody>
      </p:sp>
      <p:sp>
        <p:nvSpPr>
          <p:cNvPr id="25" name="Rounded Rectangle 24"/>
          <p:cNvSpPr/>
          <p:nvPr/>
        </p:nvSpPr>
        <p:spPr>
          <a:xfrm>
            <a:off x="990828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09116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6</a:t>
            </a:r>
          </a:p>
        </p:txBody>
      </p:sp>
      <p:sp>
        <p:nvSpPr>
          <p:cNvPr id="27" name="TextBox 26"/>
          <p:cNvSpPr txBox="1"/>
          <p:nvPr/>
        </p:nvSpPr>
        <p:spPr>
          <a:xfrm>
            <a:off x="1009116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Generalisation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ELEMENTARY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Specialist interface, five realisations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17 / 24</a:t>
            </a:r>
          </a:p>
        </p:txBody>
      </p:sp>
      <p:sp>
        <p:nvSpPr>
          <p:cNvPr id="8" name="Rounded Rectangle 7"/>
          <p:cNvSpPr/>
          <p:nvPr/>
        </p:nvSpPr>
        <p:spPr>
          <a:xfrm>
            <a:off x="548640" y="1481328"/>
            <a:ext cx="11094415" cy="3108960"/>
          </a:xfrm>
          <a:prstGeom prst="roundRect">
            <a:avLst>
              <a:gd name="adj" fmla="val 352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ass-specialists.png"/>
          <p:cNvPicPr>
            <a:picLocks noChangeAspect="1"/>
          </p:cNvPicPr>
          <p:nvPr/>
        </p:nvPicPr>
        <p:blipFill>
          <a:blip r:embed="rId3"/>
          <a:stretch>
            <a:fillRect/>
          </a:stretch>
        </p:blipFill>
        <p:spPr>
          <a:xfrm>
            <a:off x="2783990" y="1609344"/>
            <a:ext cx="6623713" cy="2852928"/>
          </a:xfrm>
          <a:prstGeom prst="rect">
            <a:avLst/>
          </a:prstGeom>
        </p:spPr>
      </p:pic>
      <p:sp>
        <p:nvSpPr>
          <p:cNvPr id="10" name="Oval 9"/>
          <p:cNvSpPr/>
          <p:nvPr/>
        </p:nvSpPr>
        <p:spPr>
          <a:xfrm>
            <a:off x="5263197" y="28415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5461909" y="24849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Rounded Rectangle 11"/>
          <p:cNvSpPr/>
          <p:nvPr/>
        </p:nvSpPr>
        <p:spPr>
          <a:xfrm>
            <a:off x="548640"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4" name="TextBox 13"/>
          <p:cNvSpPr txBox="1"/>
          <p:nvPr/>
        </p:nvSpPr>
        <p:spPr>
          <a:xfrm>
            <a:off x="1115568"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interface</a:t>
            </a:r>
          </a:p>
        </p:txBody>
      </p:sp>
      <p:sp>
        <p:nvSpPr>
          <p:cNvPr id="15" name="Rounded Rectangle 14"/>
          <p:cNvSpPr/>
          <p:nvPr/>
        </p:nvSpPr>
        <p:spPr>
          <a:xfrm>
            <a:off x="749808" y="5340096"/>
            <a:ext cx="1415948"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realisation × 5</a:t>
            </a:r>
          </a:p>
        </p:txBody>
      </p:sp>
      <p:sp>
        <p:nvSpPr>
          <p:cNvPr id="16" name="TextBox 15"/>
          <p:cNvSpPr txBox="1"/>
          <p:nvPr/>
        </p:nvSpPr>
        <p:spPr>
          <a:xfrm>
            <a:off x="749808"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The graph loops over agents without knowing their models.</a:t>
            </a:r>
          </a:p>
        </p:txBody>
      </p:sp>
      <p:sp>
        <p:nvSpPr>
          <p:cNvPr id="17" name="Rounded Rectangle 16"/>
          <p:cNvSpPr/>
          <p:nvPr/>
        </p:nvSpPr>
        <p:spPr>
          <a:xfrm>
            <a:off x="4307738"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08906"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9" name="TextBox 18"/>
          <p:cNvSpPr txBox="1"/>
          <p:nvPr/>
        </p:nvSpPr>
        <p:spPr>
          <a:xfrm>
            <a:off x="4874666"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Registry ◇ Specialist</a:t>
            </a:r>
          </a:p>
        </p:txBody>
      </p:sp>
      <p:sp>
        <p:nvSpPr>
          <p:cNvPr id="20" name="Rounded Rectangle 19"/>
          <p:cNvSpPr/>
          <p:nvPr/>
        </p:nvSpPr>
        <p:spPr>
          <a:xfrm>
            <a:off x="4508906" y="5340096"/>
            <a:ext cx="1565727"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aggregation 1 → 5</a:t>
            </a:r>
          </a:p>
        </p:txBody>
      </p:sp>
      <p:sp>
        <p:nvSpPr>
          <p:cNvPr id="21" name="TextBox 20"/>
          <p:cNvSpPr txBox="1"/>
          <p:nvPr/>
        </p:nvSpPr>
        <p:spPr>
          <a:xfrm>
            <a:off x="4508906"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Agents live on their own; the registry only lists them.</a:t>
            </a:r>
          </a:p>
        </p:txBody>
      </p:sp>
      <p:sp>
        <p:nvSpPr>
          <p:cNvPr id="22" name="Rounded Rectangle 21"/>
          <p:cNvSpPr/>
          <p:nvPr/>
        </p:nvSpPr>
        <p:spPr>
          <a:xfrm>
            <a:off x="8066836"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68004"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TripPlan ◆ TripSection</a:t>
            </a:r>
          </a:p>
        </p:txBody>
      </p:sp>
      <p:sp>
        <p:nvSpPr>
          <p:cNvPr id="24" name="Rounded Rectangle 23"/>
          <p:cNvSpPr/>
          <p:nvPr/>
        </p:nvSpPr>
        <p:spPr>
          <a:xfrm>
            <a:off x="8268004" y="5340096"/>
            <a:ext cx="1790395"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composition 1 → 0..*</a:t>
            </a:r>
          </a:p>
        </p:txBody>
      </p:sp>
      <p:sp>
        <p:nvSpPr>
          <p:cNvPr id="25" name="TextBox 24"/>
          <p:cNvSpPr txBox="1"/>
          <p:nvPr/>
        </p:nvSpPr>
        <p:spPr>
          <a:xfrm>
            <a:off x="8268004"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section cannot outlive its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DESIGN RATIONALE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What we chose, and what we discarded</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18 / 24</a:t>
            </a:r>
          </a:p>
        </p:txBody>
      </p:sp>
      <p:sp>
        <p:nvSpPr>
          <p:cNvPr id="8" name="TextBox 7"/>
          <p:cNvSpPr txBox="1"/>
          <p:nvPr/>
        </p:nvSpPr>
        <p:spPr>
          <a:xfrm>
            <a:off x="73152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DECISION</a:t>
            </a:r>
          </a:p>
        </p:txBody>
      </p:sp>
      <p:sp>
        <p:nvSpPr>
          <p:cNvPr id="9" name="TextBox 8"/>
          <p:cNvSpPr txBox="1"/>
          <p:nvPr/>
        </p:nvSpPr>
        <p:spPr>
          <a:xfrm>
            <a:off x="35661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2E7D4F"/>
                </a:solidFill>
                <a:latin typeface="Arial"/>
              </a:rPr>
              <a:t>CHOSEN</a:t>
            </a:r>
          </a:p>
        </p:txBody>
      </p:sp>
      <p:sp>
        <p:nvSpPr>
          <p:cNvPr id="10" name="TextBox 9"/>
          <p:cNvSpPr txBox="1"/>
          <p:nvPr/>
        </p:nvSpPr>
        <p:spPr>
          <a:xfrm>
            <a:off x="74523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9B2C2C"/>
                </a:solidFill>
                <a:latin typeface="Arial"/>
              </a:rPr>
              <a:t>DISCARDED, AND WHY</a:t>
            </a:r>
          </a:p>
        </p:txBody>
      </p:sp>
      <p:sp>
        <p:nvSpPr>
          <p:cNvPr id="11" name="Rounded Rectangle 10"/>
          <p:cNvSpPr/>
          <p:nvPr/>
        </p:nvSpPr>
        <p:spPr>
          <a:xfrm>
            <a:off x="548640" y="182880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182880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Who drives the loop</a:t>
            </a:r>
          </a:p>
        </p:txBody>
      </p:sp>
      <p:sp>
        <p:nvSpPr>
          <p:cNvPr id="13" name="Rounded Rectangle 12"/>
          <p:cNvSpPr/>
          <p:nvPr/>
        </p:nvSpPr>
        <p:spPr>
          <a:xfrm>
            <a:off x="3136392" y="200253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eck-2E7D4F.png"/>
          <p:cNvPicPr>
            <a:picLocks noChangeAspect="1"/>
          </p:cNvPicPr>
          <p:nvPr/>
        </p:nvPicPr>
        <p:blipFill>
          <a:blip r:embed="rId3"/>
          <a:stretch>
            <a:fillRect/>
          </a:stretch>
        </p:blipFill>
        <p:spPr>
          <a:xfrm>
            <a:off x="3182112" y="2048256"/>
            <a:ext cx="182880" cy="182880"/>
          </a:xfrm>
          <a:prstGeom prst="rect">
            <a:avLst/>
          </a:prstGeom>
        </p:spPr>
      </p:pic>
      <p:sp>
        <p:nvSpPr>
          <p:cNvPr id="15" name="TextBox 14"/>
          <p:cNvSpPr txBox="1"/>
          <p:nvPr/>
        </p:nvSpPr>
        <p:spPr>
          <a:xfrm>
            <a:off x="3566160" y="182880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Deterministic LangGraph</a:t>
            </a:r>
          </a:p>
        </p:txBody>
      </p:sp>
      <p:sp>
        <p:nvSpPr>
          <p:cNvPr id="16" name="Rounded Rectangle 15"/>
          <p:cNvSpPr/>
          <p:nvPr/>
        </p:nvSpPr>
        <p:spPr>
          <a:xfrm>
            <a:off x="7022592" y="200253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x-9B2C2C.png"/>
          <p:cNvPicPr>
            <a:picLocks noChangeAspect="1"/>
          </p:cNvPicPr>
          <p:nvPr/>
        </p:nvPicPr>
        <p:blipFill>
          <a:blip r:embed="rId4"/>
          <a:stretch>
            <a:fillRect/>
          </a:stretch>
        </p:blipFill>
        <p:spPr>
          <a:xfrm>
            <a:off x="7068312" y="2048256"/>
            <a:ext cx="182880" cy="182880"/>
          </a:xfrm>
          <a:prstGeom prst="rect">
            <a:avLst/>
          </a:prstGeom>
        </p:spPr>
      </p:pic>
      <p:sp>
        <p:nvSpPr>
          <p:cNvPr id="18" name="TextBox 17"/>
          <p:cNvSpPr txBox="1"/>
          <p:nvPr/>
        </p:nvSpPr>
        <p:spPr>
          <a:xfrm>
            <a:off x="7452360" y="182880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Model-driven loop</a:t>
            </a:r>
            <a:r>
              <a:rPr sz="1250" b="0" i="0">
                <a:solidFill>
                  <a:srgbClr val="5A6478"/>
                </a:solidFill>
                <a:latin typeface="Arial"/>
              </a:rPr>
              <a:t>  limits and costs must be testable</a:t>
            </a:r>
          </a:p>
        </p:txBody>
      </p:sp>
      <p:sp>
        <p:nvSpPr>
          <p:cNvPr id="19" name="Rounded Rectangle 18"/>
          <p:cNvSpPr/>
          <p:nvPr/>
        </p:nvSpPr>
        <p:spPr>
          <a:xfrm>
            <a:off x="548640" y="2551176"/>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2551176"/>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Collaboration</a:t>
            </a:r>
          </a:p>
        </p:txBody>
      </p:sp>
      <p:sp>
        <p:nvSpPr>
          <p:cNvPr id="21" name="Rounded Rectangle 20"/>
          <p:cNvSpPr/>
          <p:nvPr/>
        </p:nvSpPr>
        <p:spPr>
          <a:xfrm>
            <a:off x="3136392" y="2724912"/>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2E7D4F.png"/>
          <p:cNvPicPr>
            <a:picLocks noChangeAspect="1"/>
          </p:cNvPicPr>
          <p:nvPr/>
        </p:nvPicPr>
        <p:blipFill>
          <a:blip r:embed="rId3"/>
          <a:stretch>
            <a:fillRect/>
          </a:stretch>
        </p:blipFill>
        <p:spPr>
          <a:xfrm>
            <a:off x="3182112" y="2770632"/>
            <a:ext cx="182880" cy="182880"/>
          </a:xfrm>
          <a:prstGeom prst="rect">
            <a:avLst/>
          </a:prstGeom>
        </p:spPr>
      </p:pic>
      <p:sp>
        <p:nvSpPr>
          <p:cNvPr id="23" name="TextBox 22"/>
          <p:cNvSpPr txBox="1"/>
          <p:nvPr/>
        </p:nvSpPr>
        <p:spPr>
          <a:xfrm>
            <a:off x="3566160" y="2551176"/>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Staged board with budget shares</a:t>
            </a:r>
          </a:p>
        </p:txBody>
      </p:sp>
      <p:sp>
        <p:nvSpPr>
          <p:cNvPr id="24" name="Rounded Rectangle 23"/>
          <p:cNvSpPr/>
          <p:nvPr/>
        </p:nvSpPr>
        <p:spPr>
          <a:xfrm>
            <a:off x="7022592" y="2724912"/>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x-9B2C2C.png"/>
          <p:cNvPicPr>
            <a:picLocks noChangeAspect="1"/>
          </p:cNvPicPr>
          <p:nvPr/>
        </p:nvPicPr>
        <p:blipFill>
          <a:blip r:embed="rId4"/>
          <a:stretch>
            <a:fillRect/>
          </a:stretch>
        </p:blipFill>
        <p:spPr>
          <a:xfrm>
            <a:off x="7068312" y="2770632"/>
            <a:ext cx="182880" cy="182880"/>
          </a:xfrm>
          <a:prstGeom prst="rect">
            <a:avLst/>
          </a:prstGeom>
        </p:spPr>
      </p:pic>
      <p:sp>
        <p:nvSpPr>
          <p:cNvPr id="26" name="TextBox 25"/>
          <p:cNvSpPr txBox="1"/>
          <p:nvPr/>
        </p:nvSpPr>
        <p:spPr>
          <a:xfrm>
            <a:off x="7452360" y="2551176"/>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Free agent-to-agent chat</a:t>
            </a:r>
            <a:r>
              <a:rPr sz="1250" b="0" i="0">
                <a:solidFill>
                  <a:srgbClr val="5A6478"/>
                </a:solidFill>
                <a:latin typeface="Arial"/>
              </a:rPr>
              <a:t>  control flow would live in model output</a:t>
            </a:r>
          </a:p>
        </p:txBody>
      </p:sp>
      <p:sp>
        <p:nvSpPr>
          <p:cNvPr id="27" name="Rounded Rectangle 26"/>
          <p:cNvSpPr/>
          <p:nvPr/>
        </p:nvSpPr>
        <p:spPr>
          <a:xfrm>
            <a:off x="548640" y="3273552"/>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3273552"/>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Human in the loop</a:t>
            </a:r>
          </a:p>
        </p:txBody>
      </p:sp>
      <p:sp>
        <p:nvSpPr>
          <p:cNvPr id="29" name="Rounded Rectangle 28"/>
          <p:cNvSpPr/>
          <p:nvPr/>
        </p:nvSpPr>
        <p:spPr>
          <a:xfrm>
            <a:off x="3136392" y="3447288"/>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heck-2E7D4F.png"/>
          <p:cNvPicPr>
            <a:picLocks noChangeAspect="1"/>
          </p:cNvPicPr>
          <p:nvPr/>
        </p:nvPicPr>
        <p:blipFill>
          <a:blip r:embed="rId3"/>
          <a:stretch>
            <a:fillRect/>
          </a:stretch>
        </p:blipFill>
        <p:spPr>
          <a:xfrm>
            <a:off x="3182112" y="3493008"/>
            <a:ext cx="182880" cy="182880"/>
          </a:xfrm>
          <a:prstGeom prst="rect">
            <a:avLst/>
          </a:prstGeom>
        </p:spPr>
      </p:pic>
      <p:sp>
        <p:nvSpPr>
          <p:cNvPr id="31" name="TextBox 30"/>
          <p:cNvSpPr txBox="1"/>
          <p:nvPr/>
        </p:nvSpPr>
        <p:spPr>
          <a:xfrm>
            <a:off x="3566160" y="3273552"/>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Traveller edits; sections show needs_you</a:t>
            </a:r>
          </a:p>
        </p:txBody>
      </p:sp>
      <p:sp>
        <p:nvSpPr>
          <p:cNvPr id="32" name="Rounded Rectangle 31"/>
          <p:cNvSpPr/>
          <p:nvPr/>
        </p:nvSpPr>
        <p:spPr>
          <a:xfrm>
            <a:off x="7022592" y="3447288"/>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x-9B2C2C.png"/>
          <p:cNvPicPr>
            <a:picLocks noChangeAspect="1"/>
          </p:cNvPicPr>
          <p:nvPr/>
        </p:nvPicPr>
        <p:blipFill>
          <a:blip r:embed="rId4"/>
          <a:stretch>
            <a:fillRect/>
          </a:stretch>
        </p:blipFill>
        <p:spPr>
          <a:xfrm>
            <a:off x="7068312" y="3493008"/>
            <a:ext cx="182880" cy="182880"/>
          </a:xfrm>
          <a:prstGeom prst="rect">
            <a:avLst/>
          </a:prstGeom>
        </p:spPr>
      </p:pic>
      <p:sp>
        <p:nvSpPr>
          <p:cNvPr id="34" name="TextBox 33"/>
          <p:cNvSpPr txBox="1"/>
          <p:nvPr/>
        </p:nvSpPr>
        <p:spPr>
          <a:xfrm>
            <a:off x="7452360" y="3273552"/>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Approval checkpoints</a:t>
            </a:r>
            <a:r>
              <a:rPr sz="1250" b="0" i="0">
                <a:solidFill>
                  <a:srgbClr val="5A6478"/>
                </a:solidFill>
                <a:latin typeface="Arial"/>
              </a:rPr>
              <a:t>  confirming applied nothing</a:t>
            </a:r>
          </a:p>
        </p:txBody>
      </p:sp>
      <p:sp>
        <p:nvSpPr>
          <p:cNvPr id="35" name="Rounded Rectangle 34"/>
          <p:cNvSpPr/>
          <p:nvPr/>
        </p:nvSpPr>
        <p:spPr>
          <a:xfrm>
            <a:off x="548640" y="3995928"/>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77240" y="3995928"/>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LLM provider</a:t>
            </a:r>
          </a:p>
        </p:txBody>
      </p:sp>
      <p:sp>
        <p:nvSpPr>
          <p:cNvPr id="37" name="Rounded Rectangle 36"/>
          <p:cNvSpPr/>
          <p:nvPr/>
        </p:nvSpPr>
        <p:spPr>
          <a:xfrm>
            <a:off x="3136392" y="4169664"/>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check-2E7D4F.png"/>
          <p:cNvPicPr>
            <a:picLocks noChangeAspect="1"/>
          </p:cNvPicPr>
          <p:nvPr/>
        </p:nvPicPr>
        <p:blipFill>
          <a:blip r:embed="rId3"/>
          <a:stretch>
            <a:fillRect/>
          </a:stretch>
        </p:blipFill>
        <p:spPr>
          <a:xfrm>
            <a:off x="3182112" y="4215384"/>
            <a:ext cx="182880" cy="182880"/>
          </a:xfrm>
          <a:prstGeom prst="rect">
            <a:avLst/>
          </a:prstGeom>
        </p:spPr>
      </p:pic>
      <p:sp>
        <p:nvSpPr>
          <p:cNvPr id="39" name="TextBox 38"/>
          <p:cNvSpPr txBox="1"/>
          <p:nvPr/>
        </p:nvSpPr>
        <p:spPr>
          <a:xfrm>
            <a:off x="3566160" y="3995928"/>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DeepSeek</a:t>
            </a:r>
          </a:p>
        </p:txBody>
      </p:sp>
      <p:sp>
        <p:nvSpPr>
          <p:cNvPr id="40" name="Rounded Rectangle 39"/>
          <p:cNvSpPr/>
          <p:nvPr/>
        </p:nvSpPr>
        <p:spPr>
          <a:xfrm>
            <a:off x="7022592" y="4169664"/>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x-9B2C2C.png"/>
          <p:cNvPicPr>
            <a:picLocks noChangeAspect="1"/>
          </p:cNvPicPr>
          <p:nvPr/>
        </p:nvPicPr>
        <p:blipFill>
          <a:blip r:embed="rId4"/>
          <a:stretch>
            <a:fillRect/>
          </a:stretch>
        </p:blipFill>
        <p:spPr>
          <a:xfrm>
            <a:off x="7068312" y="4215384"/>
            <a:ext cx="182880" cy="182880"/>
          </a:xfrm>
          <a:prstGeom prst="rect">
            <a:avLst/>
          </a:prstGeom>
        </p:spPr>
      </p:pic>
      <p:sp>
        <p:nvSpPr>
          <p:cNvPr id="42" name="TextBox 41"/>
          <p:cNvSpPr txBox="1"/>
          <p:nvPr/>
        </p:nvSpPr>
        <p:spPr>
          <a:xfrm>
            <a:off x="7452360" y="3995928"/>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MiniMax</a:t>
            </a:r>
            <a:r>
              <a:rPr sz="1250" b="0" i="0">
                <a:solidFill>
                  <a:srgbClr val="5A6478"/>
                </a:solidFill>
                <a:latin typeface="Arial"/>
              </a:rPr>
              <a:t>  pages took 37–81 s against 15–23 s</a:t>
            </a:r>
          </a:p>
        </p:txBody>
      </p:sp>
      <p:sp>
        <p:nvSpPr>
          <p:cNvPr id="43" name="Rounded Rectangle 42"/>
          <p:cNvSpPr/>
          <p:nvPr/>
        </p:nvSpPr>
        <p:spPr>
          <a:xfrm>
            <a:off x="548640" y="4718304"/>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77240" y="4718304"/>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Prices</a:t>
            </a:r>
          </a:p>
        </p:txBody>
      </p:sp>
      <p:sp>
        <p:nvSpPr>
          <p:cNvPr id="45" name="Rounded Rectangle 44"/>
          <p:cNvSpPr/>
          <p:nvPr/>
        </p:nvSpPr>
        <p:spPr>
          <a:xfrm>
            <a:off x="3136392" y="4892040"/>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heck-2E7D4F.png"/>
          <p:cNvPicPr>
            <a:picLocks noChangeAspect="1"/>
          </p:cNvPicPr>
          <p:nvPr/>
        </p:nvPicPr>
        <p:blipFill>
          <a:blip r:embed="rId3"/>
          <a:stretch>
            <a:fillRect/>
          </a:stretch>
        </p:blipFill>
        <p:spPr>
          <a:xfrm>
            <a:off x="3182112" y="4937760"/>
            <a:ext cx="182880" cy="182880"/>
          </a:xfrm>
          <a:prstGeom prst="rect">
            <a:avLst/>
          </a:prstGeom>
        </p:spPr>
      </p:pic>
      <p:sp>
        <p:nvSpPr>
          <p:cNvPr id="47" name="TextBox 46"/>
          <p:cNvSpPr txBox="1"/>
          <p:nvPr/>
        </p:nvSpPr>
        <p:spPr>
          <a:xfrm>
            <a:off x="3566160" y="4718304"/>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Tools only, with provenance</a:t>
            </a:r>
          </a:p>
        </p:txBody>
      </p:sp>
      <p:sp>
        <p:nvSpPr>
          <p:cNvPr id="48" name="Rounded Rectangle 47"/>
          <p:cNvSpPr/>
          <p:nvPr/>
        </p:nvSpPr>
        <p:spPr>
          <a:xfrm>
            <a:off x="7022592" y="4892040"/>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x-9B2C2C.png"/>
          <p:cNvPicPr>
            <a:picLocks noChangeAspect="1"/>
          </p:cNvPicPr>
          <p:nvPr/>
        </p:nvPicPr>
        <p:blipFill>
          <a:blip r:embed="rId4"/>
          <a:stretch>
            <a:fillRect/>
          </a:stretch>
        </p:blipFill>
        <p:spPr>
          <a:xfrm>
            <a:off x="7068312" y="4937760"/>
            <a:ext cx="182880" cy="182880"/>
          </a:xfrm>
          <a:prstGeom prst="rect">
            <a:avLst/>
          </a:prstGeom>
        </p:spPr>
      </p:pic>
      <p:sp>
        <p:nvSpPr>
          <p:cNvPr id="50" name="TextBox 49"/>
          <p:cNvSpPr txBox="1"/>
          <p:nvPr/>
        </p:nvSpPr>
        <p:spPr>
          <a:xfrm>
            <a:off x="7452360" y="4718304"/>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 estimates</a:t>
            </a:r>
            <a:r>
              <a:rPr sz="1250" b="0" i="0">
                <a:solidFill>
                  <a:srgbClr val="5A6478"/>
                </a:solidFill>
                <a:latin typeface="Arial"/>
              </a:rPr>
              <a:t>  it invents hotels and fares</a:t>
            </a:r>
          </a:p>
        </p:txBody>
      </p:sp>
      <p:sp>
        <p:nvSpPr>
          <p:cNvPr id="51" name="Rounded Rectangle 50"/>
          <p:cNvSpPr/>
          <p:nvPr/>
        </p:nvSpPr>
        <p:spPr>
          <a:xfrm>
            <a:off x="548640" y="544068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77240" y="544068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Server state</a:t>
            </a:r>
          </a:p>
        </p:txBody>
      </p:sp>
      <p:sp>
        <p:nvSpPr>
          <p:cNvPr id="53" name="Rounded Rectangle 52"/>
          <p:cNvSpPr/>
          <p:nvPr/>
        </p:nvSpPr>
        <p:spPr>
          <a:xfrm>
            <a:off x="3136392" y="561441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check-2E7D4F.png"/>
          <p:cNvPicPr>
            <a:picLocks noChangeAspect="1"/>
          </p:cNvPicPr>
          <p:nvPr/>
        </p:nvPicPr>
        <p:blipFill>
          <a:blip r:embed="rId3"/>
          <a:stretch>
            <a:fillRect/>
          </a:stretch>
        </p:blipFill>
        <p:spPr>
          <a:xfrm>
            <a:off x="3182112" y="5660136"/>
            <a:ext cx="182880" cy="182880"/>
          </a:xfrm>
          <a:prstGeom prst="rect">
            <a:avLst/>
          </a:prstGeom>
        </p:spPr>
      </p:pic>
      <p:sp>
        <p:nvSpPr>
          <p:cNvPr id="55" name="TextBox 54"/>
          <p:cNvSpPr txBox="1"/>
          <p:nvPr/>
        </p:nvSpPr>
        <p:spPr>
          <a:xfrm>
            <a:off x="3566160" y="544068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Redis REST store</a:t>
            </a:r>
          </a:p>
        </p:txBody>
      </p:sp>
      <p:sp>
        <p:nvSpPr>
          <p:cNvPr id="56" name="Rounded Rectangle 55"/>
          <p:cNvSpPr/>
          <p:nvPr/>
        </p:nvSpPr>
        <p:spPr>
          <a:xfrm>
            <a:off x="7022592" y="561441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x-9B2C2C.png"/>
          <p:cNvPicPr>
            <a:picLocks noChangeAspect="1"/>
          </p:cNvPicPr>
          <p:nvPr/>
        </p:nvPicPr>
        <p:blipFill>
          <a:blip r:embed="rId4"/>
          <a:stretch>
            <a:fillRect/>
          </a:stretch>
        </p:blipFill>
        <p:spPr>
          <a:xfrm>
            <a:off x="7068312" y="5660136"/>
            <a:ext cx="182880" cy="182880"/>
          </a:xfrm>
          <a:prstGeom prst="rect">
            <a:avLst/>
          </a:prstGeom>
        </p:spPr>
      </p:pic>
      <p:sp>
        <p:nvSpPr>
          <p:cNvPr id="58" name="TextBox 57"/>
          <p:cNvSpPr txBox="1"/>
          <p:nvPr/>
        </p:nvSpPr>
        <p:spPr>
          <a:xfrm>
            <a:off x="7452360" y="544068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Process memory</a:t>
            </a:r>
            <a:r>
              <a:rPr sz="1250" b="0" i="0">
                <a:solidFill>
                  <a:srgbClr val="5A6478"/>
                </a:solidFill>
                <a:latin typeface="Arial"/>
              </a:rPr>
              <a:t>  lost on cold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UC-D1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Evidence first; the LLM drafts, code decides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19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2E7D4F"/>
                </a:solidFill>
                <a:latin typeface="Arial"/>
              </a:rPr>
              <a:t>Ad hoc requirement  </a:t>
            </a:r>
            <a:r>
              <a:rPr sz="1200" b="0" i="0">
                <a:solidFill>
                  <a:srgbClr val="2A3550"/>
                </a:solidFill>
                <a:latin typeface="Arial"/>
              </a:rPr>
              <a:t>AH-D1: pack for my real Kyoto dates; vegetarian, peanut allergy; never claim allergy-safe unless confirmed</a:t>
            </a:r>
            <a:r>
              <a:rPr sz="1200" b="1" i="0">
                <a:solidFill>
                  <a:srgbClr val="2E7D4F"/>
                </a:solidFill>
                <a:latin typeface="Arial"/>
              </a:rPr>
              <a:t>      Use case  </a:t>
            </a:r>
            <a:r>
              <a:rPr sz="1200" b="0" i="0">
                <a:solidFill>
                  <a:srgbClr val="2A3550"/>
                </a:solidFill>
                <a:latin typeface="Arial"/>
              </a:rPr>
              <a:t>UC-D1 Weather-based clothing + dining</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d-activity.png"/>
          <p:cNvPicPr>
            <a:picLocks noChangeAspect="1"/>
          </p:cNvPicPr>
          <p:nvPr/>
        </p:nvPicPr>
        <p:blipFill>
          <a:blip r:embed="rId3"/>
          <a:stretch>
            <a:fillRect/>
          </a:stretch>
        </p:blipFill>
        <p:spPr>
          <a:xfrm>
            <a:off x="1203614" y="2679192"/>
            <a:ext cx="2266268"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sequence.png"/>
          <p:cNvPicPr>
            <a:picLocks noChangeAspect="1"/>
          </p:cNvPicPr>
          <p:nvPr/>
        </p:nvPicPr>
        <p:blipFill>
          <a:blip r:embed="rId4"/>
          <a:stretch>
            <a:fillRect/>
          </a:stretch>
        </p:blipFill>
        <p:spPr>
          <a:xfrm>
            <a:off x="4435754" y="2735489"/>
            <a:ext cx="3320186" cy="3316404"/>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d-state.png"/>
          <p:cNvPicPr>
            <a:picLocks noChangeAspect="1"/>
          </p:cNvPicPr>
          <p:nvPr/>
        </p:nvPicPr>
        <p:blipFill>
          <a:blip r:embed="rId5"/>
          <a:stretch>
            <a:fillRect/>
          </a:stretch>
        </p:blipFill>
        <p:spPr>
          <a:xfrm>
            <a:off x="8426196" y="2679192"/>
            <a:ext cx="28575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PACKAGE DIAGRAM</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Dependencies point inward to the shared contracts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20 / 24</a:t>
            </a:r>
          </a:p>
        </p:txBody>
      </p:sp>
      <p:sp>
        <p:nvSpPr>
          <p:cNvPr id="8" name="Rounded Rectangle 7"/>
          <p:cNvSpPr/>
          <p:nvPr/>
        </p:nvSpPr>
        <p:spPr>
          <a:xfrm>
            <a:off x="548640" y="1481328"/>
            <a:ext cx="11094415" cy="3017520"/>
          </a:xfrm>
          <a:prstGeom prst="roundRect">
            <a:avLst>
              <a:gd name="adj" fmla="val 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ackage.png"/>
          <p:cNvPicPr>
            <a:picLocks noChangeAspect="1"/>
          </p:cNvPicPr>
          <p:nvPr/>
        </p:nvPicPr>
        <p:blipFill>
          <a:blip r:embed="rId3"/>
          <a:stretch>
            <a:fillRect/>
          </a:stretch>
        </p:blipFill>
        <p:spPr>
          <a:xfrm>
            <a:off x="706326" y="1609344"/>
            <a:ext cx="10779042" cy="2761487"/>
          </a:xfrm>
          <a:prstGeom prst="rect">
            <a:avLst/>
          </a:prstGeom>
        </p:spPr>
      </p:pic>
      <p:sp>
        <p:nvSpPr>
          <p:cNvPr id="10" name="Oval 9"/>
          <p:cNvSpPr/>
          <p:nvPr/>
        </p:nvSpPr>
        <p:spPr>
          <a:xfrm>
            <a:off x="10485885" y="277008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838642" y="293577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Rounded Rectangle 11"/>
          <p:cNvSpPr/>
          <p:nvPr/>
        </p:nvSpPr>
        <p:spPr>
          <a:xfrm>
            <a:off x="548640"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ckage-2F5DA8.png"/>
          <p:cNvPicPr>
            <a:picLocks noChangeAspect="1"/>
          </p:cNvPicPr>
          <p:nvPr/>
        </p:nvPicPr>
        <p:blipFill>
          <a:blip r:embed="rId4"/>
          <a:stretch>
            <a:fillRect/>
          </a:stretch>
        </p:blipFill>
        <p:spPr>
          <a:xfrm>
            <a:off x="777240" y="4864608"/>
            <a:ext cx="329184" cy="329184"/>
          </a:xfrm>
          <a:prstGeom prst="rect">
            <a:avLst/>
          </a:prstGeom>
        </p:spPr>
      </p:pic>
      <p:sp>
        <p:nvSpPr>
          <p:cNvPr id="14" name="TextBox 13"/>
          <p:cNvSpPr txBox="1"/>
          <p:nvPr/>
        </p:nvSpPr>
        <p:spPr>
          <a:xfrm>
            <a:off x="777240"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Six packages</a:t>
            </a:r>
          </a:p>
        </p:txBody>
      </p:sp>
      <p:sp>
        <p:nvSpPr>
          <p:cNvPr id="15" name="TextBox 14"/>
          <p:cNvSpPr txBox="1"/>
          <p:nvPr/>
        </p:nvSpPr>
        <p:spPr>
          <a:xfrm>
            <a:off x="777240"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One monorepo, each package with an owner.</a:t>
            </a:r>
          </a:p>
        </p:txBody>
      </p:sp>
      <p:sp>
        <p:nvSpPr>
          <p:cNvPr id="16" name="Rounded Rectangle 15"/>
          <p:cNvSpPr/>
          <p:nvPr/>
        </p:nvSpPr>
        <p:spPr>
          <a:xfrm>
            <a:off x="3367963"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target-2F5DA8.png"/>
          <p:cNvPicPr>
            <a:picLocks noChangeAspect="1"/>
          </p:cNvPicPr>
          <p:nvPr/>
        </p:nvPicPr>
        <p:blipFill>
          <a:blip r:embed="rId5"/>
          <a:stretch>
            <a:fillRect/>
          </a:stretch>
        </p:blipFill>
        <p:spPr>
          <a:xfrm>
            <a:off x="3596563" y="4864608"/>
            <a:ext cx="329184" cy="329184"/>
          </a:xfrm>
          <a:prstGeom prst="rect">
            <a:avLst/>
          </a:prstGeom>
        </p:spPr>
      </p:pic>
      <p:sp>
        <p:nvSpPr>
          <p:cNvPr id="18" name="Oval 17"/>
          <p:cNvSpPr/>
          <p:nvPr/>
        </p:nvSpPr>
        <p:spPr>
          <a:xfrm>
            <a:off x="5547207"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9" name="TextBox 18"/>
          <p:cNvSpPr txBox="1"/>
          <p:nvPr/>
        </p:nvSpPr>
        <p:spPr>
          <a:xfrm>
            <a:off x="3596563"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shared: no dependencies</a:t>
            </a:r>
          </a:p>
        </p:txBody>
      </p:sp>
      <p:sp>
        <p:nvSpPr>
          <p:cNvPr id="20" name="TextBox 19"/>
          <p:cNvSpPr txBox="1"/>
          <p:nvPr/>
        </p:nvSpPr>
        <p:spPr>
          <a:xfrm>
            <a:off x="3596563"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It holds the Zod contracts and ports.</a:t>
            </a:r>
          </a:p>
        </p:txBody>
      </p:sp>
      <p:sp>
        <p:nvSpPr>
          <p:cNvPr id="21" name="Rounded Rectangle 20"/>
          <p:cNvSpPr/>
          <p:nvPr/>
        </p:nvSpPr>
        <p:spPr>
          <a:xfrm>
            <a:off x="6187287"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onitor-2F5DA8.png"/>
          <p:cNvPicPr>
            <a:picLocks noChangeAspect="1"/>
          </p:cNvPicPr>
          <p:nvPr/>
        </p:nvPicPr>
        <p:blipFill>
          <a:blip r:embed="rId6"/>
          <a:stretch>
            <a:fillRect/>
          </a:stretch>
        </p:blipFill>
        <p:spPr>
          <a:xfrm>
            <a:off x="6415887" y="4864608"/>
            <a:ext cx="329184" cy="329184"/>
          </a:xfrm>
          <a:prstGeom prst="rect">
            <a:avLst/>
          </a:prstGeom>
        </p:spPr>
      </p:pic>
      <p:sp>
        <p:nvSpPr>
          <p:cNvPr id="23" name="Oval 22"/>
          <p:cNvSpPr/>
          <p:nvPr/>
        </p:nvSpPr>
        <p:spPr>
          <a:xfrm>
            <a:off x="8366531"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4" name="TextBox 23"/>
          <p:cNvSpPr txBox="1"/>
          <p:nvPr/>
        </p:nvSpPr>
        <p:spPr>
          <a:xfrm>
            <a:off x="6415887"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Nothing imports web</a:t>
            </a:r>
          </a:p>
        </p:txBody>
      </p:sp>
      <p:sp>
        <p:nvSpPr>
          <p:cNvPr id="25" name="TextBox 24"/>
          <p:cNvSpPr txBox="1"/>
          <p:nvPr/>
        </p:nvSpPr>
        <p:spPr>
          <a:xfrm>
            <a:off x="6415887"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So the planner runs and is tested without a browser.</a:t>
            </a:r>
          </a:p>
        </p:txBody>
      </p:sp>
      <p:sp>
        <p:nvSpPr>
          <p:cNvPr id="26" name="Rounded Rectangle 25"/>
          <p:cNvSpPr/>
          <p:nvPr/>
        </p:nvSpPr>
        <p:spPr>
          <a:xfrm>
            <a:off x="9006611"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boxes-2F5DA8.png"/>
          <p:cNvPicPr>
            <a:picLocks noChangeAspect="1"/>
          </p:cNvPicPr>
          <p:nvPr/>
        </p:nvPicPr>
        <p:blipFill>
          <a:blip r:embed="rId7"/>
          <a:stretch>
            <a:fillRect/>
          </a:stretch>
        </p:blipFill>
        <p:spPr>
          <a:xfrm>
            <a:off x="9235211" y="4864608"/>
            <a:ext cx="329184" cy="329184"/>
          </a:xfrm>
          <a:prstGeom prst="rect">
            <a:avLst/>
          </a:prstGeom>
        </p:spPr>
      </p:pic>
      <p:sp>
        <p:nvSpPr>
          <p:cNvPr id="28" name="TextBox 27"/>
          <p:cNvSpPr txBox="1"/>
          <p:nvPr/>
        </p:nvSpPr>
        <p:spPr>
          <a:xfrm>
            <a:off x="9235211"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Plug in at interfaces</a:t>
            </a:r>
          </a:p>
        </p:txBody>
      </p:sp>
      <p:sp>
        <p:nvSpPr>
          <p:cNvPr id="29" name="TextBox 28"/>
          <p:cNvSpPr txBox="1"/>
          <p:nvPr/>
        </p:nvSpPr>
        <p:spPr>
          <a:xfrm>
            <a:off x="9235211"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new specialist, provider or store.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DEPLOYMENT</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serverless app, optional cloud services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21 / 24</a:t>
            </a:r>
          </a:p>
        </p:txBody>
      </p:sp>
      <p:sp>
        <p:nvSpPr>
          <p:cNvPr id="8" name="Rounded Rectangle 7"/>
          <p:cNvSpPr/>
          <p:nvPr/>
        </p:nvSpPr>
        <p:spPr>
          <a:xfrm>
            <a:off x="548640" y="1481328"/>
            <a:ext cx="63093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ployment.png"/>
          <p:cNvPicPr>
            <a:picLocks noChangeAspect="1"/>
          </p:cNvPicPr>
          <p:nvPr/>
        </p:nvPicPr>
        <p:blipFill>
          <a:blip r:embed="rId3"/>
          <a:stretch>
            <a:fillRect/>
          </a:stretch>
        </p:blipFill>
        <p:spPr>
          <a:xfrm>
            <a:off x="879968" y="1609344"/>
            <a:ext cx="5646702" cy="4498848"/>
          </a:xfrm>
          <a:prstGeom prst="rect">
            <a:avLst/>
          </a:prstGeom>
        </p:spPr>
      </p:pic>
      <p:sp>
        <p:nvSpPr>
          <p:cNvPr id="10" name="Oval 9"/>
          <p:cNvSpPr/>
          <p:nvPr/>
        </p:nvSpPr>
        <p:spPr>
          <a:xfrm>
            <a:off x="912209" y="358664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3566160" y="304678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5429571" y="390156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713232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4" name="TextBox 13"/>
          <p:cNvSpPr txBox="1"/>
          <p:nvPr/>
        </p:nvSpPr>
        <p:spPr>
          <a:xfrm>
            <a:off x="7516368" y="157276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Browser</a:t>
            </a:r>
          </a:p>
          <a:p>
            <a:pPr algn="l">
              <a:lnSpc>
                <a:spcPct val="115000"/>
              </a:lnSpc>
              <a:spcAft>
                <a:spcPts val="200"/>
              </a:spcAft>
            </a:pPr>
            <a:r>
              <a:rPr sz="1350" b="0" i="0">
                <a:solidFill>
                  <a:srgbClr val="2A3550"/>
                </a:solidFill>
                <a:latin typeface="Arial"/>
              </a:rPr>
              <a:t>Chats and trips in local storage; progress streams as NDJSON.</a:t>
            </a:r>
          </a:p>
        </p:txBody>
      </p:sp>
      <p:sp>
        <p:nvSpPr>
          <p:cNvPr id="15" name="Oval 14"/>
          <p:cNvSpPr/>
          <p:nvPr/>
        </p:nvSpPr>
        <p:spPr>
          <a:xfrm>
            <a:off x="7132320" y="277063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6" name="TextBox 15"/>
          <p:cNvSpPr txBox="1"/>
          <p:nvPr/>
        </p:nvSpPr>
        <p:spPr>
          <a:xfrm>
            <a:off x="7516368" y="276148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Server</a:t>
            </a:r>
          </a:p>
          <a:p>
            <a:pPr algn="l">
              <a:lnSpc>
                <a:spcPct val="115000"/>
              </a:lnSpc>
              <a:spcAft>
                <a:spcPts val="200"/>
              </a:spcAft>
            </a:pPr>
            <a:r>
              <a:rPr sz="1350" b="0" i="0">
                <a:solidFill>
                  <a:srgbClr val="2A3550"/>
                </a:solidFill>
                <a:latin typeface="Arial"/>
              </a:rPr>
              <a:t>Next.js API routes and the orchestrator.</a:t>
            </a:r>
          </a:p>
        </p:txBody>
      </p:sp>
      <p:sp>
        <p:nvSpPr>
          <p:cNvPr id="17" name="Oval 16"/>
          <p:cNvSpPr/>
          <p:nvPr/>
        </p:nvSpPr>
        <p:spPr>
          <a:xfrm>
            <a:off x="7132320" y="395935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8" name="TextBox 17"/>
          <p:cNvSpPr txBox="1"/>
          <p:nvPr/>
        </p:nvSpPr>
        <p:spPr>
          <a:xfrm>
            <a:off x="7516368" y="395020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Optional</a:t>
            </a:r>
          </a:p>
          <a:p>
            <a:pPr algn="l">
              <a:lnSpc>
                <a:spcPct val="115000"/>
              </a:lnSpc>
              <a:spcAft>
                <a:spcPts val="200"/>
              </a:spcAft>
            </a:pPr>
            <a:r>
              <a:rPr sz="1350" b="0" i="0">
                <a:solidFill>
                  <a:srgbClr val="2A3550"/>
                </a:solidFill>
                <a:latin typeface="Arial"/>
              </a:rPr>
              <a:t>Redis REST memory, Postgres account sync, Clerk sign-in.</a:t>
            </a:r>
          </a:p>
        </p:txBody>
      </p:sp>
      <p:sp>
        <p:nvSpPr>
          <p:cNvPr id="19" name="Rounded Rectangle 18"/>
          <p:cNvSpPr/>
          <p:nvPr/>
        </p:nvSpPr>
        <p:spPr>
          <a:xfrm>
            <a:off x="7132320" y="5047488"/>
            <a:ext cx="4510735" cy="1051560"/>
          </a:xfrm>
          <a:prstGeom prst="roundRect">
            <a:avLst>
              <a:gd name="adj" fmla="val 1043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ifi-off-F2A65A.png"/>
          <p:cNvPicPr>
            <a:picLocks noChangeAspect="1"/>
          </p:cNvPicPr>
          <p:nvPr/>
        </p:nvPicPr>
        <p:blipFill>
          <a:blip r:embed="rId4"/>
          <a:stretch>
            <a:fillRect/>
          </a:stretch>
        </p:blipFill>
        <p:spPr>
          <a:xfrm>
            <a:off x="7360920" y="5394960"/>
            <a:ext cx="347472" cy="347472"/>
          </a:xfrm>
          <a:prstGeom prst="rect">
            <a:avLst/>
          </a:prstGeom>
        </p:spPr>
      </p:pic>
      <p:sp>
        <p:nvSpPr>
          <p:cNvPr id="21" name="TextBox 20"/>
          <p:cNvSpPr txBox="1"/>
          <p:nvPr/>
        </p:nvSpPr>
        <p:spPr>
          <a:xfrm>
            <a:off x="7909560" y="5138928"/>
            <a:ext cx="3596335" cy="868680"/>
          </a:xfrm>
          <a:prstGeom prst="rect">
            <a:avLst/>
          </a:prstGeom>
          <a:noFill/>
        </p:spPr>
        <p:txBody>
          <a:bodyPr wrap="square" lIns="0" rIns="0" tIns="0" bIns="0" anchor="ctr">
            <a:spAutoFit/>
          </a:bodyPr>
          <a:lstStyle/>
          <a:p>
            <a:pPr algn="l">
              <a:lnSpc>
                <a:spcPct val="115000"/>
              </a:lnSpc>
              <a:spcAft>
                <a:spcPts val="0"/>
              </a:spcAft>
            </a:pPr>
            <a:r>
              <a:rPr sz="1400" b="1" i="0">
                <a:solidFill>
                  <a:srgbClr val="F2A65A"/>
                </a:solidFill>
                <a:latin typeface="Arial"/>
              </a:rPr>
              <a:t>No keys?  </a:t>
            </a:r>
            <a:r>
              <a:rPr sz="1400" b="0" i="0">
                <a:solidFill>
                  <a:srgbClr val="FFFFFF"/>
                </a:solidFill>
                <a:latin typeface="Arial"/>
              </a:rPr>
              <a:t>The same build runs offline on mock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CHANGE ASSESSMENT AND ACCEPTANCE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How a change gets in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22 / 24</a:t>
            </a:r>
          </a:p>
        </p:txBody>
      </p:sp>
      <p:sp>
        <p:nvSpPr>
          <p:cNvPr id="8" name="Rounded Rectangle 7"/>
          <p:cNvSpPr/>
          <p:nvPr/>
        </p:nvSpPr>
        <p:spPr>
          <a:xfrm>
            <a:off x="548640"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68680"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ull-request-2F5DA8.png"/>
          <p:cNvPicPr>
            <a:picLocks noChangeAspect="1"/>
          </p:cNvPicPr>
          <p:nvPr/>
        </p:nvPicPr>
        <p:blipFill>
          <a:blip r:embed="rId3"/>
          <a:stretch>
            <a:fillRect/>
          </a:stretch>
        </p:blipFill>
        <p:spPr>
          <a:xfrm>
            <a:off x="987552" y="1874520"/>
            <a:ext cx="329184" cy="329184"/>
          </a:xfrm>
          <a:prstGeom prst="rect">
            <a:avLst/>
          </a:prstGeom>
        </p:spPr>
      </p:pic>
      <p:sp>
        <p:nvSpPr>
          <p:cNvPr id="12" name="TextBox 11"/>
          <p:cNvSpPr txBox="1"/>
          <p:nvPr/>
        </p:nvSpPr>
        <p:spPr>
          <a:xfrm>
            <a:off x="1600200"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Assess</a:t>
            </a:r>
          </a:p>
        </p:txBody>
      </p:sp>
      <p:pic>
        <p:nvPicPr>
          <p:cNvPr id="13" name="Picture 12" descr="check-2F5DA8.png"/>
          <p:cNvPicPr>
            <a:picLocks noChangeAspect="1"/>
          </p:cNvPicPr>
          <p:nvPr/>
        </p:nvPicPr>
        <p:blipFill>
          <a:blip r:embed="rId4"/>
          <a:stretch>
            <a:fillRect/>
          </a:stretch>
        </p:blipFill>
        <p:spPr>
          <a:xfrm>
            <a:off x="914400" y="2569464"/>
            <a:ext cx="219456" cy="219456"/>
          </a:xfrm>
          <a:prstGeom prst="rect">
            <a:avLst/>
          </a:prstGeom>
        </p:spPr>
      </p:pic>
      <p:sp>
        <p:nvSpPr>
          <p:cNvPr id="14" name="TextBox 13"/>
          <p:cNvSpPr txBox="1"/>
          <p:nvPr/>
        </p:nvSpPr>
        <p:spPr>
          <a:xfrm>
            <a:off x="1280160"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Trace it to a requirement and use case</a:t>
            </a:r>
          </a:p>
        </p:txBody>
      </p:sp>
      <p:pic>
        <p:nvPicPr>
          <p:cNvPr id="15" name="Picture 14" descr="check-2F5DA8.png"/>
          <p:cNvPicPr>
            <a:picLocks noChangeAspect="1"/>
          </p:cNvPicPr>
          <p:nvPr/>
        </p:nvPicPr>
        <p:blipFill>
          <a:blip r:embed="rId4"/>
          <a:stretch>
            <a:fillRect/>
          </a:stretch>
        </p:blipFill>
        <p:spPr>
          <a:xfrm>
            <a:off x="914400" y="3081528"/>
            <a:ext cx="219456" cy="219456"/>
          </a:xfrm>
          <a:prstGeom prst="rect">
            <a:avLst/>
          </a:prstGeom>
        </p:spPr>
      </p:pic>
      <p:sp>
        <p:nvSpPr>
          <p:cNvPr id="16" name="TextBox 15"/>
          <p:cNvSpPr txBox="1"/>
          <p:nvPr/>
        </p:nvSpPr>
        <p:spPr>
          <a:xfrm>
            <a:off x="1280160"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Shared contract touched? Write a decision note and tell every owner</a:t>
            </a:r>
          </a:p>
        </p:txBody>
      </p:sp>
      <p:pic>
        <p:nvPicPr>
          <p:cNvPr id="17" name="Picture 16" descr="check-2F5DA8.png"/>
          <p:cNvPicPr>
            <a:picLocks noChangeAspect="1"/>
          </p:cNvPicPr>
          <p:nvPr/>
        </p:nvPicPr>
        <p:blipFill>
          <a:blip r:embed="rId4"/>
          <a:stretch>
            <a:fillRect/>
          </a:stretch>
        </p:blipFill>
        <p:spPr>
          <a:xfrm>
            <a:off x="914400" y="3813048"/>
            <a:ext cx="219456" cy="219456"/>
          </a:xfrm>
          <a:prstGeom prst="rect">
            <a:avLst/>
          </a:prstGeom>
        </p:spPr>
      </p:pic>
      <p:sp>
        <p:nvSpPr>
          <p:cNvPr id="18" name="TextBox 17"/>
          <p:cNvSpPr txBox="1"/>
          <p:nvPr/>
        </p:nvSpPr>
        <p:spPr>
          <a:xfrm>
            <a:off x="1280160" y="377647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Reversing a decision? Supersede it in writing</a:t>
            </a:r>
          </a:p>
        </p:txBody>
      </p:sp>
      <p:sp>
        <p:nvSpPr>
          <p:cNvPr id="19" name="Rounded Rectangle 18"/>
          <p:cNvSpPr/>
          <p:nvPr/>
        </p:nvSpPr>
        <p:spPr>
          <a:xfrm>
            <a:off x="6233007"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233007"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53047"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lipboard-check-2F5DA8.png"/>
          <p:cNvPicPr>
            <a:picLocks noChangeAspect="1"/>
          </p:cNvPicPr>
          <p:nvPr/>
        </p:nvPicPr>
        <p:blipFill>
          <a:blip r:embed="rId5"/>
          <a:stretch>
            <a:fillRect/>
          </a:stretch>
        </p:blipFill>
        <p:spPr>
          <a:xfrm>
            <a:off x="6671919" y="1874520"/>
            <a:ext cx="329184" cy="329184"/>
          </a:xfrm>
          <a:prstGeom prst="rect">
            <a:avLst/>
          </a:prstGeom>
        </p:spPr>
      </p:pic>
      <p:sp>
        <p:nvSpPr>
          <p:cNvPr id="23" name="TextBox 22"/>
          <p:cNvSpPr txBox="1"/>
          <p:nvPr/>
        </p:nvSpPr>
        <p:spPr>
          <a:xfrm>
            <a:off x="7284567"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Accept</a:t>
            </a:r>
          </a:p>
        </p:txBody>
      </p:sp>
      <p:pic>
        <p:nvPicPr>
          <p:cNvPr id="24" name="Picture 23" descr="check-2F5DA8.png"/>
          <p:cNvPicPr>
            <a:picLocks noChangeAspect="1"/>
          </p:cNvPicPr>
          <p:nvPr/>
        </p:nvPicPr>
        <p:blipFill>
          <a:blip r:embed="rId4"/>
          <a:stretch>
            <a:fillRect/>
          </a:stretch>
        </p:blipFill>
        <p:spPr>
          <a:xfrm>
            <a:off x="6598767" y="2569464"/>
            <a:ext cx="219456" cy="219456"/>
          </a:xfrm>
          <a:prstGeom prst="rect">
            <a:avLst/>
          </a:prstGeom>
        </p:spPr>
      </p:pic>
      <p:sp>
        <p:nvSpPr>
          <p:cNvPr id="25" name="TextBox 24"/>
          <p:cNvSpPr txBox="1"/>
          <p:nvPr/>
        </p:nvSpPr>
        <p:spPr>
          <a:xfrm>
            <a:off x="6964527"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CI green: types, lint, tests, build, docs</a:t>
            </a:r>
          </a:p>
        </p:txBody>
      </p:sp>
      <p:pic>
        <p:nvPicPr>
          <p:cNvPr id="26" name="Picture 25" descr="check-2F5DA8.png"/>
          <p:cNvPicPr>
            <a:picLocks noChangeAspect="1"/>
          </p:cNvPicPr>
          <p:nvPr/>
        </p:nvPicPr>
        <p:blipFill>
          <a:blip r:embed="rId4"/>
          <a:stretch>
            <a:fillRect/>
          </a:stretch>
        </p:blipFill>
        <p:spPr>
          <a:xfrm>
            <a:off x="6598767" y="3081528"/>
            <a:ext cx="219456" cy="219456"/>
          </a:xfrm>
          <a:prstGeom prst="rect">
            <a:avLst/>
          </a:prstGeom>
        </p:spPr>
      </p:pic>
      <p:sp>
        <p:nvSpPr>
          <p:cNvPr id="27" name="TextBox 26"/>
          <p:cNvSpPr txBox="1"/>
          <p:nvPr/>
        </p:nvSpPr>
        <p:spPr>
          <a:xfrm>
            <a:off x="6964527"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End-to-end test leaves a repeatable artifact</a:t>
            </a:r>
          </a:p>
        </p:txBody>
      </p:sp>
      <p:pic>
        <p:nvPicPr>
          <p:cNvPr id="28" name="Picture 27" descr="check-2F5DA8.png"/>
          <p:cNvPicPr>
            <a:picLocks noChangeAspect="1"/>
          </p:cNvPicPr>
          <p:nvPr/>
        </p:nvPicPr>
        <p:blipFill>
          <a:blip r:embed="rId4"/>
          <a:stretch>
            <a:fillRect/>
          </a:stretch>
        </p:blipFill>
        <p:spPr>
          <a:xfrm>
            <a:off x="6598767" y="3593592"/>
            <a:ext cx="219456" cy="219456"/>
          </a:xfrm>
          <a:prstGeom prst="rect">
            <a:avLst/>
          </a:prstGeom>
        </p:spPr>
      </p:pic>
      <p:sp>
        <p:nvSpPr>
          <p:cNvPr id="29" name="TextBox 28"/>
          <p:cNvSpPr txBox="1"/>
          <p:nvPr/>
        </p:nvSpPr>
        <p:spPr>
          <a:xfrm>
            <a:off x="6964527" y="3557016"/>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Use case postconditions still hold</a:t>
            </a:r>
          </a:p>
        </p:txBody>
      </p:sp>
      <p:pic>
        <p:nvPicPr>
          <p:cNvPr id="30" name="Picture 29" descr="check-2F5DA8.png"/>
          <p:cNvPicPr>
            <a:picLocks noChangeAspect="1"/>
          </p:cNvPicPr>
          <p:nvPr/>
        </p:nvPicPr>
        <p:blipFill>
          <a:blip r:embed="rId4"/>
          <a:stretch>
            <a:fillRect/>
          </a:stretch>
        </p:blipFill>
        <p:spPr>
          <a:xfrm>
            <a:off x="6598767" y="4105656"/>
            <a:ext cx="219456" cy="219456"/>
          </a:xfrm>
          <a:prstGeom prst="rect">
            <a:avLst/>
          </a:prstGeom>
        </p:spPr>
      </p:pic>
      <p:sp>
        <p:nvSpPr>
          <p:cNvPr id="31" name="TextBox 30"/>
          <p:cNvSpPr txBox="1"/>
          <p:nvPr/>
        </p:nvSpPr>
        <p:spPr>
          <a:xfrm>
            <a:off x="6964527" y="4069080"/>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Docs and models updated in the same pull request</a:t>
            </a:r>
          </a:p>
        </p:txBody>
      </p:sp>
      <p:sp>
        <p:nvSpPr>
          <p:cNvPr id="32" name="Rounded Rectangle 31"/>
          <p:cNvSpPr/>
          <p:nvPr/>
        </p:nvSpPr>
        <p:spPr>
          <a:xfrm>
            <a:off x="548640" y="5047488"/>
            <a:ext cx="11094415" cy="1188720"/>
          </a:xfrm>
          <a:prstGeom prst="roundRect">
            <a:avLst>
              <a:gd name="adj" fmla="val 9230"/>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68680" y="5212079"/>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KEY ASSUMPTIONS</a:t>
            </a:r>
          </a:p>
        </p:txBody>
      </p:sp>
      <p:sp>
        <p:nvSpPr>
          <p:cNvPr id="34" name="Rounded Rectangle 33"/>
          <p:cNvSpPr/>
          <p:nvPr/>
        </p:nvSpPr>
        <p:spPr>
          <a:xfrm>
            <a:off x="868680" y="5614416"/>
            <a:ext cx="2097084"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One traveller per trip</a:t>
            </a:r>
          </a:p>
        </p:txBody>
      </p:sp>
      <p:sp>
        <p:nvSpPr>
          <p:cNvPr id="35" name="Rounded Rectangle 34"/>
          <p:cNvSpPr/>
          <p:nvPr/>
        </p:nvSpPr>
        <p:spPr>
          <a:xfrm>
            <a:off x="3075492" y="5614416"/>
            <a:ext cx="1440911"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AUD everywhere</a:t>
            </a:r>
          </a:p>
        </p:txBody>
      </p:sp>
      <p:sp>
        <p:nvSpPr>
          <p:cNvPr id="36" name="Rounded Rectangle 35"/>
          <p:cNvSpPr/>
          <p:nvPr/>
        </p:nvSpPr>
        <p:spPr>
          <a:xfrm>
            <a:off x="4626132" y="5614416"/>
            <a:ext cx="217910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Estimates, not bookings</a:t>
            </a:r>
          </a:p>
        </p:txBody>
      </p:sp>
      <p:sp>
        <p:nvSpPr>
          <p:cNvPr id="37" name="Rounded Rectangle 36"/>
          <p:cNvSpPr/>
          <p:nvPr/>
        </p:nvSpPr>
        <p:spPr>
          <a:xfrm>
            <a:off x="6914967" y="5614416"/>
            <a:ext cx="1768998"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Flights paid first</a:t>
            </a:r>
          </a:p>
        </p:txBody>
      </p:sp>
      <p:sp>
        <p:nvSpPr>
          <p:cNvPr id="38" name="Rounded Rectangle 37"/>
          <p:cNvSpPr/>
          <p:nvPr/>
        </p:nvSpPr>
        <p:spPr>
          <a:xfrm>
            <a:off x="8793693" y="5614416"/>
            <a:ext cx="267123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Models and providers can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UC-E1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Edits are previewed and checked before they apply</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23 / 24</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2F5DA8"/>
                </a:solidFill>
                <a:latin typeface="Arial"/>
              </a:rPr>
              <a:t>Ad hoc requirement  </a:t>
            </a:r>
            <a:r>
              <a:rPr sz="1200" b="0" i="0">
                <a:solidFill>
                  <a:srgbClr val="2A3550"/>
                </a:solidFill>
                <a:latin typeface="Arial"/>
              </a:rPr>
              <a:t>AH-E1: change my trip in the timeline or map; check conflicts, routes and budget</a:t>
            </a:r>
            <a:r>
              <a:rPr sz="1200" b="1" i="0">
                <a:solidFill>
                  <a:srgbClr val="2F5DA8"/>
                </a:solidFill>
                <a:latin typeface="Arial"/>
              </a:rPr>
              <a:t>      Use case  </a:t>
            </a:r>
            <a:r>
              <a:rPr sz="1200" b="0" i="0">
                <a:solidFill>
                  <a:srgbClr val="2A3550"/>
                </a:solidFill>
                <a:latin typeface="Arial"/>
              </a:rPr>
              <a:t>UC-E1 Edit Itinerary (Timeline / Map)</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e-activity.png"/>
          <p:cNvPicPr>
            <a:picLocks noChangeAspect="1"/>
          </p:cNvPicPr>
          <p:nvPr/>
        </p:nvPicPr>
        <p:blipFill>
          <a:blip r:embed="rId3"/>
          <a:stretch>
            <a:fillRect/>
          </a:stretch>
        </p:blipFill>
        <p:spPr>
          <a:xfrm>
            <a:off x="1645234" y="2679192"/>
            <a:ext cx="1383030"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sequence.png"/>
          <p:cNvPicPr>
            <a:picLocks noChangeAspect="1"/>
          </p:cNvPicPr>
          <p:nvPr/>
        </p:nvPicPr>
        <p:blipFill>
          <a:blip r:embed="rId4"/>
          <a:stretch>
            <a:fillRect/>
          </a:stretch>
        </p:blipFill>
        <p:spPr>
          <a:xfrm>
            <a:off x="4446355" y="2679192"/>
            <a:ext cx="3298983" cy="3429000"/>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e-state.png"/>
          <p:cNvPicPr>
            <a:picLocks noChangeAspect="1"/>
          </p:cNvPicPr>
          <p:nvPr/>
        </p:nvPicPr>
        <p:blipFill>
          <a:blip r:embed="rId5"/>
          <a:stretch>
            <a:fillRect/>
          </a:stretch>
        </p:blipFill>
        <p:spPr>
          <a:xfrm>
            <a:off x="8586930" y="2679192"/>
            <a:ext cx="2536031"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188720"/>
            <a:ext cx="54864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SUMMARY</a:t>
            </a:r>
          </a:p>
        </p:txBody>
      </p:sp>
      <p:sp>
        <p:nvSpPr>
          <p:cNvPr id="3" name="TextBox 2"/>
          <p:cNvSpPr txBox="1"/>
          <p:nvPr/>
        </p:nvSpPr>
        <p:spPr>
          <a:xfrm>
            <a:off x="822960" y="169164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Models</a:t>
            </a:r>
            <a:r>
              <a:rPr sz="4800" b="1" i="0">
                <a:solidFill>
                  <a:srgbClr val="FFFFFF"/>
                </a:solidFill>
                <a:latin typeface="Georgia"/>
              </a:rPr>
              <a:t> choose.</a:t>
            </a:r>
          </a:p>
        </p:txBody>
      </p:sp>
      <p:sp>
        <p:nvSpPr>
          <p:cNvPr id="4" name="TextBox 3"/>
          <p:cNvSpPr txBox="1"/>
          <p:nvPr/>
        </p:nvSpPr>
        <p:spPr>
          <a:xfrm>
            <a:off x="822960" y="256032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Code</a:t>
            </a:r>
            <a:r>
              <a:rPr sz="4800" b="1" i="0">
                <a:solidFill>
                  <a:srgbClr val="FFFFFF"/>
                </a:solidFill>
                <a:latin typeface="Georgia"/>
              </a:rPr>
              <a:t> decides.</a:t>
            </a:r>
          </a:p>
        </p:txBody>
      </p:sp>
      <p:sp>
        <p:nvSpPr>
          <p:cNvPr id="5" name="TextBox 4"/>
          <p:cNvSpPr txBox="1"/>
          <p:nvPr/>
        </p:nvSpPr>
        <p:spPr>
          <a:xfrm>
            <a:off x="822960" y="342900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The traveller</a:t>
            </a:r>
            <a:r>
              <a:rPr sz="4800" b="1" i="0">
                <a:solidFill>
                  <a:srgbClr val="FFFFFF"/>
                </a:solidFill>
                <a:latin typeface="Georgia"/>
              </a:rPr>
              <a:t> stays in control.</a:t>
            </a:r>
          </a:p>
        </p:txBody>
      </p:sp>
      <p:sp>
        <p:nvSpPr>
          <p:cNvPr id="6" name="Rectangle 5"/>
          <p:cNvSpPr/>
          <p:nvPr/>
        </p:nvSpPr>
        <p:spPr>
          <a:xfrm>
            <a:off x="841248" y="4434840"/>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709160"/>
            <a:ext cx="10058400" cy="365760"/>
          </a:xfrm>
          <a:prstGeom prst="rect">
            <a:avLst/>
          </a:prstGeom>
          <a:noFill/>
        </p:spPr>
        <p:txBody>
          <a:bodyPr wrap="square" lIns="0" rIns="0" tIns="0" bIns="0" anchor="t">
            <a:spAutoFit/>
          </a:bodyPr>
          <a:lstStyle/>
          <a:p>
            <a:pPr algn="l">
              <a:lnSpc>
                <a:spcPct val="115000"/>
              </a:lnSpc>
              <a:spcAft>
                <a:spcPts val="0"/>
              </a:spcAft>
            </a:pPr>
            <a:r>
              <a:rPr sz="1700" b="0" i="0">
                <a:solidFill>
                  <a:srgbClr val="C9D3E3"/>
                </a:solidFill>
                <a:latin typeface="Arial"/>
              </a:rPr>
              <a:t>Stage 2: verify live providers end to end, extend the Agent Lab, and track the work in Jira.</a:t>
            </a:r>
          </a:p>
        </p:txBody>
      </p:sp>
      <p:sp>
        <p:nvSpPr>
          <p:cNvPr id="8" name="TextBox 7"/>
          <p:cNvSpPr txBox="1"/>
          <p:nvPr/>
        </p:nvSpPr>
        <p:spPr>
          <a:xfrm>
            <a:off x="822960" y="5257800"/>
            <a:ext cx="10058400" cy="365760"/>
          </a:xfrm>
          <a:prstGeom prst="rect">
            <a:avLst/>
          </a:prstGeom>
          <a:noFill/>
        </p:spPr>
        <p:txBody>
          <a:bodyPr wrap="square" lIns="0" rIns="0" tIns="0" bIns="0" anchor="t">
            <a:spAutoFit/>
          </a:bodyPr>
          <a:lstStyle/>
          <a:p>
            <a:pPr algn="l">
              <a:lnSpc>
                <a:spcPct val="115000"/>
              </a:lnSpc>
              <a:spcAft>
                <a:spcPts val="0"/>
              </a:spcAft>
            </a:pPr>
            <a:r>
              <a:rPr sz="1400" b="0" i="0">
                <a:solidFill>
                  <a:srgbClr val="8A93A6"/>
                </a:solidFill>
                <a:latin typeface="Arial"/>
              </a:rPr>
              <a:t>github.com/Lilstanie/AI_TRIP_PLANNER</a:t>
            </a:r>
          </a:p>
        </p:txBody>
      </p:sp>
      <p:sp>
        <p:nvSpPr>
          <p:cNvPr id="9" name="Oval 8"/>
          <p:cNvSpPr/>
          <p:nvPr/>
        </p:nvSpPr>
        <p:spPr>
          <a:xfrm>
            <a:off x="9357055" y="5989320"/>
            <a:ext cx="347472" cy="347472"/>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0" name="Oval 9"/>
          <p:cNvSpPr/>
          <p:nvPr/>
        </p:nvSpPr>
        <p:spPr>
          <a:xfrm>
            <a:off x="9814255" y="5989320"/>
            <a:ext cx="347472" cy="347472"/>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11" name="Oval 10"/>
          <p:cNvSpPr/>
          <p:nvPr/>
        </p:nvSpPr>
        <p:spPr>
          <a:xfrm>
            <a:off x="10271455" y="5989320"/>
            <a:ext cx="347472" cy="34747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12" name="Oval 11"/>
          <p:cNvSpPr/>
          <p:nvPr/>
        </p:nvSpPr>
        <p:spPr>
          <a:xfrm>
            <a:off x="10728655" y="5989320"/>
            <a:ext cx="347472" cy="347472"/>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13" name="Oval 12"/>
          <p:cNvSpPr/>
          <p:nvPr/>
        </p:nvSpPr>
        <p:spPr>
          <a:xfrm>
            <a:off x="11185855" y="5989320"/>
            <a:ext cx="347472" cy="347472"/>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