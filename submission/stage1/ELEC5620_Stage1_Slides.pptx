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 we are Group 14 from the Monday 10 to 12 class, and this is AI Trip Planner, a one-person AI travel agency.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Planning a trip means juggling many sites, and every choice constrains the others. A chatbot can write an itinerary, but it invents prices and never checks that the parts fit. So we built an agency where specialist agents plan together on real data, and code checks their work.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two humans: the traveller, our customer, and the founder who runs the agency and tests the agents in our Agent Lab. Then seven AI roles: a coordinator that talks to the traveller, a supervisor that assigns work, and five specialists, each with its own prompt and tools.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key design choice: the LangGraph workflow drives the agents, not the other way round. Specialists plan in stages on a shared board, code detects budget, time and route conflicts, and only the agents involved revise, for at most three rounds. If a model fails, a validated fallback keeps planning working.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UC-A1 turns one free-text message into a validated plan. The LLM acts three times: it extracts the stated facts, the supervisor delegates to specialists, and it writes the reply. Code fences each step: the Zod contract validates the brief, a missing fact ends the turn with one question instead of a default, and at most three revision rounds run, each kept only if the plan score improves.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classified requirements into the agreed scope, mandatory capabilities and optional features. Each member owns two core features and one optional one, shown here. Every member also wrote an ad hoc requirement and broke it into functional, non-functional and constraint requirements.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feature diagram groups the system into seven areas, with mandatory, optional and alternative features, such as shared or individual rooms. We added cross-tree constraints and attached non-functional requirements, like money in integer cents.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use case diagram has one traveller and three external systems. Each member wrote at least one full specification, and our behaviour diagrams come from those.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UC-B1 arranges flights and moves between cities. The transport LLM only selects offered flight ids and a departure slot for each hop. Code then checks every choice against the evidence, one fare per hop, day bounds and route fit, and takes prices and durations from the providers. A missing fare stays unknown, never free, and an invalid choice falls back to a deterministic plan.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 C owns accommodation and budget. The ad hoc requirement: the hotel must fit the money left after flights, a budget overrun should swap to a cheaper hotel that still meets the traveller's rules, and an impossible budget should name the minimum. That gave two use cases.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object diagram snapshots the planning board for a Tokyo trip that is 640 dollars over budget. The hotel prices are real fixture values; transport and dining are illustrative. Accommodation is asked to save 379 dollars, so it moves to the saver hotel.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collaboration shows roles, not classes: the budget code plays the judge that turns proposals into targeted revisions. The structured class shows the workflow's parts and its injected ports.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this activity diagram the LLM appears once, choosing one candidate id. Around it everything is deterministic: invalid output falls back to a rule, a booked stay skips the search, and prices are in cents.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sequence diagram shows an overrun: detectConflicts sends a revision only to the agents that can cut, and round two is kept only because the plan score improved.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state machine follows the accommodation section through one turn, and maps its internal states onto the three statuses the traveller sees.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class model has six diagrams drawn from the code. The spine runs from the workspace, through the coordinator and workflow, to specialists that reach tools and memory only through injected interfaces.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agent realises one Specialist interface, so the graph loops over them without knowing their models. The registry aggregates agents, while a plan is composed of its sections.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discarded a model-driven loop and free agent-to-agent chat, because limits and costs must be testable. We dropped approval checkpoints, since confirming applied nothing, and chose DeepSeek because it was about three times faster.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UC-D1 shows both specialists working from evidence: the guide uses map coordinates and weather data; dining uses restaurant candidates and confirmed dietary preferences. The LLM drafts guidance, while deterministic code validates its output and budget. Forecasts are distinguished from climate context, and unavailable weather is disclosed.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packages, each with an owner, all depend inward on the shared contracts, which depend on nothing. New specialists, providers or stores plug in behind existing interfaces.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 deploys as one serverless Next.js app. Memory, account sync and sign-in are optional, and without keys the same build runs fully on mock data.</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change must trace to a requirement; a change to shared contracts needs a written decision. A pull request is accepted when CI passes, an end-to-end artifact exists, use case postconditions hold and the models are updated.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UC-E1 edits an existing trip through the timeline or map while keeping routes, budget and uncertain prices visible. Timeline and map operations go to a deterministic preview endpoint, which validates the schema and version, checks routes and conflicts, recalculates costs, and marks changed prices as unverified. The chat LLM can update the brief or replan, but it does not create an edit request. The state machine ends in Applied only after the browser accepts the validated preview.</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short: models choose, code decides, and the traveller stays in control. Thank you for watching.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8.png"/><Relationship Id="rId8" Type="http://schemas.openxmlformats.org/officeDocument/2006/relationships/image" Target="../media/image9.png"/><Relationship Id="rId9" Type="http://schemas.openxmlformats.org/officeDocument/2006/relationships/image" Target="../media/image10.png"/><Relationship Id="rId10" Type="http://schemas.openxmlformats.org/officeDocument/2006/relationships/image" Target="../media/image11.png"/><Relationship Id="rId11"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3.png"/><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image" Target="../media/image22.png"/><Relationship Id="rId7" Type="http://schemas.openxmlformats.org/officeDocument/2006/relationships/image" Target="../media/image23.png"/><Relationship Id="rId8" Type="http://schemas.openxmlformats.org/officeDocument/2006/relationships/image" Target="../media/image24.png"/><Relationship Id="rId9" Type="http://schemas.openxmlformats.org/officeDocument/2006/relationships/image" Target="../media/image2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2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27.png"/><Relationship Id="rId4" Type="http://schemas.openxmlformats.org/officeDocument/2006/relationships/image" Target="../media/image28.png"/><Relationship Id="rId5" Type="http://schemas.openxmlformats.org/officeDocument/2006/relationships/image" Target="../media/image2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30.png"/><Relationship Id="rId4" Type="http://schemas.openxmlformats.org/officeDocument/2006/relationships/image" Target="../media/image31.png"/><Relationship Id="rId5" Type="http://schemas.openxmlformats.org/officeDocument/2006/relationships/image" Target="../media/image32.png"/><Relationship Id="rId6" Type="http://schemas.openxmlformats.org/officeDocument/2006/relationships/image" Target="../media/image2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3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34.png"/><Relationship Id="rId4" Type="http://schemas.openxmlformats.org/officeDocument/2006/relationships/image" Target="../media/image3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3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3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38.png"/><Relationship Id="rId4" Type="http://schemas.openxmlformats.org/officeDocument/2006/relationships/image" Target="../media/image3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4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4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42.png"/><Relationship Id="rId4" Type="http://schemas.openxmlformats.org/officeDocument/2006/relationships/image" Target="../media/image4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44.png"/><Relationship Id="rId4" Type="http://schemas.openxmlformats.org/officeDocument/2006/relationships/image" Target="../media/image45.png"/><Relationship Id="rId5" Type="http://schemas.openxmlformats.org/officeDocument/2006/relationships/image" Target="../media/image4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47.png"/><Relationship Id="rId4" Type="http://schemas.openxmlformats.org/officeDocument/2006/relationships/image" Target="../media/image48.png"/><Relationship Id="rId5" Type="http://schemas.openxmlformats.org/officeDocument/2006/relationships/image" Target="../media/image49.png"/><Relationship Id="rId6" Type="http://schemas.openxmlformats.org/officeDocument/2006/relationships/image" Target="../media/image50.png"/><Relationship Id="rId7" Type="http://schemas.openxmlformats.org/officeDocument/2006/relationships/image" Target="../media/image5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52.png"/><Relationship Id="rId4" Type="http://schemas.openxmlformats.org/officeDocument/2006/relationships/image" Target="../media/image5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54.png"/><Relationship Id="rId4" Type="http://schemas.openxmlformats.org/officeDocument/2006/relationships/image" Target="../media/image55.png"/><Relationship Id="rId5" Type="http://schemas.openxmlformats.org/officeDocument/2006/relationships/image" Target="../media/image5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57.png"/><Relationship Id="rId4" Type="http://schemas.openxmlformats.org/officeDocument/2006/relationships/image" Target="../media/image58.png"/><Relationship Id="rId5" Type="http://schemas.openxmlformats.org/officeDocument/2006/relationships/image" Target="../media/image5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213D"/>
        </a:solidFill>
        <a:effectLst/>
      </p:bgPr>
    </p:bg>
    <p:spTree>
      <p:nvGrpSpPr>
        <p:cNvPr id="1" name=""/>
        <p:cNvGrpSpPr/>
        <p:nvPr/>
      </p:nvGrpSpPr>
      <p:grpSpPr/>
      <p:cxnSp>
        <p:nvCxnSpPr>
          <p:cNvPr id="2" name="Connector 1"/>
          <p:cNvCxnSpPr/>
          <p:nvPr/>
        </p:nvCxnSpPr>
        <p:spPr>
          <a:xfrm flipV="1">
            <a:off x="8138160" y="777240"/>
            <a:ext cx="1234440" cy="365760"/>
          </a:xfrm>
          <a:prstGeom prst="line">
            <a:avLst/>
          </a:prstGeom>
          <a:ln w="25400">
            <a:solidFill>
              <a:srgbClr val="3A4A6E"/>
            </a:solidFill>
            <a:prstDash val="dash"/>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372600" y="777240"/>
            <a:ext cx="1188720" cy="685800"/>
          </a:xfrm>
          <a:prstGeom prst="line">
            <a:avLst/>
          </a:prstGeom>
          <a:ln w="25400">
            <a:solidFill>
              <a:srgbClr val="3A4A6E"/>
            </a:solidFill>
            <a:prstDash val="dash"/>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H="1">
            <a:off x="9692640" y="1463040"/>
            <a:ext cx="868680" cy="868680"/>
          </a:xfrm>
          <a:prstGeom prst="line">
            <a:avLst/>
          </a:prstGeom>
          <a:ln w="25400">
            <a:solidFill>
              <a:srgbClr val="3A4A6E"/>
            </a:solidFill>
            <a:prstDash val="dash"/>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9692640" y="2331720"/>
            <a:ext cx="1325880" cy="457200"/>
          </a:xfrm>
          <a:prstGeom prst="line">
            <a:avLst/>
          </a:prstGeom>
          <a:ln w="25400">
            <a:solidFill>
              <a:srgbClr val="3A4A6E"/>
            </a:solidFill>
            <a:prstDash val="dash"/>
          </a:ln>
        </p:spPr>
        <p:style>
          <a:lnRef idx="2">
            <a:schemeClr val="accent1"/>
          </a:lnRef>
          <a:fillRef idx="0">
            <a:schemeClr val="accent1"/>
          </a:fillRef>
          <a:effectRef idx="1">
            <a:schemeClr val="accent1"/>
          </a:effectRef>
          <a:fontRef idx="minor">
            <a:schemeClr val="tx1"/>
          </a:fontRef>
        </p:style>
      </p:cxnSp>
      <p:sp>
        <p:nvSpPr>
          <p:cNvPr id="6" name="Oval 5"/>
          <p:cNvSpPr/>
          <p:nvPr/>
        </p:nvSpPr>
        <p:spPr>
          <a:xfrm>
            <a:off x="7936992" y="941832"/>
            <a:ext cx="402336" cy="402336"/>
          </a:xfrm>
          <a:prstGeom prst="ellipse">
            <a:avLst/>
          </a:prstGeom>
          <a:solidFill>
            <a:srgbClr val="1F7A8C"/>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Arial"/>
              </a:rPr>
              <a:t>A</a:t>
            </a:r>
          </a:p>
        </p:txBody>
      </p:sp>
      <p:sp>
        <p:nvSpPr>
          <p:cNvPr id="7" name="Oval 6"/>
          <p:cNvSpPr/>
          <p:nvPr/>
        </p:nvSpPr>
        <p:spPr>
          <a:xfrm>
            <a:off x="9171432" y="576072"/>
            <a:ext cx="402336" cy="402336"/>
          </a:xfrm>
          <a:prstGeom prst="ellipse">
            <a:avLst/>
          </a:prstGeom>
          <a:solidFill>
            <a:srgbClr val="6B4FA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Arial"/>
              </a:rPr>
              <a:t>B</a:t>
            </a:r>
          </a:p>
        </p:txBody>
      </p:sp>
      <p:sp>
        <p:nvSpPr>
          <p:cNvPr id="8" name="Oval 7"/>
          <p:cNvSpPr/>
          <p:nvPr/>
        </p:nvSpPr>
        <p:spPr>
          <a:xfrm>
            <a:off x="10360152" y="1261872"/>
            <a:ext cx="402336" cy="402336"/>
          </a:xfrm>
          <a:prstGeom prst="ellipse">
            <a:avLst/>
          </a:prstGeom>
          <a:solidFill>
            <a:srgbClr val="C2571A"/>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Arial"/>
              </a:rPr>
              <a:t>C</a:t>
            </a:r>
          </a:p>
        </p:txBody>
      </p:sp>
      <p:sp>
        <p:nvSpPr>
          <p:cNvPr id="9" name="Oval 8"/>
          <p:cNvSpPr/>
          <p:nvPr/>
        </p:nvSpPr>
        <p:spPr>
          <a:xfrm>
            <a:off x="9491472" y="2130551"/>
            <a:ext cx="402336" cy="402336"/>
          </a:xfrm>
          <a:prstGeom prst="ellipse">
            <a:avLst/>
          </a:prstGeom>
          <a:solidFill>
            <a:srgbClr val="2E7D4F"/>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Arial"/>
              </a:rPr>
              <a:t>D</a:t>
            </a:r>
          </a:p>
        </p:txBody>
      </p:sp>
      <p:sp>
        <p:nvSpPr>
          <p:cNvPr id="10" name="Oval 9"/>
          <p:cNvSpPr/>
          <p:nvPr/>
        </p:nvSpPr>
        <p:spPr>
          <a:xfrm>
            <a:off x="10817352" y="2587751"/>
            <a:ext cx="402336" cy="402336"/>
          </a:xfrm>
          <a:prstGeom prst="ellipse">
            <a:avLst/>
          </a:prstGeom>
          <a:solidFill>
            <a:srgbClr val="2F5DA8"/>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Arial"/>
              </a:rPr>
              <a:t>E</a:t>
            </a:r>
          </a:p>
        </p:txBody>
      </p:sp>
      <p:sp>
        <p:nvSpPr>
          <p:cNvPr id="11" name="TextBox 10"/>
          <p:cNvSpPr txBox="1"/>
          <p:nvPr/>
        </p:nvSpPr>
        <p:spPr>
          <a:xfrm>
            <a:off x="822960" y="1600200"/>
            <a:ext cx="7315200" cy="274320"/>
          </a:xfrm>
          <a:prstGeom prst="rect">
            <a:avLst/>
          </a:prstGeom>
          <a:noFill/>
        </p:spPr>
        <p:txBody>
          <a:bodyPr wrap="square" lIns="0" rIns="0" tIns="0" bIns="0" anchor="t">
            <a:spAutoFit/>
          </a:bodyPr>
          <a:lstStyle/>
          <a:p>
            <a:pPr algn="l">
              <a:lnSpc>
                <a:spcPct val="115000"/>
              </a:lnSpc>
              <a:spcAft>
                <a:spcPts val="0"/>
              </a:spcAft>
            </a:pPr>
            <a:r>
              <a:rPr sz="1200" b="1" i="0">
                <a:solidFill>
                  <a:srgbClr val="F2A65A"/>
                </a:solidFill>
                <a:latin typeface="Arial"/>
              </a:rPr>
              <a:t>ELEC5620  ·  STAGE 1  ·  MON 10-12 GROUP 14</a:t>
            </a:r>
          </a:p>
        </p:txBody>
      </p:sp>
      <p:sp>
        <p:nvSpPr>
          <p:cNvPr id="12" name="TextBox 11"/>
          <p:cNvSpPr txBox="1"/>
          <p:nvPr/>
        </p:nvSpPr>
        <p:spPr>
          <a:xfrm>
            <a:off x="822960" y="2011680"/>
            <a:ext cx="8229600" cy="1005840"/>
          </a:xfrm>
          <a:prstGeom prst="rect">
            <a:avLst/>
          </a:prstGeom>
          <a:noFill/>
        </p:spPr>
        <p:txBody>
          <a:bodyPr wrap="square" lIns="0" rIns="0" tIns="0" bIns="0" anchor="t">
            <a:spAutoFit/>
          </a:bodyPr>
          <a:lstStyle/>
          <a:p>
            <a:pPr algn="l">
              <a:lnSpc>
                <a:spcPct val="115000"/>
              </a:lnSpc>
              <a:spcAft>
                <a:spcPts val="0"/>
              </a:spcAft>
            </a:pPr>
            <a:r>
              <a:rPr sz="6000" b="1" i="0">
                <a:solidFill>
                  <a:srgbClr val="FFFFFF"/>
                </a:solidFill>
                <a:latin typeface="Georgia"/>
              </a:rPr>
              <a:t>AI Trip Planner</a:t>
            </a:r>
          </a:p>
        </p:txBody>
      </p:sp>
      <p:sp>
        <p:nvSpPr>
          <p:cNvPr id="13" name="Rectangle 12"/>
          <p:cNvSpPr/>
          <p:nvPr/>
        </p:nvSpPr>
        <p:spPr>
          <a:xfrm>
            <a:off x="841248" y="3127248"/>
            <a:ext cx="822960" cy="54864"/>
          </a:xfrm>
          <a:prstGeom prst="rect">
            <a:avLst/>
          </a:prstGeom>
          <a:solidFill>
            <a:srgbClr val="C25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22960" y="3383280"/>
            <a:ext cx="7863840" cy="731520"/>
          </a:xfrm>
          <a:prstGeom prst="rect">
            <a:avLst/>
          </a:prstGeom>
          <a:noFill/>
        </p:spPr>
        <p:txBody>
          <a:bodyPr wrap="square" lIns="0" rIns="0" tIns="0" bIns="0" anchor="t">
            <a:spAutoFit/>
          </a:bodyPr>
          <a:lstStyle/>
          <a:p>
            <a:pPr algn="l">
              <a:lnSpc>
                <a:spcPct val="115000"/>
              </a:lnSpc>
              <a:spcAft>
                <a:spcPts val="0"/>
              </a:spcAft>
            </a:pPr>
            <a:r>
              <a:rPr sz="1800" b="0" i="0">
                <a:solidFill>
                  <a:srgbClr val="C9D3E3"/>
                </a:solidFill>
                <a:latin typeface="Arial"/>
              </a:rPr>
              <a:t>A one-person AI travel agency: seven AI roles plan a trip together, one human runs the company.</a:t>
            </a:r>
          </a:p>
        </p:txBody>
      </p:sp>
      <p:sp>
        <p:nvSpPr>
          <p:cNvPr id="15" name="Rounded Rectangle 14"/>
          <p:cNvSpPr/>
          <p:nvPr/>
        </p:nvSpPr>
        <p:spPr>
          <a:xfrm>
            <a:off x="822960" y="4617720"/>
            <a:ext cx="2032345" cy="1325880"/>
          </a:xfrm>
          <a:prstGeom prst="roundRect">
            <a:avLst>
              <a:gd name="adj" fmla="val 8275"/>
            </a:avLst>
          </a:prstGeom>
          <a:solidFill>
            <a:srgbClr val="1C2B4D"/>
          </a:solidFill>
          <a:ln w="9525">
            <a:solidFill>
              <a:srgbClr val="2C3B6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822960" y="4617720"/>
            <a:ext cx="2032345" cy="64008"/>
          </a:xfrm>
          <a:prstGeom prst="rect">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1005840" y="4846320"/>
            <a:ext cx="329184" cy="329184"/>
          </a:xfrm>
          <a:prstGeom prst="ellipse">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Arial"/>
              </a:rPr>
              <a:t>A</a:t>
            </a:r>
          </a:p>
        </p:txBody>
      </p:sp>
      <p:sp>
        <p:nvSpPr>
          <p:cNvPr id="18" name="TextBox 17"/>
          <p:cNvSpPr txBox="1"/>
          <p:nvPr/>
        </p:nvSpPr>
        <p:spPr>
          <a:xfrm>
            <a:off x="1426464" y="4846320"/>
            <a:ext cx="1300825" cy="329184"/>
          </a:xfrm>
          <a:prstGeom prst="rect">
            <a:avLst/>
          </a:prstGeom>
          <a:noFill/>
        </p:spPr>
        <p:txBody>
          <a:bodyPr wrap="square" lIns="0" rIns="0" tIns="0" bIns="0" anchor="ctr">
            <a:spAutoFit/>
          </a:bodyPr>
          <a:lstStyle/>
          <a:p>
            <a:pPr algn="l">
              <a:lnSpc>
                <a:spcPct val="115000"/>
              </a:lnSpc>
              <a:spcAft>
                <a:spcPts val="0"/>
              </a:spcAft>
            </a:pPr>
            <a:r>
              <a:rPr sz="1400" b="1" i="0">
                <a:solidFill>
                  <a:srgbClr val="FFFFFF"/>
                </a:solidFill>
                <a:latin typeface="Arial"/>
              </a:rPr>
              <a:t>Ziqi He</a:t>
            </a:r>
          </a:p>
        </p:txBody>
      </p:sp>
      <p:sp>
        <p:nvSpPr>
          <p:cNvPr id="19" name="TextBox 18"/>
          <p:cNvSpPr txBox="1"/>
          <p:nvPr/>
        </p:nvSpPr>
        <p:spPr>
          <a:xfrm>
            <a:off x="1005840" y="5303520"/>
            <a:ext cx="1666585" cy="548640"/>
          </a:xfrm>
          <a:prstGeom prst="rect">
            <a:avLst/>
          </a:prstGeom>
          <a:noFill/>
        </p:spPr>
        <p:txBody>
          <a:bodyPr wrap="square" lIns="0" rIns="0" tIns="0" bIns="0" anchor="t">
            <a:spAutoFit/>
          </a:bodyPr>
          <a:lstStyle/>
          <a:p>
            <a:pPr algn="l">
              <a:lnSpc>
                <a:spcPct val="115000"/>
              </a:lnSpc>
              <a:spcAft>
                <a:spcPts val="0"/>
              </a:spcAft>
            </a:pPr>
            <a:r>
              <a:rPr sz="1200" b="0" i="0">
                <a:solidFill>
                  <a:srgbClr val="AEB9CC"/>
                </a:solidFill>
                <a:latin typeface="Arial"/>
              </a:rPr>
              <a:t>Orchestrator</a:t>
            </a:r>
          </a:p>
        </p:txBody>
      </p:sp>
      <p:sp>
        <p:nvSpPr>
          <p:cNvPr id="20" name="Rounded Rectangle 19"/>
          <p:cNvSpPr/>
          <p:nvPr/>
        </p:nvSpPr>
        <p:spPr>
          <a:xfrm>
            <a:off x="3019897" y="4617720"/>
            <a:ext cx="2032345" cy="1325880"/>
          </a:xfrm>
          <a:prstGeom prst="roundRect">
            <a:avLst>
              <a:gd name="adj" fmla="val 8275"/>
            </a:avLst>
          </a:prstGeom>
          <a:solidFill>
            <a:srgbClr val="1C2B4D"/>
          </a:solidFill>
          <a:ln w="9525">
            <a:solidFill>
              <a:srgbClr val="2C3B6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3019897" y="4617720"/>
            <a:ext cx="2032345" cy="64008"/>
          </a:xfrm>
          <a:prstGeom prst="rect">
            <a:avLst/>
          </a:prstGeom>
          <a:solidFill>
            <a:srgbClr val="6B4F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3202777" y="4846320"/>
            <a:ext cx="329184" cy="329184"/>
          </a:xfrm>
          <a:prstGeom prst="ellipse">
            <a:avLst/>
          </a:prstGeom>
          <a:solidFill>
            <a:srgbClr val="6B4FA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Arial"/>
              </a:rPr>
              <a:t>B</a:t>
            </a:r>
          </a:p>
        </p:txBody>
      </p:sp>
      <p:sp>
        <p:nvSpPr>
          <p:cNvPr id="23" name="TextBox 22"/>
          <p:cNvSpPr txBox="1"/>
          <p:nvPr/>
        </p:nvSpPr>
        <p:spPr>
          <a:xfrm>
            <a:off x="3623401" y="4846320"/>
            <a:ext cx="1300825" cy="329184"/>
          </a:xfrm>
          <a:prstGeom prst="rect">
            <a:avLst/>
          </a:prstGeom>
          <a:noFill/>
        </p:spPr>
        <p:txBody>
          <a:bodyPr wrap="square" lIns="0" rIns="0" tIns="0" bIns="0" anchor="ctr">
            <a:spAutoFit/>
          </a:bodyPr>
          <a:lstStyle/>
          <a:p>
            <a:pPr algn="l">
              <a:lnSpc>
                <a:spcPct val="115000"/>
              </a:lnSpc>
              <a:spcAft>
                <a:spcPts val="0"/>
              </a:spcAft>
            </a:pPr>
            <a:r>
              <a:rPr sz="1400" b="1" i="0">
                <a:solidFill>
                  <a:srgbClr val="FFFFFF"/>
                </a:solidFill>
                <a:latin typeface="Arial"/>
              </a:rPr>
              <a:t>Tingsong Jin</a:t>
            </a:r>
          </a:p>
        </p:txBody>
      </p:sp>
      <p:sp>
        <p:nvSpPr>
          <p:cNvPr id="24" name="TextBox 23"/>
          <p:cNvSpPr txBox="1"/>
          <p:nvPr/>
        </p:nvSpPr>
        <p:spPr>
          <a:xfrm>
            <a:off x="3202777" y="5303520"/>
            <a:ext cx="1666585" cy="548640"/>
          </a:xfrm>
          <a:prstGeom prst="rect">
            <a:avLst/>
          </a:prstGeom>
          <a:noFill/>
        </p:spPr>
        <p:txBody>
          <a:bodyPr wrap="square" lIns="0" rIns="0" tIns="0" bIns="0" anchor="t">
            <a:spAutoFit/>
          </a:bodyPr>
          <a:lstStyle/>
          <a:p>
            <a:pPr algn="l">
              <a:lnSpc>
                <a:spcPct val="115000"/>
              </a:lnSpc>
              <a:spcAft>
                <a:spcPts val="0"/>
              </a:spcAft>
            </a:pPr>
            <a:r>
              <a:rPr sz="1200" b="0" i="0">
                <a:solidFill>
                  <a:srgbClr val="AEB9CC"/>
                </a:solidFill>
                <a:latin typeface="Arial"/>
              </a:rPr>
              <a:t>Itinerary and transport</a:t>
            </a:r>
          </a:p>
        </p:txBody>
      </p:sp>
      <p:sp>
        <p:nvSpPr>
          <p:cNvPr id="25" name="Rounded Rectangle 24"/>
          <p:cNvSpPr/>
          <p:nvPr/>
        </p:nvSpPr>
        <p:spPr>
          <a:xfrm>
            <a:off x="5216834" y="4617720"/>
            <a:ext cx="2032345" cy="1325880"/>
          </a:xfrm>
          <a:prstGeom prst="roundRect">
            <a:avLst>
              <a:gd name="adj" fmla="val 8275"/>
            </a:avLst>
          </a:prstGeom>
          <a:solidFill>
            <a:srgbClr val="1C2B4D"/>
          </a:solidFill>
          <a:ln w="9525">
            <a:solidFill>
              <a:srgbClr val="2C3B6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5216834" y="4617720"/>
            <a:ext cx="2032345" cy="64008"/>
          </a:xfrm>
          <a:prstGeom prst="rect">
            <a:avLst/>
          </a:prstGeom>
          <a:solidFill>
            <a:srgbClr val="C25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5399714" y="4846320"/>
            <a:ext cx="329184" cy="329184"/>
          </a:xfrm>
          <a:prstGeom prst="ellipse">
            <a:avLst/>
          </a:prstGeom>
          <a:solidFill>
            <a:srgbClr val="C2571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Arial"/>
              </a:rPr>
              <a:t>C</a:t>
            </a:r>
          </a:p>
        </p:txBody>
      </p:sp>
      <p:sp>
        <p:nvSpPr>
          <p:cNvPr id="28" name="TextBox 27"/>
          <p:cNvSpPr txBox="1"/>
          <p:nvPr/>
        </p:nvSpPr>
        <p:spPr>
          <a:xfrm>
            <a:off x="5820338" y="4846320"/>
            <a:ext cx="1300825" cy="329184"/>
          </a:xfrm>
          <a:prstGeom prst="rect">
            <a:avLst/>
          </a:prstGeom>
          <a:noFill/>
        </p:spPr>
        <p:txBody>
          <a:bodyPr wrap="square" lIns="0" rIns="0" tIns="0" bIns="0" anchor="ctr">
            <a:spAutoFit/>
          </a:bodyPr>
          <a:lstStyle/>
          <a:p>
            <a:pPr algn="l">
              <a:lnSpc>
                <a:spcPct val="115000"/>
              </a:lnSpc>
              <a:spcAft>
                <a:spcPts val="0"/>
              </a:spcAft>
            </a:pPr>
            <a:r>
              <a:rPr sz="1400" b="1" i="0">
                <a:solidFill>
                  <a:srgbClr val="FFFFFF"/>
                </a:solidFill>
                <a:latin typeface="Arial"/>
              </a:rPr>
              <a:t>Yi Qiao</a:t>
            </a:r>
          </a:p>
        </p:txBody>
      </p:sp>
      <p:sp>
        <p:nvSpPr>
          <p:cNvPr id="29" name="TextBox 28"/>
          <p:cNvSpPr txBox="1"/>
          <p:nvPr/>
        </p:nvSpPr>
        <p:spPr>
          <a:xfrm>
            <a:off x="5399714" y="5303520"/>
            <a:ext cx="1666585" cy="548640"/>
          </a:xfrm>
          <a:prstGeom prst="rect">
            <a:avLst/>
          </a:prstGeom>
          <a:noFill/>
        </p:spPr>
        <p:txBody>
          <a:bodyPr wrap="square" lIns="0" rIns="0" tIns="0" bIns="0" anchor="t">
            <a:spAutoFit/>
          </a:bodyPr>
          <a:lstStyle/>
          <a:p>
            <a:pPr algn="l">
              <a:lnSpc>
                <a:spcPct val="115000"/>
              </a:lnSpc>
              <a:spcAft>
                <a:spcPts val="0"/>
              </a:spcAft>
            </a:pPr>
            <a:r>
              <a:rPr sz="1200" b="0" i="0">
                <a:solidFill>
                  <a:srgbClr val="AEB9CC"/>
                </a:solidFill>
                <a:latin typeface="Arial"/>
              </a:rPr>
              <a:t>Accommodation and budget</a:t>
            </a:r>
          </a:p>
        </p:txBody>
      </p:sp>
      <p:sp>
        <p:nvSpPr>
          <p:cNvPr id="30" name="Rounded Rectangle 29"/>
          <p:cNvSpPr/>
          <p:nvPr/>
        </p:nvSpPr>
        <p:spPr>
          <a:xfrm>
            <a:off x="7413772" y="4617720"/>
            <a:ext cx="2032345" cy="1325880"/>
          </a:xfrm>
          <a:prstGeom prst="roundRect">
            <a:avLst>
              <a:gd name="adj" fmla="val 8275"/>
            </a:avLst>
          </a:prstGeom>
          <a:solidFill>
            <a:srgbClr val="1C2B4D"/>
          </a:solidFill>
          <a:ln w="9525">
            <a:solidFill>
              <a:srgbClr val="2C3B6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7413772" y="4617720"/>
            <a:ext cx="2032345" cy="64008"/>
          </a:xfrm>
          <a:prstGeom prst="rect">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7596652" y="4846320"/>
            <a:ext cx="329184" cy="329184"/>
          </a:xfrm>
          <a:prstGeom prst="ellipse">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Arial"/>
              </a:rPr>
              <a:t>D</a:t>
            </a:r>
          </a:p>
        </p:txBody>
      </p:sp>
      <p:sp>
        <p:nvSpPr>
          <p:cNvPr id="33" name="TextBox 32"/>
          <p:cNvSpPr txBox="1"/>
          <p:nvPr/>
        </p:nvSpPr>
        <p:spPr>
          <a:xfrm>
            <a:off x="8017276" y="4846320"/>
            <a:ext cx="1300825" cy="329184"/>
          </a:xfrm>
          <a:prstGeom prst="rect">
            <a:avLst/>
          </a:prstGeom>
          <a:noFill/>
        </p:spPr>
        <p:txBody>
          <a:bodyPr wrap="square" lIns="0" rIns="0" tIns="0" bIns="0" anchor="ctr">
            <a:spAutoFit/>
          </a:bodyPr>
          <a:lstStyle/>
          <a:p>
            <a:pPr algn="l">
              <a:lnSpc>
                <a:spcPct val="115000"/>
              </a:lnSpc>
              <a:spcAft>
                <a:spcPts val="0"/>
              </a:spcAft>
            </a:pPr>
            <a:r>
              <a:rPr sz="1400" b="1" i="0">
                <a:solidFill>
                  <a:srgbClr val="FFFFFF"/>
                </a:solidFill>
                <a:latin typeface="Arial"/>
              </a:rPr>
              <a:t>Jiahang Bian</a:t>
            </a:r>
          </a:p>
        </p:txBody>
      </p:sp>
      <p:sp>
        <p:nvSpPr>
          <p:cNvPr id="34" name="TextBox 33"/>
          <p:cNvSpPr txBox="1"/>
          <p:nvPr/>
        </p:nvSpPr>
        <p:spPr>
          <a:xfrm>
            <a:off x="7596652" y="5303520"/>
            <a:ext cx="1666585" cy="548640"/>
          </a:xfrm>
          <a:prstGeom prst="rect">
            <a:avLst/>
          </a:prstGeom>
          <a:noFill/>
        </p:spPr>
        <p:txBody>
          <a:bodyPr wrap="square" lIns="0" rIns="0" tIns="0" bIns="0" anchor="t">
            <a:spAutoFit/>
          </a:bodyPr>
          <a:lstStyle/>
          <a:p>
            <a:pPr algn="l">
              <a:lnSpc>
                <a:spcPct val="115000"/>
              </a:lnSpc>
              <a:spcAft>
                <a:spcPts val="0"/>
              </a:spcAft>
            </a:pPr>
            <a:r>
              <a:rPr sz="1200" b="0" i="0">
                <a:solidFill>
                  <a:srgbClr val="AEB9CC"/>
                </a:solidFill>
                <a:latin typeface="Arial"/>
              </a:rPr>
              <a:t>Destination and dining</a:t>
            </a:r>
          </a:p>
        </p:txBody>
      </p:sp>
      <p:sp>
        <p:nvSpPr>
          <p:cNvPr id="35" name="Rounded Rectangle 34"/>
          <p:cNvSpPr/>
          <p:nvPr/>
        </p:nvSpPr>
        <p:spPr>
          <a:xfrm>
            <a:off x="9610709" y="4617720"/>
            <a:ext cx="2032345" cy="1325880"/>
          </a:xfrm>
          <a:prstGeom prst="roundRect">
            <a:avLst>
              <a:gd name="adj" fmla="val 8275"/>
            </a:avLst>
          </a:prstGeom>
          <a:solidFill>
            <a:srgbClr val="1C2B4D"/>
          </a:solidFill>
          <a:ln w="9525">
            <a:solidFill>
              <a:srgbClr val="2C3B6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ectangle 35"/>
          <p:cNvSpPr/>
          <p:nvPr/>
        </p:nvSpPr>
        <p:spPr>
          <a:xfrm>
            <a:off x="9610709" y="4617720"/>
            <a:ext cx="2032345" cy="64008"/>
          </a:xfrm>
          <a:prstGeom prst="rect">
            <a:avLst/>
          </a:prstGeom>
          <a:solidFill>
            <a:srgbClr val="2F5D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Oval 36"/>
          <p:cNvSpPr/>
          <p:nvPr/>
        </p:nvSpPr>
        <p:spPr>
          <a:xfrm>
            <a:off x="9793589" y="4846320"/>
            <a:ext cx="329184" cy="329184"/>
          </a:xfrm>
          <a:prstGeom prst="ellipse">
            <a:avLst/>
          </a:prstGeom>
          <a:solidFill>
            <a:srgbClr val="2F5DA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Arial"/>
              </a:rPr>
              <a:t>E</a:t>
            </a:r>
          </a:p>
        </p:txBody>
      </p:sp>
      <p:sp>
        <p:nvSpPr>
          <p:cNvPr id="38" name="TextBox 37"/>
          <p:cNvSpPr txBox="1"/>
          <p:nvPr/>
        </p:nvSpPr>
        <p:spPr>
          <a:xfrm>
            <a:off x="10214213" y="4846320"/>
            <a:ext cx="1300825" cy="329184"/>
          </a:xfrm>
          <a:prstGeom prst="rect">
            <a:avLst/>
          </a:prstGeom>
          <a:noFill/>
        </p:spPr>
        <p:txBody>
          <a:bodyPr wrap="square" lIns="0" rIns="0" tIns="0" bIns="0" anchor="ctr">
            <a:spAutoFit/>
          </a:bodyPr>
          <a:lstStyle/>
          <a:p>
            <a:pPr algn="l">
              <a:lnSpc>
                <a:spcPct val="115000"/>
              </a:lnSpc>
              <a:spcAft>
                <a:spcPts val="0"/>
              </a:spcAft>
            </a:pPr>
            <a:r>
              <a:rPr sz="1400" b="1" i="0">
                <a:solidFill>
                  <a:srgbClr val="FFFFFF"/>
                </a:solidFill>
                <a:latin typeface="Arial"/>
              </a:rPr>
              <a:t>Weihao Wang</a:t>
            </a:r>
          </a:p>
        </p:txBody>
      </p:sp>
      <p:sp>
        <p:nvSpPr>
          <p:cNvPr id="39" name="TextBox 38"/>
          <p:cNvSpPr txBox="1"/>
          <p:nvPr/>
        </p:nvSpPr>
        <p:spPr>
          <a:xfrm>
            <a:off x="9793589" y="5303520"/>
            <a:ext cx="1666585" cy="548640"/>
          </a:xfrm>
          <a:prstGeom prst="rect">
            <a:avLst/>
          </a:prstGeom>
          <a:noFill/>
        </p:spPr>
        <p:txBody>
          <a:bodyPr wrap="square" lIns="0" rIns="0" tIns="0" bIns="0" anchor="t">
            <a:spAutoFit/>
          </a:bodyPr>
          <a:lstStyle/>
          <a:p>
            <a:pPr algn="l">
              <a:lnSpc>
                <a:spcPct val="115000"/>
              </a:lnSpc>
              <a:spcAft>
                <a:spcPts val="0"/>
              </a:spcAft>
            </a:pPr>
            <a:r>
              <a:rPr sz="1200" b="0" i="0">
                <a:solidFill>
                  <a:srgbClr val="AEB9CC"/>
                </a:solidFill>
                <a:latin typeface="Arial"/>
              </a:rPr>
              <a:t>Workspace and memory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6F1"/>
        </a:solidFill>
        <a:effectLst/>
      </p:bgPr>
    </p:bg>
    <p:spTree>
      <p:nvGrpSpPr>
        <p:cNvPr id="1" name=""/>
        <p:cNvGrpSpPr/>
        <p:nvPr/>
      </p:nvGrpSpPr>
      <p:grpSpPr/>
      <p:sp>
        <p:nvSpPr>
          <p:cNvPr id="2" name="Rectangle 1"/>
          <p:cNvSpPr/>
          <p:nvPr/>
        </p:nvSpPr>
        <p:spPr>
          <a:xfrm>
            <a:off x="0" y="0"/>
            <a:ext cx="100584" cy="6858000"/>
          </a:xfrm>
          <a:prstGeom prst="rect">
            <a:avLst/>
          </a:prstGeom>
          <a:solidFill>
            <a:srgbClr val="C25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47472"/>
            <a:ext cx="5943600" cy="274320"/>
          </a:xfrm>
          <a:prstGeom prst="rect">
            <a:avLst/>
          </a:prstGeom>
          <a:noFill/>
        </p:spPr>
        <p:txBody>
          <a:bodyPr wrap="square" lIns="0" rIns="0" tIns="0" bIns="0" anchor="ctr">
            <a:spAutoFit/>
          </a:bodyPr>
          <a:lstStyle/>
          <a:p>
            <a:pPr algn="l">
              <a:lnSpc>
                <a:spcPct val="115000"/>
              </a:lnSpc>
              <a:spcAft>
                <a:spcPts val="0"/>
              </a:spcAft>
            </a:pPr>
            <a:r>
              <a:rPr sz="1000" b="1" i="0">
                <a:solidFill>
                  <a:srgbClr val="C2571A"/>
                </a:solidFill>
                <a:latin typeface="Arial"/>
              </a:rPr>
              <a:t>THE PROBLEM</a:t>
            </a:r>
          </a:p>
        </p:txBody>
      </p:sp>
      <p:sp>
        <p:nvSpPr>
          <p:cNvPr id="4" name="TextBox 3"/>
          <p:cNvSpPr txBox="1"/>
          <p:nvPr/>
        </p:nvSpPr>
        <p:spPr>
          <a:xfrm>
            <a:off x="548640" y="731520"/>
            <a:ext cx="11094415" cy="566928"/>
          </a:xfrm>
          <a:prstGeom prst="rect">
            <a:avLst/>
          </a:prstGeom>
          <a:noFill/>
        </p:spPr>
        <p:txBody>
          <a:bodyPr wrap="square" lIns="0" rIns="0" tIns="0" bIns="0" anchor="ctr">
            <a:spAutoFit/>
          </a:bodyPr>
          <a:lstStyle/>
          <a:p>
            <a:pPr algn="l">
              <a:lnSpc>
                <a:spcPct val="115000"/>
              </a:lnSpc>
              <a:spcAft>
                <a:spcPts val="0"/>
              </a:spcAft>
            </a:pPr>
            <a:r>
              <a:rPr sz="2600" b="1" i="0">
                <a:solidFill>
                  <a:srgbClr val="14213D"/>
                </a:solidFill>
                <a:latin typeface="Georgia"/>
              </a:rPr>
              <a:t>Every travel choice constrains the others</a:t>
            </a:r>
          </a:p>
        </p:txBody>
      </p:sp>
      <p:sp>
        <p:nvSpPr>
          <p:cNvPr id="5" name="Rectangle 4"/>
          <p:cNvSpPr/>
          <p:nvPr/>
        </p:nvSpPr>
        <p:spPr>
          <a:xfrm>
            <a:off x="548640" y="6400800"/>
            <a:ext cx="11094415" cy="10972"/>
          </a:xfrm>
          <a:prstGeom prst="rect">
            <a:avLst/>
          </a:prstGeom>
          <a:solidFill>
            <a:srgbClr val="DDDA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48640" y="6473952"/>
            <a:ext cx="7315200" cy="228600"/>
          </a:xfrm>
          <a:prstGeom prst="rect">
            <a:avLst/>
          </a:prstGeom>
          <a:noFill/>
        </p:spPr>
        <p:txBody>
          <a:bodyPr wrap="square" lIns="0" rIns="0" tIns="0" bIns="0" anchor="t">
            <a:spAutoFit/>
          </a:bodyPr>
          <a:lstStyle/>
          <a:p>
            <a:pPr algn="l">
              <a:lnSpc>
                <a:spcPct val="115000"/>
              </a:lnSpc>
              <a:spcAft>
                <a:spcPts val="0"/>
              </a:spcAft>
            </a:pPr>
            <a:r>
              <a:rPr sz="900" b="0" i="0">
                <a:solidFill>
                  <a:srgbClr val="8A93A6"/>
                </a:solidFill>
                <a:latin typeface="Arial"/>
              </a:rPr>
              <a:t>AI Trip Planner  ·  ELEC5620 Stage 1  ·  Mon 10-12 Group 14</a:t>
            </a:r>
          </a:p>
        </p:txBody>
      </p:sp>
      <p:sp>
        <p:nvSpPr>
          <p:cNvPr id="7" name="TextBox 6"/>
          <p:cNvSpPr txBox="1"/>
          <p:nvPr/>
        </p:nvSpPr>
        <p:spPr>
          <a:xfrm>
            <a:off x="9814255" y="6473952"/>
            <a:ext cx="1828800" cy="228600"/>
          </a:xfrm>
          <a:prstGeom prst="rect">
            <a:avLst/>
          </a:prstGeom>
          <a:noFill/>
        </p:spPr>
        <p:txBody>
          <a:bodyPr wrap="square" lIns="0" rIns="0" tIns="0" bIns="0" anchor="t">
            <a:spAutoFit/>
          </a:bodyPr>
          <a:lstStyle/>
          <a:p>
            <a:pPr algn="r">
              <a:lnSpc>
                <a:spcPct val="115000"/>
              </a:lnSpc>
              <a:spcAft>
                <a:spcPts val="0"/>
              </a:spcAft>
            </a:pPr>
            <a:r>
              <a:rPr sz="900" b="0" i="0">
                <a:solidFill>
                  <a:srgbClr val="8A93A6"/>
                </a:solidFill>
                <a:latin typeface="Arial"/>
              </a:rPr>
              <a:t>02 / 24</a:t>
            </a:r>
          </a:p>
        </p:txBody>
      </p:sp>
      <p:sp>
        <p:nvSpPr>
          <p:cNvPr id="8" name="Rounded Rectangle 7"/>
          <p:cNvSpPr/>
          <p:nvPr/>
        </p:nvSpPr>
        <p:spPr>
          <a:xfrm>
            <a:off x="548640" y="1664208"/>
            <a:ext cx="3545738" cy="4206240"/>
          </a:xfrm>
          <a:prstGeom prst="roundRect">
            <a:avLst>
              <a:gd name="adj" fmla="val 3094"/>
            </a:avLst>
          </a:prstGeom>
          <a:solidFill>
            <a:srgbClr val="FFFFFF"/>
          </a:solidFill>
          <a:ln w="9525">
            <a:solidFill>
              <a:srgbClr val="E2E5EB"/>
            </a:solidFill>
          </a:ln>
          <a:effectLst>
            <a:outerShdw blurRad="114300" dist="25400" dir="5400000" algn="t" rotWithShape="0">
              <a:srgbClr val="14213D">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914400" y="2029968"/>
            <a:ext cx="822960" cy="822960"/>
          </a:xfrm>
          <a:prstGeom prst="roundRect">
            <a:avLst>
              <a:gd name="adj" fmla="val 50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layers-14213D.png"/>
          <p:cNvPicPr>
            <a:picLocks noChangeAspect="1"/>
          </p:cNvPicPr>
          <p:nvPr/>
        </p:nvPicPr>
        <p:blipFill>
          <a:blip r:embed="rId3"/>
          <a:stretch>
            <a:fillRect/>
          </a:stretch>
        </p:blipFill>
        <p:spPr>
          <a:xfrm>
            <a:off x="1097280" y="2212848"/>
            <a:ext cx="457200" cy="457200"/>
          </a:xfrm>
          <a:prstGeom prst="rect">
            <a:avLst/>
          </a:prstGeom>
        </p:spPr>
      </p:pic>
      <p:sp>
        <p:nvSpPr>
          <p:cNvPr id="11" name="TextBox 10"/>
          <p:cNvSpPr txBox="1"/>
          <p:nvPr/>
        </p:nvSpPr>
        <p:spPr>
          <a:xfrm>
            <a:off x="914400" y="3127248"/>
            <a:ext cx="2814218" cy="822960"/>
          </a:xfrm>
          <a:prstGeom prst="rect">
            <a:avLst/>
          </a:prstGeom>
          <a:noFill/>
        </p:spPr>
        <p:txBody>
          <a:bodyPr wrap="square" lIns="0" rIns="0" tIns="0" bIns="0" anchor="b">
            <a:spAutoFit/>
          </a:bodyPr>
          <a:lstStyle/>
          <a:p>
            <a:pPr algn="l">
              <a:lnSpc>
                <a:spcPct val="115000"/>
              </a:lnSpc>
              <a:spcAft>
                <a:spcPts val="0"/>
              </a:spcAft>
            </a:pPr>
            <a:r>
              <a:rPr sz="2100" b="1" i="0">
                <a:solidFill>
                  <a:srgbClr val="14213D"/>
                </a:solidFill>
                <a:latin typeface="Georgia"/>
              </a:rPr>
              <a:t>Too many sites</a:t>
            </a:r>
          </a:p>
        </p:txBody>
      </p:sp>
      <p:sp>
        <p:nvSpPr>
          <p:cNvPr id="12" name="TextBox 11"/>
          <p:cNvSpPr txBox="1"/>
          <p:nvPr/>
        </p:nvSpPr>
        <p:spPr>
          <a:xfrm>
            <a:off x="914400" y="4087368"/>
            <a:ext cx="2814218" cy="1188720"/>
          </a:xfrm>
          <a:prstGeom prst="rect">
            <a:avLst/>
          </a:prstGeom>
          <a:noFill/>
        </p:spPr>
        <p:txBody>
          <a:bodyPr wrap="square" lIns="0" rIns="0" tIns="0" bIns="0" anchor="t">
            <a:spAutoFit/>
          </a:bodyPr>
          <a:lstStyle/>
          <a:p>
            <a:pPr algn="l">
              <a:lnSpc>
                <a:spcPct val="125000"/>
              </a:lnSpc>
              <a:spcAft>
                <a:spcPts val="0"/>
              </a:spcAft>
            </a:pPr>
            <a:r>
              <a:rPr sz="1550" b="0" i="0">
                <a:solidFill>
                  <a:srgbClr val="2A3550"/>
                </a:solidFill>
                <a:latin typeface="Arial"/>
              </a:rPr>
              <a:t>Flights, hotels, maps, food blogs and a budget spreadsheet, each on its own.</a:t>
            </a:r>
          </a:p>
        </p:txBody>
      </p:sp>
      <p:sp>
        <p:nvSpPr>
          <p:cNvPr id="13" name="Rounded Rectangle 12"/>
          <p:cNvSpPr/>
          <p:nvPr/>
        </p:nvSpPr>
        <p:spPr>
          <a:xfrm>
            <a:off x="4322978" y="1664208"/>
            <a:ext cx="3545738" cy="4206240"/>
          </a:xfrm>
          <a:prstGeom prst="roundRect">
            <a:avLst>
              <a:gd name="adj" fmla="val 3094"/>
            </a:avLst>
          </a:prstGeom>
          <a:solidFill>
            <a:srgbClr val="FFFFFF"/>
          </a:solidFill>
          <a:ln w="9525">
            <a:solidFill>
              <a:srgbClr val="E2E5EB"/>
            </a:solidFill>
          </a:ln>
          <a:effectLst>
            <a:outerShdw blurRad="114300" dist="25400" dir="5400000" algn="t" rotWithShape="0">
              <a:srgbClr val="14213D">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ounded Rectangle 13"/>
          <p:cNvSpPr/>
          <p:nvPr/>
        </p:nvSpPr>
        <p:spPr>
          <a:xfrm>
            <a:off x="4688738" y="2029968"/>
            <a:ext cx="822960" cy="822960"/>
          </a:xfrm>
          <a:prstGeom prst="roundRect">
            <a:avLst>
              <a:gd name="adj" fmla="val 50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bot-14213D.png"/>
          <p:cNvPicPr>
            <a:picLocks noChangeAspect="1"/>
          </p:cNvPicPr>
          <p:nvPr/>
        </p:nvPicPr>
        <p:blipFill>
          <a:blip r:embed="rId4"/>
          <a:stretch>
            <a:fillRect/>
          </a:stretch>
        </p:blipFill>
        <p:spPr>
          <a:xfrm>
            <a:off x="4871618" y="2212848"/>
            <a:ext cx="457200" cy="457200"/>
          </a:xfrm>
          <a:prstGeom prst="rect">
            <a:avLst/>
          </a:prstGeom>
        </p:spPr>
      </p:pic>
      <p:sp>
        <p:nvSpPr>
          <p:cNvPr id="16" name="TextBox 15"/>
          <p:cNvSpPr txBox="1"/>
          <p:nvPr/>
        </p:nvSpPr>
        <p:spPr>
          <a:xfrm>
            <a:off x="4688738" y="3127248"/>
            <a:ext cx="2814218" cy="822960"/>
          </a:xfrm>
          <a:prstGeom prst="rect">
            <a:avLst/>
          </a:prstGeom>
          <a:noFill/>
        </p:spPr>
        <p:txBody>
          <a:bodyPr wrap="square" lIns="0" rIns="0" tIns="0" bIns="0" anchor="b">
            <a:spAutoFit/>
          </a:bodyPr>
          <a:lstStyle/>
          <a:p>
            <a:pPr algn="l">
              <a:lnSpc>
                <a:spcPct val="115000"/>
              </a:lnSpc>
              <a:spcAft>
                <a:spcPts val="0"/>
              </a:spcAft>
            </a:pPr>
            <a:r>
              <a:rPr sz="2100" b="1" i="0">
                <a:solidFill>
                  <a:srgbClr val="14213D"/>
                </a:solidFill>
                <a:latin typeface="Georgia"/>
              </a:rPr>
              <a:t>Chatbots invent facts</a:t>
            </a:r>
          </a:p>
        </p:txBody>
      </p:sp>
      <p:sp>
        <p:nvSpPr>
          <p:cNvPr id="17" name="TextBox 16"/>
          <p:cNvSpPr txBox="1"/>
          <p:nvPr/>
        </p:nvSpPr>
        <p:spPr>
          <a:xfrm>
            <a:off x="4688738" y="4087368"/>
            <a:ext cx="2814218" cy="1188720"/>
          </a:xfrm>
          <a:prstGeom prst="rect">
            <a:avLst/>
          </a:prstGeom>
          <a:noFill/>
        </p:spPr>
        <p:txBody>
          <a:bodyPr wrap="square" lIns="0" rIns="0" tIns="0" bIns="0" anchor="t">
            <a:spAutoFit/>
          </a:bodyPr>
          <a:lstStyle/>
          <a:p>
            <a:pPr algn="l">
              <a:lnSpc>
                <a:spcPct val="125000"/>
              </a:lnSpc>
              <a:spcAft>
                <a:spcPts val="0"/>
              </a:spcAft>
            </a:pPr>
            <a:r>
              <a:rPr sz="1550" b="0" i="0">
                <a:solidFill>
                  <a:srgbClr val="2A3550"/>
                </a:solidFill>
                <a:latin typeface="Arial"/>
              </a:rPr>
              <a:t>One model writes a nice itinerary with made-up prices, and never checks that the parts fit.</a:t>
            </a:r>
          </a:p>
        </p:txBody>
      </p:sp>
      <p:sp>
        <p:nvSpPr>
          <p:cNvPr id="18" name="Rounded Rectangle 17"/>
          <p:cNvSpPr/>
          <p:nvPr/>
        </p:nvSpPr>
        <p:spPr>
          <a:xfrm>
            <a:off x="8097316" y="1664208"/>
            <a:ext cx="3545738" cy="4206240"/>
          </a:xfrm>
          <a:prstGeom prst="roundRect">
            <a:avLst>
              <a:gd name="adj" fmla="val 3094"/>
            </a:avLst>
          </a:prstGeom>
          <a:solidFill>
            <a:srgbClr val="14213D"/>
          </a:solidFill>
          <a:ln>
            <a:noFill/>
          </a:ln>
          <a:effectLst>
            <a:outerShdw blurRad="114300" dist="25400" dir="5400000" algn="t" rotWithShape="0">
              <a:srgbClr val="14213D">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ounded Rectangle 18"/>
          <p:cNvSpPr/>
          <p:nvPr/>
        </p:nvSpPr>
        <p:spPr>
          <a:xfrm>
            <a:off x="8463076" y="2029968"/>
            <a:ext cx="822960" cy="822960"/>
          </a:xfrm>
          <a:prstGeom prst="roundRect">
            <a:avLst>
              <a:gd name="adj" fmla="val 50000"/>
            </a:avLst>
          </a:prstGeom>
          <a:solidFill>
            <a:srgbClr val="C25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sparkles-FFFFFF.png"/>
          <p:cNvPicPr>
            <a:picLocks noChangeAspect="1"/>
          </p:cNvPicPr>
          <p:nvPr/>
        </p:nvPicPr>
        <p:blipFill>
          <a:blip r:embed="rId5"/>
          <a:stretch>
            <a:fillRect/>
          </a:stretch>
        </p:blipFill>
        <p:spPr>
          <a:xfrm>
            <a:off x="8645956" y="2212848"/>
            <a:ext cx="457200" cy="457200"/>
          </a:xfrm>
          <a:prstGeom prst="rect">
            <a:avLst/>
          </a:prstGeom>
        </p:spPr>
      </p:pic>
      <p:sp>
        <p:nvSpPr>
          <p:cNvPr id="21" name="TextBox 20"/>
          <p:cNvSpPr txBox="1"/>
          <p:nvPr/>
        </p:nvSpPr>
        <p:spPr>
          <a:xfrm>
            <a:off x="8463076" y="3127248"/>
            <a:ext cx="2814218" cy="822960"/>
          </a:xfrm>
          <a:prstGeom prst="rect">
            <a:avLst/>
          </a:prstGeom>
          <a:noFill/>
        </p:spPr>
        <p:txBody>
          <a:bodyPr wrap="square" lIns="0" rIns="0" tIns="0" bIns="0" anchor="b">
            <a:spAutoFit/>
          </a:bodyPr>
          <a:lstStyle/>
          <a:p>
            <a:pPr algn="l">
              <a:lnSpc>
                <a:spcPct val="115000"/>
              </a:lnSpc>
              <a:spcAft>
                <a:spcPts val="0"/>
              </a:spcAft>
            </a:pPr>
            <a:r>
              <a:rPr sz="2100" b="1" i="0">
                <a:solidFill>
                  <a:srgbClr val="FFFFFF"/>
                </a:solidFill>
                <a:latin typeface="Georgia"/>
              </a:rPr>
              <a:t>Our answer</a:t>
            </a:r>
          </a:p>
        </p:txBody>
      </p:sp>
      <p:sp>
        <p:nvSpPr>
          <p:cNvPr id="22" name="TextBox 21"/>
          <p:cNvSpPr txBox="1"/>
          <p:nvPr/>
        </p:nvSpPr>
        <p:spPr>
          <a:xfrm>
            <a:off x="8463076" y="4087368"/>
            <a:ext cx="2814218" cy="1188720"/>
          </a:xfrm>
          <a:prstGeom prst="rect">
            <a:avLst/>
          </a:prstGeom>
          <a:noFill/>
        </p:spPr>
        <p:txBody>
          <a:bodyPr wrap="square" lIns="0" rIns="0" tIns="0" bIns="0" anchor="t">
            <a:spAutoFit/>
          </a:bodyPr>
          <a:lstStyle/>
          <a:p>
            <a:pPr algn="l">
              <a:lnSpc>
                <a:spcPct val="125000"/>
              </a:lnSpc>
              <a:spcAft>
                <a:spcPts val="0"/>
              </a:spcAft>
            </a:pPr>
            <a:r>
              <a:rPr sz="1550" b="0" i="0">
                <a:solidFill>
                  <a:srgbClr val="C9D3E3"/>
                </a:solidFill>
                <a:latin typeface="Arial"/>
              </a:rPr>
              <a:t>Specialist agents plan together on real data, and code checks their work.</a:t>
            </a:r>
          </a:p>
        </p:txBody>
      </p:sp>
      <p:sp>
        <p:nvSpPr>
          <p:cNvPr id="23" name="TextBox 22"/>
          <p:cNvSpPr txBox="1"/>
          <p:nvPr/>
        </p:nvSpPr>
        <p:spPr>
          <a:xfrm>
            <a:off x="8463076" y="5276088"/>
            <a:ext cx="2814218" cy="274320"/>
          </a:xfrm>
          <a:prstGeom prst="rect">
            <a:avLst/>
          </a:prstGeom>
          <a:noFill/>
        </p:spPr>
        <p:txBody>
          <a:bodyPr wrap="square" lIns="0" rIns="0" tIns="0" bIns="0" anchor="t">
            <a:spAutoFit/>
          </a:bodyPr>
          <a:lstStyle/>
          <a:p>
            <a:pPr algn="l">
              <a:lnSpc>
                <a:spcPct val="115000"/>
              </a:lnSpc>
              <a:spcAft>
                <a:spcPts val="0"/>
              </a:spcAft>
            </a:pPr>
            <a:r>
              <a:rPr sz="1200" b="1" i="0">
                <a:solidFill>
                  <a:srgbClr val="F2A65A"/>
                </a:solidFill>
                <a:latin typeface="Arial"/>
              </a:rPr>
              <a:t>AI Trip Planner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6F1"/>
        </a:solidFill>
        <a:effectLst/>
      </p:bgPr>
    </p:bg>
    <p:spTree>
      <p:nvGrpSpPr>
        <p:cNvPr id="1" name=""/>
        <p:cNvGrpSpPr/>
        <p:nvPr/>
      </p:nvGrpSpPr>
      <p:grpSpPr/>
      <p:sp>
        <p:nvSpPr>
          <p:cNvPr id="2" name="Rectangle 1"/>
          <p:cNvSpPr/>
          <p:nvPr/>
        </p:nvSpPr>
        <p:spPr>
          <a:xfrm>
            <a:off x="0" y="0"/>
            <a:ext cx="100584" cy="6858000"/>
          </a:xfrm>
          <a:prstGeom prst="rect">
            <a:avLst/>
          </a:prstGeom>
          <a:solidFill>
            <a:srgbClr val="C25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47472"/>
            <a:ext cx="5943600" cy="274320"/>
          </a:xfrm>
          <a:prstGeom prst="rect">
            <a:avLst/>
          </a:prstGeom>
          <a:noFill/>
        </p:spPr>
        <p:txBody>
          <a:bodyPr wrap="square" lIns="0" rIns="0" tIns="0" bIns="0" anchor="ctr">
            <a:spAutoFit/>
          </a:bodyPr>
          <a:lstStyle/>
          <a:p>
            <a:pPr algn="l">
              <a:lnSpc>
                <a:spcPct val="115000"/>
              </a:lnSpc>
              <a:spcAft>
                <a:spcPts val="0"/>
              </a:spcAft>
            </a:pPr>
            <a:r>
              <a:rPr sz="1000" b="1" i="0">
                <a:solidFill>
                  <a:srgbClr val="C2571A"/>
                </a:solidFill>
                <a:latin typeface="Arial"/>
              </a:rPr>
              <a:t>USERS AND AI ROLES</a:t>
            </a:r>
          </a:p>
        </p:txBody>
      </p:sp>
      <p:sp>
        <p:nvSpPr>
          <p:cNvPr id="4" name="TextBox 3"/>
          <p:cNvSpPr txBox="1"/>
          <p:nvPr/>
        </p:nvSpPr>
        <p:spPr>
          <a:xfrm>
            <a:off x="548640" y="731520"/>
            <a:ext cx="11094415" cy="566928"/>
          </a:xfrm>
          <a:prstGeom prst="rect">
            <a:avLst/>
          </a:prstGeom>
          <a:noFill/>
        </p:spPr>
        <p:txBody>
          <a:bodyPr wrap="square" lIns="0" rIns="0" tIns="0" bIns="0" anchor="ctr">
            <a:spAutoFit/>
          </a:bodyPr>
          <a:lstStyle/>
          <a:p>
            <a:pPr algn="l">
              <a:lnSpc>
                <a:spcPct val="115000"/>
              </a:lnSpc>
              <a:spcAft>
                <a:spcPts val="0"/>
              </a:spcAft>
            </a:pPr>
            <a:r>
              <a:rPr sz="2600" b="1" i="0">
                <a:solidFill>
                  <a:srgbClr val="14213D"/>
                </a:solidFill>
                <a:latin typeface="Georgia"/>
              </a:rPr>
              <a:t>Two humans, seven AI roles</a:t>
            </a:r>
          </a:p>
        </p:txBody>
      </p:sp>
      <p:sp>
        <p:nvSpPr>
          <p:cNvPr id="5" name="Rectangle 4"/>
          <p:cNvSpPr/>
          <p:nvPr/>
        </p:nvSpPr>
        <p:spPr>
          <a:xfrm>
            <a:off x="548640" y="6400800"/>
            <a:ext cx="11094415" cy="10972"/>
          </a:xfrm>
          <a:prstGeom prst="rect">
            <a:avLst/>
          </a:prstGeom>
          <a:solidFill>
            <a:srgbClr val="DDDA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48640" y="6473952"/>
            <a:ext cx="7315200" cy="228600"/>
          </a:xfrm>
          <a:prstGeom prst="rect">
            <a:avLst/>
          </a:prstGeom>
          <a:noFill/>
        </p:spPr>
        <p:txBody>
          <a:bodyPr wrap="square" lIns="0" rIns="0" tIns="0" bIns="0" anchor="t">
            <a:spAutoFit/>
          </a:bodyPr>
          <a:lstStyle/>
          <a:p>
            <a:pPr algn="l">
              <a:lnSpc>
                <a:spcPct val="115000"/>
              </a:lnSpc>
              <a:spcAft>
                <a:spcPts val="0"/>
              </a:spcAft>
            </a:pPr>
            <a:r>
              <a:rPr sz="900" b="0" i="0">
                <a:solidFill>
                  <a:srgbClr val="8A93A6"/>
                </a:solidFill>
                <a:latin typeface="Arial"/>
              </a:rPr>
              <a:t>AI Trip Planner  ·  ELEC5620 Stage 1  ·  Mon 10-12 Group 14</a:t>
            </a:r>
          </a:p>
        </p:txBody>
      </p:sp>
      <p:sp>
        <p:nvSpPr>
          <p:cNvPr id="7" name="TextBox 6"/>
          <p:cNvSpPr txBox="1"/>
          <p:nvPr/>
        </p:nvSpPr>
        <p:spPr>
          <a:xfrm>
            <a:off x="9814255" y="6473952"/>
            <a:ext cx="1828800" cy="228600"/>
          </a:xfrm>
          <a:prstGeom prst="rect">
            <a:avLst/>
          </a:prstGeom>
          <a:noFill/>
        </p:spPr>
        <p:txBody>
          <a:bodyPr wrap="square" lIns="0" rIns="0" tIns="0" bIns="0" anchor="t">
            <a:spAutoFit/>
          </a:bodyPr>
          <a:lstStyle/>
          <a:p>
            <a:pPr algn="r">
              <a:lnSpc>
                <a:spcPct val="115000"/>
              </a:lnSpc>
              <a:spcAft>
                <a:spcPts val="0"/>
              </a:spcAft>
            </a:pPr>
            <a:r>
              <a:rPr sz="900" b="0" i="0">
                <a:solidFill>
                  <a:srgbClr val="8A93A6"/>
                </a:solidFill>
                <a:latin typeface="Arial"/>
              </a:rPr>
              <a:t>03 / 24</a:t>
            </a:r>
          </a:p>
        </p:txBody>
      </p:sp>
      <p:sp>
        <p:nvSpPr>
          <p:cNvPr id="8" name="TextBox 7"/>
          <p:cNvSpPr txBox="1"/>
          <p:nvPr/>
        </p:nvSpPr>
        <p:spPr>
          <a:xfrm>
            <a:off x="548640" y="1481328"/>
            <a:ext cx="2743200" cy="274320"/>
          </a:xfrm>
          <a:prstGeom prst="rect">
            <a:avLst/>
          </a:prstGeom>
          <a:noFill/>
        </p:spPr>
        <p:txBody>
          <a:bodyPr wrap="square" lIns="0" rIns="0" tIns="0" bIns="0" anchor="t">
            <a:spAutoFit/>
          </a:bodyPr>
          <a:lstStyle/>
          <a:p>
            <a:pPr algn="l">
              <a:lnSpc>
                <a:spcPct val="115000"/>
              </a:lnSpc>
              <a:spcAft>
                <a:spcPts val="0"/>
              </a:spcAft>
            </a:pPr>
            <a:r>
              <a:rPr sz="1100" b="1" i="0">
                <a:solidFill>
                  <a:srgbClr val="5A6478"/>
                </a:solidFill>
                <a:latin typeface="Arial"/>
              </a:rPr>
              <a:t>HUMANS</a:t>
            </a:r>
          </a:p>
        </p:txBody>
      </p:sp>
      <p:sp>
        <p:nvSpPr>
          <p:cNvPr id="9" name="Rounded Rectangle 8"/>
          <p:cNvSpPr/>
          <p:nvPr/>
        </p:nvSpPr>
        <p:spPr>
          <a:xfrm>
            <a:off x="548640" y="1847088"/>
            <a:ext cx="2743200" cy="1965960"/>
          </a:xfrm>
          <a:prstGeom prst="roundRect">
            <a:avLst>
              <a:gd name="adj" fmla="val 5581"/>
            </a:avLst>
          </a:prstGeom>
          <a:solidFill>
            <a:srgbClr val="FFFFFF"/>
          </a:solidFill>
          <a:ln w="9525">
            <a:solidFill>
              <a:srgbClr val="E2E5EB"/>
            </a:solidFill>
          </a:ln>
          <a:effectLst>
            <a:outerShdw blurRad="114300" dist="25400" dir="5400000" algn="t" rotWithShape="0">
              <a:srgbClr val="14213D">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ounded Rectangle 9"/>
          <p:cNvSpPr/>
          <p:nvPr/>
        </p:nvSpPr>
        <p:spPr>
          <a:xfrm>
            <a:off x="822959" y="2121408"/>
            <a:ext cx="566928" cy="566928"/>
          </a:xfrm>
          <a:prstGeom prst="roundRect">
            <a:avLst>
              <a:gd name="adj" fmla="val 50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user-14213D.png"/>
          <p:cNvPicPr>
            <a:picLocks noChangeAspect="1"/>
          </p:cNvPicPr>
          <p:nvPr/>
        </p:nvPicPr>
        <p:blipFill>
          <a:blip r:embed="rId3"/>
          <a:stretch>
            <a:fillRect/>
          </a:stretch>
        </p:blipFill>
        <p:spPr>
          <a:xfrm>
            <a:off x="941832" y="2240280"/>
            <a:ext cx="329184" cy="329184"/>
          </a:xfrm>
          <a:prstGeom prst="rect">
            <a:avLst/>
          </a:prstGeom>
        </p:spPr>
      </p:pic>
      <p:sp>
        <p:nvSpPr>
          <p:cNvPr id="12" name="TextBox 11"/>
          <p:cNvSpPr txBox="1"/>
          <p:nvPr/>
        </p:nvSpPr>
        <p:spPr>
          <a:xfrm>
            <a:off x="822959" y="2807208"/>
            <a:ext cx="2377440" cy="365760"/>
          </a:xfrm>
          <a:prstGeom prst="rect">
            <a:avLst/>
          </a:prstGeom>
          <a:noFill/>
        </p:spPr>
        <p:txBody>
          <a:bodyPr wrap="square" lIns="0" rIns="0" tIns="0" bIns="0" anchor="t">
            <a:spAutoFit/>
          </a:bodyPr>
          <a:lstStyle/>
          <a:p>
            <a:pPr algn="l">
              <a:lnSpc>
                <a:spcPct val="115000"/>
              </a:lnSpc>
              <a:spcAft>
                <a:spcPts val="0"/>
              </a:spcAft>
            </a:pPr>
            <a:r>
              <a:rPr sz="1600" b="1" i="0">
                <a:solidFill>
                  <a:srgbClr val="14213D"/>
                </a:solidFill>
                <a:latin typeface="Georgia"/>
              </a:rPr>
              <a:t>Traveller</a:t>
            </a:r>
          </a:p>
        </p:txBody>
      </p:sp>
      <p:sp>
        <p:nvSpPr>
          <p:cNvPr id="13" name="TextBox 12"/>
          <p:cNvSpPr txBox="1"/>
          <p:nvPr/>
        </p:nvSpPr>
        <p:spPr>
          <a:xfrm>
            <a:off x="822959" y="3172968"/>
            <a:ext cx="2286000" cy="594360"/>
          </a:xfrm>
          <a:prstGeom prst="rect">
            <a:avLst/>
          </a:prstGeom>
          <a:noFill/>
        </p:spPr>
        <p:txBody>
          <a:bodyPr wrap="square" lIns="0" rIns="0" tIns="0" bIns="0" anchor="t">
            <a:spAutoFit/>
          </a:bodyPr>
          <a:lstStyle/>
          <a:p>
            <a:pPr algn="l">
              <a:lnSpc>
                <a:spcPct val="115000"/>
              </a:lnSpc>
              <a:spcAft>
                <a:spcPts val="0"/>
              </a:spcAft>
            </a:pPr>
            <a:r>
              <a:rPr sz="1200" b="0" i="0">
                <a:solidFill>
                  <a:srgbClr val="2A3550"/>
                </a:solidFill>
                <a:latin typeface="Arial"/>
              </a:rPr>
              <a:t>Describes the trip, reads and edits the plan</a:t>
            </a:r>
          </a:p>
        </p:txBody>
      </p:sp>
      <p:sp>
        <p:nvSpPr>
          <p:cNvPr id="14" name="Rounded Rectangle 13"/>
          <p:cNvSpPr/>
          <p:nvPr/>
        </p:nvSpPr>
        <p:spPr>
          <a:xfrm>
            <a:off x="548640" y="3995928"/>
            <a:ext cx="2743200" cy="1965960"/>
          </a:xfrm>
          <a:prstGeom prst="roundRect">
            <a:avLst>
              <a:gd name="adj" fmla="val 5581"/>
            </a:avLst>
          </a:prstGeom>
          <a:solidFill>
            <a:srgbClr val="FFFFFF"/>
          </a:solidFill>
          <a:ln w="9525">
            <a:solidFill>
              <a:srgbClr val="E2E5EB"/>
            </a:solidFill>
          </a:ln>
          <a:effectLst>
            <a:outerShdw blurRad="114300" dist="25400" dir="5400000" algn="t" rotWithShape="0">
              <a:srgbClr val="14213D">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ounded Rectangle 14"/>
          <p:cNvSpPr/>
          <p:nvPr/>
        </p:nvSpPr>
        <p:spPr>
          <a:xfrm>
            <a:off x="822959" y="4270248"/>
            <a:ext cx="566928" cy="566928"/>
          </a:xfrm>
          <a:prstGeom prst="roundRect">
            <a:avLst>
              <a:gd name="adj" fmla="val 50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briefcase-14213D.png"/>
          <p:cNvPicPr>
            <a:picLocks noChangeAspect="1"/>
          </p:cNvPicPr>
          <p:nvPr/>
        </p:nvPicPr>
        <p:blipFill>
          <a:blip r:embed="rId4"/>
          <a:stretch>
            <a:fillRect/>
          </a:stretch>
        </p:blipFill>
        <p:spPr>
          <a:xfrm>
            <a:off x="941832" y="4389120"/>
            <a:ext cx="329184" cy="329184"/>
          </a:xfrm>
          <a:prstGeom prst="rect">
            <a:avLst/>
          </a:prstGeom>
        </p:spPr>
      </p:pic>
      <p:sp>
        <p:nvSpPr>
          <p:cNvPr id="17" name="TextBox 16"/>
          <p:cNvSpPr txBox="1"/>
          <p:nvPr/>
        </p:nvSpPr>
        <p:spPr>
          <a:xfrm>
            <a:off x="822959" y="4956048"/>
            <a:ext cx="2377440" cy="365760"/>
          </a:xfrm>
          <a:prstGeom prst="rect">
            <a:avLst/>
          </a:prstGeom>
          <a:noFill/>
        </p:spPr>
        <p:txBody>
          <a:bodyPr wrap="square" lIns="0" rIns="0" tIns="0" bIns="0" anchor="t">
            <a:spAutoFit/>
          </a:bodyPr>
          <a:lstStyle/>
          <a:p>
            <a:pPr algn="l">
              <a:lnSpc>
                <a:spcPct val="115000"/>
              </a:lnSpc>
              <a:spcAft>
                <a:spcPts val="0"/>
              </a:spcAft>
            </a:pPr>
            <a:r>
              <a:rPr sz="1600" b="1" i="0">
                <a:solidFill>
                  <a:srgbClr val="14213D"/>
                </a:solidFill>
                <a:latin typeface="Georgia"/>
              </a:rPr>
              <a:t>Founder / operator</a:t>
            </a:r>
          </a:p>
        </p:txBody>
      </p:sp>
      <p:sp>
        <p:nvSpPr>
          <p:cNvPr id="18" name="TextBox 17"/>
          <p:cNvSpPr txBox="1"/>
          <p:nvPr/>
        </p:nvSpPr>
        <p:spPr>
          <a:xfrm>
            <a:off x="822959" y="5321808"/>
            <a:ext cx="2286000" cy="594360"/>
          </a:xfrm>
          <a:prstGeom prst="rect">
            <a:avLst/>
          </a:prstGeom>
          <a:noFill/>
        </p:spPr>
        <p:txBody>
          <a:bodyPr wrap="square" lIns="0" rIns="0" tIns="0" bIns="0" anchor="t">
            <a:spAutoFit/>
          </a:bodyPr>
          <a:lstStyle/>
          <a:p>
            <a:pPr algn="l">
              <a:lnSpc>
                <a:spcPct val="115000"/>
              </a:lnSpc>
              <a:spcAft>
                <a:spcPts val="0"/>
              </a:spcAft>
            </a:pPr>
            <a:r>
              <a:rPr sz="1200" b="0" i="0">
                <a:solidFill>
                  <a:srgbClr val="2A3550"/>
                </a:solidFill>
                <a:latin typeface="Arial"/>
              </a:rPr>
              <a:t>Runs the agency: models, providers, quotas, Agent Lab</a:t>
            </a:r>
          </a:p>
        </p:txBody>
      </p:sp>
      <p:sp>
        <p:nvSpPr>
          <p:cNvPr id="19" name="TextBox 18"/>
          <p:cNvSpPr txBox="1"/>
          <p:nvPr/>
        </p:nvSpPr>
        <p:spPr>
          <a:xfrm>
            <a:off x="3566160" y="1481328"/>
            <a:ext cx="4572000" cy="274320"/>
          </a:xfrm>
          <a:prstGeom prst="rect">
            <a:avLst/>
          </a:prstGeom>
          <a:noFill/>
        </p:spPr>
        <p:txBody>
          <a:bodyPr wrap="square" lIns="0" rIns="0" tIns="0" bIns="0" anchor="t">
            <a:spAutoFit/>
          </a:bodyPr>
          <a:lstStyle/>
          <a:p>
            <a:pPr algn="l">
              <a:lnSpc>
                <a:spcPct val="115000"/>
              </a:lnSpc>
              <a:spcAft>
                <a:spcPts val="0"/>
              </a:spcAft>
            </a:pPr>
            <a:r>
              <a:rPr sz="1100" b="1" i="0">
                <a:solidFill>
                  <a:srgbClr val="5A6478"/>
                </a:solidFill>
                <a:latin typeface="Arial"/>
              </a:rPr>
              <a:t>AI ROLES</a:t>
            </a:r>
          </a:p>
        </p:txBody>
      </p:sp>
      <p:sp>
        <p:nvSpPr>
          <p:cNvPr id="20" name="Rounded Rectangle 19"/>
          <p:cNvSpPr/>
          <p:nvPr/>
        </p:nvSpPr>
        <p:spPr>
          <a:xfrm>
            <a:off x="3566160" y="1847088"/>
            <a:ext cx="8076895" cy="841248"/>
          </a:xfrm>
          <a:prstGeom prst="roundRect">
            <a:avLst>
              <a:gd name="adj" fmla="val 13043"/>
            </a:avLst>
          </a:prstGeom>
          <a:solidFill>
            <a:srgbClr val="14213D"/>
          </a:solidFill>
          <a:ln>
            <a:noFill/>
          </a:ln>
          <a:effectLst>
            <a:outerShdw blurRad="114300" dist="25400" dir="5400000" algn="t" rotWithShape="0">
              <a:srgbClr val="14213D">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messages-square-FFFFFF.png"/>
          <p:cNvPicPr>
            <a:picLocks noChangeAspect="1"/>
          </p:cNvPicPr>
          <p:nvPr/>
        </p:nvPicPr>
        <p:blipFill>
          <a:blip r:embed="rId5"/>
          <a:stretch>
            <a:fillRect/>
          </a:stretch>
        </p:blipFill>
        <p:spPr>
          <a:xfrm>
            <a:off x="3840480" y="2093976"/>
            <a:ext cx="347472" cy="347472"/>
          </a:xfrm>
          <a:prstGeom prst="rect">
            <a:avLst/>
          </a:prstGeom>
        </p:spPr>
      </p:pic>
      <p:sp>
        <p:nvSpPr>
          <p:cNvPr id="22" name="TextBox 21"/>
          <p:cNvSpPr txBox="1"/>
          <p:nvPr/>
        </p:nvSpPr>
        <p:spPr>
          <a:xfrm>
            <a:off x="4389120" y="1956816"/>
            <a:ext cx="2743200" cy="621792"/>
          </a:xfrm>
          <a:prstGeom prst="rect">
            <a:avLst/>
          </a:prstGeom>
          <a:noFill/>
        </p:spPr>
        <p:txBody>
          <a:bodyPr wrap="square" lIns="0" rIns="0" tIns="0" bIns="0" anchor="ctr">
            <a:spAutoFit/>
          </a:bodyPr>
          <a:lstStyle/>
          <a:p>
            <a:pPr algn="l">
              <a:lnSpc>
                <a:spcPct val="115000"/>
              </a:lnSpc>
              <a:spcAft>
                <a:spcPts val="0"/>
              </a:spcAft>
            </a:pPr>
            <a:r>
              <a:rPr sz="1600" b="1" i="0">
                <a:solidFill>
                  <a:srgbClr val="FFFFFF"/>
                </a:solidFill>
                <a:latin typeface="Arial"/>
              </a:rPr>
              <a:t>Travel Coordinator</a:t>
            </a:r>
          </a:p>
        </p:txBody>
      </p:sp>
      <p:sp>
        <p:nvSpPr>
          <p:cNvPr id="23" name="TextBox 22"/>
          <p:cNvSpPr txBox="1"/>
          <p:nvPr/>
        </p:nvSpPr>
        <p:spPr>
          <a:xfrm>
            <a:off x="7040879" y="1956816"/>
            <a:ext cx="4327855" cy="621792"/>
          </a:xfrm>
          <a:prstGeom prst="rect">
            <a:avLst/>
          </a:prstGeom>
          <a:noFill/>
        </p:spPr>
        <p:txBody>
          <a:bodyPr wrap="square" lIns="0" rIns="0" tIns="0" bIns="0" anchor="ctr">
            <a:spAutoFit/>
          </a:bodyPr>
          <a:lstStyle/>
          <a:p>
            <a:pPr algn="l">
              <a:lnSpc>
                <a:spcPct val="115000"/>
              </a:lnSpc>
              <a:spcAft>
                <a:spcPts val="0"/>
              </a:spcAft>
            </a:pPr>
            <a:r>
              <a:rPr sz="1300" b="0" i="0">
                <a:solidFill>
                  <a:srgbClr val="C9D3E3"/>
                </a:solidFill>
                <a:latin typeface="Arial"/>
              </a:rPr>
              <a:t>Chats with the traveller, builds the TripBrief, asks for missing facts</a:t>
            </a:r>
          </a:p>
        </p:txBody>
      </p:sp>
      <p:sp>
        <p:nvSpPr>
          <p:cNvPr id="24" name="Rounded Rectangle 23"/>
          <p:cNvSpPr/>
          <p:nvPr/>
        </p:nvSpPr>
        <p:spPr>
          <a:xfrm>
            <a:off x="3566160" y="2871216"/>
            <a:ext cx="8076895" cy="841248"/>
          </a:xfrm>
          <a:prstGeom prst="roundRect">
            <a:avLst>
              <a:gd name="adj" fmla="val 13043"/>
            </a:avLst>
          </a:prstGeom>
          <a:solidFill>
            <a:srgbClr val="FFFFFF"/>
          </a:solidFill>
          <a:ln w="9525">
            <a:solidFill>
              <a:srgbClr val="E2E5EB"/>
            </a:solidFill>
          </a:ln>
          <a:effectLst>
            <a:outerShdw blurRad="114300" dist="25400" dir="5400000" algn="t" rotWithShape="0">
              <a:srgbClr val="14213D">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workflow-14213D.png"/>
          <p:cNvPicPr>
            <a:picLocks noChangeAspect="1"/>
          </p:cNvPicPr>
          <p:nvPr/>
        </p:nvPicPr>
        <p:blipFill>
          <a:blip r:embed="rId6"/>
          <a:stretch>
            <a:fillRect/>
          </a:stretch>
        </p:blipFill>
        <p:spPr>
          <a:xfrm>
            <a:off x="3840480" y="3118104"/>
            <a:ext cx="347472" cy="347472"/>
          </a:xfrm>
          <a:prstGeom prst="rect">
            <a:avLst/>
          </a:prstGeom>
        </p:spPr>
      </p:pic>
      <p:sp>
        <p:nvSpPr>
          <p:cNvPr id="26" name="TextBox 25"/>
          <p:cNvSpPr txBox="1"/>
          <p:nvPr/>
        </p:nvSpPr>
        <p:spPr>
          <a:xfrm>
            <a:off x="4389120" y="2980944"/>
            <a:ext cx="2743200" cy="621792"/>
          </a:xfrm>
          <a:prstGeom prst="rect">
            <a:avLst/>
          </a:prstGeom>
          <a:noFill/>
        </p:spPr>
        <p:txBody>
          <a:bodyPr wrap="square" lIns="0" rIns="0" tIns="0" bIns="0" anchor="ctr">
            <a:spAutoFit/>
          </a:bodyPr>
          <a:lstStyle/>
          <a:p>
            <a:pPr algn="l">
              <a:lnSpc>
                <a:spcPct val="115000"/>
              </a:lnSpc>
              <a:spcAft>
                <a:spcPts val="0"/>
              </a:spcAft>
            </a:pPr>
            <a:r>
              <a:rPr sz="1600" b="1" i="0">
                <a:solidFill>
                  <a:srgbClr val="14213D"/>
                </a:solidFill>
                <a:latin typeface="Arial"/>
              </a:rPr>
              <a:t>Planning Supervisor</a:t>
            </a:r>
          </a:p>
        </p:txBody>
      </p:sp>
      <p:sp>
        <p:nvSpPr>
          <p:cNvPr id="27" name="TextBox 26"/>
          <p:cNvSpPr txBox="1"/>
          <p:nvPr/>
        </p:nvSpPr>
        <p:spPr>
          <a:xfrm>
            <a:off x="7040879" y="2980944"/>
            <a:ext cx="4327855" cy="621792"/>
          </a:xfrm>
          <a:prstGeom prst="rect">
            <a:avLst/>
          </a:prstGeom>
          <a:noFill/>
        </p:spPr>
        <p:txBody>
          <a:bodyPr wrap="square" lIns="0" rIns="0" tIns="0" bIns="0" anchor="ctr">
            <a:spAutoFit/>
          </a:bodyPr>
          <a:lstStyle/>
          <a:p>
            <a:pPr algn="l">
              <a:lnSpc>
                <a:spcPct val="115000"/>
              </a:lnSpc>
              <a:spcAft>
                <a:spcPts val="0"/>
              </a:spcAft>
            </a:pPr>
            <a:r>
              <a:rPr sz="1300" b="0" i="0">
                <a:solidFill>
                  <a:srgbClr val="2A3550"/>
                </a:solidFill>
                <a:latin typeface="Arial"/>
              </a:rPr>
              <a:t>Picks which specialists each step needs</a:t>
            </a:r>
          </a:p>
        </p:txBody>
      </p:sp>
      <p:sp>
        <p:nvSpPr>
          <p:cNvPr id="28" name="TextBox 27"/>
          <p:cNvSpPr txBox="1"/>
          <p:nvPr/>
        </p:nvSpPr>
        <p:spPr>
          <a:xfrm>
            <a:off x="3566160" y="3950208"/>
            <a:ext cx="4572000" cy="274320"/>
          </a:xfrm>
          <a:prstGeom prst="rect">
            <a:avLst/>
          </a:prstGeom>
          <a:noFill/>
        </p:spPr>
        <p:txBody>
          <a:bodyPr wrap="square" lIns="0" rIns="0" tIns="0" bIns="0" anchor="t">
            <a:spAutoFit/>
          </a:bodyPr>
          <a:lstStyle/>
          <a:p>
            <a:pPr algn="l">
              <a:lnSpc>
                <a:spcPct val="115000"/>
              </a:lnSpc>
              <a:spcAft>
                <a:spcPts val="0"/>
              </a:spcAft>
            </a:pPr>
            <a:r>
              <a:rPr sz="1100" b="1" i="0">
                <a:solidFill>
                  <a:srgbClr val="5A6478"/>
                </a:solidFill>
                <a:latin typeface="Arial"/>
              </a:rPr>
              <a:t>FIVE SPECIALISTS</a:t>
            </a:r>
          </a:p>
        </p:txBody>
      </p:sp>
      <p:sp>
        <p:nvSpPr>
          <p:cNvPr id="29" name="Rounded Rectangle 28"/>
          <p:cNvSpPr/>
          <p:nvPr/>
        </p:nvSpPr>
        <p:spPr>
          <a:xfrm>
            <a:off x="3566160" y="4297680"/>
            <a:ext cx="1512966" cy="1938528"/>
          </a:xfrm>
          <a:prstGeom prst="roundRect">
            <a:avLst>
              <a:gd name="adj" fmla="val 7252"/>
            </a:avLst>
          </a:prstGeom>
          <a:solidFill>
            <a:srgbClr val="FFFFFF"/>
          </a:solidFill>
          <a:ln w="9525">
            <a:solidFill>
              <a:srgbClr val="E2E5EB"/>
            </a:solidFill>
          </a:ln>
          <a:effectLst>
            <a:outerShdw blurRad="114300" dist="25400" dir="5400000" algn="t" rotWithShape="0">
              <a:srgbClr val="14213D">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3566160" y="4297680"/>
            <a:ext cx="1512966" cy="64008"/>
          </a:xfrm>
          <a:prstGeom prst="rect">
            <a:avLst/>
          </a:prstGeom>
          <a:solidFill>
            <a:srgbClr val="6B4F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1" name="Picture 30" descr="calendar-days-14213D.png"/>
          <p:cNvPicPr>
            <a:picLocks noChangeAspect="1"/>
          </p:cNvPicPr>
          <p:nvPr/>
        </p:nvPicPr>
        <p:blipFill>
          <a:blip r:embed="rId7"/>
          <a:stretch>
            <a:fillRect/>
          </a:stretch>
        </p:blipFill>
        <p:spPr>
          <a:xfrm>
            <a:off x="3749039" y="4535424"/>
            <a:ext cx="384048" cy="384048"/>
          </a:xfrm>
          <a:prstGeom prst="rect">
            <a:avLst/>
          </a:prstGeom>
        </p:spPr>
      </p:pic>
      <p:sp>
        <p:nvSpPr>
          <p:cNvPr id="32" name="TextBox 31"/>
          <p:cNvSpPr txBox="1"/>
          <p:nvPr/>
        </p:nvSpPr>
        <p:spPr>
          <a:xfrm>
            <a:off x="3749039" y="5047488"/>
            <a:ext cx="1256934" cy="365760"/>
          </a:xfrm>
          <a:prstGeom prst="rect">
            <a:avLst/>
          </a:prstGeom>
          <a:noFill/>
        </p:spPr>
        <p:txBody>
          <a:bodyPr wrap="square" lIns="0" rIns="0" tIns="0" bIns="0" anchor="t">
            <a:spAutoFit/>
          </a:bodyPr>
          <a:lstStyle/>
          <a:p>
            <a:pPr algn="l">
              <a:lnSpc>
                <a:spcPct val="115000"/>
              </a:lnSpc>
              <a:spcAft>
                <a:spcPts val="0"/>
              </a:spcAft>
            </a:pPr>
            <a:r>
              <a:rPr sz="1250" b="1" i="0">
                <a:solidFill>
                  <a:srgbClr val="14213D"/>
                </a:solidFill>
                <a:latin typeface="Arial"/>
              </a:rPr>
              <a:t>Itinerary</a:t>
            </a:r>
          </a:p>
        </p:txBody>
      </p:sp>
      <p:sp>
        <p:nvSpPr>
          <p:cNvPr id="33" name="TextBox 32"/>
          <p:cNvSpPr txBox="1"/>
          <p:nvPr/>
        </p:nvSpPr>
        <p:spPr>
          <a:xfrm>
            <a:off x="3749039" y="5413248"/>
            <a:ext cx="1256934" cy="731520"/>
          </a:xfrm>
          <a:prstGeom prst="rect">
            <a:avLst/>
          </a:prstGeom>
          <a:noFill/>
        </p:spPr>
        <p:txBody>
          <a:bodyPr wrap="square" lIns="0" rIns="0" tIns="0" bIns="0" anchor="t">
            <a:spAutoFit/>
          </a:bodyPr>
          <a:lstStyle/>
          <a:p>
            <a:pPr algn="l">
              <a:lnSpc>
                <a:spcPct val="115000"/>
              </a:lnSpc>
              <a:spcAft>
                <a:spcPts val="0"/>
              </a:spcAft>
            </a:pPr>
            <a:r>
              <a:rPr sz="1100" b="0" i="0">
                <a:solidFill>
                  <a:srgbClr val="2A3550"/>
                </a:solidFill>
                <a:latin typeface="Arial"/>
              </a:rPr>
              <a:t>Day plan, route checks</a:t>
            </a:r>
          </a:p>
        </p:txBody>
      </p:sp>
      <p:sp>
        <p:nvSpPr>
          <p:cNvPr id="34" name="Rounded Rectangle 33"/>
          <p:cNvSpPr/>
          <p:nvPr/>
        </p:nvSpPr>
        <p:spPr>
          <a:xfrm>
            <a:off x="5207142" y="4297680"/>
            <a:ext cx="1512966" cy="1938528"/>
          </a:xfrm>
          <a:prstGeom prst="roundRect">
            <a:avLst>
              <a:gd name="adj" fmla="val 7252"/>
            </a:avLst>
          </a:prstGeom>
          <a:solidFill>
            <a:srgbClr val="FFFFFF"/>
          </a:solidFill>
          <a:ln w="9525">
            <a:solidFill>
              <a:srgbClr val="E2E5EB"/>
            </a:solidFill>
          </a:ln>
          <a:effectLst>
            <a:outerShdw blurRad="114300" dist="25400" dir="5400000" algn="t" rotWithShape="0">
              <a:srgbClr val="14213D">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5207142" y="4297680"/>
            <a:ext cx="1512966" cy="64008"/>
          </a:xfrm>
          <a:prstGeom prst="rect">
            <a:avLst/>
          </a:prstGeom>
          <a:solidFill>
            <a:srgbClr val="6B4F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6" name="Picture 35" descr="plane-14213D.png"/>
          <p:cNvPicPr>
            <a:picLocks noChangeAspect="1"/>
          </p:cNvPicPr>
          <p:nvPr/>
        </p:nvPicPr>
        <p:blipFill>
          <a:blip r:embed="rId8"/>
          <a:stretch>
            <a:fillRect/>
          </a:stretch>
        </p:blipFill>
        <p:spPr>
          <a:xfrm>
            <a:off x="5390022" y="4535424"/>
            <a:ext cx="384048" cy="384048"/>
          </a:xfrm>
          <a:prstGeom prst="rect">
            <a:avLst/>
          </a:prstGeom>
        </p:spPr>
      </p:pic>
      <p:sp>
        <p:nvSpPr>
          <p:cNvPr id="37" name="TextBox 36"/>
          <p:cNvSpPr txBox="1"/>
          <p:nvPr/>
        </p:nvSpPr>
        <p:spPr>
          <a:xfrm>
            <a:off x="5390022" y="5047488"/>
            <a:ext cx="1256934" cy="365760"/>
          </a:xfrm>
          <a:prstGeom prst="rect">
            <a:avLst/>
          </a:prstGeom>
          <a:noFill/>
        </p:spPr>
        <p:txBody>
          <a:bodyPr wrap="square" lIns="0" rIns="0" tIns="0" bIns="0" anchor="t">
            <a:spAutoFit/>
          </a:bodyPr>
          <a:lstStyle/>
          <a:p>
            <a:pPr algn="l">
              <a:lnSpc>
                <a:spcPct val="115000"/>
              </a:lnSpc>
              <a:spcAft>
                <a:spcPts val="0"/>
              </a:spcAft>
            </a:pPr>
            <a:r>
              <a:rPr sz="1250" b="1" i="0">
                <a:solidFill>
                  <a:srgbClr val="14213D"/>
                </a:solidFill>
                <a:latin typeface="Arial"/>
              </a:rPr>
              <a:t>Transport</a:t>
            </a:r>
          </a:p>
        </p:txBody>
      </p:sp>
      <p:sp>
        <p:nvSpPr>
          <p:cNvPr id="38" name="TextBox 37"/>
          <p:cNvSpPr txBox="1"/>
          <p:nvPr/>
        </p:nvSpPr>
        <p:spPr>
          <a:xfrm>
            <a:off x="5390022" y="5413248"/>
            <a:ext cx="1256934" cy="731520"/>
          </a:xfrm>
          <a:prstGeom prst="rect">
            <a:avLst/>
          </a:prstGeom>
          <a:noFill/>
        </p:spPr>
        <p:txBody>
          <a:bodyPr wrap="square" lIns="0" rIns="0" tIns="0" bIns="0" anchor="t">
            <a:spAutoFit/>
          </a:bodyPr>
          <a:lstStyle/>
          <a:p>
            <a:pPr algn="l">
              <a:lnSpc>
                <a:spcPct val="115000"/>
              </a:lnSpc>
              <a:spcAft>
                <a:spcPts val="0"/>
              </a:spcAft>
            </a:pPr>
            <a:r>
              <a:rPr sz="1100" b="0" i="0">
                <a:solidFill>
                  <a:srgbClr val="2A3550"/>
                </a:solidFill>
                <a:latin typeface="Arial"/>
              </a:rPr>
              <a:t>Flights, rail, local routes</a:t>
            </a:r>
          </a:p>
        </p:txBody>
      </p:sp>
      <p:sp>
        <p:nvSpPr>
          <p:cNvPr id="39" name="Rounded Rectangle 38"/>
          <p:cNvSpPr/>
          <p:nvPr/>
        </p:nvSpPr>
        <p:spPr>
          <a:xfrm>
            <a:off x="6848124" y="4297680"/>
            <a:ext cx="1512966" cy="1938528"/>
          </a:xfrm>
          <a:prstGeom prst="roundRect">
            <a:avLst>
              <a:gd name="adj" fmla="val 7252"/>
            </a:avLst>
          </a:prstGeom>
          <a:solidFill>
            <a:srgbClr val="FFFFFF"/>
          </a:solidFill>
          <a:ln w="9525">
            <a:solidFill>
              <a:srgbClr val="E2E5EB"/>
            </a:solidFill>
          </a:ln>
          <a:effectLst>
            <a:outerShdw blurRad="114300" dist="25400" dir="5400000" algn="t" rotWithShape="0">
              <a:srgbClr val="14213D">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ectangle 39"/>
          <p:cNvSpPr/>
          <p:nvPr/>
        </p:nvSpPr>
        <p:spPr>
          <a:xfrm>
            <a:off x="6848124" y="4297680"/>
            <a:ext cx="1512966" cy="64008"/>
          </a:xfrm>
          <a:prstGeom prst="rect">
            <a:avLst/>
          </a:prstGeom>
          <a:solidFill>
            <a:srgbClr val="C25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1" name="Picture 40" descr="bed-double-14213D.png"/>
          <p:cNvPicPr>
            <a:picLocks noChangeAspect="1"/>
          </p:cNvPicPr>
          <p:nvPr/>
        </p:nvPicPr>
        <p:blipFill>
          <a:blip r:embed="rId9"/>
          <a:stretch>
            <a:fillRect/>
          </a:stretch>
        </p:blipFill>
        <p:spPr>
          <a:xfrm>
            <a:off x="7031004" y="4535424"/>
            <a:ext cx="384048" cy="384048"/>
          </a:xfrm>
          <a:prstGeom prst="rect">
            <a:avLst/>
          </a:prstGeom>
        </p:spPr>
      </p:pic>
      <p:sp>
        <p:nvSpPr>
          <p:cNvPr id="42" name="TextBox 41"/>
          <p:cNvSpPr txBox="1"/>
          <p:nvPr/>
        </p:nvSpPr>
        <p:spPr>
          <a:xfrm>
            <a:off x="7031004" y="5047488"/>
            <a:ext cx="1256934" cy="365760"/>
          </a:xfrm>
          <a:prstGeom prst="rect">
            <a:avLst/>
          </a:prstGeom>
          <a:noFill/>
        </p:spPr>
        <p:txBody>
          <a:bodyPr wrap="square" lIns="0" rIns="0" tIns="0" bIns="0" anchor="t">
            <a:spAutoFit/>
          </a:bodyPr>
          <a:lstStyle/>
          <a:p>
            <a:pPr algn="l">
              <a:lnSpc>
                <a:spcPct val="115000"/>
              </a:lnSpc>
              <a:spcAft>
                <a:spcPts val="0"/>
              </a:spcAft>
            </a:pPr>
            <a:r>
              <a:rPr sz="1250" b="1" i="0">
                <a:solidFill>
                  <a:srgbClr val="14213D"/>
                </a:solidFill>
                <a:latin typeface="Arial"/>
              </a:rPr>
              <a:t>Accommodation</a:t>
            </a:r>
          </a:p>
        </p:txBody>
      </p:sp>
      <p:sp>
        <p:nvSpPr>
          <p:cNvPr id="43" name="TextBox 42"/>
          <p:cNvSpPr txBox="1"/>
          <p:nvPr/>
        </p:nvSpPr>
        <p:spPr>
          <a:xfrm>
            <a:off x="7031004" y="5413248"/>
            <a:ext cx="1256934" cy="731520"/>
          </a:xfrm>
          <a:prstGeom prst="rect">
            <a:avLst/>
          </a:prstGeom>
          <a:noFill/>
        </p:spPr>
        <p:txBody>
          <a:bodyPr wrap="square" lIns="0" rIns="0" tIns="0" bIns="0" anchor="t">
            <a:spAutoFit/>
          </a:bodyPr>
          <a:lstStyle/>
          <a:p>
            <a:pPr algn="l">
              <a:lnSpc>
                <a:spcPct val="115000"/>
              </a:lnSpc>
              <a:spcAft>
                <a:spcPts val="0"/>
              </a:spcAft>
            </a:pPr>
            <a:r>
              <a:rPr sz="1100" b="0" i="0">
                <a:solidFill>
                  <a:srgbClr val="2A3550"/>
                </a:solidFill>
                <a:latin typeface="Arial"/>
              </a:rPr>
              <a:t>Stays, room allocation</a:t>
            </a:r>
          </a:p>
        </p:txBody>
      </p:sp>
      <p:sp>
        <p:nvSpPr>
          <p:cNvPr id="44" name="Rounded Rectangle 43"/>
          <p:cNvSpPr/>
          <p:nvPr/>
        </p:nvSpPr>
        <p:spPr>
          <a:xfrm>
            <a:off x="8489106" y="4297680"/>
            <a:ext cx="1512966" cy="1938528"/>
          </a:xfrm>
          <a:prstGeom prst="roundRect">
            <a:avLst>
              <a:gd name="adj" fmla="val 7252"/>
            </a:avLst>
          </a:prstGeom>
          <a:solidFill>
            <a:srgbClr val="FFFFFF"/>
          </a:solidFill>
          <a:ln w="9525">
            <a:solidFill>
              <a:srgbClr val="E2E5EB"/>
            </a:solidFill>
          </a:ln>
          <a:effectLst>
            <a:outerShdw blurRad="114300" dist="25400" dir="5400000" algn="t" rotWithShape="0">
              <a:srgbClr val="14213D">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Rectangle 44"/>
          <p:cNvSpPr/>
          <p:nvPr/>
        </p:nvSpPr>
        <p:spPr>
          <a:xfrm>
            <a:off x="8489106" y="4297680"/>
            <a:ext cx="1512966" cy="64008"/>
          </a:xfrm>
          <a:prstGeom prst="rect">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6" name="Picture 45" descr="compass-14213D.png"/>
          <p:cNvPicPr>
            <a:picLocks noChangeAspect="1"/>
          </p:cNvPicPr>
          <p:nvPr/>
        </p:nvPicPr>
        <p:blipFill>
          <a:blip r:embed="rId10"/>
          <a:stretch>
            <a:fillRect/>
          </a:stretch>
        </p:blipFill>
        <p:spPr>
          <a:xfrm>
            <a:off x="8671986" y="4535424"/>
            <a:ext cx="384048" cy="384048"/>
          </a:xfrm>
          <a:prstGeom prst="rect">
            <a:avLst/>
          </a:prstGeom>
        </p:spPr>
      </p:pic>
      <p:sp>
        <p:nvSpPr>
          <p:cNvPr id="47" name="TextBox 46"/>
          <p:cNvSpPr txBox="1"/>
          <p:nvPr/>
        </p:nvSpPr>
        <p:spPr>
          <a:xfrm>
            <a:off x="8671986" y="5047488"/>
            <a:ext cx="1256934" cy="365760"/>
          </a:xfrm>
          <a:prstGeom prst="rect">
            <a:avLst/>
          </a:prstGeom>
          <a:noFill/>
        </p:spPr>
        <p:txBody>
          <a:bodyPr wrap="square" lIns="0" rIns="0" tIns="0" bIns="0" anchor="t">
            <a:spAutoFit/>
          </a:bodyPr>
          <a:lstStyle/>
          <a:p>
            <a:pPr algn="l">
              <a:lnSpc>
                <a:spcPct val="115000"/>
              </a:lnSpc>
              <a:spcAft>
                <a:spcPts val="0"/>
              </a:spcAft>
            </a:pPr>
            <a:r>
              <a:rPr sz="1250" b="1" i="0">
                <a:solidFill>
                  <a:srgbClr val="14213D"/>
                </a:solidFill>
                <a:latin typeface="Arial"/>
              </a:rPr>
              <a:t>Destination</a:t>
            </a:r>
          </a:p>
        </p:txBody>
      </p:sp>
      <p:sp>
        <p:nvSpPr>
          <p:cNvPr id="48" name="TextBox 47"/>
          <p:cNvSpPr txBox="1"/>
          <p:nvPr/>
        </p:nvSpPr>
        <p:spPr>
          <a:xfrm>
            <a:off x="8671986" y="5413248"/>
            <a:ext cx="1256934" cy="731520"/>
          </a:xfrm>
          <a:prstGeom prst="rect">
            <a:avLst/>
          </a:prstGeom>
          <a:noFill/>
        </p:spPr>
        <p:txBody>
          <a:bodyPr wrap="square" lIns="0" rIns="0" tIns="0" bIns="0" anchor="t">
            <a:spAutoFit/>
          </a:bodyPr>
          <a:lstStyle/>
          <a:p>
            <a:pPr algn="l">
              <a:lnSpc>
                <a:spcPct val="115000"/>
              </a:lnSpc>
              <a:spcAft>
                <a:spcPts val="0"/>
              </a:spcAft>
            </a:pPr>
            <a:r>
              <a:rPr sz="1100" b="0" i="0">
                <a:solidFill>
                  <a:srgbClr val="2A3550"/>
                </a:solidFill>
                <a:latin typeface="Arial"/>
              </a:rPr>
              <a:t>Sights, customs, packing</a:t>
            </a:r>
          </a:p>
        </p:txBody>
      </p:sp>
      <p:sp>
        <p:nvSpPr>
          <p:cNvPr id="49" name="Rounded Rectangle 48"/>
          <p:cNvSpPr/>
          <p:nvPr/>
        </p:nvSpPr>
        <p:spPr>
          <a:xfrm>
            <a:off x="10130088" y="4297680"/>
            <a:ext cx="1512966" cy="1938528"/>
          </a:xfrm>
          <a:prstGeom prst="roundRect">
            <a:avLst>
              <a:gd name="adj" fmla="val 7252"/>
            </a:avLst>
          </a:prstGeom>
          <a:solidFill>
            <a:srgbClr val="FFFFFF"/>
          </a:solidFill>
          <a:ln w="9525">
            <a:solidFill>
              <a:srgbClr val="E2E5EB"/>
            </a:solidFill>
          </a:ln>
          <a:effectLst>
            <a:outerShdw blurRad="114300" dist="25400" dir="5400000" algn="t" rotWithShape="0">
              <a:srgbClr val="14213D">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Rectangle 49"/>
          <p:cNvSpPr/>
          <p:nvPr/>
        </p:nvSpPr>
        <p:spPr>
          <a:xfrm>
            <a:off x="10130088" y="4297680"/>
            <a:ext cx="1512966" cy="64008"/>
          </a:xfrm>
          <a:prstGeom prst="rect">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1" name="Picture 50" descr="utensils-14213D.png"/>
          <p:cNvPicPr>
            <a:picLocks noChangeAspect="1"/>
          </p:cNvPicPr>
          <p:nvPr/>
        </p:nvPicPr>
        <p:blipFill>
          <a:blip r:embed="rId11"/>
          <a:stretch>
            <a:fillRect/>
          </a:stretch>
        </p:blipFill>
        <p:spPr>
          <a:xfrm>
            <a:off x="10312968" y="4535424"/>
            <a:ext cx="384048" cy="384048"/>
          </a:xfrm>
          <a:prstGeom prst="rect">
            <a:avLst/>
          </a:prstGeom>
        </p:spPr>
      </p:pic>
      <p:sp>
        <p:nvSpPr>
          <p:cNvPr id="52" name="TextBox 51"/>
          <p:cNvSpPr txBox="1"/>
          <p:nvPr/>
        </p:nvSpPr>
        <p:spPr>
          <a:xfrm>
            <a:off x="10312968" y="5047488"/>
            <a:ext cx="1256934" cy="365760"/>
          </a:xfrm>
          <a:prstGeom prst="rect">
            <a:avLst/>
          </a:prstGeom>
          <a:noFill/>
        </p:spPr>
        <p:txBody>
          <a:bodyPr wrap="square" lIns="0" rIns="0" tIns="0" bIns="0" anchor="t">
            <a:spAutoFit/>
          </a:bodyPr>
          <a:lstStyle/>
          <a:p>
            <a:pPr algn="l">
              <a:lnSpc>
                <a:spcPct val="115000"/>
              </a:lnSpc>
              <a:spcAft>
                <a:spcPts val="0"/>
              </a:spcAft>
            </a:pPr>
            <a:r>
              <a:rPr sz="1250" b="1" i="0">
                <a:solidFill>
                  <a:srgbClr val="14213D"/>
                </a:solidFill>
                <a:latin typeface="Arial"/>
              </a:rPr>
              <a:t>Dining</a:t>
            </a:r>
          </a:p>
        </p:txBody>
      </p:sp>
      <p:sp>
        <p:nvSpPr>
          <p:cNvPr id="53" name="TextBox 52"/>
          <p:cNvSpPr txBox="1"/>
          <p:nvPr/>
        </p:nvSpPr>
        <p:spPr>
          <a:xfrm>
            <a:off x="10312968" y="5413248"/>
            <a:ext cx="1256934" cy="731520"/>
          </a:xfrm>
          <a:prstGeom prst="rect">
            <a:avLst/>
          </a:prstGeom>
          <a:noFill/>
        </p:spPr>
        <p:txBody>
          <a:bodyPr wrap="square" lIns="0" rIns="0" tIns="0" bIns="0" anchor="t">
            <a:spAutoFit/>
          </a:bodyPr>
          <a:lstStyle/>
          <a:p>
            <a:pPr algn="l">
              <a:lnSpc>
                <a:spcPct val="115000"/>
              </a:lnSpc>
              <a:spcAft>
                <a:spcPts val="0"/>
              </a:spcAft>
            </a:pPr>
            <a:r>
              <a:rPr sz="1100" b="0" i="0">
                <a:solidFill>
                  <a:srgbClr val="2A3550"/>
                </a:solidFill>
                <a:latin typeface="Arial"/>
              </a:rPr>
              <a:t>Venues, dietary needs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6F1"/>
        </a:solidFill>
        <a:effectLst/>
      </p:bgPr>
    </p:bg>
    <p:spTree>
      <p:nvGrpSpPr>
        <p:cNvPr id="1" name=""/>
        <p:cNvGrpSpPr/>
        <p:nvPr/>
      </p:nvGrpSpPr>
      <p:grpSpPr/>
      <p:sp>
        <p:nvSpPr>
          <p:cNvPr id="2" name="Rectangle 1"/>
          <p:cNvSpPr/>
          <p:nvPr/>
        </p:nvSpPr>
        <p:spPr>
          <a:xfrm>
            <a:off x="0" y="0"/>
            <a:ext cx="100584" cy="6858000"/>
          </a:xfrm>
          <a:prstGeom prst="rect">
            <a:avLst/>
          </a:prstGeom>
          <a:solidFill>
            <a:srgbClr val="C25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47472"/>
            <a:ext cx="5943600" cy="274320"/>
          </a:xfrm>
          <a:prstGeom prst="rect">
            <a:avLst/>
          </a:prstGeom>
          <a:noFill/>
        </p:spPr>
        <p:txBody>
          <a:bodyPr wrap="square" lIns="0" rIns="0" tIns="0" bIns="0" anchor="ctr">
            <a:spAutoFit/>
          </a:bodyPr>
          <a:lstStyle/>
          <a:p>
            <a:pPr algn="l">
              <a:lnSpc>
                <a:spcPct val="115000"/>
              </a:lnSpc>
              <a:spcAft>
                <a:spcPts val="0"/>
              </a:spcAft>
            </a:pPr>
            <a:r>
              <a:rPr sz="1000" b="1" i="0">
                <a:solidFill>
                  <a:srgbClr val="C2571A"/>
                </a:solidFill>
                <a:latin typeface="Arial"/>
              </a:rPr>
              <a:t>ARCHITECTURE</a:t>
            </a:r>
          </a:p>
        </p:txBody>
      </p:sp>
      <p:sp>
        <p:nvSpPr>
          <p:cNvPr id="4" name="TextBox 3"/>
          <p:cNvSpPr txBox="1"/>
          <p:nvPr/>
        </p:nvSpPr>
        <p:spPr>
          <a:xfrm>
            <a:off x="548640" y="731520"/>
            <a:ext cx="11094415" cy="566928"/>
          </a:xfrm>
          <a:prstGeom prst="rect">
            <a:avLst/>
          </a:prstGeom>
          <a:noFill/>
        </p:spPr>
        <p:txBody>
          <a:bodyPr wrap="square" lIns="0" rIns="0" tIns="0" bIns="0" anchor="ctr">
            <a:spAutoFit/>
          </a:bodyPr>
          <a:lstStyle/>
          <a:p>
            <a:pPr algn="l">
              <a:lnSpc>
                <a:spcPct val="115000"/>
              </a:lnSpc>
              <a:spcAft>
                <a:spcPts val="0"/>
              </a:spcAft>
            </a:pPr>
            <a:r>
              <a:rPr sz="2600" b="1" i="0">
                <a:solidFill>
                  <a:srgbClr val="14213D"/>
                </a:solidFill>
                <a:latin typeface="Georgia"/>
              </a:rPr>
              <a:t>The graph drives the agents, not the other way round</a:t>
            </a:r>
          </a:p>
        </p:txBody>
      </p:sp>
      <p:sp>
        <p:nvSpPr>
          <p:cNvPr id="5" name="Rectangle 4"/>
          <p:cNvSpPr/>
          <p:nvPr/>
        </p:nvSpPr>
        <p:spPr>
          <a:xfrm>
            <a:off x="548640" y="6400800"/>
            <a:ext cx="11094415" cy="10972"/>
          </a:xfrm>
          <a:prstGeom prst="rect">
            <a:avLst/>
          </a:prstGeom>
          <a:solidFill>
            <a:srgbClr val="DDDA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48640" y="6473952"/>
            <a:ext cx="7315200" cy="228600"/>
          </a:xfrm>
          <a:prstGeom prst="rect">
            <a:avLst/>
          </a:prstGeom>
          <a:noFill/>
        </p:spPr>
        <p:txBody>
          <a:bodyPr wrap="square" lIns="0" rIns="0" tIns="0" bIns="0" anchor="t">
            <a:spAutoFit/>
          </a:bodyPr>
          <a:lstStyle/>
          <a:p>
            <a:pPr algn="l">
              <a:lnSpc>
                <a:spcPct val="115000"/>
              </a:lnSpc>
              <a:spcAft>
                <a:spcPts val="0"/>
              </a:spcAft>
            </a:pPr>
            <a:r>
              <a:rPr sz="900" b="0" i="0">
                <a:solidFill>
                  <a:srgbClr val="8A93A6"/>
                </a:solidFill>
                <a:latin typeface="Arial"/>
              </a:rPr>
              <a:t>AI Trip Planner  ·  ELEC5620 Stage 1  ·  Mon 10-12 Group 14</a:t>
            </a:r>
          </a:p>
        </p:txBody>
      </p:sp>
      <p:sp>
        <p:nvSpPr>
          <p:cNvPr id="7" name="TextBox 6"/>
          <p:cNvSpPr txBox="1"/>
          <p:nvPr/>
        </p:nvSpPr>
        <p:spPr>
          <a:xfrm>
            <a:off x="9814255" y="6473952"/>
            <a:ext cx="1828800" cy="228600"/>
          </a:xfrm>
          <a:prstGeom prst="rect">
            <a:avLst/>
          </a:prstGeom>
          <a:noFill/>
        </p:spPr>
        <p:txBody>
          <a:bodyPr wrap="square" lIns="0" rIns="0" tIns="0" bIns="0" anchor="t">
            <a:spAutoFit/>
          </a:bodyPr>
          <a:lstStyle/>
          <a:p>
            <a:pPr algn="r">
              <a:lnSpc>
                <a:spcPct val="115000"/>
              </a:lnSpc>
              <a:spcAft>
                <a:spcPts val="0"/>
              </a:spcAft>
            </a:pPr>
            <a:r>
              <a:rPr sz="900" b="0" i="0">
                <a:solidFill>
                  <a:srgbClr val="8A93A6"/>
                </a:solidFill>
                <a:latin typeface="Arial"/>
              </a:rPr>
              <a:t>04 / 24</a:t>
            </a:r>
          </a:p>
        </p:txBody>
      </p:sp>
      <p:sp>
        <p:nvSpPr>
          <p:cNvPr id="8" name="TextBox 7"/>
          <p:cNvSpPr txBox="1"/>
          <p:nvPr/>
        </p:nvSpPr>
        <p:spPr>
          <a:xfrm>
            <a:off x="548640" y="1481328"/>
            <a:ext cx="7360920" cy="274320"/>
          </a:xfrm>
          <a:prstGeom prst="rect">
            <a:avLst/>
          </a:prstGeom>
          <a:noFill/>
        </p:spPr>
        <p:txBody>
          <a:bodyPr wrap="square" lIns="0" rIns="0" tIns="0" bIns="0" anchor="t">
            <a:spAutoFit/>
          </a:bodyPr>
          <a:lstStyle/>
          <a:p>
            <a:pPr algn="l">
              <a:lnSpc>
                <a:spcPct val="115000"/>
              </a:lnSpc>
              <a:spcAft>
                <a:spcPts val="0"/>
              </a:spcAft>
            </a:pPr>
            <a:r>
              <a:rPr sz="1100" b="1" i="0">
                <a:solidFill>
                  <a:srgbClr val="5A6478"/>
                </a:solidFill>
                <a:latin typeface="Arial"/>
              </a:rPr>
              <a:t>LANGGRAPH WORKFLOW</a:t>
            </a:r>
          </a:p>
        </p:txBody>
      </p:sp>
      <p:sp>
        <p:nvSpPr>
          <p:cNvPr id="9" name="Rounded Rectangle 8"/>
          <p:cNvSpPr/>
          <p:nvPr/>
        </p:nvSpPr>
        <p:spPr>
          <a:xfrm>
            <a:off x="548640" y="1801368"/>
            <a:ext cx="7360920" cy="1600200"/>
          </a:xfrm>
          <a:prstGeom prst="roundRect">
            <a:avLst>
              <a:gd name="adj" fmla="val 6857"/>
            </a:avLst>
          </a:prstGeom>
          <a:solidFill>
            <a:srgbClr val="FFFFFF"/>
          </a:solidFill>
          <a:ln w="9525">
            <a:solidFill>
              <a:srgbClr val="E2E5EB"/>
            </a:solidFill>
          </a:ln>
          <a:effectLst>
            <a:outerShdw blurRad="114300" dist="25400" dir="5400000" algn="t" rotWithShape="0">
              <a:srgbClr val="14213D">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workflow.png"/>
          <p:cNvPicPr>
            <a:picLocks noChangeAspect="1"/>
          </p:cNvPicPr>
          <p:nvPr/>
        </p:nvPicPr>
        <p:blipFill>
          <a:blip r:embed="rId3"/>
          <a:stretch>
            <a:fillRect/>
          </a:stretch>
        </p:blipFill>
        <p:spPr>
          <a:xfrm>
            <a:off x="676656" y="2217465"/>
            <a:ext cx="7104888" cy="768004"/>
          </a:xfrm>
          <a:prstGeom prst="rect">
            <a:avLst/>
          </a:prstGeom>
        </p:spPr>
      </p:pic>
      <p:sp>
        <p:nvSpPr>
          <p:cNvPr id="11" name="Oval 10"/>
          <p:cNvSpPr/>
          <p:nvPr/>
        </p:nvSpPr>
        <p:spPr>
          <a:xfrm>
            <a:off x="1711802" y="2172466"/>
            <a:ext cx="274320" cy="274320"/>
          </a:xfrm>
          <a:prstGeom prst="ellipse">
            <a:avLst/>
          </a:prstGeom>
          <a:solidFill>
            <a:srgbClr val="C2571A"/>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Arial"/>
              </a:rPr>
              <a:t>1</a:t>
            </a:r>
          </a:p>
        </p:txBody>
      </p:sp>
      <p:sp>
        <p:nvSpPr>
          <p:cNvPr id="12" name="Oval 11"/>
          <p:cNvSpPr/>
          <p:nvPr/>
        </p:nvSpPr>
        <p:spPr>
          <a:xfrm>
            <a:off x="2919633" y="2172466"/>
            <a:ext cx="274320" cy="274320"/>
          </a:xfrm>
          <a:prstGeom prst="ellipse">
            <a:avLst/>
          </a:prstGeom>
          <a:solidFill>
            <a:srgbClr val="C2571A"/>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Arial"/>
              </a:rPr>
              <a:t>2</a:t>
            </a:r>
          </a:p>
        </p:txBody>
      </p:sp>
      <p:sp>
        <p:nvSpPr>
          <p:cNvPr id="13" name="Oval 12"/>
          <p:cNvSpPr/>
          <p:nvPr/>
        </p:nvSpPr>
        <p:spPr>
          <a:xfrm>
            <a:off x="5086624" y="2095665"/>
            <a:ext cx="274320" cy="274320"/>
          </a:xfrm>
          <a:prstGeom prst="ellipse">
            <a:avLst/>
          </a:prstGeom>
          <a:solidFill>
            <a:srgbClr val="C2571A"/>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Arial"/>
              </a:rPr>
              <a:t>3</a:t>
            </a:r>
          </a:p>
        </p:txBody>
      </p:sp>
      <p:sp>
        <p:nvSpPr>
          <p:cNvPr id="14" name="Oval 13"/>
          <p:cNvSpPr/>
          <p:nvPr/>
        </p:nvSpPr>
        <p:spPr>
          <a:xfrm>
            <a:off x="640080" y="3685031"/>
            <a:ext cx="256032" cy="256032"/>
          </a:xfrm>
          <a:prstGeom prst="ellipse">
            <a:avLst/>
          </a:prstGeom>
          <a:solidFill>
            <a:srgbClr val="C2571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50" b="1">
                <a:solidFill>
                  <a:srgbClr val="FFFFFF"/>
                </a:solidFill>
                <a:latin typeface="Arial"/>
              </a:rPr>
              <a:t>1</a:t>
            </a:r>
          </a:p>
        </p:txBody>
      </p:sp>
      <p:sp>
        <p:nvSpPr>
          <p:cNvPr id="15" name="TextBox 14"/>
          <p:cNvSpPr txBox="1"/>
          <p:nvPr/>
        </p:nvSpPr>
        <p:spPr>
          <a:xfrm>
            <a:off x="1024127" y="3675887"/>
            <a:ext cx="6793992" cy="685800"/>
          </a:xfrm>
          <a:prstGeom prst="rect">
            <a:avLst/>
          </a:prstGeom>
          <a:noFill/>
        </p:spPr>
        <p:txBody>
          <a:bodyPr wrap="square" lIns="0" rIns="0" tIns="0" bIns="0" anchor="t">
            <a:spAutoFit/>
          </a:bodyPr>
          <a:lstStyle/>
          <a:p>
            <a:pPr algn="l">
              <a:lnSpc>
                <a:spcPct val="115000"/>
              </a:lnSpc>
              <a:spcAft>
                <a:spcPts val="200"/>
              </a:spcAft>
            </a:pPr>
            <a:r>
              <a:rPr sz="1300" b="1" i="0">
                <a:solidFill>
                  <a:srgbClr val="14213D"/>
                </a:solidFill>
                <a:latin typeface="Arial"/>
              </a:rPr>
              <a:t>Plan in stages</a:t>
            </a:r>
          </a:p>
          <a:p>
            <a:pPr algn="l">
              <a:lnSpc>
                <a:spcPct val="115000"/>
              </a:lnSpc>
              <a:spcAft>
                <a:spcPts val="200"/>
              </a:spcAft>
            </a:pPr>
            <a:r>
              <a:rPr sz="1300" b="0" i="0">
                <a:solidFill>
                  <a:srgbClr val="2A3550"/>
                </a:solidFill>
                <a:latin typeface="Arial"/>
              </a:rPr>
              <a:t>Transport, then accommodation, then itinerary and dining, all on one shared board.</a:t>
            </a:r>
          </a:p>
        </p:txBody>
      </p:sp>
      <p:sp>
        <p:nvSpPr>
          <p:cNvPr id="16" name="Oval 15"/>
          <p:cNvSpPr/>
          <p:nvPr/>
        </p:nvSpPr>
        <p:spPr>
          <a:xfrm>
            <a:off x="640080" y="4507992"/>
            <a:ext cx="256032" cy="256032"/>
          </a:xfrm>
          <a:prstGeom prst="ellipse">
            <a:avLst/>
          </a:prstGeom>
          <a:solidFill>
            <a:srgbClr val="C2571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50" b="1">
                <a:solidFill>
                  <a:srgbClr val="FFFFFF"/>
                </a:solidFill>
                <a:latin typeface="Arial"/>
              </a:rPr>
              <a:t>2</a:t>
            </a:r>
          </a:p>
        </p:txBody>
      </p:sp>
      <p:sp>
        <p:nvSpPr>
          <p:cNvPr id="17" name="TextBox 16"/>
          <p:cNvSpPr txBox="1"/>
          <p:nvPr/>
        </p:nvSpPr>
        <p:spPr>
          <a:xfrm>
            <a:off x="1024127" y="4498848"/>
            <a:ext cx="6793992" cy="685800"/>
          </a:xfrm>
          <a:prstGeom prst="rect">
            <a:avLst/>
          </a:prstGeom>
          <a:noFill/>
        </p:spPr>
        <p:txBody>
          <a:bodyPr wrap="square" lIns="0" rIns="0" tIns="0" bIns="0" anchor="t">
            <a:spAutoFit/>
          </a:bodyPr>
          <a:lstStyle/>
          <a:p>
            <a:pPr algn="l">
              <a:lnSpc>
                <a:spcPct val="115000"/>
              </a:lnSpc>
              <a:spcAft>
                <a:spcPts val="200"/>
              </a:spcAft>
            </a:pPr>
            <a:r>
              <a:rPr sz="1300" b="1" i="0">
                <a:solidFill>
                  <a:srgbClr val="14213D"/>
                </a:solidFill>
                <a:latin typeface="Arial"/>
              </a:rPr>
              <a:t>Code finds conflicts</a:t>
            </a:r>
          </a:p>
          <a:p>
            <a:pPr algn="l">
              <a:lnSpc>
                <a:spcPct val="115000"/>
              </a:lnSpc>
              <a:spcAft>
                <a:spcPts val="200"/>
              </a:spcAft>
            </a:pPr>
            <a:r>
              <a:rPr sz="1300" b="0" i="0">
                <a:solidFill>
                  <a:srgbClr val="2A3550"/>
                </a:solidFill>
                <a:latin typeface="Arial"/>
              </a:rPr>
              <a:t>Budget, time and route conflicts are detected in code, not by a model.</a:t>
            </a:r>
          </a:p>
        </p:txBody>
      </p:sp>
      <p:sp>
        <p:nvSpPr>
          <p:cNvPr id="18" name="Oval 17"/>
          <p:cNvSpPr/>
          <p:nvPr/>
        </p:nvSpPr>
        <p:spPr>
          <a:xfrm>
            <a:off x="640080" y="5330951"/>
            <a:ext cx="256032" cy="256032"/>
          </a:xfrm>
          <a:prstGeom prst="ellipse">
            <a:avLst/>
          </a:prstGeom>
          <a:solidFill>
            <a:srgbClr val="C2571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50" b="1">
                <a:solidFill>
                  <a:srgbClr val="FFFFFF"/>
                </a:solidFill>
                <a:latin typeface="Arial"/>
              </a:rPr>
              <a:t>3</a:t>
            </a:r>
          </a:p>
        </p:txBody>
      </p:sp>
      <p:sp>
        <p:nvSpPr>
          <p:cNvPr id="19" name="TextBox 18"/>
          <p:cNvSpPr txBox="1"/>
          <p:nvPr/>
        </p:nvSpPr>
        <p:spPr>
          <a:xfrm>
            <a:off x="1024127" y="5321807"/>
            <a:ext cx="6793992" cy="685800"/>
          </a:xfrm>
          <a:prstGeom prst="rect">
            <a:avLst/>
          </a:prstGeom>
          <a:noFill/>
        </p:spPr>
        <p:txBody>
          <a:bodyPr wrap="square" lIns="0" rIns="0" tIns="0" bIns="0" anchor="t">
            <a:spAutoFit/>
          </a:bodyPr>
          <a:lstStyle/>
          <a:p>
            <a:pPr algn="l">
              <a:lnSpc>
                <a:spcPct val="115000"/>
              </a:lnSpc>
              <a:spcAft>
                <a:spcPts val="200"/>
              </a:spcAft>
            </a:pPr>
            <a:r>
              <a:rPr sz="1300" b="1" i="0">
                <a:solidFill>
                  <a:srgbClr val="14213D"/>
                </a:solidFill>
                <a:latin typeface="Arial"/>
              </a:rPr>
              <a:t>Targeted revision</a:t>
            </a:r>
          </a:p>
          <a:p>
            <a:pPr algn="l">
              <a:lnSpc>
                <a:spcPct val="115000"/>
              </a:lnSpc>
              <a:spcAft>
                <a:spcPts val="200"/>
              </a:spcAft>
            </a:pPr>
            <a:r>
              <a:rPr sz="1300" b="0" i="0">
                <a:solidFill>
                  <a:srgbClr val="2A3550"/>
                </a:solidFill>
                <a:latin typeface="Arial"/>
              </a:rPr>
              <a:t>Only the agents involved revise, at most three rounds, kept only if the plan improves.</a:t>
            </a:r>
          </a:p>
        </p:txBody>
      </p:sp>
      <p:sp>
        <p:nvSpPr>
          <p:cNvPr id="20" name="TextBox 19"/>
          <p:cNvSpPr txBox="1"/>
          <p:nvPr/>
        </p:nvSpPr>
        <p:spPr>
          <a:xfrm>
            <a:off x="8183880" y="1481328"/>
            <a:ext cx="3657600" cy="274320"/>
          </a:xfrm>
          <a:prstGeom prst="rect">
            <a:avLst/>
          </a:prstGeom>
          <a:noFill/>
        </p:spPr>
        <p:txBody>
          <a:bodyPr wrap="square" lIns="0" rIns="0" tIns="0" bIns="0" anchor="t">
            <a:spAutoFit/>
          </a:bodyPr>
          <a:lstStyle/>
          <a:p>
            <a:pPr algn="l">
              <a:lnSpc>
                <a:spcPct val="115000"/>
              </a:lnSpc>
              <a:spcAft>
                <a:spcPts val="0"/>
              </a:spcAft>
            </a:pPr>
            <a:r>
              <a:rPr sz="1100" b="1" i="0">
                <a:solidFill>
                  <a:srgbClr val="5A6478"/>
                </a:solidFill>
                <a:latin typeface="Arial"/>
              </a:rPr>
              <a:t>REQUEST PATH</a:t>
            </a:r>
          </a:p>
        </p:txBody>
      </p:sp>
      <p:sp>
        <p:nvSpPr>
          <p:cNvPr id="21" name="Rounded Rectangle 20"/>
          <p:cNvSpPr/>
          <p:nvPr/>
        </p:nvSpPr>
        <p:spPr>
          <a:xfrm>
            <a:off x="8183880" y="1801368"/>
            <a:ext cx="3459175" cy="4434840"/>
          </a:xfrm>
          <a:prstGeom prst="roundRect">
            <a:avLst>
              <a:gd name="adj" fmla="val 3172"/>
            </a:avLst>
          </a:prstGeom>
          <a:solidFill>
            <a:srgbClr val="FFFFFF"/>
          </a:solidFill>
          <a:ln w="9525">
            <a:solidFill>
              <a:srgbClr val="E2E5EB"/>
            </a:solidFill>
          </a:ln>
          <a:effectLst>
            <a:outerShdw blurRad="114300" dist="25400" dir="5400000" algn="t" rotWithShape="0">
              <a:srgbClr val="14213D">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architecture.png"/>
          <p:cNvPicPr>
            <a:picLocks noChangeAspect="1"/>
          </p:cNvPicPr>
          <p:nvPr/>
        </p:nvPicPr>
        <p:blipFill>
          <a:blip r:embed="rId4"/>
          <a:stretch>
            <a:fillRect/>
          </a:stretch>
        </p:blipFill>
        <p:spPr>
          <a:xfrm>
            <a:off x="8409998" y="1929384"/>
            <a:ext cx="3006938" cy="4178808"/>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6F1"/>
        </a:solidFill>
        <a:effectLst/>
      </p:bgPr>
    </p:bg>
    <p:spTree>
      <p:nvGrpSpPr>
        <p:cNvPr id="1" name=""/>
        <p:cNvGrpSpPr/>
        <p:nvPr/>
      </p:nvGrpSpPr>
      <p:grpSpPr/>
      <p:sp>
        <p:nvSpPr>
          <p:cNvPr id="2" name="Rectangle 1"/>
          <p:cNvSpPr/>
          <p:nvPr/>
        </p:nvSpPr>
        <p:spPr>
          <a:xfrm>
            <a:off x="0" y="0"/>
            <a:ext cx="100584" cy="6858000"/>
          </a:xfrm>
          <a:prstGeom prst="rect">
            <a:avLst/>
          </a:prstGeom>
          <a:solidFill>
            <a:srgbClr val="C25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47472"/>
            <a:ext cx="5943600" cy="274320"/>
          </a:xfrm>
          <a:prstGeom prst="rect">
            <a:avLst/>
          </a:prstGeom>
          <a:noFill/>
        </p:spPr>
        <p:txBody>
          <a:bodyPr wrap="square" lIns="0" rIns="0" tIns="0" bIns="0" anchor="ctr">
            <a:spAutoFit/>
          </a:bodyPr>
          <a:lstStyle/>
          <a:p>
            <a:pPr algn="l">
              <a:lnSpc>
                <a:spcPct val="115000"/>
              </a:lnSpc>
              <a:spcAft>
                <a:spcPts val="0"/>
              </a:spcAft>
            </a:pPr>
            <a:r>
              <a:rPr sz="1000" b="1" i="0">
                <a:solidFill>
                  <a:srgbClr val="C2571A"/>
                </a:solidFill>
                <a:latin typeface="Arial"/>
              </a:rPr>
              <a:t>INDIVIDUAL BEHAVIOUR MODELS · UC-A1</a:t>
            </a:r>
          </a:p>
        </p:txBody>
      </p:sp>
      <p:sp>
        <p:nvSpPr>
          <p:cNvPr id="4" name="TextBox 3"/>
          <p:cNvSpPr txBox="1"/>
          <p:nvPr/>
        </p:nvSpPr>
        <p:spPr>
          <a:xfrm>
            <a:off x="548640" y="731520"/>
            <a:ext cx="11094415" cy="566928"/>
          </a:xfrm>
          <a:prstGeom prst="rect">
            <a:avLst/>
          </a:prstGeom>
          <a:noFill/>
        </p:spPr>
        <p:txBody>
          <a:bodyPr wrap="square" lIns="0" rIns="0" tIns="0" bIns="0" anchor="ctr">
            <a:spAutoFit/>
          </a:bodyPr>
          <a:lstStyle/>
          <a:p>
            <a:pPr algn="l">
              <a:lnSpc>
                <a:spcPct val="115000"/>
              </a:lnSpc>
              <a:spcAft>
                <a:spcPts val="0"/>
              </a:spcAft>
            </a:pPr>
            <a:r>
              <a:rPr sz="2600" b="1" i="0">
                <a:solidFill>
                  <a:srgbClr val="14213D"/>
                </a:solidFill>
                <a:latin typeface="Georgia"/>
              </a:rPr>
              <a:t>Three LLM calls, each fenced by code</a:t>
            </a:r>
          </a:p>
        </p:txBody>
      </p:sp>
      <p:sp>
        <p:nvSpPr>
          <p:cNvPr id="5" name="Rectangle 4"/>
          <p:cNvSpPr/>
          <p:nvPr/>
        </p:nvSpPr>
        <p:spPr>
          <a:xfrm>
            <a:off x="548640" y="6400800"/>
            <a:ext cx="11094415" cy="10972"/>
          </a:xfrm>
          <a:prstGeom prst="rect">
            <a:avLst/>
          </a:prstGeom>
          <a:solidFill>
            <a:srgbClr val="DDDA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48640" y="6473952"/>
            <a:ext cx="7315200" cy="228600"/>
          </a:xfrm>
          <a:prstGeom prst="rect">
            <a:avLst/>
          </a:prstGeom>
          <a:noFill/>
        </p:spPr>
        <p:txBody>
          <a:bodyPr wrap="square" lIns="0" rIns="0" tIns="0" bIns="0" anchor="t">
            <a:spAutoFit/>
          </a:bodyPr>
          <a:lstStyle/>
          <a:p>
            <a:pPr algn="l">
              <a:lnSpc>
                <a:spcPct val="115000"/>
              </a:lnSpc>
              <a:spcAft>
                <a:spcPts val="0"/>
              </a:spcAft>
            </a:pPr>
            <a:r>
              <a:rPr sz="900" b="0" i="0">
                <a:solidFill>
                  <a:srgbClr val="8A93A6"/>
                </a:solidFill>
                <a:latin typeface="Arial"/>
              </a:rPr>
              <a:t>AI Trip Planner  ·  ELEC5620 Stage 1  ·  Mon 10-12 Group 14</a:t>
            </a:r>
          </a:p>
        </p:txBody>
      </p:sp>
      <p:sp>
        <p:nvSpPr>
          <p:cNvPr id="7" name="TextBox 6"/>
          <p:cNvSpPr txBox="1"/>
          <p:nvPr/>
        </p:nvSpPr>
        <p:spPr>
          <a:xfrm>
            <a:off x="9814255" y="6473952"/>
            <a:ext cx="1828800" cy="228600"/>
          </a:xfrm>
          <a:prstGeom prst="rect">
            <a:avLst/>
          </a:prstGeom>
          <a:noFill/>
        </p:spPr>
        <p:txBody>
          <a:bodyPr wrap="square" lIns="0" rIns="0" tIns="0" bIns="0" anchor="t">
            <a:spAutoFit/>
          </a:bodyPr>
          <a:lstStyle/>
          <a:p>
            <a:pPr algn="r">
              <a:lnSpc>
                <a:spcPct val="115000"/>
              </a:lnSpc>
              <a:spcAft>
                <a:spcPts val="0"/>
              </a:spcAft>
            </a:pPr>
            <a:r>
              <a:rPr sz="900" b="0" i="0">
                <a:solidFill>
                  <a:srgbClr val="8A93A6"/>
                </a:solidFill>
                <a:latin typeface="Arial"/>
              </a:rPr>
              <a:t>05 / 24</a:t>
            </a:r>
          </a:p>
        </p:txBody>
      </p:sp>
      <p:sp>
        <p:nvSpPr>
          <p:cNvPr id="8" name="Rounded Rectangle 7"/>
          <p:cNvSpPr/>
          <p:nvPr/>
        </p:nvSpPr>
        <p:spPr>
          <a:xfrm>
            <a:off x="548640" y="1481328"/>
            <a:ext cx="11094415" cy="566928"/>
          </a:xfrm>
          <a:prstGeom prst="roundRect">
            <a:avLst>
              <a:gd name="adj" fmla="val 19354"/>
            </a:avLst>
          </a:prstGeom>
          <a:solidFill>
            <a:srgbClr val="FFFFFF"/>
          </a:solidFill>
          <a:ln w="9525">
            <a:solidFill>
              <a:srgbClr val="E2E5EB"/>
            </a:solidFill>
          </a:ln>
          <a:effectLst>
            <a:outerShdw blurRad="114300" dist="25400" dir="5400000" algn="t" rotWithShape="0">
              <a:srgbClr val="14213D">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548640" y="1645920"/>
            <a:ext cx="54864" cy="237744"/>
          </a:xfrm>
          <a:prstGeom prst="roundRect">
            <a:avLst>
              <a:gd name="adj" fmla="val 50000"/>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22959" y="1572768"/>
            <a:ext cx="10637215" cy="384048"/>
          </a:xfrm>
          <a:prstGeom prst="rect">
            <a:avLst/>
          </a:prstGeom>
          <a:noFill/>
        </p:spPr>
        <p:txBody>
          <a:bodyPr wrap="square" lIns="0" rIns="0" tIns="0" bIns="0" anchor="ctr">
            <a:spAutoFit/>
          </a:bodyPr>
          <a:lstStyle/>
          <a:p>
            <a:pPr algn="l">
              <a:lnSpc>
                <a:spcPct val="115000"/>
              </a:lnSpc>
              <a:spcAft>
                <a:spcPts val="0"/>
              </a:spcAft>
            </a:pPr>
            <a:r>
              <a:rPr sz="1200" b="1" i="0">
                <a:solidFill>
                  <a:srgbClr val="1F7A8C"/>
                </a:solidFill>
                <a:latin typeface="Arial"/>
              </a:rPr>
              <a:t>Ad hoc requirement  </a:t>
            </a:r>
            <a:r>
              <a:rPr sz="1200" b="0" i="0">
                <a:solidFill>
                  <a:srgbClr val="2A3550"/>
                </a:solidFill>
                <a:latin typeface="Arial"/>
              </a:rPr>
              <a:t>AH-A1: understand my one-line request; ask once if something is missing; fix clashes</a:t>
            </a:r>
            <a:r>
              <a:rPr sz="1200" b="1" i="0">
                <a:solidFill>
                  <a:srgbClr val="1F7A8C"/>
                </a:solidFill>
                <a:latin typeface="Arial"/>
              </a:rPr>
              <a:t>      Use case  </a:t>
            </a:r>
            <a:r>
              <a:rPr sz="1200" b="0" i="0">
                <a:solidFill>
                  <a:srgbClr val="2A3550"/>
                </a:solidFill>
                <a:latin typeface="Arial"/>
              </a:rPr>
              <a:t>UC-A1 Generate Itinerary</a:t>
            </a:r>
          </a:p>
        </p:txBody>
      </p:sp>
      <p:sp>
        <p:nvSpPr>
          <p:cNvPr id="11" name="TextBox 10"/>
          <p:cNvSpPr txBox="1"/>
          <p:nvPr/>
        </p:nvSpPr>
        <p:spPr>
          <a:xfrm>
            <a:off x="548640" y="2231136"/>
            <a:ext cx="3576218" cy="274320"/>
          </a:xfrm>
          <a:prstGeom prst="rect">
            <a:avLst/>
          </a:prstGeom>
          <a:noFill/>
        </p:spPr>
        <p:txBody>
          <a:bodyPr wrap="square" lIns="0" rIns="0" tIns="0" bIns="0" anchor="t">
            <a:spAutoFit/>
          </a:bodyPr>
          <a:lstStyle/>
          <a:p>
            <a:pPr algn="l">
              <a:lnSpc>
                <a:spcPct val="115000"/>
              </a:lnSpc>
              <a:spcAft>
                <a:spcPts val="0"/>
              </a:spcAft>
            </a:pPr>
            <a:r>
              <a:rPr sz="1100" b="1" i="0">
                <a:solidFill>
                  <a:srgbClr val="5A6478"/>
                </a:solidFill>
                <a:latin typeface="Arial"/>
              </a:rPr>
              <a:t>ACTIVITY</a:t>
            </a:r>
          </a:p>
        </p:txBody>
      </p:sp>
      <p:sp>
        <p:nvSpPr>
          <p:cNvPr id="12" name="Rounded Rectangle 11"/>
          <p:cNvSpPr/>
          <p:nvPr/>
        </p:nvSpPr>
        <p:spPr>
          <a:xfrm>
            <a:off x="548640" y="2551176"/>
            <a:ext cx="3576218" cy="3685032"/>
          </a:xfrm>
          <a:prstGeom prst="roundRect">
            <a:avLst>
              <a:gd name="adj" fmla="val 3068"/>
            </a:avLst>
          </a:prstGeom>
          <a:solidFill>
            <a:srgbClr val="FFFFFF"/>
          </a:solidFill>
          <a:ln w="9525">
            <a:solidFill>
              <a:srgbClr val="E2E5EB"/>
            </a:solidFill>
          </a:ln>
          <a:effectLst>
            <a:outerShdw blurRad="114300" dist="25400" dir="5400000" algn="t" rotWithShape="0">
              <a:srgbClr val="14213D">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a-activity.png"/>
          <p:cNvPicPr>
            <a:picLocks noChangeAspect="1"/>
          </p:cNvPicPr>
          <p:nvPr/>
        </p:nvPicPr>
        <p:blipFill>
          <a:blip r:embed="rId3"/>
          <a:stretch>
            <a:fillRect/>
          </a:stretch>
        </p:blipFill>
        <p:spPr>
          <a:xfrm>
            <a:off x="1844544" y="2679192"/>
            <a:ext cx="984408" cy="3429000"/>
          </a:xfrm>
          <a:prstGeom prst="rect">
            <a:avLst/>
          </a:prstGeom>
        </p:spPr>
      </p:pic>
      <p:sp>
        <p:nvSpPr>
          <p:cNvPr id="14" name="TextBox 13"/>
          <p:cNvSpPr txBox="1"/>
          <p:nvPr/>
        </p:nvSpPr>
        <p:spPr>
          <a:xfrm>
            <a:off x="4307738" y="2231136"/>
            <a:ext cx="3576218" cy="274320"/>
          </a:xfrm>
          <a:prstGeom prst="rect">
            <a:avLst/>
          </a:prstGeom>
          <a:noFill/>
        </p:spPr>
        <p:txBody>
          <a:bodyPr wrap="square" lIns="0" rIns="0" tIns="0" bIns="0" anchor="t">
            <a:spAutoFit/>
          </a:bodyPr>
          <a:lstStyle/>
          <a:p>
            <a:pPr algn="l">
              <a:lnSpc>
                <a:spcPct val="115000"/>
              </a:lnSpc>
              <a:spcAft>
                <a:spcPts val="0"/>
              </a:spcAft>
            </a:pPr>
            <a:r>
              <a:rPr sz="1100" b="1" i="0">
                <a:solidFill>
                  <a:srgbClr val="5A6478"/>
                </a:solidFill>
                <a:latin typeface="Arial"/>
              </a:rPr>
              <a:t>SEQUENCE</a:t>
            </a:r>
          </a:p>
        </p:txBody>
      </p:sp>
      <p:sp>
        <p:nvSpPr>
          <p:cNvPr id="15" name="Rounded Rectangle 14"/>
          <p:cNvSpPr/>
          <p:nvPr/>
        </p:nvSpPr>
        <p:spPr>
          <a:xfrm>
            <a:off x="4307738" y="2551176"/>
            <a:ext cx="3576218" cy="3685032"/>
          </a:xfrm>
          <a:prstGeom prst="roundRect">
            <a:avLst>
              <a:gd name="adj" fmla="val 3068"/>
            </a:avLst>
          </a:prstGeom>
          <a:solidFill>
            <a:srgbClr val="FFFFFF"/>
          </a:solidFill>
          <a:ln w="9525">
            <a:solidFill>
              <a:srgbClr val="E2E5EB"/>
            </a:solidFill>
          </a:ln>
          <a:effectLst>
            <a:outerShdw blurRad="114300" dist="25400" dir="5400000" algn="t" rotWithShape="0">
              <a:srgbClr val="14213D">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a-sequence.png"/>
          <p:cNvPicPr>
            <a:picLocks noChangeAspect="1"/>
          </p:cNvPicPr>
          <p:nvPr/>
        </p:nvPicPr>
        <p:blipFill>
          <a:blip r:embed="rId4"/>
          <a:stretch>
            <a:fillRect/>
          </a:stretch>
        </p:blipFill>
        <p:spPr>
          <a:xfrm>
            <a:off x="4435754" y="3276587"/>
            <a:ext cx="3320186" cy="2234208"/>
          </a:xfrm>
          <a:prstGeom prst="rect">
            <a:avLst/>
          </a:prstGeom>
        </p:spPr>
      </p:pic>
      <p:sp>
        <p:nvSpPr>
          <p:cNvPr id="17" name="TextBox 16"/>
          <p:cNvSpPr txBox="1"/>
          <p:nvPr/>
        </p:nvSpPr>
        <p:spPr>
          <a:xfrm>
            <a:off x="8066836" y="2231136"/>
            <a:ext cx="3576218" cy="274320"/>
          </a:xfrm>
          <a:prstGeom prst="rect">
            <a:avLst/>
          </a:prstGeom>
          <a:noFill/>
        </p:spPr>
        <p:txBody>
          <a:bodyPr wrap="square" lIns="0" rIns="0" tIns="0" bIns="0" anchor="t">
            <a:spAutoFit/>
          </a:bodyPr>
          <a:lstStyle/>
          <a:p>
            <a:pPr algn="l">
              <a:lnSpc>
                <a:spcPct val="115000"/>
              </a:lnSpc>
              <a:spcAft>
                <a:spcPts val="0"/>
              </a:spcAft>
            </a:pPr>
            <a:r>
              <a:rPr sz="1100" b="1" i="0">
                <a:solidFill>
                  <a:srgbClr val="5A6478"/>
                </a:solidFill>
                <a:latin typeface="Arial"/>
              </a:rPr>
              <a:t>STATE MACHINE</a:t>
            </a:r>
          </a:p>
        </p:txBody>
      </p:sp>
      <p:sp>
        <p:nvSpPr>
          <p:cNvPr id="18" name="Rounded Rectangle 17"/>
          <p:cNvSpPr/>
          <p:nvPr/>
        </p:nvSpPr>
        <p:spPr>
          <a:xfrm>
            <a:off x="8066836" y="2551176"/>
            <a:ext cx="3576218" cy="3685032"/>
          </a:xfrm>
          <a:prstGeom prst="roundRect">
            <a:avLst>
              <a:gd name="adj" fmla="val 3068"/>
            </a:avLst>
          </a:prstGeom>
          <a:solidFill>
            <a:srgbClr val="FFFFFF"/>
          </a:solidFill>
          <a:ln w="9525">
            <a:solidFill>
              <a:srgbClr val="E2E5EB"/>
            </a:solidFill>
          </a:ln>
          <a:effectLst>
            <a:outerShdw blurRad="114300" dist="25400" dir="5400000" algn="t" rotWithShape="0">
              <a:srgbClr val="14213D">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a-state.png"/>
          <p:cNvPicPr>
            <a:picLocks noChangeAspect="1"/>
          </p:cNvPicPr>
          <p:nvPr/>
        </p:nvPicPr>
        <p:blipFill>
          <a:blip r:embed="rId5"/>
          <a:stretch>
            <a:fillRect/>
          </a:stretch>
        </p:blipFill>
        <p:spPr>
          <a:xfrm>
            <a:off x="9006268" y="2679192"/>
            <a:ext cx="1697355" cy="3429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6F1"/>
        </a:solidFill>
        <a:effectLst/>
      </p:bgPr>
    </p:bg>
    <p:spTree>
      <p:nvGrpSpPr>
        <p:cNvPr id="1" name=""/>
        <p:cNvGrpSpPr/>
        <p:nvPr/>
      </p:nvGrpSpPr>
      <p:grpSpPr/>
      <p:sp>
        <p:nvSpPr>
          <p:cNvPr id="2" name="Rectangle 1"/>
          <p:cNvSpPr/>
          <p:nvPr/>
        </p:nvSpPr>
        <p:spPr>
          <a:xfrm>
            <a:off x="0" y="0"/>
            <a:ext cx="100584" cy="6858000"/>
          </a:xfrm>
          <a:prstGeom prst="rect">
            <a:avLst/>
          </a:prstGeom>
          <a:solidFill>
            <a:srgbClr val="C25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47472"/>
            <a:ext cx="5943600" cy="274320"/>
          </a:xfrm>
          <a:prstGeom prst="rect">
            <a:avLst/>
          </a:prstGeom>
          <a:noFill/>
        </p:spPr>
        <p:txBody>
          <a:bodyPr wrap="square" lIns="0" rIns="0" tIns="0" bIns="0" anchor="ctr">
            <a:spAutoFit/>
          </a:bodyPr>
          <a:lstStyle/>
          <a:p>
            <a:pPr algn="l">
              <a:lnSpc>
                <a:spcPct val="115000"/>
              </a:lnSpc>
              <a:spcAft>
                <a:spcPts val="0"/>
              </a:spcAft>
            </a:pPr>
            <a:r>
              <a:rPr sz="1000" b="1" i="0">
                <a:solidFill>
                  <a:srgbClr val="C2571A"/>
                </a:solidFill>
                <a:latin typeface="Arial"/>
              </a:rPr>
              <a:t>REQUIREMENT CLASSIFICATION</a:t>
            </a:r>
          </a:p>
        </p:txBody>
      </p:sp>
      <p:sp>
        <p:nvSpPr>
          <p:cNvPr id="4" name="TextBox 3"/>
          <p:cNvSpPr txBox="1"/>
          <p:nvPr/>
        </p:nvSpPr>
        <p:spPr>
          <a:xfrm>
            <a:off x="548640" y="731520"/>
            <a:ext cx="11094415" cy="566928"/>
          </a:xfrm>
          <a:prstGeom prst="rect">
            <a:avLst/>
          </a:prstGeom>
          <a:noFill/>
        </p:spPr>
        <p:txBody>
          <a:bodyPr wrap="square" lIns="0" rIns="0" tIns="0" bIns="0" anchor="ctr">
            <a:spAutoFit/>
          </a:bodyPr>
          <a:lstStyle/>
          <a:p>
            <a:pPr algn="l">
              <a:lnSpc>
                <a:spcPct val="115000"/>
              </a:lnSpc>
              <a:spcAft>
                <a:spcPts val="0"/>
              </a:spcAft>
            </a:pPr>
            <a:r>
              <a:rPr sz="2600" b="1" i="0">
                <a:solidFill>
                  <a:srgbClr val="14213D"/>
                </a:solidFill>
                <a:latin typeface="Georgia"/>
              </a:rPr>
              <a:t>Each member owns two core features and one optional</a:t>
            </a:r>
          </a:p>
        </p:txBody>
      </p:sp>
      <p:sp>
        <p:nvSpPr>
          <p:cNvPr id="5" name="Rectangle 4"/>
          <p:cNvSpPr/>
          <p:nvPr/>
        </p:nvSpPr>
        <p:spPr>
          <a:xfrm>
            <a:off x="548640" y="6400800"/>
            <a:ext cx="11094415" cy="10972"/>
          </a:xfrm>
          <a:prstGeom prst="rect">
            <a:avLst/>
          </a:prstGeom>
          <a:solidFill>
            <a:srgbClr val="DDDA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48640" y="6473952"/>
            <a:ext cx="7315200" cy="228600"/>
          </a:xfrm>
          <a:prstGeom prst="rect">
            <a:avLst/>
          </a:prstGeom>
          <a:noFill/>
        </p:spPr>
        <p:txBody>
          <a:bodyPr wrap="square" lIns="0" rIns="0" tIns="0" bIns="0" anchor="t">
            <a:spAutoFit/>
          </a:bodyPr>
          <a:lstStyle/>
          <a:p>
            <a:pPr algn="l">
              <a:lnSpc>
                <a:spcPct val="115000"/>
              </a:lnSpc>
              <a:spcAft>
                <a:spcPts val="0"/>
              </a:spcAft>
            </a:pPr>
            <a:r>
              <a:rPr sz="900" b="0" i="0">
                <a:solidFill>
                  <a:srgbClr val="8A93A6"/>
                </a:solidFill>
                <a:latin typeface="Arial"/>
              </a:rPr>
              <a:t>AI Trip Planner  ·  ELEC5620 Stage 1  ·  Mon 10-12 Group 14</a:t>
            </a:r>
          </a:p>
        </p:txBody>
      </p:sp>
      <p:sp>
        <p:nvSpPr>
          <p:cNvPr id="7" name="TextBox 6"/>
          <p:cNvSpPr txBox="1"/>
          <p:nvPr/>
        </p:nvSpPr>
        <p:spPr>
          <a:xfrm>
            <a:off x="9814255" y="6473952"/>
            <a:ext cx="1828800" cy="228600"/>
          </a:xfrm>
          <a:prstGeom prst="rect">
            <a:avLst/>
          </a:prstGeom>
          <a:noFill/>
        </p:spPr>
        <p:txBody>
          <a:bodyPr wrap="square" lIns="0" rIns="0" tIns="0" bIns="0" anchor="t">
            <a:spAutoFit/>
          </a:bodyPr>
          <a:lstStyle/>
          <a:p>
            <a:pPr algn="r">
              <a:lnSpc>
                <a:spcPct val="115000"/>
              </a:lnSpc>
              <a:spcAft>
                <a:spcPts val="0"/>
              </a:spcAft>
            </a:pPr>
            <a:r>
              <a:rPr sz="900" b="0" i="0">
                <a:solidFill>
                  <a:srgbClr val="8A93A6"/>
                </a:solidFill>
                <a:latin typeface="Arial"/>
              </a:rPr>
              <a:t>06 / 24</a:t>
            </a:r>
          </a:p>
        </p:txBody>
      </p:sp>
      <p:sp>
        <p:nvSpPr>
          <p:cNvPr id="8" name="TextBox 7"/>
          <p:cNvSpPr txBox="1"/>
          <p:nvPr/>
        </p:nvSpPr>
        <p:spPr>
          <a:xfrm>
            <a:off x="3063240" y="1481328"/>
            <a:ext cx="2743200" cy="274320"/>
          </a:xfrm>
          <a:prstGeom prst="rect">
            <a:avLst/>
          </a:prstGeom>
          <a:noFill/>
        </p:spPr>
        <p:txBody>
          <a:bodyPr wrap="square" lIns="0" rIns="0" tIns="0" bIns="0" anchor="t">
            <a:spAutoFit/>
          </a:bodyPr>
          <a:lstStyle/>
          <a:p>
            <a:pPr algn="l">
              <a:lnSpc>
                <a:spcPct val="115000"/>
              </a:lnSpc>
              <a:spcAft>
                <a:spcPts val="0"/>
              </a:spcAft>
            </a:pPr>
            <a:r>
              <a:rPr sz="1100" b="1" i="0">
                <a:solidFill>
                  <a:srgbClr val="5A6478"/>
                </a:solidFill>
                <a:latin typeface="Arial"/>
              </a:rPr>
              <a:t>CORE FEATURE 1</a:t>
            </a:r>
          </a:p>
        </p:txBody>
      </p:sp>
      <p:sp>
        <p:nvSpPr>
          <p:cNvPr id="9" name="TextBox 8"/>
          <p:cNvSpPr txBox="1"/>
          <p:nvPr/>
        </p:nvSpPr>
        <p:spPr>
          <a:xfrm>
            <a:off x="6172200" y="1481328"/>
            <a:ext cx="2743200" cy="274320"/>
          </a:xfrm>
          <a:prstGeom prst="rect">
            <a:avLst/>
          </a:prstGeom>
          <a:noFill/>
        </p:spPr>
        <p:txBody>
          <a:bodyPr wrap="square" lIns="0" rIns="0" tIns="0" bIns="0" anchor="t">
            <a:spAutoFit/>
          </a:bodyPr>
          <a:lstStyle/>
          <a:p>
            <a:pPr algn="l">
              <a:lnSpc>
                <a:spcPct val="115000"/>
              </a:lnSpc>
              <a:spcAft>
                <a:spcPts val="0"/>
              </a:spcAft>
            </a:pPr>
            <a:r>
              <a:rPr sz="1100" b="1" i="0">
                <a:solidFill>
                  <a:srgbClr val="5A6478"/>
                </a:solidFill>
                <a:latin typeface="Arial"/>
              </a:rPr>
              <a:t>CORE FEATURE 2</a:t>
            </a:r>
          </a:p>
        </p:txBody>
      </p:sp>
      <p:sp>
        <p:nvSpPr>
          <p:cNvPr id="10" name="TextBox 9"/>
          <p:cNvSpPr txBox="1"/>
          <p:nvPr/>
        </p:nvSpPr>
        <p:spPr>
          <a:xfrm>
            <a:off x="9281160" y="1481328"/>
            <a:ext cx="2743200" cy="274320"/>
          </a:xfrm>
          <a:prstGeom prst="rect">
            <a:avLst/>
          </a:prstGeom>
          <a:noFill/>
        </p:spPr>
        <p:txBody>
          <a:bodyPr wrap="square" lIns="0" rIns="0" tIns="0" bIns="0" anchor="t">
            <a:spAutoFit/>
          </a:bodyPr>
          <a:lstStyle/>
          <a:p>
            <a:pPr algn="l">
              <a:lnSpc>
                <a:spcPct val="115000"/>
              </a:lnSpc>
              <a:spcAft>
                <a:spcPts val="0"/>
              </a:spcAft>
            </a:pPr>
            <a:r>
              <a:rPr sz="1100" b="1" i="0">
                <a:solidFill>
                  <a:srgbClr val="5A6478"/>
                </a:solidFill>
                <a:latin typeface="Arial"/>
              </a:rPr>
              <a:t>OPTIONAL</a:t>
            </a:r>
          </a:p>
        </p:txBody>
      </p:sp>
      <p:sp>
        <p:nvSpPr>
          <p:cNvPr id="11" name="Rounded Rectangle 10"/>
          <p:cNvSpPr/>
          <p:nvPr/>
        </p:nvSpPr>
        <p:spPr>
          <a:xfrm>
            <a:off x="548640" y="1828800"/>
            <a:ext cx="11094415" cy="548640"/>
          </a:xfrm>
          <a:prstGeom prst="roundRect">
            <a:avLst>
              <a:gd name="adj" fmla="val 20000"/>
            </a:avLst>
          </a:prstGeom>
          <a:solidFill>
            <a:srgbClr val="FFFFFF"/>
          </a:solidFill>
          <a:ln w="9525">
            <a:solidFill>
              <a:srgbClr val="E2E5EB"/>
            </a:solidFill>
          </a:ln>
          <a:effectLst>
            <a:outerShdw blurRad="114300" dist="25400" dir="5400000" algn="t" rotWithShape="0">
              <a:srgbClr val="14213D">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713232" y="1956816"/>
            <a:ext cx="292608" cy="292608"/>
          </a:xfrm>
          <a:prstGeom prst="ellipse">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Arial"/>
              </a:rPr>
              <a:t>A</a:t>
            </a:r>
          </a:p>
        </p:txBody>
      </p:sp>
      <p:sp>
        <p:nvSpPr>
          <p:cNvPr id="13" name="TextBox 12"/>
          <p:cNvSpPr txBox="1"/>
          <p:nvPr/>
        </p:nvSpPr>
        <p:spPr>
          <a:xfrm>
            <a:off x="1115568" y="1828800"/>
            <a:ext cx="1737360" cy="548640"/>
          </a:xfrm>
          <a:prstGeom prst="rect">
            <a:avLst/>
          </a:prstGeom>
          <a:noFill/>
        </p:spPr>
        <p:txBody>
          <a:bodyPr wrap="square" lIns="0" rIns="0" tIns="0" bIns="0" anchor="ctr">
            <a:spAutoFit/>
          </a:bodyPr>
          <a:lstStyle/>
          <a:p>
            <a:pPr algn="l">
              <a:lnSpc>
                <a:spcPct val="115000"/>
              </a:lnSpc>
              <a:spcAft>
                <a:spcPts val="0"/>
              </a:spcAft>
            </a:pPr>
            <a:r>
              <a:rPr sz="1300" b="1" i="0">
                <a:solidFill>
                  <a:srgbClr val="14213D"/>
                </a:solidFill>
                <a:latin typeface="Arial"/>
              </a:rPr>
              <a:t>Ziqi He</a:t>
            </a:r>
          </a:p>
        </p:txBody>
      </p:sp>
      <p:sp>
        <p:nvSpPr>
          <p:cNvPr id="14" name="TextBox 13"/>
          <p:cNvSpPr txBox="1"/>
          <p:nvPr/>
        </p:nvSpPr>
        <p:spPr>
          <a:xfrm>
            <a:off x="3063240" y="1828800"/>
            <a:ext cx="2926080" cy="548640"/>
          </a:xfrm>
          <a:prstGeom prst="rect">
            <a:avLst/>
          </a:prstGeom>
          <a:noFill/>
        </p:spPr>
        <p:txBody>
          <a:bodyPr wrap="square" lIns="0" rIns="0" tIns="0" bIns="0" anchor="ctr">
            <a:spAutoFit/>
          </a:bodyPr>
          <a:lstStyle/>
          <a:p>
            <a:pPr algn="l">
              <a:lnSpc>
                <a:spcPct val="115000"/>
              </a:lnSpc>
              <a:spcAft>
                <a:spcPts val="0"/>
              </a:spcAft>
            </a:pPr>
            <a:r>
              <a:rPr sz="1300" b="0" i="0">
                <a:solidFill>
                  <a:srgbClr val="2A3550"/>
                </a:solidFill>
                <a:latin typeface="Arial"/>
              </a:rPr>
              <a:t>Brief extraction and clarifying questions</a:t>
            </a:r>
          </a:p>
        </p:txBody>
      </p:sp>
      <p:sp>
        <p:nvSpPr>
          <p:cNvPr id="15" name="TextBox 14"/>
          <p:cNvSpPr txBox="1"/>
          <p:nvPr/>
        </p:nvSpPr>
        <p:spPr>
          <a:xfrm>
            <a:off x="6172200" y="1828800"/>
            <a:ext cx="2926080" cy="548640"/>
          </a:xfrm>
          <a:prstGeom prst="rect">
            <a:avLst/>
          </a:prstGeom>
          <a:noFill/>
        </p:spPr>
        <p:txBody>
          <a:bodyPr wrap="square" lIns="0" rIns="0" tIns="0" bIns="0" anchor="ctr">
            <a:spAutoFit/>
          </a:bodyPr>
          <a:lstStyle/>
          <a:p>
            <a:pPr algn="l">
              <a:lnSpc>
                <a:spcPct val="115000"/>
              </a:lnSpc>
              <a:spcAft>
                <a:spcPts val="0"/>
              </a:spcAft>
            </a:pPr>
            <a:r>
              <a:rPr sz="1300" b="0" i="0">
                <a:solidFill>
                  <a:srgbClr val="2A3550"/>
                </a:solidFill>
                <a:latin typeface="Arial"/>
              </a:rPr>
              <a:t>Orchestration, revision routing, round control</a:t>
            </a:r>
          </a:p>
        </p:txBody>
      </p:sp>
      <p:sp>
        <p:nvSpPr>
          <p:cNvPr id="16" name="Rounded Rectangle 15"/>
          <p:cNvSpPr/>
          <p:nvPr/>
        </p:nvSpPr>
        <p:spPr>
          <a:xfrm>
            <a:off x="9281160" y="1965960"/>
            <a:ext cx="2377440" cy="274320"/>
          </a:xfrm>
          <a:prstGeom prst="roundRect">
            <a:avLst>
              <a:gd name="adj" fmla="val 50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100" b="0">
                <a:solidFill>
                  <a:srgbClr val="14213D"/>
                </a:solidFill>
                <a:latin typeface="Arial"/>
              </a:rPr>
              <a:t>Agent Lab and Failure Lab</a:t>
            </a:r>
          </a:p>
        </p:txBody>
      </p:sp>
      <p:sp>
        <p:nvSpPr>
          <p:cNvPr id="17" name="Rounded Rectangle 16"/>
          <p:cNvSpPr/>
          <p:nvPr/>
        </p:nvSpPr>
        <p:spPr>
          <a:xfrm>
            <a:off x="548640" y="2468880"/>
            <a:ext cx="11094415" cy="548640"/>
          </a:xfrm>
          <a:prstGeom prst="roundRect">
            <a:avLst>
              <a:gd name="adj" fmla="val 20000"/>
            </a:avLst>
          </a:prstGeom>
          <a:solidFill>
            <a:srgbClr val="FFFFFF"/>
          </a:solidFill>
          <a:ln w="9525">
            <a:solidFill>
              <a:srgbClr val="E2E5EB"/>
            </a:solidFill>
          </a:ln>
          <a:effectLst>
            <a:outerShdw blurRad="114300" dist="25400" dir="5400000" algn="t" rotWithShape="0">
              <a:srgbClr val="14213D">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713232" y="2596896"/>
            <a:ext cx="292608" cy="292608"/>
          </a:xfrm>
          <a:prstGeom prst="ellipse">
            <a:avLst/>
          </a:prstGeom>
          <a:solidFill>
            <a:srgbClr val="6B4FA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Arial"/>
              </a:rPr>
              <a:t>B</a:t>
            </a:r>
          </a:p>
        </p:txBody>
      </p:sp>
      <p:sp>
        <p:nvSpPr>
          <p:cNvPr id="19" name="TextBox 18"/>
          <p:cNvSpPr txBox="1"/>
          <p:nvPr/>
        </p:nvSpPr>
        <p:spPr>
          <a:xfrm>
            <a:off x="1115568" y="2468880"/>
            <a:ext cx="1737360" cy="548640"/>
          </a:xfrm>
          <a:prstGeom prst="rect">
            <a:avLst/>
          </a:prstGeom>
          <a:noFill/>
        </p:spPr>
        <p:txBody>
          <a:bodyPr wrap="square" lIns="0" rIns="0" tIns="0" bIns="0" anchor="ctr">
            <a:spAutoFit/>
          </a:bodyPr>
          <a:lstStyle/>
          <a:p>
            <a:pPr algn="l">
              <a:lnSpc>
                <a:spcPct val="115000"/>
              </a:lnSpc>
              <a:spcAft>
                <a:spcPts val="0"/>
              </a:spcAft>
            </a:pPr>
            <a:r>
              <a:rPr sz="1300" b="1" i="0">
                <a:solidFill>
                  <a:srgbClr val="14213D"/>
                </a:solidFill>
                <a:latin typeface="Arial"/>
              </a:rPr>
              <a:t>Tingsong Jin</a:t>
            </a:r>
          </a:p>
        </p:txBody>
      </p:sp>
      <p:sp>
        <p:nvSpPr>
          <p:cNvPr id="20" name="TextBox 19"/>
          <p:cNvSpPr txBox="1"/>
          <p:nvPr/>
        </p:nvSpPr>
        <p:spPr>
          <a:xfrm>
            <a:off x="3063240" y="2468880"/>
            <a:ext cx="2926080" cy="548640"/>
          </a:xfrm>
          <a:prstGeom prst="rect">
            <a:avLst/>
          </a:prstGeom>
          <a:noFill/>
        </p:spPr>
        <p:txBody>
          <a:bodyPr wrap="square" lIns="0" rIns="0" tIns="0" bIns="0" anchor="ctr">
            <a:spAutoFit/>
          </a:bodyPr>
          <a:lstStyle/>
          <a:p>
            <a:pPr algn="l">
              <a:lnSpc>
                <a:spcPct val="115000"/>
              </a:lnSpc>
              <a:spcAft>
                <a:spcPts val="0"/>
              </a:spcAft>
            </a:pPr>
            <a:r>
              <a:rPr sz="1300" b="0" i="0">
                <a:solidFill>
                  <a:srgbClr val="2A3550"/>
                </a:solidFill>
                <a:latin typeface="Arial"/>
              </a:rPr>
              <a:t>Itinerary with route feasibility</a:t>
            </a:r>
          </a:p>
        </p:txBody>
      </p:sp>
      <p:sp>
        <p:nvSpPr>
          <p:cNvPr id="21" name="TextBox 20"/>
          <p:cNvSpPr txBox="1"/>
          <p:nvPr/>
        </p:nvSpPr>
        <p:spPr>
          <a:xfrm>
            <a:off x="6172200" y="2468880"/>
            <a:ext cx="2926080" cy="548640"/>
          </a:xfrm>
          <a:prstGeom prst="rect">
            <a:avLst/>
          </a:prstGeom>
          <a:noFill/>
        </p:spPr>
        <p:txBody>
          <a:bodyPr wrap="square" lIns="0" rIns="0" tIns="0" bIns="0" anchor="ctr">
            <a:spAutoFit/>
          </a:bodyPr>
          <a:lstStyle/>
          <a:p>
            <a:pPr algn="l">
              <a:lnSpc>
                <a:spcPct val="115000"/>
              </a:lnSpc>
              <a:spcAft>
                <a:spcPts val="0"/>
              </a:spcAft>
            </a:pPr>
            <a:r>
              <a:rPr sz="1300" b="0" i="0">
                <a:solidFill>
                  <a:srgbClr val="2A3550"/>
                </a:solidFill>
                <a:latin typeface="Arial"/>
              </a:rPr>
              <a:t>Flights, rail and local transport</a:t>
            </a:r>
          </a:p>
        </p:txBody>
      </p:sp>
      <p:sp>
        <p:nvSpPr>
          <p:cNvPr id="22" name="Rounded Rectangle 21"/>
          <p:cNvSpPr/>
          <p:nvPr/>
        </p:nvSpPr>
        <p:spPr>
          <a:xfrm>
            <a:off x="9281160" y="2606040"/>
            <a:ext cx="2377440" cy="274320"/>
          </a:xfrm>
          <a:prstGeom prst="roundRect">
            <a:avLst>
              <a:gd name="adj" fmla="val 50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100" b="0">
                <a:solidFill>
                  <a:srgbClr val="14213D"/>
                </a:solidFill>
                <a:latin typeface="Arial"/>
              </a:rPr>
              <a:t>Traveller-chosen leg mode</a:t>
            </a:r>
          </a:p>
        </p:txBody>
      </p:sp>
      <p:sp>
        <p:nvSpPr>
          <p:cNvPr id="23" name="Rounded Rectangle 22"/>
          <p:cNvSpPr/>
          <p:nvPr/>
        </p:nvSpPr>
        <p:spPr>
          <a:xfrm>
            <a:off x="548640" y="3108960"/>
            <a:ext cx="11094415" cy="548640"/>
          </a:xfrm>
          <a:prstGeom prst="roundRect">
            <a:avLst>
              <a:gd name="adj" fmla="val 20000"/>
            </a:avLst>
          </a:prstGeom>
          <a:solidFill>
            <a:srgbClr val="FFFFFF"/>
          </a:solidFill>
          <a:ln w="9525">
            <a:solidFill>
              <a:srgbClr val="E2E5EB"/>
            </a:solidFill>
          </a:ln>
          <a:effectLst>
            <a:outerShdw blurRad="114300" dist="25400" dir="5400000" algn="t" rotWithShape="0">
              <a:srgbClr val="14213D">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713232" y="3236976"/>
            <a:ext cx="292608" cy="292608"/>
          </a:xfrm>
          <a:prstGeom prst="ellipse">
            <a:avLst/>
          </a:prstGeom>
          <a:solidFill>
            <a:srgbClr val="C2571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Arial"/>
              </a:rPr>
              <a:t>C</a:t>
            </a:r>
          </a:p>
        </p:txBody>
      </p:sp>
      <p:sp>
        <p:nvSpPr>
          <p:cNvPr id="25" name="TextBox 24"/>
          <p:cNvSpPr txBox="1"/>
          <p:nvPr/>
        </p:nvSpPr>
        <p:spPr>
          <a:xfrm>
            <a:off x="1115568" y="3108960"/>
            <a:ext cx="1737360" cy="548640"/>
          </a:xfrm>
          <a:prstGeom prst="rect">
            <a:avLst/>
          </a:prstGeom>
          <a:noFill/>
        </p:spPr>
        <p:txBody>
          <a:bodyPr wrap="square" lIns="0" rIns="0" tIns="0" bIns="0" anchor="ctr">
            <a:spAutoFit/>
          </a:bodyPr>
          <a:lstStyle/>
          <a:p>
            <a:pPr algn="l">
              <a:lnSpc>
                <a:spcPct val="115000"/>
              </a:lnSpc>
              <a:spcAft>
                <a:spcPts val="0"/>
              </a:spcAft>
            </a:pPr>
            <a:r>
              <a:rPr sz="1300" b="1" i="0">
                <a:solidFill>
                  <a:srgbClr val="14213D"/>
                </a:solidFill>
                <a:latin typeface="Arial"/>
              </a:rPr>
              <a:t>Yi Qiao</a:t>
            </a:r>
          </a:p>
        </p:txBody>
      </p:sp>
      <p:sp>
        <p:nvSpPr>
          <p:cNvPr id="26" name="TextBox 25"/>
          <p:cNvSpPr txBox="1"/>
          <p:nvPr/>
        </p:nvSpPr>
        <p:spPr>
          <a:xfrm>
            <a:off x="3063240" y="3108960"/>
            <a:ext cx="2926080" cy="548640"/>
          </a:xfrm>
          <a:prstGeom prst="rect">
            <a:avLst/>
          </a:prstGeom>
          <a:noFill/>
        </p:spPr>
        <p:txBody>
          <a:bodyPr wrap="square" lIns="0" rIns="0" tIns="0" bIns="0" anchor="ctr">
            <a:spAutoFit/>
          </a:bodyPr>
          <a:lstStyle/>
          <a:p>
            <a:pPr algn="l">
              <a:lnSpc>
                <a:spcPct val="115000"/>
              </a:lnSpc>
              <a:spcAft>
                <a:spcPts val="0"/>
              </a:spcAft>
            </a:pPr>
            <a:r>
              <a:rPr sz="1300" b="0" i="0">
                <a:solidFill>
                  <a:srgbClr val="2A3550"/>
                </a:solidFill>
                <a:latin typeface="Arial"/>
              </a:rPr>
              <a:t>Accommodation, individual or group</a:t>
            </a:r>
          </a:p>
        </p:txBody>
      </p:sp>
      <p:sp>
        <p:nvSpPr>
          <p:cNvPr id="27" name="TextBox 26"/>
          <p:cNvSpPr txBox="1"/>
          <p:nvPr/>
        </p:nvSpPr>
        <p:spPr>
          <a:xfrm>
            <a:off x="6172200" y="3108960"/>
            <a:ext cx="2926080" cy="548640"/>
          </a:xfrm>
          <a:prstGeom prst="rect">
            <a:avLst/>
          </a:prstGeom>
          <a:noFill/>
        </p:spPr>
        <p:txBody>
          <a:bodyPr wrap="square" lIns="0" rIns="0" tIns="0" bIns="0" anchor="ctr">
            <a:spAutoFit/>
          </a:bodyPr>
          <a:lstStyle/>
          <a:p>
            <a:pPr algn="l">
              <a:lnSpc>
                <a:spcPct val="115000"/>
              </a:lnSpc>
              <a:spcAft>
                <a:spcPts val="0"/>
              </a:spcAft>
            </a:pPr>
            <a:r>
              <a:rPr sz="1300" b="0" i="0">
                <a:solidFill>
                  <a:srgbClr val="2A3550"/>
                </a:solidFill>
                <a:latin typeface="Arial"/>
              </a:rPr>
              <a:t>Budget management</a:t>
            </a:r>
          </a:p>
        </p:txBody>
      </p:sp>
      <p:sp>
        <p:nvSpPr>
          <p:cNvPr id="28" name="Rounded Rectangle 27"/>
          <p:cNvSpPr/>
          <p:nvPr/>
        </p:nvSpPr>
        <p:spPr>
          <a:xfrm>
            <a:off x="9281160" y="3246120"/>
            <a:ext cx="2377440" cy="274320"/>
          </a:xfrm>
          <a:prstGeom prst="roundRect">
            <a:avLst>
              <a:gd name="adj" fmla="val 50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100" b="0">
                <a:solidFill>
                  <a:srgbClr val="14213D"/>
                </a:solidFill>
                <a:latin typeface="Arial"/>
              </a:rPr>
              <a:t>Keep a booked stay</a:t>
            </a:r>
          </a:p>
        </p:txBody>
      </p:sp>
      <p:sp>
        <p:nvSpPr>
          <p:cNvPr id="29" name="Rounded Rectangle 28"/>
          <p:cNvSpPr/>
          <p:nvPr/>
        </p:nvSpPr>
        <p:spPr>
          <a:xfrm>
            <a:off x="548640" y="3749039"/>
            <a:ext cx="11094415" cy="548640"/>
          </a:xfrm>
          <a:prstGeom prst="roundRect">
            <a:avLst>
              <a:gd name="adj" fmla="val 20000"/>
            </a:avLst>
          </a:prstGeom>
          <a:solidFill>
            <a:srgbClr val="FFFFFF"/>
          </a:solidFill>
          <a:ln w="9525">
            <a:solidFill>
              <a:srgbClr val="E2E5EB"/>
            </a:solidFill>
          </a:ln>
          <a:effectLst>
            <a:outerShdw blurRad="114300" dist="25400" dir="5400000" algn="t" rotWithShape="0">
              <a:srgbClr val="14213D">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Oval 29"/>
          <p:cNvSpPr/>
          <p:nvPr/>
        </p:nvSpPr>
        <p:spPr>
          <a:xfrm>
            <a:off x="713232" y="3877055"/>
            <a:ext cx="292608" cy="292608"/>
          </a:xfrm>
          <a:prstGeom prst="ellipse">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Arial"/>
              </a:rPr>
              <a:t>D</a:t>
            </a:r>
          </a:p>
        </p:txBody>
      </p:sp>
      <p:sp>
        <p:nvSpPr>
          <p:cNvPr id="31" name="TextBox 30"/>
          <p:cNvSpPr txBox="1"/>
          <p:nvPr/>
        </p:nvSpPr>
        <p:spPr>
          <a:xfrm>
            <a:off x="1115568" y="3749039"/>
            <a:ext cx="1737360" cy="548640"/>
          </a:xfrm>
          <a:prstGeom prst="rect">
            <a:avLst/>
          </a:prstGeom>
          <a:noFill/>
        </p:spPr>
        <p:txBody>
          <a:bodyPr wrap="square" lIns="0" rIns="0" tIns="0" bIns="0" anchor="ctr">
            <a:spAutoFit/>
          </a:bodyPr>
          <a:lstStyle/>
          <a:p>
            <a:pPr algn="l">
              <a:lnSpc>
                <a:spcPct val="115000"/>
              </a:lnSpc>
              <a:spcAft>
                <a:spcPts val="0"/>
              </a:spcAft>
            </a:pPr>
            <a:r>
              <a:rPr sz="1300" b="1" i="0">
                <a:solidFill>
                  <a:srgbClr val="14213D"/>
                </a:solidFill>
                <a:latin typeface="Arial"/>
              </a:rPr>
              <a:t>Jiahang Bian</a:t>
            </a:r>
          </a:p>
        </p:txBody>
      </p:sp>
      <p:sp>
        <p:nvSpPr>
          <p:cNvPr id="32" name="TextBox 31"/>
          <p:cNvSpPr txBox="1"/>
          <p:nvPr/>
        </p:nvSpPr>
        <p:spPr>
          <a:xfrm>
            <a:off x="3063240" y="3749039"/>
            <a:ext cx="2926080" cy="548640"/>
          </a:xfrm>
          <a:prstGeom prst="rect">
            <a:avLst/>
          </a:prstGeom>
          <a:noFill/>
        </p:spPr>
        <p:txBody>
          <a:bodyPr wrap="square" lIns="0" rIns="0" tIns="0" bIns="0" anchor="ctr">
            <a:spAutoFit/>
          </a:bodyPr>
          <a:lstStyle/>
          <a:p>
            <a:pPr algn="l">
              <a:lnSpc>
                <a:spcPct val="115000"/>
              </a:lnSpc>
              <a:spcAft>
                <a:spcPts val="0"/>
              </a:spcAft>
            </a:pPr>
            <a:r>
              <a:rPr sz="1300" b="0" i="0">
                <a:solidFill>
                  <a:srgbClr val="2A3550"/>
                </a:solidFill>
                <a:latin typeface="Arial"/>
              </a:rPr>
              <a:t>Destination guide</a:t>
            </a:r>
          </a:p>
        </p:txBody>
      </p:sp>
      <p:sp>
        <p:nvSpPr>
          <p:cNvPr id="33" name="TextBox 32"/>
          <p:cNvSpPr txBox="1"/>
          <p:nvPr/>
        </p:nvSpPr>
        <p:spPr>
          <a:xfrm>
            <a:off x="6172200" y="3749039"/>
            <a:ext cx="2926080" cy="548640"/>
          </a:xfrm>
          <a:prstGeom prst="rect">
            <a:avLst/>
          </a:prstGeom>
          <a:noFill/>
        </p:spPr>
        <p:txBody>
          <a:bodyPr wrap="square" lIns="0" rIns="0" tIns="0" bIns="0" anchor="ctr">
            <a:spAutoFit/>
          </a:bodyPr>
          <a:lstStyle/>
          <a:p>
            <a:pPr algn="l">
              <a:lnSpc>
                <a:spcPct val="115000"/>
              </a:lnSpc>
              <a:spcAft>
                <a:spcPts val="0"/>
              </a:spcAft>
            </a:pPr>
            <a:r>
              <a:rPr sz="1300" b="0" i="0">
                <a:solidFill>
                  <a:srgbClr val="2A3550"/>
                </a:solidFill>
                <a:latin typeface="Arial"/>
              </a:rPr>
              <a:t>Dining with dietary needs</a:t>
            </a:r>
          </a:p>
        </p:txBody>
      </p:sp>
      <p:sp>
        <p:nvSpPr>
          <p:cNvPr id="34" name="Rounded Rectangle 33"/>
          <p:cNvSpPr/>
          <p:nvPr/>
        </p:nvSpPr>
        <p:spPr>
          <a:xfrm>
            <a:off x="9281160" y="3886200"/>
            <a:ext cx="2377440" cy="274320"/>
          </a:xfrm>
          <a:prstGeom prst="roundRect">
            <a:avLst>
              <a:gd name="adj" fmla="val 50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100" b="0">
                <a:solidFill>
                  <a:srgbClr val="14213D"/>
                </a:solidFill>
                <a:latin typeface="Arial"/>
              </a:rPr>
              <a:t>Weather-based packing</a:t>
            </a:r>
          </a:p>
        </p:txBody>
      </p:sp>
      <p:sp>
        <p:nvSpPr>
          <p:cNvPr id="35" name="Rounded Rectangle 34"/>
          <p:cNvSpPr/>
          <p:nvPr/>
        </p:nvSpPr>
        <p:spPr>
          <a:xfrm>
            <a:off x="548640" y="4389120"/>
            <a:ext cx="11094415" cy="548640"/>
          </a:xfrm>
          <a:prstGeom prst="roundRect">
            <a:avLst>
              <a:gd name="adj" fmla="val 20000"/>
            </a:avLst>
          </a:prstGeom>
          <a:solidFill>
            <a:srgbClr val="FFFFFF"/>
          </a:solidFill>
          <a:ln w="9525">
            <a:solidFill>
              <a:srgbClr val="E2E5EB"/>
            </a:solidFill>
          </a:ln>
          <a:effectLst>
            <a:outerShdw blurRad="114300" dist="25400" dir="5400000" algn="t" rotWithShape="0">
              <a:srgbClr val="14213D">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Oval 35"/>
          <p:cNvSpPr/>
          <p:nvPr/>
        </p:nvSpPr>
        <p:spPr>
          <a:xfrm>
            <a:off x="713232" y="4517136"/>
            <a:ext cx="292608" cy="292608"/>
          </a:xfrm>
          <a:prstGeom prst="ellipse">
            <a:avLst/>
          </a:prstGeom>
          <a:solidFill>
            <a:srgbClr val="2F5DA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Arial"/>
              </a:rPr>
              <a:t>E</a:t>
            </a:r>
          </a:p>
        </p:txBody>
      </p:sp>
      <p:sp>
        <p:nvSpPr>
          <p:cNvPr id="37" name="TextBox 36"/>
          <p:cNvSpPr txBox="1"/>
          <p:nvPr/>
        </p:nvSpPr>
        <p:spPr>
          <a:xfrm>
            <a:off x="1115568" y="4389120"/>
            <a:ext cx="1737360" cy="548640"/>
          </a:xfrm>
          <a:prstGeom prst="rect">
            <a:avLst/>
          </a:prstGeom>
          <a:noFill/>
        </p:spPr>
        <p:txBody>
          <a:bodyPr wrap="square" lIns="0" rIns="0" tIns="0" bIns="0" anchor="ctr">
            <a:spAutoFit/>
          </a:bodyPr>
          <a:lstStyle/>
          <a:p>
            <a:pPr algn="l">
              <a:lnSpc>
                <a:spcPct val="115000"/>
              </a:lnSpc>
              <a:spcAft>
                <a:spcPts val="0"/>
              </a:spcAft>
            </a:pPr>
            <a:r>
              <a:rPr sz="1300" b="1" i="0">
                <a:solidFill>
                  <a:srgbClr val="14213D"/>
                </a:solidFill>
                <a:latin typeface="Arial"/>
              </a:rPr>
              <a:t>Weihao Wang</a:t>
            </a:r>
          </a:p>
        </p:txBody>
      </p:sp>
      <p:sp>
        <p:nvSpPr>
          <p:cNvPr id="38" name="TextBox 37"/>
          <p:cNvSpPr txBox="1"/>
          <p:nvPr/>
        </p:nvSpPr>
        <p:spPr>
          <a:xfrm>
            <a:off x="3063240" y="4389120"/>
            <a:ext cx="2926080" cy="548640"/>
          </a:xfrm>
          <a:prstGeom prst="rect">
            <a:avLst/>
          </a:prstGeom>
          <a:noFill/>
        </p:spPr>
        <p:txBody>
          <a:bodyPr wrap="square" lIns="0" rIns="0" tIns="0" bIns="0" anchor="ctr">
            <a:spAutoFit/>
          </a:bodyPr>
          <a:lstStyle/>
          <a:p>
            <a:pPr algn="l">
              <a:lnSpc>
                <a:spcPct val="115000"/>
              </a:lnSpc>
              <a:spcAft>
                <a:spcPts val="0"/>
              </a:spcAft>
            </a:pPr>
            <a:r>
              <a:rPr sz="1300" b="0" i="0">
                <a:solidFill>
                  <a:srgbClr val="2A3550"/>
                </a:solidFill>
                <a:latin typeface="Arial"/>
              </a:rPr>
              <a:t>Chat, timeline and map editing</a:t>
            </a:r>
          </a:p>
        </p:txBody>
      </p:sp>
      <p:sp>
        <p:nvSpPr>
          <p:cNvPr id="39" name="TextBox 38"/>
          <p:cNvSpPr txBox="1"/>
          <p:nvPr/>
        </p:nvSpPr>
        <p:spPr>
          <a:xfrm>
            <a:off x="6172200" y="4389120"/>
            <a:ext cx="2926080" cy="548640"/>
          </a:xfrm>
          <a:prstGeom prst="rect">
            <a:avLst/>
          </a:prstGeom>
          <a:noFill/>
        </p:spPr>
        <p:txBody>
          <a:bodyPr wrap="square" lIns="0" rIns="0" tIns="0" bIns="0" anchor="ctr">
            <a:spAutoFit/>
          </a:bodyPr>
          <a:lstStyle/>
          <a:p>
            <a:pPr algn="l">
              <a:lnSpc>
                <a:spcPct val="115000"/>
              </a:lnSpc>
              <a:spcAft>
                <a:spcPts val="0"/>
              </a:spcAft>
            </a:pPr>
            <a:r>
              <a:rPr sz="1300" b="0" i="0">
                <a:solidFill>
                  <a:srgbClr val="2A3550"/>
                </a:solidFill>
                <a:latin typeface="Arial"/>
              </a:rPr>
              <a:t>Preferences and memory</a:t>
            </a:r>
          </a:p>
        </p:txBody>
      </p:sp>
      <p:sp>
        <p:nvSpPr>
          <p:cNvPr id="40" name="Rounded Rectangle 39"/>
          <p:cNvSpPr/>
          <p:nvPr/>
        </p:nvSpPr>
        <p:spPr>
          <a:xfrm>
            <a:off x="9281160" y="4526280"/>
            <a:ext cx="2377440" cy="274320"/>
          </a:xfrm>
          <a:prstGeom prst="roundRect">
            <a:avLst>
              <a:gd name="adj" fmla="val 50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100" b="0">
                <a:solidFill>
                  <a:srgbClr val="14213D"/>
                </a:solidFill>
                <a:latin typeface="Arial"/>
              </a:rPr>
              <a:t>Accounts and cloud sync</a:t>
            </a:r>
          </a:p>
        </p:txBody>
      </p:sp>
      <p:sp>
        <p:nvSpPr>
          <p:cNvPr id="41" name="Rounded Rectangle 40"/>
          <p:cNvSpPr/>
          <p:nvPr/>
        </p:nvSpPr>
        <p:spPr>
          <a:xfrm>
            <a:off x="548640" y="5184648"/>
            <a:ext cx="11094415" cy="1005840"/>
          </a:xfrm>
          <a:prstGeom prst="roundRect">
            <a:avLst>
              <a:gd name="adj" fmla="val 10909"/>
            </a:avLst>
          </a:prstGeom>
          <a:solidFill>
            <a:srgbClr val="14213D"/>
          </a:solidFill>
          <a:ln>
            <a:noFill/>
          </a:ln>
          <a:effectLst>
            <a:outerShdw blurRad="114300" dist="25400" dir="5400000" algn="t" rotWithShape="0">
              <a:srgbClr val="14213D">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2" name="Picture 41" descr="scale-F2A65A.png"/>
          <p:cNvPicPr>
            <a:picLocks noChangeAspect="1"/>
          </p:cNvPicPr>
          <p:nvPr/>
        </p:nvPicPr>
        <p:blipFill>
          <a:blip r:embed="rId3"/>
          <a:stretch>
            <a:fillRect/>
          </a:stretch>
        </p:blipFill>
        <p:spPr>
          <a:xfrm>
            <a:off x="868680" y="5477256"/>
            <a:ext cx="420624" cy="420624"/>
          </a:xfrm>
          <a:prstGeom prst="rect">
            <a:avLst/>
          </a:prstGeom>
        </p:spPr>
      </p:pic>
      <p:sp>
        <p:nvSpPr>
          <p:cNvPr id="43" name="TextBox 42"/>
          <p:cNvSpPr txBox="1"/>
          <p:nvPr/>
        </p:nvSpPr>
        <p:spPr>
          <a:xfrm>
            <a:off x="1554480" y="5276088"/>
            <a:ext cx="2926080" cy="822960"/>
          </a:xfrm>
          <a:prstGeom prst="rect">
            <a:avLst/>
          </a:prstGeom>
          <a:noFill/>
        </p:spPr>
        <p:txBody>
          <a:bodyPr wrap="square" lIns="0" rIns="0" tIns="0" bIns="0" anchor="ctr">
            <a:spAutoFit/>
          </a:bodyPr>
          <a:lstStyle/>
          <a:p>
            <a:pPr algn="l">
              <a:lnSpc>
                <a:spcPct val="115000"/>
              </a:lnSpc>
              <a:spcAft>
                <a:spcPts val="0"/>
              </a:spcAft>
            </a:pPr>
            <a:r>
              <a:rPr sz="2000" b="1" i="0">
                <a:solidFill>
                  <a:srgbClr val="FFFFFF"/>
                </a:solidFill>
                <a:latin typeface="Georgia"/>
              </a:rPr>
              <a:t>Models choose,
code decides.</a:t>
            </a:r>
          </a:p>
        </p:txBody>
      </p:sp>
      <p:sp>
        <p:nvSpPr>
          <p:cNvPr id="44" name="TextBox 43"/>
          <p:cNvSpPr txBox="1"/>
          <p:nvPr/>
        </p:nvSpPr>
        <p:spPr>
          <a:xfrm>
            <a:off x="4572000" y="5276088"/>
            <a:ext cx="6796735" cy="822960"/>
          </a:xfrm>
          <a:prstGeom prst="rect">
            <a:avLst/>
          </a:prstGeom>
          <a:noFill/>
        </p:spPr>
        <p:txBody>
          <a:bodyPr wrap="square" lIns="0" rIns="0" tIns="0" bIns="0" anchor="ctr">
            <a:spAutoFit/>
          </a:bodyPr>
          <a:lstStyle/>
          <a:p>
            <a:pPr algn="l">
              <a:lnSpc>
                <a:spcPct val="115000"/>
              </a:lnSpc>
              <a:spcAft>
                <a:spcPts val="0"/>
              </a:spcAft>
            </a:pPr>
            <a:r>
              <a:rPr sz="1400" b="0" i="0">
                <a:solidFill>
                  <a:srgbClr val="C9D3E3"/>
                </a:solidFill>
                <a:latin typeface="Arial"/>
              </a:rPr>
              <a:t>Agreed scope: a single-user planner with AUD estimates; no booking or payment. No invented prices, no relaxed preferences.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6F1"/>
        </a:solidFill>
        <a:effectLst/>
      </p:bgPr>
    </p:bg>
    <p:spTree>
      <p:nvGrpSpPr>
        <p:cNvPr id="1" name=""/>
        <p:cNvGrpSpPr/>
        <p:nvPr/>
      </p:nvGrpSpPr>
      <p:grpSpPr/>
      <p:sp>
        <p:nvSpPr>
          <p:cNvPr id="2" name="Rectangle 1"/>
          <p:cNvSpPr/>
          <p:nvPr/>
        </p:nvSpPr>
        <p:spPr>
          <a:xfrm>
            <a:off x="0" y="0"/>
            <a:ext cx="100584" cy="6858000"/>
          </a:xfrm>
          <a:prstGeom prst="rect">
            <a:avLst/>
          </a:prstGeom>
          <a:solidFill>
            <a:srgbClr val="C25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47472"/>
            <a:ext cx="5943600" cy="274320"/>
          </a:xfrm>
          <a:prstGeom prst="rect">
            <a:avLst/>
          </a:prstGeom>
          <a:noFill/>
        </p:spPr>
        <p:txBody>
          <a:bodyPr wrap="square" lIns="0" rIns="0" tIns="0" bIns="0" anchor="ctr">
            <a:spAutoFit/>
          </a:bodyPr>
          <a:lstStyle/>
          <a:p>
            <a:pPr algn="l">
              <a:lnSpc>
                <a:spcPct val="115000"/>
              </a:lnSpc>
              <a:spcAft>
                <a:spcPts val="0"/>
              </a:spcAft>
            </a:pPr>
            <a:r>
              <a:rPr sz="1000" b="1" i="0">
                <a:solidFill>
                  <a:srgbClr val="C2571A"/>
                </a:solidFill>
                <a:latin typeface="Arial"/>
              </a:rPr>
              <a:t>FEATURE MODEL</a:t>
            </a:r>
          </a:p>
        </p:txBody>
      </p:sp>
      <p:sp>
        <p:nvSpPr>
          <p:cNvPr id="4" name="TextBox 3"/>
          <p:cNvSpPr txBox="1"/>
          <p:nvPr/>
        </p:nvSpPr>
        <p:spPr>
          <a:xfrm>
            <a:off x="548640" y="731520"/>
            <a:ext cx="11094415" cy="566928"/>
          </a:xfrm>
          <a:prstGeom prst="rect">
            <a:avLst/>
          </a:prstGeom>
          <a:noFill/>
        </p:spPr>
        <p:txBody>
          <a:bodyPr wrap="square" lIns="0" rIns="0" tIns="0" bIns="0" anchor="ctr">
            <a:spAutoFit/>
          </a:bodyPr>
          <a:lstStyle/>
          <a:p>
            <a:pPr algn="l">
              <a:lnSpc>
                <a:spcPct val="115000"/>
              </a:lnSpc>
              <a:spcAft>
                <a:spcPts val="0"/>
              </a:spcAft>
            </a:pPr>
            <a:r>
              <a:rPr sz="2600" b="1" i="0">
                <a:solidFill>
                  <a:srgbClr val="14213D"/>
                </a:solidFill>
                <a:latin typeface="Georgia"/>
              </a:rPr>
              <a:t>Seven feature groups with their constraints</a:t>
            </a:r>
          </a:p>
        </p:txBody>
      </p:sp>
      <p:sp>
        <p:nvSpPr>
          <p:cNvPr id="5" name="Rectangle 4"/>
          <p:cNvSpPr/>
          <p:nvPr/>
        </p:nvSpPr>
        <p:spPr>
          <a:xfrm>
            <a:off x="548640" y="6400800"/>
            <a:ext cx="11094415" cy="10972"/>
          </a:xfrm>
          <a:prstGeom prst="rect">
            <a:avLst/>
          </a:prstGeom>
          <a:solidFill>
            <a:srgbClr val="DDDA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48640" y="6473952"/>
            <a:ext cx="7315200" cy="228600"/>
          </a:xfrm>
          <a:prstGeom prst="rect">
            <a:avLst/>
          </a:prstGeom>
          <a:noFill/>
        </p:spPr>
        <p:txBody>
          <a:bodyPr wrap="square" lIns="0" rIns="0" tIns="0" bIns="0" anchor="t">
            <a:spAutoFit/>
          </a:bodyPr>
          <a:lstStyle/>
          <a:p>
            <a:pPr algn="l">
              <a:lnSpc>
                <a:spcPct val="115000"/>
              </a:lnSpc>
              <a:spcAft>
                <a:spcPts val="0"/>
              </a:spcAft>
            </a:pPr>
            <a:r>
              <a:rPr sz="900" b="0" i="0">
                <a:solidFill>
                  <a:srgbClr val="8A93A6"/>
                </a:solidFill>
                <a:latin typeface="Arial"/>
              </a:rPr>
              <a:t>AI Trip Planner  ·  ELEC5620 Stage 1  ·  Mon 10-12 Group 14</a:t>
            </a:r>
          </a:p>
        </p:txBody>
      </p:sp>
      <p:sp>
        <p:nvSpPr>
          <p:cNvPr id="7" name="TextBox 6"/>
          <p:cNvSpPr txBox="1"/>
          <p:nvPr/>
        </p:nvSpPr>
        <p:spPr>
          <a:xfrm>
            <a:off x="9814255" y="6473952"/>
            <a:ext cx="1828800" cy="228600"/>
          </a:xfrm>
          <a:prstGeom prst="rect">
            <a:avLst/>
          </a:prstGeom>
          <a:noFill/>
        </p:spPr>
        <p:txBody>
          <a:bodyPr wrap="square" lIns="0" rIns="0" tIns="0" bIns="0" anchor="t">
            <a:spAutoFit/>
          </a:bodyPr>
          <a:lstStyle/>
          <a:p>
            <a:pPr algn="r">
              <a:lnSpc>
                <a:spcPct val="115000"/>
              </a:lnSpc>
              <a:spcAft>
                <a:spcPts val="0"/>
              </a:spcAft>
            </a:pPr>
            <a:r>
              <a:rPr sz="900" b="0" i="0">
                <a:solidFill>
                  <a:srgbClr val="8A93A6"/>
                </a:solidFill>
                <a:latin typeface="Arial"/>
              </a:rPr>
              <a:t>07 / 24</a:t>
            </a:r>
          </a:p>
        </p:txBody>
      </p:sp>
      <p:sp>
        <p:nvSpPr>
          <p:cNvPr id="8" name="Rounded Rectangle 7"/>
          <p:cNvSpPr/>
          <p:nvPr/>
        </p:nvSpPr>
        <p:spPr>
          <a:xfrm>
            <a:off x="548640" y="1481328"/>
            <a:ext cx="2650159" cy="1874519"/>
          </a:xfrm>
          <a:prstGeom prst="roundRect">
            <a:avLst>
              <a:gd name="adj" fmla="val 5853"/>
            </a:avLst>
          </a:prstGeom>
          <a:solidFill>
            <a:srgbClr val="FFFFFF"/>
          </a:solidFill>
          <a:ln w="9525">
            <a:solidFill>
              <a:srgbClr val="E2E5EB"/>
            </a:solidFill>
          </a:ln>
          <a:effectLst>
            <a:outerShdw blurRad="114300" dist="25400" dir="5400000" algn="t" rotWithShape="0">
              <a:srgbClr val="14213D">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messages-square-C2571A.png"/>
          <p:cNvPicPr>
            <a:picLocks noChangeAspect="1"/>
          </p:cNvPicPr>
          <p:nvPr/>
        </p:nvPicPr>
        <p:blipFill>
          <a:blip r:embed="rId3"/>
          <a:stretch>
            <a:fillRect/>
          </a:stretch>
        </p:blipFill>
        <p:spPr>
          <a:xfrm>
            <a:off x="749808" y="1664208"/>
            <a:ext cx="292608" cy="292608"/>
          </a:xfrm>
          <a:prstGeom prst="rect">
            <a:avLst/>
          </a:prstGeom>
        </p:spPr>
      </p:pic>
      <p:sp>
        <p:nvSpPr>
          <p:cNvPr id="10" name="TextBox 9"/>
          <p:cNvSpPr txBox="1"/>
          <p:nvPr/>
        </p:nvSpPr>
        <p:spPr>
          <a:xfrm>
            <a:off x="1152144" y="1645920"/>
            <a:ext cx="1918639" cy="329184"/>
          </a:xfrm>
          <a:prstGeom prst="rect">
            <a:avLst/>
          </a:prstGeom>
          <a:noFill/>
        </p:spPr>
        <p:txBody>
          <a:bodyPr wrap="square" lIns="0" rIns="0" tIns="0" bIns="0" anchor="ctr">
            <a:spAutoFit/>
          </a:bodyPr>
          <a:lstStyle/>
          <a:p>
            <a:pPr algn="l">
              <a:lnSpc>
                <a:spcPct val="115000"/>
              </a:lnSpc>
              <a:spcAft>
                <a:spcPts val="0"/>
              </a:spcAft>
            </a:pPr>
            <a:r>
              <a:rPr sz="1400" b="1" i="0">
                <a:solidFill>
                  <a:srgbClr val="14213D"/>
                </a:solidFill>
                <a:latin typeface="Arial"/>
              </a:rPr>
              <a:t>Conversation</a:t>
            </a:r>
          </a:p>
        </p:txBody>
      </p:sp>
      <p:sp>
        <p:nvSpPr>
          <p:cNvPr id="11" name="TextBox 10"/>
          <p:cNvSpPr txBox="1"/>
          <p:nvPr/>
        </p:nvSpPr>
        <p:spPr>
          <a:xfrm>
            <a:off x="749808" y="2103120"/>
            <a:ext cx="2339263" cy="1188719"/>
          </a:xfrm>
          <a:prstGeom prst="rect">
            <a:avLst/>
          </a:prstGeom>
          <a:noFill/>
        </p:spPr>
        <p:txBody>
          <a:bodyPr wrap="square" lIns="0" rIns="0" tIns="0" bIns="0" anchor="t">
            <a:spAutoFit/>
          </a:bodyPr>
          <a:lstStyle/>
          <a:p>
            <a:pPr algn="l">
              <a:lnSpc>
                <a:spcPct val="112000"/>
              </a:lnSpc>
              <a:spcAft>
                <a:spcPts val="100"/>
              </a:spcAft>
            </a:pPr>
            <a:r>
              <a:rPr sz="1150" b="0" i="0">
                <a:solidFill>
                  <a:srgbClr val="2A3550"/>
                </a:solidFill>
                <a:latin typeface="Arial"/>
              </a:rPr>
              <a:t>● Chat intake</a:t>
            </a:r>
          </a:p>
          <a:p>
            <a:pPr algn="l">
              <a:lnSpc>
                <a:spcPct val="112000"/>
              </a:lnSpc>
              <a:spcAft>
                <a:spcPts val="100"/>
              </a:spcAft>
            </a:pPr>
            <a:r>
              <a:rPr sz="1150" b="0" i="0">
                <a:solidFill>
                  <a:srgbClr val="2A3550"/>
                </a:solidFill>
                <a:latin typeface="Arial"/>
              </a:rPr>
              <a:t>● Brief extraction</a:t>
            </a:r>
          </a:p>
          <a:p>
            <a:pPr algn="l">
              <a:lnSpc>
                <a:spcPct val="112000"/>
              </a:lnSpc>
              <a:spcAft>
                <a:spcPts val="100"/>
              </a:spcAft>
            </a:pPr>
            <a:r>
              <a:rPr sz="1150" b="0" i="0">
                <a:solidFill>
                  <a:srgbClr val="2A3550"/>
                </a:solidFill>
                <a:latin typeface="Arial"/>
              </a:rPr>
              <a:t>   ⊕ LLM | rule parser</a:t>
            </a:r>
          </a:p>
          <a:p>
            <a:pPr algn="l">
              <a:lnSpc>
                <a:spcPct val="112000"/>
              </a:lnSpc>
              <a:spcAft>
                <a:spcPts val="100"/>
              </a:spcAft>
            </a:pPr>
            <a:r>
              <a:rPr sz="1150" b="0" i="0">
                <a:solidFill>
                  <a:srgbClr val="2A3550"/>
                </a:solidFill>
                <a:latin typeface="Arial"/>
              </a:rPr>
              <a:t>● Clarifying questions</a:t>
            </a:r>
          </a:p>
          <a:p>
            <a:pPr algn="l">
              <a:lnSpc>
                <a:spcPct val="112000"/>
              </a:lnSpc>
              <a:spcAft>
                <a:spcPts val="100"/>
              </a:spcAft>
            </a:pPr>
            <a:r>
              <a:rPr sz="1150" b="0" i="0">
                <a:solidFill>
                  <a:srgbClr val="2A3550"/>
                </a:solidFill>
                <a:latin typeface="Arial"/>
              </a:rPr>
              <a:t>○ Attachments</a:t>
            </a:r>
          </a:p>
        </p:txBody>
      </p:sp>
      <p:sp>
        <p:nvSpPr>
          <p:cNvPr id="12" name="Rounded Rectangle 11"/>
          <p:cNvSpPr/>
          <p:nvPr/>
        </p:nvSpPr>
        <p:spPr>
          <a:xfrm>
            <a:off x="3363391" y="1481328"/>
            <a:ext cx="2650159" cy="1874519"/>
          </a:xfrm>
          <a:prstGeom prst="roundRect">
            <a:avLst>
              <a:gd name="adj" fmla="val 5853"/>
            </a:avLst>
          </a:prstGeom>
          <a:solidFill>
            <a:srgbClr val="FFFFFF"/>
          </a:solidFill>
          <a:ln w="9525">
            <a:solidFill>
              <a:srgbClr val="E2E5EB"/>
            </a:solidFill>
          </a:ln>
          <a:effectLst>
            <a:outerShdw blurRad="114300" dist="25400" dir="5400000" algn="t" rotWithShape="0">
              <a:srgbClr val="14213D">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workflow-C2571A.png"/>
          <p:cNvPicPr>
            <a:picLocks noChangeAspect="1"/>
          </p:cNvPicPr>
          <p:nvPr/>
        </p:nvPicPr>
        <p:blipFill>
          <a:blip r:embed="rId4"/>
          <a:stretch>
            <a:fillRect/>
          </a:stretch>
        </p:blipFill>
        <p:spPr>
          <a:xfrm>
            <a:off x="3564559" y="1664208"/>
            <a:ext cx="292608" cy="292608"/>
          </a:xfrm>
          <a:prstGeom prst="rect">
            <a:avLst/>
          </a:prstGeom>
        </p:spPr>
      </p:pic>
      <p:sp>
        <p:nvSpPr>
          <p:cNvPr id="14" name="TextBox 13"/>
          <p:cNvSpPr txBox="1"/>
          <p:nvPr/>
        </p:nvSpPr>
        <p:spPr>
          <a:xfrm>
            <a:off x="3966895" y="1645920"/>
            <a:ext cx="1918639" cy="329184"/>
          </a:xfrm>
          <a:prstGeom prst="rect">
            <a:avLst/>
          </a:prstGeom>
          <a:noFill/>
        </p:spPr>
        <p:txBody>
          <a:bodyPr wrap="square" lIns="0" rIns="0" tIns="0" bIns="0" anchor="ctr">
            <a:spAutoFit/>
          </a:bodyPr>
          <a:lstStyle/>
          <a:p>
            <a:pPr algn="l">
              <a:lnSpc>
                <a:spcPct val="115000"/>
              </a:lnSpc>
              <a:spcAft>
                <a:spcPts val="0"/>
              </a:spcAft>
            </a:pPr>
            <a:r>
              <a:rPr sz="1400" b="1" i="0">
                <a:solidFill>
                  <a:srgbClr val="14213D"/>
                </a:solidFill>
                <a:latin typeface="Arial"/>
              </a:rPr>
              <a:t>Multi-agent planning</a:t>
            </a:r>
          </a:p>
        </p:txBody>
      </p:sp>
      <p:sp>
        <p:nvSpPr>
          <p:cNvPr id="15" name="TextBox 14"/>
          <p:cNvSpPr txBox="1"/>
          <p:nvPr/>
        </p:nvSpPr>
        <p:spPr>
          <a:xfrm>
            <a:off x="3564559" y="2103120"/>
            <a:ext cx="2339263" cy="1188719"/>
          </a:xfrm>
          <a:prstGeom prst="rect">
            <a:avLst/>
          </a:prstGeom>
          <a:noFill/>
        </p:spPr>
        <p:txBody>
          <a:bodyPr wrap="square" lIns="0" rIns="0" tIns="0" bIns="0" anchor="t">
            <a:spAutoFit/>
          </a:bodyPr>
          <a:lstStyle/>
          <a:p>
            <a:pPr algn="l">
              <a:lnSpc>
                <a:spcPct val="112000"/>
              </a:lnSpc>
              <a:spcAft>
                <a:spcPts val="100"/>
              </a:spcAft>
            </a:pPr>
            <a:r>
              <a:rPr sz="1150" b="0" i="0">
                <a:solidFill>
                  <a:srgbClr val="2A3550"/>
                </a:solidFill>
                <a:latin typeface="Arial"/>
              </a:rPr>
              <a:t>● Supervisor delegation</a:t>
            </a:r>
          </a:p>
          <a:p>
            <a:pPr algn="l">
              <a:lnSpc>
                <a:spcPct val="112000"/>
              </a:lnSpc>
              <a:spcAft>
                <a:spcPts val="100"/>
              </a:spcAft>
            </a:pPr>
            <a:r>
              <a:rPr sz="1150" b="0" i="0">
                <a:solidFill>
                  <a:srgbClr val="2A3550"/>
                </a:solidFill>
                <a:latin typeface="Arial"/>
              </a:rPr>
              <a:t>● Staged planning board</a:t>
            </a:r>
          </a:p>
          <a:p>
            <a:pPr algn="l">
              <a:lnSpc>
                <a:spcPct val="112000"/>
              </a:lnSpc>
              <a:spcAft>
                <a:spcPts val="100"/>
              </a:spcAft>
            </a:pPr>
            <a:r>
              <a:rPr sz="1150" b="0" i="0">
                <a:solidFill>
                  <a:srgbClr val="2A3550"/>
                </a:solidFill>
                <a:latin typeface="Arial"/>
              </a:rPr>
              <a:t>● Conflict detection</a:t>
            </a:r>
          </a:p>
          <a:p>
            <a:pPr algn="l">
              <a:lnSpc>
                <a:spcPct val="112000"/>
              </a:lnSpc>
              <a:spcAft>
                <a:spcPts val="100"/>
              </a:spcAft>
            </a:pPr>
            <a:r>
              <a:rPr sz="1150" b="0" i="0">
                <a:solidFill>
                  <a:srgbClr val="2A3550"/>
                </a:solidFill>
                <a:latin typeface="Arial"/>
              </a:rPr>
              <a:t>   ⊗ budget, time, geography, infeasible</a:t>
            </a:r>
          </a:p>
          <a:p>
            <a:pPr algn="l">
              <a:lnSpc>
                <a:spcPct val="112000"/>
              </a:lnSpc>
              <a:spcAft>
                <a:spcPts val="100"/>
              </a:spcAft>
            </a:pPr>
            <a:r>
              <a:rPr sz="1150" b="0" i="0">
                <a:solidFill>
                  <a:srgbClr val="2A3550"/>
                </a:solidFill>
                <a:latin typeface="Arial"/>
              </a:rPr>
              <a:t>● Targeted revision ≤ 3</a:t>
            </a:r>
          </a:p>
        </p:txBody>
      </p:sp>
      <p:sp>
        <p:nvSpPr>
          <p:cNvPr id="16" name="Rounded Rectangle 15"/>
          <p:cNvSpPr/>
          <p:nvPr/>
        </p:nvSpPr>
        <p:spPr>
          <a:xfrm>
            <a:off x="6178143" y="1481328"/>
            <a:ext cx="2650159" cy="1874519"/>
          </a:xfrm>
          <a:prstGeom prst="roundRect">
            <a:avLst>
              <a:gd name="adj" fmla="val 5853"/>
            </a:avLst>
          </a:prstGeom>
          <a:solidFill>
            <a:srgbClr val="FFFFFF"/>
          </a:solidFill>
          <a:ln w="9525">
            <a:solidFill>
              <a:srgbClr val="E2E5EB"/>
            </a:solidFill>
          </a:ln>
          <a:effectLst>
            <a:outerShdw blurRad="114300" dist="25400" dir="5400000" algn="t" rotWithShape="0">
              <a:srgbClr val="14213D">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boxes-C2571A.png"/>
          <p:cNvPicPr>
            <a:picLocks noChangeAspect="1"/>
          </p:cNvPicPr>
          <p:nvPr/>
        </p:nvPicPr>
        <p:blipFill>
          <a:blip r:embed="rId5"/>
          <a:stretch>
            <a:fillRect/>
          </a:stretch>
        </p:blipFill>
        <p:spPr>
          <a:xfrm>
            <a:off x="6379311" y="1664208"/>
            <a:ext cx="292608" cy="292608"/>
          </a:xfrm>
          <a:prstGeom prst="rect">
            <a:avLst/>
          </a:prstGeom>
        </p:spPr>
      </p:pic>
      <p:sp>
        <p:nvSpPr>
          <p:cNvPr id="18" name="TextBox 17"/>
          <p:cNvSpPr txBox="1"/>
          <p:nvPr/>
        </p:nvSpPr>
        <p:spPr>
          <a:xfrm>
            <a:off x="6781647" y="1645920"/>
            <a:ext cx="1918639" cy="329184"/>
          </a:xfrm>
          <a:prstGeom prst="rect">
            <a:avLst/>
          </a:prstGeom>
          <a:noFill/>
        </p:spPr>
        <p:txBody>
          <a:bodyPr wrap="square" lIns="0" rIns="0" tIns="0" bIns="0" anchor="ctr">
            <a:spAutoFit/>
          </a:bodyPr>
          <a:lstStyle/>
          <a:p>
            <a:pPr algn="l">
              <a:lnSpc>
                <a:spcPct val="115000"/>
              </a:lnSpc>
              <a:spcAft>
                <a:spcPts val="0"/>
              </a:spcAft>
            </a:pPr>
            <a:r>
              <a:rPr sz="1400" b="1" i="0">
                <a:solidFill>
                  <a:srgbClr val="14213D"/>
                </a:solidFill>
                <a:latin typeface="Arial"/>
              </a:rPr>
              <a:t>Specialist roles</a:t>
            </a:r>
          </a:p>
        </p:txBody>
      </p:sp>
      <p:sp>
        <p:nvSpPr>
          <p:cNvPr id="19" name="TextBox 18"/>
          <p:cNvSpPr txBox="1"/>
          <p:nvPr/>
        </p:nvSpPr>
        <p:spPr>
          <a:xfrm>
            <a:off x="6379311" y="2103120"/>
            <a:ext cx="2339263" cy="1188719"/>
          </a:xfrm>
          <a:prstGeom prst="rect">
            <a:avLst/>
          </a:prstGeom>
          <a:noFill/>
        </p:spPr>
        <p:txBody>
          <a:bodyPr wrap="square" lIns="0" rIns="0" tIns="0" bIns="0" anchor="t">
            <a:spAutoFit/>
          </a:bodyPr>
          <a:lstStyle/>
          <a:p>
            <a:pPr algn="l">
              <a:lnSpc>
                <a:spcPct val="112000"/>
              </a:lnSpc>
              <a:spcAft>
                <a:spcPts val="100"/>
              </a:spcAft>
            </a:pPr>
            <a:r>
              <a:rPr sz="1150" b="0" i="0">
                <a:solidFill>
                  <a:srgbClr val="2A3550"/>
                </a:solidFill>
                <a:latin typeface="Arial"/>
              </a:rPr>
              <a:t>● Itinerary  ● Dining</a:t>
            </a:r>
          </a:p>
          <a:p>
            <a:pPr algn="l">
              <a:lnSpc>
                <a:spcPct val="112000"/>
              </a:lnSpc>
              <a:spcAft>
                <a:spcPts val="100"/>
              </a:spcAft>
            </a:pPr>
            <a:r>
              <a:rPr sz="1150" b="0" i="0">
                <a:solidFill>
                  <a:srgbClr val="2A3550"/>
                </a:solidFill>
                <a:latin typeface="Arial"/>
              </a:rPr>
              <a:t>● Transport</a:t>
            </a:r>
          </a:p>
          <a:p>
            <a:pPr algn="l">
              <a:lnSpc>
                <a:spcPct val="112000"/>
              </a:lnSpc>
              <a:spcAft>
                <a:spcPts val="100"/>
              </a:spcAft>
            </a:pPr>
            <a:r>
              <a:rPr sz="1150" b="0" i="0">
                <a:solidFill>
                  <a:srgbClr val="2A3550"/>
                </a:solidFill>
                <a:latin typeface="Arial"/>
              </a:rPr>
              <a:t>   ○ Traveller arranges flights</a:t>
            </a:r>
          </a:p>
          <a:p>
            <a:pPr algn="l">
              <a:lnSpc>
                <a:spcPct val="112000"/>
              </a:lnSpc>
              <a:spcAft>
                <a:spcPts val="100"/>
              </a:spcAft>
            </a:pPr>
            <a:r>
              <a:rPr sz="1150" b="0" i="0">
                <a:solidFill>
                  <a:srgbClr val="2A3550"/>
                </a:solidFill>
                <a:latin typeface="Arial"/>
              </a:rPr>
              <a:t>● Accommodation</a:t>
            </a:r>
          </a:p>
          <a:p>
            <a:pPr algn="l">
              <a:lnSpc>
                <a:spcPct val="112000"/>
              </a:lnSpc>
              <a:spcAft>
                <a:spcPts val="100"/>
              </a:spcAft>
            </a:pPr>
            <a:r>
              <a:rPr sz="1150" b="0" i="0">
                <a:solidFill>
                  <a:srgbClr val="2A3550"/>
                </a:solidFill>
                <a:latin typeface="Arial"/>
              </a:rPr>
              <a:t>   ⊕ shared | individual  ○ booked</a:t>
            </a:r>
          </a:p>
          <a:p>
            <a:pPr algn="l">
              <a:lnSpc>
                <a:spcPct val="112000"/>
              </a:lnSpc>
              <a:spcAft>
                <a:spcPts val="100"/>
              </a:spcAft>
            </a:pPr>
            <a:r>
              <a:rPr sz="1150" b="0" i="0">
                <a:solidFill>
                  <a:srgbClr val="2A3550"/>
                </a:solidFill>
                <a:latin typeface="Arial"/>
              </a:rPr>
              <a:t>● Destination  ○ packing</a:t>
            </a:r>
          </a:p>
        </p:txBody>
      </p:sp>
      <p:sp>
        <p:nvSpPr>
          <p:cNvPr id="20" name="Rounded Rectangle 19"/>
          <p:cNvSpPr/>
          <p:nvPr/>
        </p:nvSpPr>
        <p:spPr>
          <a:xfrm>
            <a:off x="8992895" y="1481328"/>
            <a:ext cx="2650159" cy="1874519"/>
          </a:xfrm>
          <a:prstGeom prst="roundRect">
            <a:avLst>
              <a:gd name="adj" fmla="val 5853"/>
            </a:avLst>
          </a:prstGeom>
          <a:solidFill>
            <a:srgbClr val="FFFFFF"/>
          </a:solidFill>
          <a:ln w="9525">
            <a:solidFill>
              <a:srgbClr val="E2E5EB"/>
            </a:solidFill>
          </a:ln>
          <a:effectLst>
            <a:outerShdw blurRad="114300" dist="25400" dir="5400000" algn="t" rotWithShape="0">
              <a:srgbClr val="14213D">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wallet-C2571A.png"/>
          <p:cNvPicPr>
            <a:picLocks noChangeAspect="1"/>
          </p:cNvPicPr>
          <p:nvPr/>
        </p:nvPicPr>
        <p:blipFill>
          <a:blip r:embed="rId6"/>
          <a:stretch>
            <a:fillRect/>
          </a:stretch>
        </p:blipFill>
        <p:spPr>
          <a:xfrm>
            <a:off x="9194063" y="1664208"/>
            <a:ext cx="292608" cy="292608"/>
          </a:xfrm>
          <a:prstGeom prst="rect">
            <a:avLst/>
          </a:prstGeom>
        </p:spPr>
      </p:pic>
      <p:sp>
        <p:nvSpPr>
          <p:cNvPr id="22" name="TextBox 21"/>
          <p:cNvSpPr txBox="1"/>
          <p:nvPr/>
        </p:nvSpPr>
        <p:spPr>
          <a:xfrm>
            <a:off x="9596399" y="1645920"/>
            <a:ext cx="1918639" cy="329184"/>
          </a:xfrm>
          <a:prstGeom prst="rect">
            <a:avLst/>
          </a:prstGeom>
          <a:noFill/>
        </p:spPr>
        <p:txBody>
          <a:bodyPr wrap="square" lIns="0" rIns="0" tIns="0" bIns="0" anchor="ctr">
            <a:spAutoFit/>
          </a:bodyPr>
          <a:lstStyle/>
          <a:p>
            <a:pPr algn="l">
              <a:lnSpc>
                <a:spcPct val="115000"/>
              </a:lnSpc>
              <a:spcAft>
                <a:spcPts val="0"/>
              </a:spcAft>
            </a:pPr>
            <a:r>
              <a:rPr sz="1400" b="1" i="0">
                <a:solidFill>
                  <a:srgbClr val="14213D"/>
                </a:solidFill>
                <a:latin typeface="Arial"/>
              </a:rPr>
              <a:t>Budget</a:t>
            </a:r>
          </a:p>
        </p:txBody>
      </p:sp>
      <p:sp>
        <p:nvSpPr>
          <p:cNvPr id="23" name="TextBox 22"/>
          <p:cNvSpPr txBox="1"/>
          <p:nvPr/>
        </p:nvSpPr>
        <p:spPr>
          <a:xfrm>
            <a:off x="9194063" y="2103120"/>
            <a:ext cx="2339263" cy="1188719"/>
          </a:xfrm>
          <a:prstGeom prst="rect">
            <a:avLst/>
          </a:prstGeom>
          <a:noFill/>
        </p:spPr>
        <p:txBody>
          <a:bodyPr wrap="square" lIns="0" rIns="0" tIns="0" bIns="0" anchor="t">
            <a:spAutoFit/>
          </a:bodyPr>
          <a:lstStyle/>
          <a:p>
            <a:pPr algn="l">
              <a:lnSpc>
                <a:spcPct val="112000"/>
              </a:lnSpc>
              <a:spcAft>
                <a:spcPts val="100"/>
              </a:spcAft>
            </a:pPr>
            <a:r>
              <a:rPr sz="1150" b="0" i="0">
                <a:solidFill>
                  <a:srgbClr val="2A3550"/>
                </a:solidFill>
                <a:latin typeface="Arial"/>
              </a:rPr>
              <a:t>● Cost roll-up in AUD</a:t>
            </a:r>
          </a:p>
          <a:p>
            <a:pPr algn="l">
              <a:lnSpc>
                <a:spcPct val="112000"/>
              </a:lnSpc>
              <a:spcAft>
                <a:spcPts val="100"/>
              </a:spcAft>
            </a:pPr>
            <a:r>
              <a:rPr sz="1150" b="0" i="0">
                <a:solidFill>
                  <a:srgbClr val="2A3550"/>
                </a:solidFill>
                <a:latin typeface="Arial"/>
              </a:rPr>
              <a:t>● Stage allocation</a:t>
            </a:r>
          </a:p>
          <a:p>
            <a:pPr algn="l">
              <a:lnSpc>
                <a:spcPct val="112000"/>
              </a:lnSpc>
              <a:spcAft>
                <a:spcPts val="100"/>
              </a:spcAft>
            </a:pPr>
            <a:r>
              <a:rPr sz="1150" b="0" i="0">
                <a:solidFill>
                  <a:srgbClr val="2A3550"/>
                </a:solidFill>
                <a:latin typeface="Arial"/>
              </a:rPr>
              <a:t>● Minimum-cost floor</a:t>
            </a:r>
          </a:p>
        </p:txBody>
      </p:sp>
      <p:sp>
        <p:nvSpPr>
          <p:cNvPr id="24" name="Rounded Rectangle 23"/>
          <p:cNvSpPr/>
          <p:nvPr/>
        </p:nvSpPr>
        <p:spPr>
          <a:xfrm>
            <a:off x="548640" y="3520440"/>
            <a:ext cx="2650159" cy="1874519"/>
          </a:xfrm>
          <a:prstGeom prst="roundRect">
            <a:avLst>
              <a:gd name="adj" fmla="val 5853"/>
            </a:avLst>
          </a:prstGeom>
          <a:solidFill>
            <a:srgbClr val="FFFFFF"/>
          </a:solidFill>
          <a:ln w="9525">
            <a:solidFill>
              <a:srgbClr val="E2E5EB"/>
            </a:solidFill>
          </a:ln>
          <a:effectLst>
            <a:outerShdw blurRad="114300" dist="25400" dir="5400000" algn="t" rotWithShape="0">
              <a:srgbClr val="14213D">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shield-check-C2571A.png"/>
          <p:cNvPicPr>
            <a:picLocks noChangeAspect="1"/>
          </p:cNvPicPr>
          <p:nvPr/>
        </p:nvPicPr>
        <p:blipFill>
          <a:blip r:embed="rId7"/>
          <a:stretch>
            <a:fillRect/>
          </a:stretch>
        </p:blipFill>
        <p:spPr>
          <a:xfrm>
            <a:off x="749808" y="3703320"/>
            <a:ext cx="292608" cy="292608"/>
          </a:xfrm>
          <a:prstGeom prst="rect">
            <a:avLst/>
          </a:prstGeom>
        </p:spPr>
      </p:pic>
      <p:sp>
        <p:nvSpPr>
          <p:cNvPr id="26" name="TextBox 25"/>
          <p:cNvSpPr txBox="1"/>
          <p:nvPr/>
        </p:nvSpPr>
        <p:spPr>
          <a:xfrm>
            <a:off x="1152144" y="3685032"/>
            <a:ext cx="1918639" cy="329184"/>
          </a:xfrm>
          <a:prstGeom prst="rect">
            <a:avLst/>
          </a:prstGeom>
          <a:noFill/>
        </p:spPr>
        <p:txBody>
          <a:bodyPr wrap="square" lIns="0" rIns="0" tIns="0" bIns="0" anchor="ctr">
            <a:spAutoFit/>
          </a:bodyPr>
          <a:lstStyle/>
          <a:p>
            <a:pPr algn="l">
              <a:lnSpc>
                <a:spcPct val="115000"/>
              </a:lnSpc>
              <a:spcAft>
                <a:spcPts val="0"/>
              </a:spcAft>
            </a:pPr>
            <a:r>
              <a:rPr sz="1400" b="1" i="0">
                <a:solidFill>
                  <a:srgbClr val="14213D"/>
                </a:solidFill>
                <a:latin typeface="Arial"/>
              </a:rPr>
              <a:t>Evidence &amp; tools</a:t>
            </a:r>
          </a:p>
        </p:txBody>
      </p:sp>
      <p:sp>
        <p:nvSpPr>
          <p:cNvPr id="27" name="TextBox 26"/>
          <p:cNvSpPr txBox="1"/>
          <p:nvPr/>
        </p:nvSpPr>
        <p:spPr>
          <a:xfrm>
            <a:off x="749808" y="4142232"/>
            <a:ext cx="2339263" cy="1188719"/>
          </a:xfrm>
          <a:prstGeom prst="rect">
            <a:avLst/>
          </a:prstGeom>
          <a:noFill/>
        </p:spPr>
        <p:txBody>
          <a:bodyPr wrap="square" lIns="0" rIns="0" tIns="0" bIns="0" anchor="t">
            <a:spAutoFit/>
          </a:bodyPr>
          <a:lstStyle/>
          <a:p>
            <a:pPr algn="l">
              <a:lnSpc>
                <a:spcPct val="112000"/>
              </a:lnSpc>
              <a:spcAft>
                <a:spcPts val="100"/>
              </a:spcAft>
            </a:pPr>
            <a:r>
              <a:rPr sz="1150" b="0" i="0">
                <a:solidFill>
                  <a:srgbClr val="2A3550"/>
                </a:solidFill>
                <a:latin typeface="Arial"/>
              </a:rPr>
              <a:t>⊕ Live providers | mock fixtures</a:t>
            </a:r>
          </a:p>
          <a:p>
            <a:pPr algn="l">
              <a:lnSpc>
                <a:spcPct val="112000"/>
              </a:lnSpc>
              <a:spcAft>
                <a:spcPts val="100"/>
              </a:spcAft>
            </a:pPr>
            <a:r>
              <a:rPr sz="1150" b="0" i="0">
                <a:solidFill>
                  <a:srgbClr val="2A3550"/>
                </a:solidFill>
                <a:latin typeface="Arial"/>
              </a:rPr>
              <a:t>● Provenance labels</a:t>
            </a:r>
          </a:p>
        </p:txBody>
      </p:sp>
      <p:sp>
        <p:nvSpPr>
          <p:cNvPr id="28" name="Rounded Rectangle 27"/>
          <p:cNvSpPr/>
          <p:nvPr/>
        </p:nvSpPr>
        <p:spPr>
          <a:xfrm>
            <a:off x="3363391" y="3520440"/>
            <a:ext cx="2650159" cy="1874519"/>
          </a:xfrm>
          <a:prstGeom prst="roundRect">
            <a:avLst>
              <a:gd name="adj" fmla="val 5853"/>
            </a:avLst>
          </a:prstGeom>
          <a:solidFill>
            <a:srgbClr val="FFFFFF"/>
          </a:solidFill>
          <a:ln w="9525">
            <a:solidFill>
              <a:srgbClr val="E2E5EB"/>
            </a:solidFill>
          </a:ln>
          <a:effectLst>
            <a:outerShdw blurRad="114300" dist="25400" dir="5400000" algn="t" rotWithShape="0">
              <a:srgbClr val="14213D">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monitor-C2571A.png"/>
          <p:cNvPicPr>
            <a:picLocks noChangeAspect="1"/>
          </p:cNvPicPr>
          <p:nvPr/>
        </p:nvPicPr>
        <p:blipFill>
          <a:blip r:embed="rId8"/>
          <a:stretch>
            <a:fillRect/>
          </a:stretch>
        </p:blipFill>
        <p:spPr>
          <a:xfrm>
            <a:off x="3564559" y="3703320"/>
            <a:ext cx="292608" cy="292608"/>
          </a:xfrm>
          <a:prstGeom prst="rect">
            <a:avLst/>
          </a:prstGeom>
        </p:spPr>
      </p:pic>
      <p:sp>
        <p:nvSpPr>
          <p:cNvPr id="30" name="TextBox 29"/>
          <p:cNvSpPr txBox="1"/>
          <p:nvPr/>
        </p:nvSpPr>
        <p:spPr>
          <a:xfrm>
            <a:off x="3966895" y="3685032"/>
            <a:ext cx="1918639" cy="329184"/>
          </a:xfrm>
          <a:prstGeom prst="rect">
            <a:avLst/>
          </a:prstGeom>
          <a:noFill/>
        </p:spPr>
        <p:txBody>
          <a:bodyPr wrap="square" lIns="0" rIns="0" tIns="0" bIns="0" anchor="ctr">
            <a:spAutoFit/>
          </a:bodyPr>
          <a:lstStyle/>
          <a:p>
            <a:pPr algn="l">
              <a:lnSpc>
                <a:spcPct val="115000"/>
              </a:lnSpc>
              <a:spcAft>
                <a:spcPts val="0"/>
              </a:spcAft>
            </a:pPr>
            <a:r>
              <a:rPr sz="1400" b="1" i="0">
                <a:solidFill>
                  <a:srgbClr val="14213D"/>
                </a:solidFill>
                <a:latin typeface="Arial"/>
              </a:rPr>
              <a:t>Workspace</a:t>
            </a:r>
          </a:p>
        </p:txBody>
      </p:sp>
      <p:sp>
        <p:nvSpPr>
          <p:cNvPr id="31" name="TextBox 30"/>
          <p:cNvSpPr txBox="1"/>
          <p:nvPr/>
        </p:nvSpPr>
        <p:spPr>
          <a:xfrm>
            <a:off x="3564559" y="4142232"/>
            <a:ext cx="2339263" cy="1188719"/>
          </a:xfrm>
          <a:prstGeom prst="rect">
            <a:avLst/>
          </a:prstGeom>
          <a:noFill/>
        </p:spPr>
        <p:txBody>
          <a:bodyPr wrap="square" lIns="0" rIns="0" tIns="0" bIns="0" anchor="t">
            <a:spAutoFit/>
          </a:bodyPr>
          <a:lstStyle/>
          <a:p>
            <a:pPr algn="l">
              <a:lnSpc>
                <a:spcPct val="112000"/>
              </a:lnSpc>
              <a:spcAft>
                <a:spcPts val="100"/>
              </a:spcAft>
            </a:pPr>
            <a:r>
              <a:rPr sz="1150" b="0" i="0">
                <a:solidFill>
                  <a:srgbClr val="2A3550"/>
                </a:solidFill>
                <a:latin typeface="Arial"/>
              </a:rPr>
              <a:t>⊕ Timeline | map</a:t>
            </a:r>
          </a:p>
          <a:p>
            <a:pPr algn="l">
              <a:lnSpc>
                <a:spcPct val="112000"/>
              </a:lnSpc>
              <a:spcAft>
                <a:spcPts val="100"/>
              </a:spcAft>
            </a:pPr>
            <a:r>
              <a:rPr sz="1150" b="0" i="0">
                <a:solidFill>
                  <a:srgbClr val="2A3550"/>
                </a:solidFill>
                <a:latin typeface="Arial"/>
              </a:rPr>
              <a:t>● Plan editing</a:t>
            </a:r>
          </a:p>
          <a:p>
            <a:pPr algn="l">
              <a:lnSpc>
                <a:spcPct val="112000"/>
              </a:lnSpc>
              <a:spcAft>
                <a:spcPts val="100"/>
              </a:spcAft>
            </a:pPr>
            <a:r>
              <a:rPr sz="1150" b="0" i="0">
                <a:solidFill>
                  <a:srgbClr val="2A3550"/>
                </a:solidFill>
                <a:latin typeface="Arial"/>
              </a:rPr>
              <a:t>● Preferences &amp; filters</a:t>
            </a:r>
          </a:p>
          <a:p>
            <a:pPr algn="l">
              <a:lnSpc>
                <a:spcPct val="112000"/>
              </a:lnSpc>
              <a:spcAft>
                <a:spcPts val="100"/>
              </a:spcAft>
            </a:pPr>
            <a:r>
              <a:rPr sz="1150" b="0" i="0">
                <a:solidFill>
                  <a:srgbClr val="2A3550"/>
                </a:solidFill>
                <a:latin typeface="Arial"/>
              </a:rPr>
              <a:t>○ Accounts &amp; cloud sync</a:t>
            </a:r>
          </a:p>
          <a:p>
            <a:pPr algn="l">
              <a:lnSpc>
                <a:spcPct val="112000"/>
              </a:lnSpc>
              <a:spcAft>
                <a:spcPts val="100"/>
              </a:spcAft>
            </a:pPr>
            <a:r>
              <a:rPr sz="1150" b="0" i="0">
                <a:solidFill>
                  <a:srgbClr val="2A3550"/>
                </a:solidFill>
                <a:latin typeface="Arial"/>
              </a:rPr>
              <a:t>○ Agent Lab</a:t>
            </a:r>
          </a:p>
        </p:txBody>
      </p:sp>
      <p:sp>
        <p:nvSpPr>
          <p:cNvPr id="32" name="Rounded Rectangle 31"/>
          <p:cNvSpPr/>
          <p:nvPr/>
        </p:nvSpPr>
        <p:spPr>
          <a:xfrm>
            <a:off x="6178143" y="3520440"/>
            <a:ext cx="2650159" cy="1874519"/>
          </a:xfrm>
          <a:prstGeom prst="roundRect">
            <a:avLst>
              <a:gd name="adj" fmla="val 5853"/>
            </a:avLst>
          </a:prstGeom>
          <a:solidFill>
            <a:srgbClr val="FFFFFF"/>
          </a:solidFill>
          <a:ln w="9525">
            <a:solidFill>
              <a:srgbClr val="E2E5EB"/>
            </a:solidFill>
          </a:ln>
          <a:effectLst>
            <a:outerShdw blurRad="114300" dist="25400" dir="5400000" algn="t" rotWithShape="0">
              <a:srgbClr val="14213D">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3" name="Picture 32" descr="cpu-C2571A.png"/>
          <p:cNvPicPr>
            <a:picLocks noChangeAspect="1"/>
          </p:cNvPicPr>
          <p:nvPr/>
        </p:nvPicPr>
        <p:blipFill>
          <a:blip r:embed="rId9"/>
          <a:stretch>
            <a:fillRect/>
          </a:stretch>
        </p:blipFill>
        <p:spPr>
          <a:xfrm>
            <a:off x="6379311" y="3703320"/>
            <a:ext cx="292608" cy="292608"/>
          </a:xfrm>
          <a:prstGeom prst="rect">
            <a:avLst/>
          </a:prstGeom>
        </p:spPr>
      </p:pic>
      <p:sp>
        <p:nvSpPr>
          <p:cNvPr id="34" name="TextBox 33"/>
          <p:cNvSpPr txBox="1"/>
          <p:nvPr/>
        </p:nvSpPr>
        <p:spPr>
          <a:xfrm>
            <a:off x="6781647" y="3685032"/>
            <a:ext cx="1918639" cy="329184"/>
          </a:xfrm>
          <a:prstGeom prst="rect">
            <a:avLst/>
          </a:prstGeom>
          <a:noFill/>
        </p:spPr>
        <p:txBody>
          <a:bodyPr wrap="square" lIns="0" rIns="0" tIns="0" bIns="0" anchor="ctr">
            <a:spAutoFit/>
          </a:bodyPr>
          <a:lstStyle/>
          <a:p>
            <a:pPr algn="l">
              <a:lnSpc>
                <a:spcPct val="115000"/>
              </a:lnSpc>
              <a:spcAft>
                <a:spcPts val="0"/>
              </a:spcAft>
            </a:pPr>
            <a:r>
              <a:rPr sz="1400" b="1" i="0">
                <a:solidFill>
                  <a:srgbClr val="14213D"/>
                </a:solidFill>
                <a:latin typeface="Arial"/>
              </a:rPr>
              <a:t>Memory</a:t>
            </a:r>
          </a:p>
        </p:txBody>
      </p:sp>
      <p:sp>
        <p:nvSpPr>
          <p:cNvPr id="35" name="TextBox 34"/>
          <p:cNvSpPr txBox="1"/>
          <p:nvPr/>
        </p:nvSpPr>
        <p:spPr>
          <a:xfrm>
            <a:off x="6379311" y="4142232"/>
            <a:ext cx="2339263" cy="1188719"/>
          </a:xfrm>
          <a:prstGeom prst="rect">
            <a:avLst/>
          </a:prstGeom>
          <a:noFill/>
        </p:spPr>
        <p:txBody>
          <a:bodyPr wrap="square" lIns="0" rIns="0" tIns="0" bIns="0" anchor="t">
            <a:spAutoFit/>
          </a:bodyPr>
          <a:lstStyle/>
          <a:p>
            <a:pPr algn="l">
              <a:lnSpc>
                <a:spcPct val="112000"/>
              </a:lnSpc>
              <a:spcAft>
                <a:spcPts val="100"/>
              </a:spcAft>
            </a:pPr>
            <a:r>
              <a:rPr sz="1150" b="0" i="0">
                <a:solidFill>
                  <a:srgbClr val="2A3550"/>
                </a:solidFill>
                <a:latin typeface="Arial"/>
              </a:rPr>
              <a:t>● Session chat history</a:t>
            </a:r>
          </a:p>
          <a:p>
            <a:pPr algn="l">
              <a:lnSpc>
                <a:spcPct val="112000"/>
              </a:lnSpc>
              <a:spcAft>
                <a:spcPts val="100"/>
              </a:spcAft>
            </a:pPr>
            <a:r>
              <a:rPr sz="1150" b="0" i="0">
                <a:solidFill>
                  <a:srgbClr val="2A3550"/>
                </a:solidFill>
                <a:latin typeface="Arial"/>
              </a:rPr>
              <a:t>● Long-term preferences</a:t>
            </a:r>
          </a:p>
          <a:p>
            <a:pPr algn="l">
              <a:lnSpc>
                <a:spcPct val="112000"/>
              </a:lnSpc>
              <a:spcAft>
                <a:spcPts val="100"/>
              </a:spcAft>
            </a:pPr>
            <a:r>
              <a:rPr sz="1150" b="0" i="0">
                <a:solidFill>
                  <a:srgbClr val="2A3550"/>
                </a:solidFill>
                <a:latin typeface="Arial"/>
              </a:rPr>
              <a:t>⊕ Redis REST | in-process</a:t>
            </a:r>
          </a:p>
        </p:txBody>
      </p:sp>
      <p:sp>
        <p:nvSpPr>
          <p:cNvPr id="36" name="Rounded Rectangle 35"/>
          <p:cNvSpPr/>
          <p:nvPr/>
        </p:nvSpPr>
        <p:spPr>
          <a:xfrm>
            <a:off x="8992895" y="3520440"/>
            <a:ext cx="2650159" cy="1874519"/>
          </a:xfrm>
          <a:prstGeom prst="roundRect">
            <a:avLst>
              <a:gd name="adj" fmla="val 5853"/>
            </a:avLst>
          </a:prstGeom>
          <a:solidFill>
            <a:srgbClr val="14213D"/>
          </a:solidFill>
          <a:ln>
            <a:noFill/>
          </a:ln>
          <a:effectLst>
            <a:outerShdw blurRad="114300" dist="25400" dir="5400000" algn="t" rotWithShape="0">
              <a:srgbClr val="14213D">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9221495" y="3703320"/>
            <a:ext cx="2238679" cy="1600199"/>
          </a:xfrm>
          <a:prstGeom prst="rect">
            <a:avLst/>
          </a:prstGeom>
          <a:noFill/>
        </p:spPr>
        <p:txBody>
          <a:bodyPr wrap="square" lIns="0" rIns="0" tIns="0" bIns="0" anchor="t">
            <a:spAutoFit/>
          </a:bodyPr>
          <a:lstStyle/>
          <a:p>
            <a:pPr algn="l">
              <a:lnSpc>
                <a:spcPct val="110000"/>
              </a:lnSpc>
              <a:spcAft>
                <a:spcPts val="200"/>
              </a:spcAft>
            </a:pPr>
            <a:r>
              <a:rPr sz="1050" b="1" i="0">
                <a:solidFill>
                  <a:srgbClr val="F2A65A"/>
                </a:solidFill>
                <a:latin typeface="Arial"/>
              </a:rPr>
              <a:t>Notation</a:t>
            </a:r>
          </a:p>
          <a:p>
            <a:pPr algn="l">
              <a:lnSpc>
                <a:spcPct val="110000"/>
              </a:lnSpc>
              <a:spcAft>
                <a:spcPts val="200"/>
              </a:spcAft>
            </a:pPr>
            <a:r>
              <a:rPr sz="1050" b="0" i="0">
                <a:solidFill>
                  <a:srgbClr val="DDE3EE"/>
                </a:solidFill>
                <a:latin typeface="Arial"/>
              </a:rPr>
              <a:t>● mandatory   ○ optional</a:t>
            </a:r>
          </a:p>
          <a:p>
            <a:pPr algn="l">
              <a:lnSpc>
                <a:spcPct val="110000"/>
              </a:lnSpc>
              <a:spcAft>
                <a:spcPts val="200"/>
              </a:spcAft>
            </a:pPr>
            <a:r>
              <a:rPr sz="1050" b="0" i="0">
                <a:solidFill>
                  <a:srgbClr val="DDE3EE"/>
                </a:solidFill>
                <a:latin typeface="Arial"/>
              </a:rPr>
              <a:t>⊕ exactly one   ⊗ one or more</a:t>
            </a:r>
          </a:p>
          <a:p>
            <a:pPr algn="l">
              <a:lnSpc>
                <a:spcPct val="110000"/>
              </a:lnSpc>
              <a:spcAft>
                <a:spcPts val="200"/>
              </a:spcAft>
            </a:pPr>
            <a:r>
              <a:rPr sz="1050" b="1" i="0">
                <a:solidFill>
                  <a:srgbClr val="F2A65A"/>
                </a:solidFill>
                <a:latin typeface="Arial"/>
              </a:rPr>
              <a:t>Constraints</a:t>
            </a:r>
          </a:p>
          <a:p>
            <a:pPr algn="l">
              <a:lnSpc>
                <a:spcPct val="110000"/>
              </a:lnSpc>
              <a:spcAft>
                <a:spcPts val="200"/>
              </a:spcAft>
            </a:pPr>
            <a:r>
              <a:rPr sz="1050" b="0" i="0">
                <a:solidFill>
                  <a:srgbClr val="DDE3EE"/>
                </a:solidFill>
                <a:latin typeface="Arial"/>
              </a:rPr>
              <a:t>Revision requires conflict detection; infeasible budget requires the floor; live providers require keys.</a:t>
            </a:r>
          </a:p>
        </p:txBody>
      </p:sp>
      <p:sp>
        <p:nvSpPr>
          <p:cNvPr id="38" name="TextBox 37"/>
          <p:cNvSpPr txBox="1"/>
          <p:nvPr/>
        </p:nvSpPr>
        <p:spPr>
          <a:xfrm>
            <a:off x="548640" y="5943600"/>
            <a:ext cx="11094415" cy="274320"/>
          </a:xfrm>
          <a:prstGeom prst="rect">
            <a:avLst/>
          </a:prstGeom>
          <a:noFill/>
        </p:spPr>
        <p:txBody>
          <a:bodyPr wrap="square" lIns="0" rIns="0" tIns="0" bIns="0" anchor="t">
            <a:spAutoFit/>
          </a:bodyPr>
          <a:lstStyle/>
          <a:p>
            <a:pPr algn="l">
              <a:lnSpc>
                <a:spcPct val="115000"/>
              </a:lnSpc>
              <a:spcAft>
                <a:spcPts val="0"/>
              </a:spcAft>
            </a:pPr>
            <a:r>
              <a:rPr sz="1200" b="1" i="0">
                <a:solidFill>
                  <a:srgbClr val="C2571A"/>
                </a:solidFill>
                <a:latin typeface="Arial"/>
              </a:rPr>
              <a:t>Non-functional:  </a:t>
            </a:r>
            <a:r>
              <a:rPr sz="1200" b="0" i="0">
                <a:solidFill>
                  <a:srgbClr val="2A3550"/>
                </a:solidFill>
                <a:latin typeface="Arial"/>
              </a:rPr>
              <a:t>schema checks at every boundary · money in integer cents · a provenance label on every section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6F1"/>
        </a:solidFill>
        <a:effectLst/>
      </p:bgPr>
    </p:bg>
    <p:spTree>
      <p:nvGrpSpPr>
        <p:cNvPr id="1" name=""/>
        <p:cNvGrpSpPr/>
        <p:nvPr/>
      </p:nvGrpSpPr>
      <p:grpSpPr/>
      <p:sp>
        <p:nvSpPr>
          <p:cNvPr id="2" name="Rectangle 1"/>
          <p:cNvSpPr/>
          <p:nvPr/>
        </p:nvSpPr>
        <p:spPr>
          <a:xfrm>
            <a:off x="0" y="0"/>
            <a:ext cx="100584" cy="6858000"/>
          </a:xfrm>
          <a:prstGeom prst="rect">
            <a:avLst/>
          </a:prstGeom>
          <a:solidFill>
            <a:srgbClr val="C25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47472"/>
            <a:ext cx="5943600" cy="274320"/>
          </a:xfrm>
          <a:prstGeom prst="rect">
            <a:avLst/>
          </a:prstGeom>
          <a:noFill/>
        </p:spPr>
        <p:txBody>
          <a:bodyPr wrap="square" lIns="0" rIns="0" tIns="0" bIns="0" anchor="ctr">
            <a:spAutoFit/>
          </a:bodyPr>
          <a:lstStyle/>
          <a:p>
            <a:pPr algn="l">
              <a:lnSpc>
                <a:spcPct val="115000"/>
              </a:lnSpc>
              <a:spcAft>
                <a:spcPts val="0"/>
              </a:spcAft>
            </a:pPr>
            <a:r>
              <a:rPr sz="1000" b="1" i="0">
                <a:solidFill>
                  <a:srgbClr val="C2571A"/>
                </a:solidFill>
                <a:latin typeface="Arial"/>
              </a:rPr>
              <a:t>USE CASES</a:t>
            </a:r>
          </a:p>
        </p:txBody>
      </p:sp>
      <p:sp>
        <p:nvSpPr>
          <p:cNvPr id="4" name="TextBox 3"/>
          <p:cNvSpPr txBox="1"/>
          <p:nvPr/>
        </p:nvSpPr>
        <p:spPr>
          <a:xfrm>
            <a:off x="548640" y="731520"/>
            <a:ext cx="11094415" cy="566928"/>
          </a:xfrm>
          <a:prstGeom prst="rect">
            <a:avLst/>
          </a:prstGeom>
          <a:noFill/>
        </p:spPr>
        <p:txBody>
          <a:bodyPr wrap="square" lIns="0" rIns="0" tIns="0" bIns="0" anchor="ctr">
            <a:spAutoFit/>
          </a:bodyPr>
          <a:lstStyle/>
          <a:p>
            <a:pPr algn="l">
              <a:lnSpc>
                <a:spcPct val="115000"/>
              </a:lnSpc>
              <a:spcAft>
                <a:spcPts val="0"/>
              </a:spcAft>
            </a:pPr>
            <a:r>
              <a:rPr sz="2600" b="1" i="0">
                <a:solidFill>
                  <a:srgbClr val="14213D"/>
                </a:solidFill>
                <a:latin typeface="Georgia"/>
              </a:rPr>
              <a:t>Ten use cases, one traveller, three external systems</a:t>
            </a:r>
          </a:p>
        </p:txBody>
      </p:sp>
      <p:sp>
        <p:nvSpPr>
          <p:cNvPr id="5" name="Rectangle 4"/>
          <p:cNvSpPr/>
          <p:nvPr/>
        </p:nvSpPr>
        <p:spPr>
          <a:xfrm>
            <a:off x="548640" y="6400800"/>
            <a:ext cx="11094415" cy="10972"/>
          </a:xfrm>
          <a:prstGeom prst="rect">
            <a:avLst/>
          </a:prstGeom>
          <a:solidFill>
            <a:srgbClr val="DDDA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48640" y="6473952"/>
            <a:ext cx="7315200" cy="228600"/>
          </a:xfrm>
          <a:prstGeom prst="rect">
            <a:avLst/>
          </a:prstGeom>
          <a:noFill/>
        </p:spPr>
        <p:txBody>
          <a:bodyPr wrap="square" lIns="0" rIns="0" tIns="0" bIns="0" anchor="t">
            <a:spAutoFit/>
          </a:bodyPr>
          <a:lstStyle/>
          <a:p>
            <a:pPr algn="l">
              <a:lnSpc>
                <a:spcPct val="115000"/>
              </a:lnSpc>
              <a:spcAft>
                <a:spcPts val="0"/>
              </a:spcAft>
            </a:pPr>
            <a:r>
              <a:rPr sz="900" b="0" i="0">
                <a:solidFill>
                  <a:srgbClr val="8A93A6"/>
                </a:solidFill>
                <a:latin typeface="Arial"/>
              </a:rPr>
              <a:t>AI Trip Planner  ·  ELEC5620 Stage 1  ·  Mon 10-12 Group 14</a:t>
            </a:r>
          </a:p>
        </p:txBody>
      </p:sp>
      <p:sp>
        <p:nvSpPr>
          <p:cNvPr id="7" name="TextBox 6"/>
          <p:cNvSpPr txBox="1"/>
          <p:nvPr/>
        </p:nvSpPr>
        <p:spPr>
          <a:xfrm>
            <a:off x="9814255" y="6473952"/>
            <a:ext cx="1828800" cy="228600"/>
          </a:xfrm>
          <a:prstGeom prst="rect">
            <a:avLst/>
          </a:prstGeom>
          <a:noFill/>
        </p:spPr>
        <p:txBody>
          <a:bodyPr wrap="square" lIns="0" rIns="0" tIns="0" bIns="0" anchor="t">
            <a:spAutoFit/>
          </a:bodyPr>
          <a:lstStyle/>
          <a:p>
            <a:pPr algn="r">
              <a:lnSpc>
                <a:spcPct val="115000"/>
              </a:lnSpc>
              <a:spcAft>
                <a:spcPts val="0"/>
              </a:spcAft>
            </a:pPr>
            <a:r>
              <a:rPr sz="900" b="0" i="0">
                <a:solidFill>
                  <a:srgbClr val="8A93A6"/>
                </a:solidFill>
                <a:latin typeface="Arial"/>
              </a:rPr>
              <a:t>08 / 24</a:t>
            </a:r>
          </a:p>
        </p:txBody>
      </p:sp>
      <p:sp>
        <p:nvSpPr>
          <p:cNvPr id="8" name="Rounded Rectangle 7"/>
          <p:cNvSpPr/>
          <p:nvPr/>
        </p:nvSpPr>
        <p:spPr>
          <a:xfrm>
            <a:off x="548640" y="1481328"/>
            <a:ext cx="3931920" cy="4754880"/>
          </a:xfrm>
          <a:prstGeom prst="roundRect">
            <a:avLst>
              <a:gd name="adj" fmla="val 2790"/>
            </a:avLst>
          </a:prstGeom>
          <a:solidFill>
            <a:srgbClr val="FFFFFF"/>
          </a:solidFill>
          <a:ln w="9525">
            <a:solidFill>
              <a:srgbClr val="E2E5EB"/>
            </a:solidFill>
          </a:ln>
          <a:effectLst>
            <a:outerShdw blurRad="114300" dist="25400" dir="5400000" algn="t" rotWithShape="0">
              <a:srgbClr val="14213D">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use-case.png"/>
          <p:cNvPicPr>
            <a:picLocks noChangeAspect="1"/>
          </p:cNvPicPr>
          <p:nvPr/>
        </p:nvPicPr>
        <p:blipFill>
          <a:blip r:embed="rId3"/>
          <a:stretch>
            <a:fillRect/>
          </a:stretch>
        </p:blipFill>
        <p:spPr>
          <a:xfrm>
            <a:off x="715060" y="1609344"/>
            <a:ext cx="3599078" cy="4498848"/>
          </a:xfrm>
          <a:prstGeom prst="rect">
            <a:avLst/>
          </a:prstGeom>
        </p:spPr>
      </p:pic>
      <p:sp>
        <p:nvSpPr>
          <p:cNvPr id="10" name="TextBox 9"/>
          <p:cNvSpPr txBox="1"/>
          <p:nvPr/>
        </p:nvSpPr>
        <p:spPr>
          <a:xfrm>
            <a:off x="4754879" y="1481328"/>
            <a:ext cx="4572000" cy="274320"/>
          </a:xfrm>
          <a:prstGeom prst="rect">
            <a:avLst/>
          </a:prstGeom>
          <a:noFill/>
        </p:spPr>
        <p:txBody>
          <a:bodyPr wrap="square" lIns="0" rIns="0" tIns="0" bIns="0" anchor="t">
            <a:spAutoFit/>
          </a:bodyPr>
          <a:lstStyle/>
          <a:p>
            <a:pPr algn="l">
              <a:lnSpc>
                <a:spcPct val="115000"/>
              </a:lnSpc>
              <a:spcAft>
                <a:spcPts val="0"/>
              </a:spcAft>
            </a:pPr>
            <a:r>
              <a:rPr sz="1100" b="1" i="0">
                <a:solidFill>
                  <a:srgbClr val="5A6478"/>
                </a:solidFill>
                <a:latin typeface="Arial"/>
              </a:rPr>
              <a:t>WHO OWNS WHICH USE CASE</a:t>
            </a:r>
          </a:p>
        </p:txBody>
      </p:sp>
      <p:sp>
        <p:nvSpPr>
          <p:cNvPr id="11" name="Rounded Rectangle 10"/>
          <p:cNvSpPr/>
          <p:nvPr/>
        </p:nvSpPr>
        <p:spPr>
          <a:xfrm>
            <a:off x="4754879" y="1847088"/>
            <a:ext cx="6888175" cy="530352"/>
          </a:xfrm>
          <a:prstGeom prst="roundRect">
            <a:avLst>
              <a:gd name="adj" fmla="val 20689"/>
            </a:avLst>
          </a:prstGeom>
          <a:solidFill>
            <a:srgbClr val="FFFFFF"/>
          </a:solidFill>
          <a:ln w="9525">
            <a:solidFill>
              <a:srgbClr val="E2E5EB"/>
            </a:solidFill>
          </a:ln>
          <a:effectLst>
            <a:outerShdw blurRad="114300" dist="25400" dir="5400000" algn="t" rotWithShape="0">
              <a:srgbClr val="14213D">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4901183" y="1965960"/>
            <a:ext cx="292608" cy="292608"/>
          </a:xfrm>
          <a:prstGeom prst="ellipse">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Arial"/>
              </a:rPr>
              <a:t>A</a:t>
            </a:r>
          </a:p>
        </p:txBody>
      </p:sp>
      <p:sp>
        <p:nvSpPr>
          <p:cNvPr id="13" name="TextBox 12"/>
          <p:cNvSpPr txBox="1"/>
          <p:nvPr/>
        </p:nvSpPr>
        <p:spPr>
          <a:xfrm>
            <a:off x="5321807" y="1847088"/>
            <a:ext cx="4206240" cy="530352"/>
          </a:xfrm>
          <a:prstGeom prst="rect">
            <a:avLst/>
          </a:prstGeom>
          <a:noFill/>
        </p:spPr>
        <p:txBody>
          <a:bodyPr wrap="square" lIns="0" rIns="0" tIns="0" bIns="0" anchor="ctr">
            <a:spAutoFit/>
          </a:bodyPr>
          <a:lstStyle/>
          <a:p>
            <a:pPr algn="l">
              <a:lnSpc>
                <a:spcPct val="115000"/>
              </a:lnSpc>
              <a:spcAft>
                <a:spcPts val="0"/>
              </a:spcAft>
            </a:pPr>
            <a:r>
              <a:rPr sz="1350" b="1" i="0">
                <a:solidFill>
                  <a:srgbClr val="14213D"/>
                </a:solidFill>
                <a:latin typeface="Arial"/>
              </a:rPr>
              <a:t>Generate Itinerary</a:t>
            </a:r>
          </a:p>
        </p:txBody>
      </p:sp>
      <p:sp>
        <p:nvSpPr>
          <p:cNvPr id="14" name="TextBox 13"/>
          <p:cNvSpPr txBox="1"/>
          <p:nvPr/>
        </p:nvSpPr>
        <p:spPr>
          <a:xfrm>
            <a:off x="9326880" y="1847088"/>
            <a:ext cx="2179015" cy="530352"/>
          </a:xfrm>
          <a:prstGeom prst="rect">
            <a:avLst/>
          </a:prstGeom>
          <a:noFill/>
        </p:spPr>
        <p:txBody>
          <a:bodyPr wrap="square" lIns="0" rIns="0" tIns="0" bIns="0" anchor="ctr">
            <a:spAutoFit/>
          </a:bodyPr>
          <a:lstStyle/>
          <a:p>
            <a:pPr algn="r">
              <a:lnSpc>
                <a:spcPct val="115000"/>
              </a:lnSpc>
              <a:spcAft>
                <a:spcPts val="0"/>
              </a:spcAft>
            </a:pPr>
            <a:r>
              <a:rPr sz="1150" b="0" i="0">
                <a:solidFill>
                  <a:srgbClr val="5A6478"/>
                </a:solidFill>
                <a:latin typeface="Arial"/>
              </a:rPr>
              <a:t>«include» three use cases</a:t>
            </a:r>
          </a:p>
        </p:txBody>
      </p:sp>
      <p:sp>
        <p:nvSpPr>
          <p:cNvPr id="15" name="Rounded Rectangle 14"/>
          <p:cNvSpPr/>
          <p:nvPr/>
        </p:nvSpPr>
        <p:spPr>
          <a:xfrm>
            <a:off x="4754879" y="2468880"/>
            <a:ext cx="6888175" cy="530352"/>
          </a:xfrm>
          <a:prstGeom prst="roundRect">
            <a:avLst>
              <a:gd name="adj" fmla="val 20689"/>
            </a:avLst>
          </a:prstGeom>
          <a:solidFill>
            <a:srgbClr val="FFFFFF"/>
          </a:solidFill>
          <a:ln w="9525">
            <a:solidFill>
              <a:srgbClr val="E2E5EB"/>
            </a:solidFill>
          </a:ln>
          <a:effectLst>
            <a:outerShdw blurRad="114300" dist="25400" dir="5400000" algn="t" rotWithShape="0">
              <a:srgbClr val="14213D">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4901183" y="2587752"/>
            <a:ext cx="292608" cy="292608"/>
          </a:xfrm>
          <a:prstGeom prst="ellipse">
            <a:avLst/>
          </a:prstGeom>
          <a:solidFill>
            <a:srgbClr val="6B4FA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Arial"/>
              </a:rPr>
              <a:t>B</a:t>
            </a:r>
          </a:p>
        </p:txBody>
      </p:sp>
      <p:sp>
        <p:nvSpPr>
          <p:cNvPr id="17" name="TextBox 16"/>
          <p:cNvSpPr txBox="1"/>
          <p:nvPr/>
        </p:nvSpPr>
        <p:spPr>
          <a:xfrm>
            <a:off x="5321807" y="2468880"/>
            <a:ext cx="4206240" cy="530352"/>
          </a:xfrm>
          <a:prstGeom prst="rect">
            <a:avLst/>
          </a:prstGeom>
          <a:noFill/>
        </p:spPr>
        <p:txBody>
          <a:bodyPr wrap="square" lIns="0" rIns="0" tIns="0" bIns="0" anchor="ctr">
            <a:spAutoFit/>
          </a:bodyPr>
          <a:lstStyle/>
          <a:p>
            <a:pPr algn="l">
              <a:lnSpc>
                <a:spcPct val="115000"/>
              </a:lnSpc>
              <a:spcAft>
                <a:spcPts val="0"/>
              </a:spcAft>
            </a:pPr>
            <a:r>
              <a:rPr sz="1350" b="1" i="0">
                <a:solidFill>
                  <a:srgbClr val="14213D"/>
                </a:solidFill>
                <a:latin typeface="Arial"/>
              </a:rPr>
              <a:t>Arrange Transportation</a:t>
            </a:r>
          </a:p>
        </p:txBody>
      </p:sp>
      <p:sp>
        <p:nvSpPr>
          <p:cNvPr id="18" name="TextBox 17"/>
          <p:cNvSpPr txBox="1"/>
          <p:nvPr/>
        </p:nvSpPr>
        <p:spPr>
          <a:xfrm>
            <a:off x="9326880" y="2468880"/>
            <a:ext cx="2179015" cy="530352"/>
          </a:xfrm>
          <a:prstGeom prst="rect">
            <a:avLst/>
          </a:prstGeom>
          <a:noFill/>
        </p:spPr>
        <p:txBody>
          <a:bodyPr wrap="square" lIns="0" rIns="0" tIns="0" bIns="0" anchor="ctr">
            <a:spAutoFit/>
          </a:bodyPr>
          <a:lstStyle/>
          <a:p>
            <a:pPr algn="r">
              <a:lnSpc>
                <a:spcPct val="115000"/>
              </a:lnSpc>
              <a:spcAft>
                <a:spcPts val="0"/>
              </a:spcAft>
            </a:pPr>
            <a:r>
              <a:rPr sz="1150" b="0" i="0">
                <a:solidFill>
                  <a:srgbClr val="5A6478"/>
                </a:solidFill>
                <a:latin typeface="Arial"/>
              </a:rPr>
              <a:t>Maps / Routes API</a:t>
            </a:r>
          </a:p>
        </p:txBody>
      </p:sp>
      <p:sp>
        <p:nvSpPr>
          <p:cNvPr id="19" name="Rounded Rectangle 18"/>
          <p:cNvSpPr/>
          <p:nvPr/>
        </p:nvSpPr>
        <p:spPr>
          <a:xfrm>
            <a:off x="4754879" y="3090672"/>
            <a:ext cx="6888175" cy="530352"/>
          </a:xfrm>
          <a:prstGeom prst="roundRect">
            <a:avLst>
              <a:gd name="adj" fmla="val 20689"/>
            </a:avLst>
          </a:prstGeom>
          <a:solidFill>
            <a:srgbClr val="FFFFFF"/>
          </a:solidFill>
          <a:ln w="9525">
            <a:solidFill>
              <a:srgbClr val="E2E5EB"/>
            </a:solidFill>
          </a:ln>
          <a:effectLst>
            <a:outerShdw blurRad="114300" dist="25400" dir="5400000" algn="t" rotWithShape="0">
              <a:srgbClr val="14213D">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4901183" y="3209544"/>
            <a:ext cx="292608" cy="292608"/>
          </a:xfrm>
          <a:prstGeom prst="ellipse">
            <a:avLst/>
          </a:prstGeom>
          <a:solidFill>
            <a:srgbClr val="C2571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Arial"/>
              </a:rPr>
              <a:t>C</a:t>
            </a:r>
          </a:p>
        </p:txBody>
      </p:sp>
      <p:sp>
        <p:nvSpPr>
          <p:cNvPr id="21" name="TextBox 20"/>
          <p:cNvSpPr txBox="1"/>
          <p:nvPr/>
        </p:nvSpPr>
        <p:spPr>
          <a:xfrm>
            <a:off x="5321807" y="3090672"/>
            <a:ext cx="4206240" cy="530352"/>
          </a:xfrm>
          <a:prstGeom prst="rect">
            <a:avLst/>
          </a:prstGeom>
          <a:noFill/>
        </p:spPr>
        <p:txBody>
          <a:bodyPr wrap="square" lIns="0" rIns="0" tIns="0" bIns="0" anchor="ctr">
            <a:spAutoFit/>
          </a:bodyPr>
          <a:lstStyle/>
          <a:p>
            <a:pPr algn="l">
              <a:lnSpc>
                <a:spcPct val="115000"/>
              </a:lnSpc>
              <a:spcAft>
                <a:spcPts val="0"/>
              </a:spcAft>
            </a:pPr>
            <a:r>
              <a:rPr sz="1350" b="1" i="0">
                <a:solidFill>
                  <a:srgbClr val="14213D"/>
                </a:solidFill>
                <a:latin typeface="Arial"/>
              </a:rPr>
              <a:t>Arrange Accommodation</a:t>
            </a:r>
          </a:p>
        </p:txBody>
      </p:sp>
      <p:sp>
        <p:nvSpPr>
          <p:cNvPr id="22" name="TextBox 21"/>
          <p:cNvSpPr txBox="1"/>
          <p:nvPr/>
        </p:nvSpPr>
        <p:spPr>
          <a:xfrm>
            <a:off x="9326880" y="3090672"/>
            <a:ext cx="2179015" cy="530352"/>
          </a:xfrm>
          <a:prstGeom prst="rect">
            <a:avLst/>
          </a:prstGeom>
          <a:noFill/>
        </p:spPr>
        <p:txBody>
          <a:bodyPr wrap="square" lIns="0" rIns="0" tIns="0" bIns="0" anchor="ctr">
            <a:spAutoFit/>
          </a:bodyPr>
          <a:lstStyle/>
          <a:p>
            <a:pPr algn="r">
              <a:lnSpc>
                <a:spcPct val="115000"/>
              </a:lnSpc>
              <a:spcAft>
                <a:spcPts val="0"/>
              </a:spcAft>
            </a:pPr>
            <a:r>
              <a:rPr sz="1150" b="0" i="0">
                <a:solidFill>
                  <a:srgbClr val="5A6478"/>
                </a:solidFill>
                <a:latin typeface="Arial"/>
              </a:rPr>
              <a:t>Hotel search</a:t>
            </a:r>
          </a:p>
        </p:txBody>
      </p:sp>
      <p:sp>
        <p:nvSpPr>
          <p:cNvPr id="23" name="Rounded Rectangle 22"/>
          <p:cNvSpPr/>
          <p:nvPr/>
        </p:nvSpPr>
        <p:spPr>
          <a:xfrm>
            <a:off x="4754879" y="3712464"/>
            <a:ext cx="6888175" cy="530352"/>
          </a:xfrm>
          <a:prstGeom prst="roundRect">
            <a:avLst>
              <a:gd name="adj" fmla="val 20689"/>
            </a:avLst>
          </a:prstGeom>
          <a:solidFill>
            <a:srgbClr val="FFFFFF"/>
          </a:solidFill>
          <a:ln w="9525">
            <a:solidFill>
              <a:srgbClr val="E2E5EB"/>
            </a:solidFill>
          </a:ln>
          <a:effectLst>
            <a:outerShdw blurRad="114300" dist="25400" dir="5400000" algn="t" rotWithShape="0">
              <a:srgbClr val="14213D">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4901183" y="3831336"/>
            <a:ext cx="292608" cy="292608"/>
          </a:xfrm>
          <a:prstGeom prst="ellipse">
            <a:avLst/>
          </a:prstGeom>
          <a:solidFill>
            <a:srgbClr val="C2571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Arial"/>
              </a:rPr>
              <a:t>C</a:t>
            </a:r>
          </a:p>
        </p:txBody>
      </p:sp>
      <p:sp>
        <p:nvSpPr>
          <p:cNvPr id="25" name="TextBox 24"/>
          <p:cNvSpPr txBox="1"/>
          <p:nvPr/>
        </p:nvSpPr>
        <p:spPr>
          <a:xfrm>
            <a:off x="5321807" y="3712464"/>
            <a:ext cx="4206240" cy="530352"/>
          </a:xfrm>
          <a:prstGeom prst="rect">
            <a:avLst/>
          </a:prstGeom>
          <a:noFill/>
        </p:spPr>
        <p:txBody>
          <a:bodyPr wrap="square" lIns="0" rIns="0" tIns="0" bIns="0" anchor="ctr">
            <a:spAutoFit/>
          </a:bodyPr>
          <a:lstStyle/>
          <a:p>
            <a:pPr algn="l">
              <a:lnSpc>
                <a:spcPct val="115000"/>
              </a:lnSpc>
              <a:spcAft>
                <a:spcPts val="0"/>
              </a:spcAft>
            </a:pPr>
            <a:r>
              <a:rPr sz="1350" b="1" i="0">
                <a:solidFill>
                  <a:srgbClr val="14213D"/>
                </a:solidFill>
                <a:latin typeface="Arial"/>
              </a:rPr>
              <a:t>Manage Budget</a:t>
            </a:r>
          </a:p>
        </p:txBody>
      </p:sp>
      <p:sp>
        <p:nvSpPr>
          <p:cNvPr id="26" name="TextBox 25"/>
          <p:cNvSpPr txBox="1"/>
          <p:nvPr/>
        </p:nvSpPr>
        <p:spPr>
          <a:xfrm>
            <a:off x="9326880" y="3712464"/>
            <a:ext cx="2179015" cy="530352"/>
          </a:xfrm>
          <a:prstGeom prst="rect">
            <a:avLst/>
          </a:prstGeom>
          <a:noFill/>
        </p:spPr>
        <p:txBody>
          <a:bodyPr wrap="square" lIns="0" rIns="0" tIns="0" bIns="0" anchor="ctr">
            <a:spAutoFit/>
          </a:bodyPr>
          <a:lstStyle/>
          <a:p>
            <a:pPr algn="r">
              <a:lnSpc>
                <a:spcPct val="115000"/>
              </a:lnSpc>
              <a:spcAft>
                <a:spcPts val="0"/>
              </a:spcAft>
            </a:pPr>
            <a:r>
              <a:rPr sz="1150" b="0" i="0">
                <a:solidFill>
                  <a:srgbClr val="5A6478"/>
                </a:solidFill>
                <a:latin typeface="Arial"/>
              </a:rPr>
              <a:t>«extend» Edit Itinerary</a:t>
            </a:r>
          </a:p>
        </p:txBody>
      </p:sp>
      <p:sp>
        <p:nvSpPr>
          <p:cNvPr id="27" name="Rounded Rectangle 26"/>
          <p:cNvSpPr/>
          <p:nvPr/>
        </p:nvSpPr>
        <p:spPr>
          <a:xfrm>
            <a:off x="4754879" y="4334256"/>
            <a:ext cx="6888175" cy="530352"/>
          </a:xfrm>
          <a:prstGeom prst="roundRect">
            <a:avLst>
              <a:gd name="adj" fmla="val 20689"/>
            </a:avLst>
          </a:prstGeom>
          <a:solidFill>
            <a:srgbClr val="FFFFFF"/>
          </a:solidFill>
          <a:ln w="9525">
            <a:solidFill>
              <a:srgbClr val="E2E5EB"/>
            </a:solidFill>
          </a:ln>
          <a:effectLst>
            <a:outerShdw blurRad="114300" dist="25400" dir="5400000" algn="t" rotWithShape="0">
              <a:srgbClr val="14213D">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4901183" y="4453128"/>
            <a:ext cx="292608" cy="292608"/>
          </a:xfrm>
          <a:prstGeom prst="ellipse">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Arial"/>
              </a:rPr>
              <a:t>D</a:t>
            </a:r>
          </a:p>
        </p:txBody>
      </p:sp>
      <p:sp>
        <p:nvSpPr>
          <p:cNvPr id="29" name="TextBox 28"/>
          <p:cNvSpPr txBox="1"/>
          <p:nvPr/>
        </p:nvSpPr>
        <p:spPr>
          <a:xfrm>
            <a:off x="5321807" y="4334256"/>
            <a:ext cx="4206240" cy="530352"/>
          </a:xfrm>
          <a:prstGeom prst="rect">
            <a:avLst/>
          </a:prstGeom>
          <a:noFill/>
        </p:spPr>
        <p:txBody>
          <a:bodyPr wrap="square" lIns="0" rIns="0" tIns="0" bIns="0" anchor="ctr">
            <a:spAutoFit/>
          </a:bodyPr>
          <a:lstStyle/>
          <a:p>
            <a:pPr algn="l">
              <a:lnSpc>
                <a:spcPct val="115000"/>
              </a:lnSpc>
              <a:spcAft>
                <a:spcPts val="0"/>
              </a:spcAft>
            </a:pPr>
            <a:r>
              <a:rPr sz="1350" b="1" i="0">
                <a:solidFill>
                  <a:srgbClr val="14213D"/>
                </a:solidFill>
                <a:latin typeface="Arial"/>
              </a:rPr>
              <a:t>Weather clothing advice</a:t>
            </a:r>
          </a:p>
        </p:txBody>
      </p:sp>
      <p:sp>
        <p:nvSpPr>
          <p:cNvPr id="30" name="TextBox 29"/>
          <p:cNvSpPr txBox="1"/>
          <p:nvPr/>
        </p:nvSpPr>
        <p:spPr>
          <a:xfrm>
            <a:off x="9326880" y="4334256"/>
            <a:ext cx="2179015" cy="530352"/>
          </a:xfrm>
          <a:prstGeom prst="rect">
            <a:avLst/>
          </a:prstGeom>
          <a:noFill/>
        </p:spPr>
        <p:txBody>
          <a:bodyPr wrap="square" lIns="0" rIns="0" tIns="0" bIns="0" anchor="ctr">
            <a:spAutoFit/>
          </a:bodyPr>
          <a:lstStyle/>
          <a:p>
            <a:pPr algn="r">
              <a:lnSpc>
                <a:spcPct val="115000"/>
              </a:lnSpc>
              <a:spcAft>
                <a:spcPts val="0"/>
              </a:spcAft>
            </a:pPr>
            <a:r>
              <a:rPr sz="1150" b="0" i="0">
                <a:solidFill>
                  <a:srgbClr val="5A6478"/>
                </a:solidFill>
                <a:latin typeface="Arial"/>
              </a:rPr>
              <a:t>Weather API</a:t>
            </a:r>
          </a:p>
        </p:txBody>
      </p:sp>
      <p:sp>
        <p:nvSpPr>
          <p:cNvPr id="31" name="Rounded Rectangle 30"/>
          <p:cNvSpPr/>
          <p:nvPr/>
        </p:nvSpPr>
        <p:spPr>
          <a:xfrm>
            <a:off x="4754879" y="4956048"/>
            <a:ext cx="6888175" cy="530352"/>
          </a:xfrm>
          <a:prstGeom prst="roundRect">
            <a:avLst>
              <a:gd name="adj" fmla="val 20689"/>
            </a:avLst>
          </a:prstGeom>
          <a:solidFill>
            <a:srgbClr val="FFFFFF"/>
          </a:solidFill>
          <a:ln w="9525">
            <a:solidFill>
              <a:srgbClr val="E2E5EB"/>
            </a:solidFill>
          </a:ln>
          <a:effectLst>
            <a:outerShdw blurRad="114300" dist="25400" dir="5400000" algn="t" rotWithShape="0">
              <a:srgbClr val="14213D">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4901183" y="5074920"/>
            <a:ext cx="292608" cy="292608"/>
          </a:xfrm>
          <a:prstGeom prst="ellipse">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Arial"/>
              </a:rPr>
              <a:t>D</a:t>
            </a:r>
          </a:p>
        </p:txBody>
      </p:sp>
      <p:sp>
        <p:nvSpPr>
          <p:cNvPr id="33" name="TextBox 32"/>
          <p:cNvSpPr txBox="1"/>
          <p:nvPr/>
        </p:nvSpPr>
        <p:spPr>
          <a:xfrm>
            <a:off x="5321807" y="4956048"/>
            <a:ext cx="4206240" cy="530352"/>
          </a:xfrm>
          <a:prstGeom prst="rect">
            <a:avLst/>
          </a:prstGeom>
          <a:noFill/>
        </p:spPr>
        <p:txBody>
          <a:bodyPr wrap="square" lIns="0" rIns="0" tIns="0" bIns="0" anchor="ctr">
            <a:spAutoFit/>
          </a:bodyPr>
          <a:lstStyle/>
          <a:p>
            <a:pPr algn="l">
              <a:lnSpc>
                <a:spcPct val="115000"/>
              </a:lnSpc>
              <a:spcAft>
                <a:spcPts val="0"/>
              </a:spcAft>
            </a:pPr>
            <a:r>
              <a:rPr sz="1350" b="1" i="0">
                <a:solidFill>
                  <a:srgbClr val="14213D"/>
                </a:solidFill>
                <a:latin typeface="Arial"/>
              </a:rPr>
              <a:t>Food recommendation</a:t>
            </a:r>
          </a:p>
        </p:txBody>
      </p:sp>
      <p:sp>
        <p:nvSpPr>
          <p:cNvPr id="34" name="Rounded Rectangle 33"/>
          <p:cNvSpPr/>
          <p:nvPr/>
        </p:nvSpPr>
        <p:spPr>
          <a:xfrm>
            <a:off x="4754879" y="5577840"/>
            <a:ext cx="6888175" cy="530352"/>
          </a:xfrm>
          <a:prstGeom prst="roundRect">
            <a:avLst>
              <a:gd name="adj" fmla="val 20689"/>
            </a:avLst>
          </a:prstGeom>
          <a:solidFill>
            <a:srgbClr val="FFFFFF"/>
          </a:solidFill>
          <a:ln w="9525">
            <a:solidFill>
              <a:srgbClr val="E2E5EB"/>
            </a:solidFill>
          </a:ln>
          <a:effectLst>
            <a:outerShdw blurRad="114300" dist="25400" dir="5400000" algn="t" rotWithShape="0">
              <a:srgbClr val="14213D">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4901183" y="5696712"/>
            <a:ext cx="292608" cy="292608"/>
          </a:xfrm>
          <a:prstGeom prst="ellipse">
            <a:avLst/>
          </a:prstGeom>
          <a:solidFill>
            <a:srgbClr val="2F5DA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Arial"/>
              </a:rPr>
              <a:t>E</a:t>
            </a:r>
          </a:p>
        </p:txBody>
      </p:sp>
      <p:sp>
        <p:nvSpPr>
          <p:cNvPr id="36" name="TextBox 35"/>
          <p:cNvSpPr txBox="1"/>
          <p:nvPr/>
        </p:nvSpPr>
        <p:spPr>
          <a:xfrm>
            <a:off x="5321807" y="5577840"/>
            <a:ext cx="4206240" cy="530352"/>
          </a:xfrm>
          <a:prstGeom prst="rect">
            <a:avLst/>
          </a:prstGeom>
          <a:noFill/>
        </p:spPr>
        <p:txBody>
          <a:bodyPr wrap="square" lIns="0" rIns="0" tIns="0" bIns="0" anchor="ctr">
            <a:spAutoFit/>
          </a:bodyPr>
          <a:lstStyle/>
          <a:p>
            <a:pPr algn="l">
              <a:lnSpc>
                <a:spcPct val="115000"/>
              </a:lnSpc>
              <a:spcAft>
                <a:spcPts val="0"/>
              </a:spcAft>
            </a:pPr>
            <a:r>
              <a:rPr sz="1350" b="1" i="0">
                <a:solidFill>
                  <a:srgbClr val="14213D"/>
                </a:solidFill>
                <a:latin typeface="Arial"/>
              </a:rPr>
              <a:t>Set Preferences · Submit Requirement · Edit · View</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6F1"/>
        </a:solidFill>
        <a:effectLst/>
      </p:bgPr>
    </p:bg>
    <p:spTree>
      <p:nvGrpSpPr>
        <p:cNvPr id="1" name=""/>
        <p:cNvGrpSpPr/>
        <p:nvPr/>
      </p:nvGrpSpPr>
      <p:grpSpPr/>
      <p:sp>
        <p:nvSpPr>
          <p:cNvPr id="2" name="Rectangle 1"/>
          <p:cNvSpPr/>
          <p:nvPr/>
        </p:nvSpPr>
        <p:spPr>
          <a:xfrm>
            <a:off x="0" y="0"/>
            <a:ext cx="100584" cy="6858000"/>
          </a:xfrm>
          <a:prstGeom prst="rect">
            <a:avLst/>
          </a:prstGeom>
          <a:solidFill>
            <a:srgbClr val="C25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47472"/>
            <a:ext cx="5943600" cy="274320"/>
          </a:xfrm>
          <a:prstGeom prst="rect">
            <a:avLst/>
          </a:prstGeom>
          <a:noFill/>
        </p:spPr>
        <p:txBody>
          <a:bodyPr wrap="square" lIns="0" rIns="0" tIns="0" bIns="0" anchor="ctr">
            <a:spAutoFit/>
          </a:bodyPr>
          <a:lstStyle/>
          <a:p>
            <a:pPr algn="l">
              <a:lnSpc>
                <a:spcPct val="115000"/>
              </a:lnSpc>
              <a:spcAft>
                <a:spcPts val="0"/>
              </a:spcAft>
            </a:pPr>
            <a:r>
              <a:rPr sz="1000" b="1" i="0">
                <a:solidFill>
                  <a:srgbClr val="C2571A"/>
                </a:solidFill>
                <a:latin typeface="Arial"/>
              </a:rPr>
              <a:t>INDIVIDUAL BEHAVIOUR MODELS · UC-B1</a:t>
            </a:r>
          </a:p>
        </p:txBody>
      </p:sp>
      <p:sp>
        <p:nvSpPr>
          <p:cNvPr id="4" name="TextBox 3"/>
          <p:cNvSpPr txBox="1"/>
          <p:nvPr/>
        </p:nvSpPr>
        <p:spPr>
          <a:xfrm>
            <a:off x="548640" y="731520"/>
            <a:ext cx="11094415" cy="566928"/>
          </a:xfrm>
          <a:prstGeom prst="rect">
            <a:avLst/>
          </a:prstGeom>
          <a:noFill/>
        </p:spPr>
        <p:txBody>
          <a:bodyPr wrap="square" lIns="0" rIns="0" tIns="0" bIns="0" anchor="ctr">
            <a:spAutoFit/>
          </a:bodyPr>
          <a:lstStyle/>
          <a:p>
            <a:pPr algn="l">
              <a:lnSpc>
                <a:spcPct val="115000"/>
              </a:lnSpc>
              <a:spcAft>
                <a:spcPts val="0"/>
              </a:spcAft>
            </a:pPr>
            <a:r>
              <a:rPr sz="2600" b="1" i="0">
                <a:solidFill>
                  <a:srgbClr val="14213D"/>
                </a:solidFill>
                <a:latin typeface="Georgia"/>
              </a:rPr>
              <a:t>The LLM picks offered fares; code checks every hop</a:t>
            </a:r>
          </a:p>
        </p:txBody>
      </p:sp>
      <p:sp>
        <p:nvSpPr>
          <p:cNvPr id="5" name="Rectangle 4"/>
          <p:cNvSpPr/>
          <p:nvPr/>
        </p:nvSpPr>
        <p:spPr>
          <a:xfrm>
            <a:off x="548640" y="6400800"/>
            <a:ext cx="11094415" cy="10972"/>
          </a:xfrm>
          <a:prstGeom prst="rect">
            <a:avLst/>
          </a:prstGeom>
          <a:solidFill>
            <a:srgbClr val="DDDA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48640" y="6473952"/>
            <a:ext cx="7315200" cy="228600"/>
          </a:xfrm>
          <a:prstGeom prst="rect">
            <a:avLst/>
          </a:prstGeom>
          <a:noFill/>
        </p:spPr>
        <p:txBody>
          <a:bodyPr wrap="square" lIns="0" rIns="0" tIns="0" bIns="0" anchor="t">
            <a:spAutoFit/>
          </a:bodyPr>
          <a:lstStyle/>
          <a:p>
            <a:pPr algn="l">
              <a:lnSpc>
                <a:spcPct val="115000"/>
              </a:lnSpc>
              <a:spcAft>
                <a:spcPts val="0"/>
              </a:spcAft>
            </a:pPr>
            <a:r>
              <a:rPr sz="900" b="0" i="0">
                <a:solidFill>
                  <a:srgbClr val="8A93A6"/>
                </a:solidFill>
                <a:latin typeface="Arial"/>
              </a:rPr>
              <a:t>AI Trip Planner  ·  ELEC5620 Stage 1  ·  Mon 10-12 Group 14</a:t>
            </a:r>
          </a:p>
        </p:txBody>
      </p:sp>
      <p:sp>
        <p:nvSpPr>
          <p:cNvPr id="7" name="TextBox 6"/>
          <p:cNvSpPr txBox="1"/>
          <p:nvPr/>
        </p:nvSpPr>
        <p:spPr>
          <a:xfrm>
            <a:off x="9814255" y="6473952"/>
            <a:ext cx="1828800" cy="228600"/>
          </a:xfrm>
          <a:prstGeom prst="rect">
            <a:avLst/>
          </a:prstGeom>
          <a:noFill/>
        </p:spPr>
        <p:txBody>
          <a:bodyPr wrap="square" lIns="0" rIns="0" tIns="0" bIns="0" anchor="t">
            <a:spAutoFit/>
          </a:bodyPr>
          <a:lstStyle/>
          <a:p>
            <a:pPr algn="r">
              <a:lnSpc>
                <a:spcPct val="115000"/>
              </a:lnSpc>
              <a:spcAft>
                <a:spcPts val="0"/>
              </a:spcAft>
            </a:pPr>
            <a:r>
              <a:rPr sz="900" b="0" i="0">
                <a:solidFill>
                  <a:srgbClr val="8A93A6"/>
                </a:solidFill>
                <a:latin typeface="Arial"/>
              </a:rPr>
              <a:t>09 / 24</a:t>
            </a:r>
          </a:p>
        </p:txBody>
      </p:sp>
      <p:sp>
        <p:nvSpPr>
          <p:cNvPr id="8" name="Rounded Rectangle 7"/>
          <p:cNvSpPr/>
          <p:nvPr/>
        </p:nvSpPr>
        <p:spPr>
          <a:xfrm>
            <a:off x="548640" y="1481328"/>
            <a:ext cx="11094415" cy="566928"/>
          </a:xfrm>
          <a:prstGeom prst="roundRect">
            <a:avLst>
              <a:gd name="adj" fmla="val 19354"/>
            </a:avLst>
          </a:prstGeom>
          <a:solidFill>
            <a:srgbClr val="FFFFFF"/>
          </a:solidFill>
          <a:ln w="9525">
            <a:solidFill>
              <a:srgbClr val="E2E5EB"/>
            </a:solidFill>
          </a:ln>
          <a:effectLst>
            <a:outerShdw blurRad="114300" dist="25400" dir="5400000" algn="t" rotWithShape="0">
              <a:srgbClr val="14213D">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548640" y="1645920"/>
            <a:ext cx="54864" cy="237744"/>
          </a:xfrm>
          <a:prstGeom prst="roundRect">
            <a:avLst>
              <a:gd name="adj" fmla="val 50000"/>
            </a:avLst>
          </a:prstGeom>
          <a:solidFill>
            <a:srgbClr val="6B4F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22959" y="1572768"/>
            <a:ext cx="10637215" cy="384048"/>
          </a:xfrm>
          <a:prstGeom prst="rect">
            <a:avLst/>
          </a:prstGeom>
          <a:noFill/>
        </p:spPr>
        <p:txBody>
          <a:bodyPr wrap="square" lIns="0" rIns="0" tIns="0" bIns="0" anchor="ctr">
            <a:spAutoFit/>
          </a:bodyPr>
          <a:lstStyle/>
          <a:p>
            <a:pPr algn="l">
              <a:lnSpc>
                <a:spcPct val="115000"/>
              </a:lnSpc>
              <a:spcAft>
                <a:spcPts val="0"/>
              </a:spcAft>
            </a:pPr>
            <a:r>
              <a:rPr sz="1200" b="1" i="0">
                <a:solidFill>
                  <a:srgbClr val="6B4FA0"/>
                </a:solidFill>
                <a:latin typeface="Arial"/>
              </a:rPr>
              <a:t>Ad hoc requirement  </a:t>
            </a:r>
            <a:r>
              <a:rPr sz="1200" b="0" i="0">
                <a:solidFill>
                  <a:srgbClr val="2A3550"/>
                </a:solidFill>
                <a:latin typeface="Arial"/>
              </a:rPr>
              <a:t>AH-B1: use real fares and times; honour my train choice or say it is unavailable</a:t>
            </a:r>
            <a:r>
              <a:rPr sz="1200" b="1" i="0">
                <a:solidFill>
                  <a:srgbClr val="6B4FA0"/>
                </a:solidFill>
                <a:latin typeface="Arial"/>
              </a:rPr>
              <a:t>      Use case  </a:t>
            </a:r>
            <a:r>
              <a:rPr sz="1200" b="0" i="0">
                <a:solidFill>
                  <a:srgbClr val="2A3550"/>
                </a:solidFill>
                <a:latin typeface="Arial"/>
              </a:rPr>
              <a:t>UC-B1 Arrange Transportation</a:t>
            </a:r>
          </a:p>
        </p:txBody>
      </p:sp>
      <p:sp>
        <p:nvSpPr>
          <p:cNvPr id="11" name="TextBox 10"/>
          <p:cNvSpPr txBox="1"/>
          <p:nvPr/>
        </p:nvSpPr>
        <p:spPr>
          <a:xfrm>
            <a:off x="548640" y="2231136"/>
            <a:ext cx="3576218" cy="274320"/>
          </a:xfrm>
          <a:prstGeom prst="rect">
            <a:avLst/>
          </a:prstGeom>
          <a:noFill/>
        </p:spPr>
        <p:txBody>
          <a:bodyPr wrap="square" lIns="0" rIns="0" tIns="0" bIns="0" anchor="t">
            <a:spAutoFit/>
          </a:bodyPr>
          <a:lstStyle/>
          <a:p>
            <a:pPr algn="l">
              <a:lnSpc>
                <a:spcPct val="115000"/>
              </a:lnSpc>
              <a:spcAft>
                <a:spcPts val="0"/>
              </a:spcAft>
            </a:pPr>
            <a:r>
              <a:rPr sz="1100" b="1" i="0">
                <a:solidFill>
                  <a:srgbClr val="5A6478"/>
                </a:solidFill>
                <a:latin typeface="Arial"/>
              </a:rPr>
              <a:t>ACTIVITY</a:t>
            </a:r>
          </a:p>
        </p:txBody>
      </p:sp>
      <p:sp>
        <p:nvSpPr>
          <p:cNvPr id="12" name="Rounded Rectangle 11"/>
          <p:cNvSpPr/>
          <p:nvPr/>
        </p:nvSpPr>
        <p:spPr>
          <a:xfrm>
            <a:off x="548640" y="2551176"/>
            <a:ext cx="3576218" cy="3685032"/>
          </a:xfrm>
          <a:prstGeom prst="roundRect">
            <a:avLst>
              <a:gd name="adj" fmla="val 3068"/>
            </a:avLst>
          </a:prstGeom>
          <a:solidFill>
            <a:srgbClr val="FFFFFF"/>
          </a:solidFill>
          <a:ln w="9525">
            <a:solidFill>
              <a:srgbClr val="E2E5EB"/>
            </a:solidFill>
          </a:ln>
          <a:effectLst>
            <a:outerShdw blurRad="114300" dist="25400" dir="5400000" algn="t" rotWithShape="0">
              <a:srgbClr val="14213D">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b-activity.png"/>
          <p:cNvPicPr>
            <a:picLocks noChangeAspect="1"/>
          </p:cNvPicPr>
          <p:nvPr/>
        </p:nvPicPr>
        <p:blipFill>
          <a:blip r:embed="rId3"/>
          <a:stretch>
            <a:fillRect/>
          </a:stretch>
        </p:blipFill>
        <p:spPr>
          <a:xfrm>
            <a:off x="1682381" y="2679192"/>
            <a:ext cx="1308735" cy="3429000"/>
          </a:xfrm>
          <a:prstGeom prst="rect">
            <a:avLst/>
          </a:prstGeom>
        </p:spPr>
      </p:pic>
      <p:sp>
        <p:nvSpPr>
          <p:cNvPr id="14" name="TextBox 13"/>
          <p:cNvSpPr txBox="1"/>
          <p:nvPr/>
        </p:nvSpPr>
        <p:spPr>
          <a:xfrm>
            <a:off x="4307738" y="2231136"/>
            <a:ext cx="3576218" cy="274320"/>
          </a:xfrm>
          <a:prstGeom prst="rect">
            <a:avLst/>
          </a:prstGeom>
          <a:noFill/>
        </p:spPr>
        <p:txBody>
          <a:bodyPr wrap="square" lIns="0" rIns="0" tIns="0" bIns="0" anchor="t">
            <a:spAutoFit/>
          </a:bodyPr>
          <a:lstStyle/>
          <a:p>
            <a:pPr algn="l">
              <a:lnSpc>
                <a:spcPct val="115000"/>
              </a:lnSpc>
              <a:spcAft>
                <a:spcPts val="0"/>
              </a:spcAft>
            </a:pPr>
            <a:r>
              <a:rPr sz="1100" b="1" i="0">
                <a:solidFill>
                  <a:srgbClr val="5A6478"/>
                </a:solidFill>
                <a:latin typeface="Arial"/>
              </a:rPr>
              <a:t>SEQUENCE</a:t>
            </a:r>
          </a:p>
        </p:txBody>
      </p:sp>
      <p:sp>
        <p:nvSpPr>
          <p:cNvPr id="15" name="Rounded Rectangle 14"/>
          <p:cNvSpPr/>
          <p:nvPr/>
        </p:nvSpPr>
        <p:spPr>
          <a:xfrm>
            <a:off x="4307738" y="2551176"/>
            <a:ext cx="3576218" cy="3685032"/>
          </a:xfrm>
          <a:prstGeom prst="roundRect">
            <a:avLst>
              <a:gd name="adj" fmla="val 3068"/>
            </a:avLst>
          </a:prstGeom>
          <a:solidFill>
            <a:srgbClr val="FFFFFF"/>
          </a:solidFill>
          <a:ln w="9525">
            <a:solidFill>
              <a:srgbClr val="E2E5EB"/>
            </a:solidFill>
          </a:ln>
          <a:effectLst>
            <a:outerShdw blurRad="114300" dist="25400" dir="5400000" algn="t" rotWithShape="0">
              <a:srgbClr val="14213D">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b-sequence.png"/>
          <p:cNvPicPr>
            <a:picLocks noChangeAspect="1"/>
          </p:cNvPicPr>
          <p:nvPr/>
        </p:nvPicPr>
        <p:blipFill>
          <a:blip r:embed="rId4"/>
          <a:stretch>
            <a:fillRect/>
          </a:stretch>
        </p:blipFill>
        <p:spPr>
          <a:xfrm>
            <a:off x="4474930" y="2679192"/>
            <a:ext cx="3241833" cy="3429000"/>
          </a:xfrm>
          <a:prstGeom prst="rect">
            <a:avLst/>
          </a:prstGeom>
        </p:spPr>
      </p:pic>
      <p:sp>
        <p:nvSpPr>
          <p:cNvPr id="17" name="TextBox 16"/>
          <p:cNvSpPr txBox="1"/>
          <p:nvPr/>
        </p:nvSpPr>
        <p:spPr>
          <a:xfrm>
            <a:off x="8066836" y="2231136"/>
            <a:ext cx="3576218" cy="274320"/>
          </a:xfrm>
          <a:prstGeom prst="rect">
            <a:avLst/>
          </a:prstGeom>
          <a:noFill/>
        </p:spPr>
        <p:txBody>
          <a:bodyPr wrap="square" lIns="0" rIns="0" tIns="0" bIns="0" anchor="t">
            <a:spAutoFit/>
          </a:bodyPr>
          <a:lstStyle/>
          <a:p>
            <a:pPr algn="l">
              <a:lnSpc>
                <a:spcPct val="115000"/>
              </a:lnSpc>
              <a:spcAft>
                <a:spcPts val="0"/>
              </a:spcAft>
            </a:pPr>
            <a:r>
              <a:rPr sz="1100" b="1" i="0">
                <a:solidFill>
                  <a:srgbClr val="5A6478"/>
                </a:solidFill>
                <a:latin typeface="Arial"/>
              </a:rPr>
              <a:t>STATE MACHINE</a:t>
            </a:r>
          </a:p>
        </p:txBody>
      </p:sp>
      <p:sp>
        <p:nvSpPr>
          <p:cNvPr id="18" name="Rounded Rectangle 17"/>
          <p:cNvSpPr/>
          <p:nvPr/>
        </p:nvSpPr>
        <p:spPr>
          <a:xfrm>
            <a:off x="8066836" y="2551176"/>
            <a:ext cx="3576218" cy="3685032"/>
          </a:xfrm>
          <a:prstGeom prst="roundRect">
            <a:avLst>
              <a:gd name="adj" fmla="val 3068"/>
            </a:avLst>
          </a:prstGeom>
          <a:solidFill>
            <a:srgbClr val="FFFFFF"/>
          </a:solidFill>
          <a:ln w="9525">
            <a:solidFill>
              <a:srgbClr val="E2E5EB"/>
            </a:solidFill>
          </a:ln>
          <a:effectLst>
            <a:outerShdw blurRad="114300" dist="25400" dir="5400000" algn="t" rotWithShape="0">
              <a:srgbClr val="14213D">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b-state.png"/>
          <p:cNvPicPr>
            <a:picLocks noChangeAspect="1"/>
          </p:cNvPicPr>
          <p:nvPr/>
        </p:nvPicPr>
        <p:blipFill>
          <a:blip r:embed="rId5"/>
          <a:stretch>
            <a:fillRect/>
          </a:stretch>
        </p:blipFill>
        <p:spPr>
          <a:xfrm>
            <a:off x="9011983" y="2679192"/>
            <a:ext cx="1685925" cy="3429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6F1"/>
        </a:solidFill>
        <a:effectLst/>
      </p:bgPr>
    </p:bg>
    <p:spTree>
      <p:nvGrpSpPr>
        <p:cNvPr id="1" name=""/>
        <p:cNvGrpSpPr/>
        <p:nvPr/>
      </p:nvGrpSpPr>
      <p:grpSpPr/>
      <p:sp>
        <p:nvSpPr>
          <p:cNvPr id="2" name="Rectangle 1"/>
          <p:cNvSpPr/>
          <p:nvPr/>
        </p:nvSpPr>
        <p:spPr>
          <a:xfrm>
            <a:off x="0" y="0"/>
            <a:ext cx="100584" cy="6858000"/>
          </a:xfrm>
          <a:prstGeom prst="rect">
            <a:avLst/>
          </a:prstGeom>
          <a:solidFill>
            <a:srgbClr val="C25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47472"/>
            <a:ext cx="5943600" cy="274320"/>
          </a:xfrm>
          <a:prstGeom prst="rect">
            <a:avLst/>
          </a:prstGeom>
          <a:noFill/>
        </p:spPr>
        <p:txBody>
          <a:bodyPr wrap="square" lIns="0" rIns="0" tIns="0" bIns="0" anchor="ctr">
            <a:spAutoFit/>
          </a:bodyPr>
          <a:lstStyle/>
          <a:p>
            <a:pPr algn="l">
              <a:lnSpc>
                <a:spcPct val="115000"/>
              </a:lnSpc>
              <a:spcAft>
                <a:spcPts val="0"/>
              </a:spcAft>
            </a:pPr>
            <a:r>
              <a:rPr sz="1000" b="1" i="0">
                <a:solidFill>
                  <a:srgbClr val="C2571A"/>
                </a:solidFill>
                <a:latin typeface="Arial"/>
              </a:rPr>
              <a:t>ACCOMMODATION AND BUDGET</a:t>
            </a:r>
          </a:p>
        </p:txBody>
      </p:sp>
      <p:sp>
        <p:nvSpPr>
          <p:cNvPr id="4" name="TextBox 3"/>
          <p:cNvSpPr txBox="1"/>
          <p:nvPr/>
        </p:nvSpPr>
        <p:spPr>
          <a:xfrm>
            <a:off x="548640" y="731520"/>
            <a:ext cx="11094415" cy="566928"/>
          </a:xfrm>
          <a:prstGeom prst="rect">
            <a:avLst/>
          </a:prstGeom>
          <a:noFill/>
        </p:spPr>
        <p:txBody>
          <a:bodyPr wrap="square" lIns="0" rIns="0" tIns="0" bIns="0" anchor="ctr">
            <a:spAutoFit/>
          </a:bodyPr>
          <a:lstStyle/>
          <a:p>
            <a:pPr algn="l">
              <a:lnSpc>
                <a:spcPct val="115000"/>
              </a:lnSpc>
              <a:spcAft>
                <a:spcPts val="0"/>
              </a:spcAft>
            </a:pPr>
            <a:r>
              <a:rPr sz="2600" b="1" i="0">
                <a:solidFill>
                  <a:srgbClr val="14213D"/>
                </a:solidFill>
                <a:latin typeface="Georgia"/>
              </a:rPr>
              <a:t>From one ad hoc requirement to two use cases</a:t>
            </a:r>
          </a:p>
        </p:txBody>
      </p:sp>
      <p:sp>
        <p:nvSpPr>
          <p:cNvPr id="5" name="Rectangle 4"/>
          <p:cNvSpPr/>
          <p:nvPr/>
        </p:nvSpPr>
        <p:spPr>
          <a:xfrm>
            <a:off x="548640" y="6400800"/>
            <a:ext cx="11094415" cy="10972"/>
          </a:xfrm>
          <a:prstGeom prst="rect">
            <a:avLst/>
          </a:prstGeom>
          <a:solidFill>
            <a:srgbClr val="DDDA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48640" y="6473952"/>
            <a:ext cx="7315200" cy="228600"/>
          </a:xfrm>
          <a:prstGeom prst="rect">
            <a:avLst/>
          </a:prstGeom>
          <a:noFill/>
        </p:spPr>
        <p:txBody>
          <a:bodyPr wrap="square" lIns="0" rIns="0" tIns="0" bIns="0" anchor="t">
            <a:spAutoFit/>
          </a:bodyPr>
          <a:lstStyle/>
          <a:p>
            <a:pPr algn="l">
              <a:lnSpc>
                <a:spcPct val="115000"/>
              </a:lnSpc>
              <a:spcAft>
                <a:spcPts val="0"/>
              </a:spcAft>
            </a:pPr>
            <a:r>
              <a:rPr sz="900" b="0" i="0">
                <a:solidFill>
                  <a:srgbClr val="8A93A6"/>
                </a:solidFill>
                <a:latin typeface="Arial"/>
              </a:rPr>
              <a:t>AI Trip Planner  ·  ELEC5620 Stage 1  ·  Mon 10-12 Group 14</a:t>
            </a:r>
          </a:p>
        </p:txBody>
      </p:sp>
      <p:sp>
        <p:nvSpPr>
          <p:cNvPr id="7" name="TextBox 6"/>
          <p:cNvSpPr txBox="1"/>
          <p:nvPr/>
        </p:nvSpPr>
        <p:spPr>
          <a:xfrm>
            <a:off x="9814255" y="6473952"/>
            <a:ext cx="1828800" cy="228600"/>
          </a:xfrm>
          <a:prstGeom prst="rect">
            <a:avLst/>
          </a:prstGeom>
          <a:noFill/>
        </p:spPr>
        <p:txBody>
          <a:bodyPr wrap="square" lIns="0" rIns="0" tIns="0" bIns="0" anchor="t">
            <a:spAutoFit/>
          </a:bodyPr>
          <a:lstStyle/>
          <a:p>
            <a:pPr algn="r">
              <a:lnSpc>
                <a:spcPct val="115000"/>
              </a:lnSpc>
              <a:spcAft>
                <a:spcPts val="0"/>
              </a:spcAft>
            </a:pPr>
            <a:r>
              <a:rPr sz="900" b="0" i="0">
                <a:solidFill>
                  <a:srgbClr val="8A93A6"/>
                </a:solidFill>
                <a:latin typeface="Arial"/>
              </a:rPr>
              <a:t>10 / 24</a:t>
            </a:r>
          </a:p>
        </p:txBody>
      </p:sp>
      <p:sp>
        <p:nvSpPr>
          <p:cNvPr id="8" name="Rounded Rectangle 7"/>
          <p:cNvSpPr/>
          <p:nvPr/>
        </p:nvSpPr>
        <p:spPr>
          <a:xfrm>
            <a:off x="548640" y="1481328"/>
            <a:ext cx="11094415" cy="1783080"/>
          </a:xfrm>
          <a:prstGeom prst="roundRect">
            <a:avLst>
              <a:gd name="adj" fmla="val 6153"/>
            </a:avLst>
          </a:prstGeom>
          <a:solidFill>
            <a:srgbClr val="14213D"/>
          </a:solidFill>
          <a:ln>
            <a:noFill/>
          </a:ln>
          <a:effectLst>
            <a:outerShdw blurRad="114300" dist="25400" dir="5400000" algn="t" rotWithShape="0">
              <a:srgbClr val="14213D">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quote-F2A65A.png"/>
          <p:cNvPicPr>
            <a:picLocks noChangeAspect="1"/>
          </p:cNvPicPr>
          <p:nvPr/>
        </p:nvPicPr>
        <p:blipFill>
          <a:blip r:embed="rId3"/>
          <a:stretch>
            <a:fillRect/>
          </a:stretch>
        </p:blipFill>
        <p:spPr>
          <a:xfrm>
            <a:off x="868680" y="1755648"/>
            <a:ext cx="502920" cy="502920"/>
          </a:xfrm>
          <a:prstGeom prst="rect">
            <a:avLst/>
          </a:prstGeom>
        </p:spPr>
      </p:pic>
      <p:sp>
        <p:nvSpPr>
          <p:cNvPr id="10" name="TextBox 9"/>
          <p:cNvSpPr txBox="1"/>
          <p:nvPr/>
        </p:nvSpPr>
        <p:spPr>
          <a:xfrm>
            <a:off x="1645919" y="1709928"/>
            <a:ext cx="9631375" cy="1188720"/>
          </a:xfrm>
          <a:prstGeom prst="rect">
            <a:avLst/>
          </a:prstGeom>
          <a:noFill/>
        </p:spPr>
        <p:txBody>
          <a:bodyPr wrap="square" lIns="0" rIns="0" tIns="0" bIns="0" anchor="t">
            <a:spAutoFit/>
          </a:bodyPr>
          <a:lstStyle/>
          <a:p>
            <a:pPr algn="l">
              <a:lnSpc>
                <a:spcPct val="120000"/>
              </a:lnSpc>
              <a:spcAft>
                <a:spcPts val="0"/>
              </a:spcAft>
            </a:pPr>
            <a:r>
              <a:rPr sz="1650" b="0" i="1">
                <a:solidFill>
                  <a:srgbClr val="FFFFFF"/>
                </a:solidFill>
                <a:latin typeface="Georgia"/>
              </a:rPr>
              <a:t>Flights get paid first, so the hotel has to fit in whatever money is left. If the trip ends up over budget, swap the hotel for a cheaper one that still meets my rules. If no hotel can ever fit, tell me the minimum I'd need.</a:t>
            </a:r>
          </a:p>
        </p:txBody>
      </p:sp>
      <p:sp>
        <p:nvSpPr>
          <p:cNvPr id="11" name="TextBox 10"/>
          <p:cNvSpPr txBox="1"/>
          <p:nvPr/>
        </p:nvSpPr>
        <p:spPr>
          <a:xfrm>
            <a:off x="1645919" y="2898648"/>
            <a:ext cx="5486400" cy="274320"/>
          </a:xfrm>
          <a:prstGeom prst="rect">
            <a:avLst/>
          </a:prstGeom>
          <a:noFill/>
        </p:spPr>
        <p:txBody>
          <a:bodyPr wrap="square" lIns="0" rIns="0" tIns="0" bIns="0" anchor="t">
            <a:spAutoFit/>
          </a:bodyPr>
          <a:lstStyle/>
          <a:p>
            <a:pPr algn="l">
              <a:lnSpc>
                <a:spcPct val="115000"/>
              </a:lnSpc>
              <a:spcAft>
                <a:spcPts val="0"/>
              </a:spcAft>
            </a:pPr>
            <a:r>
              <a:rPr sz="1100" b="1" i="0">
                <a:solidFill>
                  <a:srgbClr val="F2A65A"/>
                </a:solidFill>
                <a:latin typeface="Arial"/>
              </a:rPr>
              <a:t>AH-C1, in the traveller's words</a:t>
            </a:r>
          </a:p>
        </p:txBody>
      </p:sp>
      <p:sp>
        <p:nvSpPr>
          <p:cNvPr id="12" name="Rounded Rectangle 11"/>
          <p:cNvSpPr/>
          <p:nvPr/>
        </p:nvSpPr>
        <p:spPr>
          <a:xfrm>
            <a:off x="548640" y="3538728"/>
            <a:ext cx="5410047" cy="2697480"/>
          </a:xfrm>
          <a:prstGeom prst="roundRect">
            <a:avLst>
              <a:gd name="adj" fmla="val 4067"/>
            </a:avLst>
          </a:prstGeom>
          <a:solidFill>
            <a:srgbClr val="FFFFFF"/>
          </a:solidFill>
          <a:ln w="9525">
            <a:solidFill>
              <a:srgbClr val="E2E5EB"/>
            </a:solidFill>
          </a:ln>
          <a:effectLst>
            <a:outerShdw blurRad="114300" dist="25400" dir="5400000" algn="t" rotWithShape="0">
              <a:srgbClr val="14213D">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548640" y="3703320"/>
            <a:ext cx="54864" cy="2368296"/>
          </a:xfrm>
          <a:prstGeom prst="roundRect">
            <a:avLst>
              <a:gd name="adj" fmla="val 50000"/>
            </a:avLst>
          </a:prstGeom>
          <a:solidFill>
            <a:srgbClr val="C25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ounded Rectangle 13"/>
          <p:cNvSpPr/>
          <p:nvPr/>
        </p:nvSpPr>
        <p:spPr>
          <a:xfrm>
            <a:off x="868680" y="3813048"/>
            <a:ext cx="566928" cy="566928"/>
          </a:xfrm>
          <a:prstGeom prst="roundRect">
            <a:avLst>
              <a:gd name="adj" fmla="val 50000"/>
            </a:avLst>
          </a:prstGeom>
          <a:solidFill>
            <a:srgbClr val="FBE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bed-double-C2571A.png"/>
          <p:cNvPicPr>
            <a:picLocks noChangeAspect="1"/>
          </p:cNvPicPr>
          <p:nvPr/>
        </p:nvPicPr>
        <p:blipFill>
          <a:blip r:embed="rId4"/>
          <a:stretch>
            <a:fillRect/>
          </a:stretch>
        </p:blipFill>
        <p:spPr>
          <a:xfrm>
            <a:off x="987552" y="3931920"/>
            <a:ext cx="329184" cy="329184"/>
          </a:xfrm>
          <a:prstGeom prst="rect">
            <a:avLst/>
          </a:prstGeom>
        </p:spPr>
      </p:pic>
      <p:sp>
        <p:nvSpPr>
          <p:cNvPr id="16" name="TextBox 15"/>
          <p:cNvSpPr txBox="1"/>
          <p:nvPr/>
        </p:nvSpPr>
        <p:spPr>
          <a:xfrm>
            <a:off x="1600200" y="3813048"/>
            <a:ext cx="4129887" cy="566928"/>
          </a:xfrm>
          <a:prstGeom prst="rect">
            <a:avLst/>
          </a:prstGeom>
          <a:noFill/>
        </p:spPr>
        <p:txBody>
          <a:bodyPr wrap="square" lIns="0" rIns="0" tIns="0" bIns="0" anchor="ctr">
            <a:spAutoFit/>
          </a:bodyPr>
          <a:lstStyle/>
          <a:p>
            <a:pPr algn="l">
              <a:lnSpc>
                <a:spcPct val="115000"/>
              </a:lnSpc>
              <a:spcAft>
                <a:spcPts val="0"/>
              </a:spcAft>
            </a:pPr>
            <a:r>
              <a:rPr sz="1700" b="1" i="0">
                <a:solidFill>
                  <a:srgbClr val="14213D"/>
                </a:solidFill>
                <a:latin typeface="Georgia"/>
              </a:rPr>
              <a:t>UC-C1  Arrange Accommodation</a:t>
            </a:r>
          </a:p>
        </p:txBody>
      </p:sp>
      <p:pic>
        <p:nvPicPr>
          <p:cNvPr id="17" name="Picture 16" descr="check-C2571A.png"/>
          <p:cNvPicPr>
            <a:picLocks noChangeAspect="1"/>
          </p:cNvPicPr>
          <p:nvPr/>
        </p:nvPicPr>
        <p:blipFill>
          <a:blip r:embed="rId5"/>
          <a:stretch>
            <a:fillRect/>
          </a:stretch>
        </p:blipFill>
        <p:spPr>
          <a:xfrm>
            <a:off x="914400" y="4581144"/>
            <a:ext cx="219456" cy="219456"/>
          </a:xfrm>
          <a:prstGeom prst="rect">
            <a:avLst/>
          </a:prstGeom>
        </p:spPr>
      </p:pic>
      <p:sp>
        <p:nvSpPr>
          <p:cNvPr id="18" name="TextBox 17"/>
          <p:cNvSpPr txBox="1"/>
          <p:nvPr/>
        </p:nvSpPr>
        <p:spPr>
          <a:xfrm>
            <a:off x="1280160" y="4544568"/>
            <a:ext cx="4404207" cy="320040"/>
          </a:xfrm>
          <a:prstGeom prst="rect">
            <a:avLst/>
          </a:prstGeom>
          <a:noFill/>
        </p:spPr>
        <p:txBody>
          <a:bodyPr wrap="square" lIns="0" rIns="0" tIns="0" bIns="0" anchor="ctr">
            <a:spAutoFit/>
          </a:bodyPr>
          <a:lstStyle/>
          <a:p>
            <a:pPr algn="l">
              <a:lnSpc>
                <a:spcPct val="115000"/>
              </a:lnSpc>
              <a:spcAft>
                <a:spcPts val="0"/>
              </a:spcAft>
            </a:pPr>
            <a:r>
              <a:rPr sz="1400" b="0" i="0">
                <a:solidFill>
                  <a:srgbClr val="2A3550"/>
                </a:solidFill>
                <a:latin typeface="Arial"/>
              </a:rPr>
              <a:t>Rooms from party size</a:t>
            </a:r>
          </a:p>
        </p:txBody>
      </p:sp>
      <p:pic>
        <p:nvPicPr>
          <p:cNvPr id="19" name="Picture 18" descr="check-C2571A.png"/>
          <p:cNvPicPr>
            <a:picLocks noChangeAspect="1"/>
          </p:cNvPicPr>
          <p:nvPr/>
        </p:nvPicPr>
        <p:blipFill>
          <a:blip r:embed="rId5"/>
          <a:stretch>
            <a:fillRect/>
          </a:stretch>
        </p:blipFill>
        <p:spPr>
          <a:xfrm>
            <a:off x="914400" y="4992624"/>
            <a:ext cx="219456" cy="219456"/>
          </a:xfrm>
          <a:prstGeom prst="rect">
            <a:avLst/>
          </a:prstGeom>
        </p:spPr>
      </p:pic>
      <p:sp>
        <p:nvSpPr>
          <p:cNvPr id="20" name="TextBox 19"/>
          <p:cNvSpPr txBox="1"/>
          <p:nvPr/>
        </p:nvSpPr>
        <p:spPr>
          <a:xfrm>
            <a:off x="1280160" y="4956048"/>
            <a:ext cx="4404207" cy="320040"/>
          </a:xfrm>
          <a:prstGeom prst="rect">
            <a:avLst/>
          </a:prstGeom>
          <a:noFill/>
        </p:spPr>
        <p:txBody>
          <a:bodyPr wrap="square" lIns="0" rIns="0" tIns="0" bIns="0" anchor="ctr">
            <a:spAutoFit/>
          </a:bodyPr>
          <a:lstStyle/>
          <a:p>
            <a:pPr algn="l">
              <a:lnSpc>
                <a:spcPct val="115000"/>
              </a:lnSpc>
              <a:spcAft>
                <a:spcPts val="0"/>
              </a:spcAft>
            </a:pPr>
            <a:r>
              <a:rPr sz="1400" b="0" i="0">
                <a:solidFill>
                  <a:srgbClr val="2A3550"/>
                </a:solidFill>
                <a:latin typeface="Arial"/>
              </a:rPr>
              <a:t>Filter by rating and free cancellation</a:t>
            </a:r>
          </a:p>
        </p:txBody>
      </p:sp>
      <p:pic>
        <p:nvPicPr>
          <p:cNvPr id="21" name="Picture 20" descr="check-C2571A.png"/>
          <p:cNvPicPr>
            <a:picLocks noChangeAspect="1"/>
          </p:cNvPicPr>
          <p:nvPr/>
        </p:nvPicPr>
        <p:blipFill>
          <a:blip r:embed="rId5"/>
          <a:stretch>
            <a:fillRect/>
          </a:stretch>
        </p:blipFill>
        <p:spPr>
          <a:xfrm>
            <a:off x="914400" y="5404104"/>
            <a:ext cx="219456" cy="219456"/>
          </a:xfrm>
          <a:prstGeom prst="rect">
            <a:avLst/>
          </a:prstGeom>
        </p:spPr>
      </p:pic>
      <p:sp>
        <p:nvSpPr>
          <p:cNvPr id="22" name="TextBox 21"/>
          <p:cNvSpPr txBox="1"/>
          <p:nvPr/>
        </p:nvSpPr>
        <p:spPr>
          <a:xfrm>
            <a:off x="1280160" y="5367528"/>
            <a:ext cx="4404207" cy="320040"/>
          </a:xfrm>
          <a:prstGeom prst="rect">
            <a:avLst/>
          </a:prstGeom>
          <a:noFill/>
        </p:spPr>
        <p:txBody>
          <a:bodyPr wrap="square" lIns="0" rIns="0" tIns="0" bIns="0" anchor="ctr">
            <a:spAutoFit/>
          </a:bodyPr>
          <a:lstStyle/>
          <a:p>
            <a:pPr algn="l">
              <a:lnSpc>
                <a:spcPct val="115000"/>
              </a:lnSpc>
              <a:spcAft>
                <a:spcPts val="0"/>
              </a:spcAft>
            </a:pPr>
            <a:r>
              <a:rPr sz="1400" b="0" i="0">
                <a:solidFill>
                  <a:srgbClr val="2A3550"/>
                </a:solidFill>
                <a:latin typeface="Arial"/>
              </a:rPr>
              <a:t>LLM picks one candidate id</a:t>
            </a:r>
          </a:p>
        </p:txBody>
      </p:sp>
      <p:pic>
        <p:nvPicPr>
          <p:cNvPr id="23" name="Picture 22" descr="check-C2571A.png"/>
          <p:cNvPicPr>
            <a:picLocks noChangeAspect="1"/>
          </p:cNvPicPr>
          <p:nvPr/>
        </p:nvPicPr>
        <p:blipFill>
          <a:blip r:embed="rId5"/>
          <a:stretch>
            <a:fillRect/>
          </a:stretch>
        </p:blipFill>
        <p:spPr>
          <a:xfrm>
            <a:off x="914400" y="5815584"/>
            <a:ext cx="219456" cy="219456"/>
          </a:xfrm>
          <a:prstGeom prst="rect">
            <a:avLst/>
          </a:prstGeom>
        </p:spPr>
      </p:pic>
      <p:sp>
        <p:nvSpPr>
          <p:cNvPr id="24" name="TextBox 23"/>
          <p:cNvSpPr txBox="1"/>
          <p:nvPr/>
        </p:nvSpPr>
        <p:spPr>
          <a:xfrm>
            <a:off x="1280160" y="5779008"/>
            <a:ext cx="4404207" cy="320040"/>
          </a:xfrm>
          <a:prstGeom prst="rect">
            <a:avLst/>
          </a:prstGeom>
          <a:noFill/>
        </p:spPr>
        <p:txBody>
          <a:bodyPr wrap="square" lIns="0" rIns="0" tIns="0" bIns="0" anchor="ctr">
            <a:spAutoFit/>
          </a:bodyPr>
          <a:lstStyle/>
          <a:p>
            <a:pPr algn="l">
              <a:lnSpc>
                <a:spcPct val="115000"/>
              </a:lnSpc>
              <a:spcAft>
                <a:spcPts val="0"/>
              </a:spcAft>
            </a:pPr>
            <a:r>
              <a:rPr sz="1400" b="0" i="0">
                <a:solidFill>
                  <a:srgbClr val="2A3550"/>
                </a:solidFill>
                <a:latin typeface="Arial"/>
              </a:rPr>
              <a:t>Code validates and prices it in cents</a:t>
            </a:r>
          </a:p>
        </p:txBody>
      </p:sp>
      <p:sp>
        <p:nvSpPr>
          <p:cNvPr id="25" name="Rounded Rectangle 24"/>
          <p:cNvSpPr/>
          <p:nvPr/>
        </p:nvSpPr>
        <p:spPr>
          <a:xfrm>
            <a:off x="6233007" y="3538728"/>
            <a:ext cx="5410047" cy="2697480"/>
          </a:xfrm>
          <a:prstGeom prst="roundRect">
            <a:avLst>
              <a:gd name="adj" fmla="val 4067"/>
            </a:avLst>
          </a:prstGeom>
          <a:solidFill>
            <a:srgbClr val="FFFFFF"/>
          </a:solidFill>
          <a:ln w="9525">
            <a:solidFill>
              <a:srgbClr val="E2E5EB"/>
            </a:solidFill>
          </a:ln>
          <a:effectLst>
            <a:outerShdw blurRad="114300" dist="25400" dir="5400000" algn="t" rotWithShape="0">
              <a:srgbClr val="14213D">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ounded Rectangle 25"/>
          <p:cNvSpPr/>
          <p:nvPr/>
        </p:nvSpPr>
        <p:spPr>
          <a:xfrm>
            <a:off x="6233007" y="3703320"/>
            <a:ext cx="54864" cy="2368296"/>
          </a:xfrm>
          <a:prstGeom prst="roundRect">
            <a:avLst>
              <a:gd name="adj" fmla="val 50000"/>
            </a:avLst>
          </a:prstGeom>
          <a:solidFill>
            <a:srgbClr val="C25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ounded Rectangle 26"/>
          <p:cNvSpPr/>
          <p:nvPr/>
        </p:nvSpPr>
        <p:spPr>
          <a:xfrm>
            <a:off x="6553047" y="3813048"/>
            <a:ext cx="566928" cy="566928"/>
          </a:xfrm>
          <a:prstGeom prst="roundRect">
            <a:avLst>
              <a:gd name="adj" fmla="val 50000"/>
            </a:avLst>
          </a:prstGeom>
          <a:solidFill>
            <a:srgbClr val="FBE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wallet-C2571A.png"/>
          <p:cNvPicPr>
            <a:picLocks noChangeAspect="1"/>
          </p:cNvPicPr>
          <p:nvPr/>
        </p:nvPicPr>
        <p:blipFill>
          <a:blip r:embed="rId6"/>
          <a:stretch>
            <a:fillRect/>
          </a:stretch>
        </p:blipFill>
        <p:spPr>
          <a:xfrm>
            <a:off x="6671919" y="3931920"/>
            <a:ext cx="329184" cy="329184"/>
          </a:xfrm>
          <a:prstGeom prst="rect">
            <a:avLst/>
          </a:prstGeom>
        </p:spPr>
      </p:pic>
      <p:sp>
        <p:nvSpPr>
          <p:cNvPr id="29" name="TextBox 28"/>
          <p:cNvSpPr txBox="1"/>
          <p:nvPr/>
        </p:nvSpPr>
        <p:spPr>
          <a:xfrm>
            <a:off x="7284567" y="3813048"/>
            <a:ext cx="4129887" cy="566928"/>
          </a:xfrm>
          <a:prstGeom prst="rect">
            <a:avLst/>
          </a:prstGeom>
          <a:noFill/>
        </p:spPr>
        <p:txBody>
          <a:bodyPr wrap="square" lIns="0" rIns="0" tIns="0" bIns="0" anchor="ctr">
            <a:spAutoFit/>
          </a:bodyPr>
          <a:lstStyle/>
          <a:p>
            <a:pPr algn="l">
              <a:lnSpc>
                <a:spcPct val="115000"/>
              </a:lnSpc>
              <a:spcAft>
                <a:spcPts val="0"/>
              </a:spcAft>
            </a:pPr>
            <a:r>
              <a:rPr sz="1700" b="1" i="0">
                <a:solidFill>
                  <a:srgbClr val="14213D"/>
                </a:solidFill>
                <a:latin typeface="Georgia"/>
              </a:rPr>
              <a:t>UC-C2  Manage Budget</a:t>
            </a:r>
          </a:p>
        </p:txBody>
      </p:sp>
      <p:pic>
        <p:nvPicPr>
          <p:cNvPr id="30" name="Picture 29" descr="check-C2571A.png"/>
          <p:cNvPicPr>
            <a:picLocks noChangeAspect="1"/>
          </p:cNvPicPr>
          <p:nvPr/>
        </p:nvPicPr>
        <p:blipFill>
          <a:blip r:embed="rId5"/>
          <a:stretch>
            <a:fillRect/>
          </a:stretch>
        </p:blipFill>
        <p:spPr>
          <a:xfrm>
            <a:off x="6598767" y="4581144"/>
            <a:ext cx="219456" cy="219456"/>
          </a:xfrm>
          <a:prstGeom prst="rect">
            <a:avLst/>
          </a:prstGeom>
        </p:spPr>
      </p:pic>
      <p:sp>
        <p:nvSpPr>
          <p:cNvPr id="31" name="TextBox 30"/>
          <p:cNvSpPr txBox="1"/>
          <p:nvPr/>
        </p:nvSpPr>
        <p:spPr>
          <a:xfrm>
            <a:off x="6964527" y="4544568"/>
            <a:ext cx="4404207" cy="320040"/>
          </a:xfrm>
          <a:prstGeom prst="rect">
            <a:avLst/>
          </a:prstGeom>
          <a:noFill/>
        </p:spPr>
        <p:txBody>
          <a:bodyPr wrap="square" lIns="0" rIns="0" tIns="0" bIns="0" anchor="ctr">
            <a:spAutoFit/>
          </a:bodyPr>
          <a:lstStyle/>
          <a:p>
            <a:pPr algn="l">
              <a:lnSpc>
                <a:spcPct val="115000"/>
              </a:lnSpc>
              <a:spcAft>
                <a:spcPts val="0"/>
              </a:spcAft>
            </a:pPr>
            <a:r>
              <a:rPr sz="1400" b="0" i="0">
                <a:solidFill>
                  <a:srgbClr val="2A3550"/>
                </a:solidFill>
                <a:latin typeface="Arial"/>
              </a:rPr>
              <a:t>Roll up costs in AUD</a:t>
            </a:r>
          </a:p>
        </p:txBody>
      </p:sp>
      <p:pic>
        <p:nvPicPr>
          <p:cNvPr id="32" name="Picture 31" descr="check-C2571A.png"/>
          <p:cNvPicPr>
            <a:picLocks noChangeAspect="1"/>
          </p:cNvPicPr>
          <p:nvPr/>
        </p:nvPicPr>
        <p:blipFill>
          <a:blip r:embed="rId5"/>
          <a:stretch>
            <a:fillRect/>
          </a:stretch>
        </p:blipFill>
        <p:spPr>
          <a:xfrm>
            <a:off x="6598767" y="4992624"/>
            <a:ext cx="219456" cy="219456"/>
          </a:xfrm>
          <a:prstGeom prst="rect">
            <a:avLst/>
          </a:prstGeom>
        </p:spPr>
      </p:pic>
      <p:sp>
        <p:nvSpPr>
          <p:cNvPr id="33" name="TextBox 32"/>
          <p:cNvSpPr txBox="1"/>
          <p:nvPr/>
        </p:nvSpPr>
        <p:spPr>
          <a:xfrm>
            <a:off x="6964527" y="4956048"/>
            <a:ext cx="4404207" cy="320040"/>
          </a:xfrm>
          <a:prstGeom prst="rect">
            <a:avLst/>
          </a:prstGeom>
          <a:noFill/>
        </p:spPr>
        <p:txBody>
          <a:bodyPr wrap="square" lIns="0" rIns="0" tIns="0" bIns="0" anchor="ctr">
            <a:spAutoFit/>
          </a:bodyPr>
          <a:lstStyle/>
          <a:p>
            <a:pPr algn="l">
              <a:lnSpc>
                <a:spcPct val="115000"/>
              </a:lnSpc>
              <a:spcAft>
                <a:spcPts val="0"/>
              </a:spcAft>
            </a:pPr>
            <a:r>
              <a:rPr sz="1400" b="0" i="0">
                <a:solidFill>
                  <a:srgbClr val="2A3550"/>
                </a:solidFill>
                <a:latin typeface="Arial"/>
              </a:rPr>
              <a:t>Spread an overrun over what each section can still cut</a:t>
            </a:r>
          </a:p>
        </p:txBody>
      </p:sp>
      <p:pic>
        <p:nvPicPr>
          <p:cNvPr id="34" name="Picture 33" descr="check-C2571A.png"/>
          <p:cNvPicPr>
            <a:picLocks noChangeAspect="1"/>
          </p:cNvPicPr>
          <p:nvPr/>
        </p:nvPicPr>
        <p:blipFill>
          <a:blip r:embed="rId5"/>
          <a:stretch>
            <a:fillRect/>
          </a:stretch>
        </p:blipFill>
        <p:spPr>
          <a:xfrm>
            <a:off x="6598767" y="5404104"/>
            <a:ext cx="219456" cy="219456"/>
          </a:xfrm>
          <a:prstGeom prst="rect">
            <a:avLst/>
          </a:prstGeom>
        </p:spPr>
      </p:pic>
      <p:sp>
        <p:nvSpPr>
          <p:cNvPr id="35" name="TextBox 34"/>
          <p:cNvSpPr txBox="1"/>
          <p:nvPr/>
        </p:nvSpPr>
        <p:spPr>
          <a:xfrm>
            <a:off x="6964527" y="5367528"/>
            <a:ext cx="4404207" cy="320040"/>
          </a:xfrm>
          <a:prstGeom prst="rect">
            <a:avLst/>
          </a:prstGeom>
          <a:noFill/>
        </p:spPr>
        <p:txBody>
          <a:bodyPr wrap="square" lIns="0" rIns="0" tIns="0" bIns="0" anchor="ctr">
            <a:spAutoFit/>
          </a:bodyPr>
          <a:lstStyle/>
          <a:p>
            <a:pPr algn="l">
              <a:lnSpc>
                <a:spcPct val="115000"/>
              </a:lnSpc>
              <a:spcAft>
                <a:spcPts val="0"/>
              </a:spcAft>
            </a:pPr>
            <a:r>
              <a:rPr sz="1400" b="0" i="0">
                <a:solidFill>
                  <a:srgbClr val="2A3550"/>
                </a:solidFill>
                <a:latin typeface="Arial"/>
              </a:rPr>
              <a:t>Revise only the sections asked to save</a:t>
            </a:r>
          </a:p>
        </p:txBody>
      </p:sp>
      <p:pic>
        <p:nvPicPr>
          <p:cNvPr id="36" name="Picture 35" descr="check-C2571A.png"/>
          <p:cNvPicPr>
            <a:picLocks noChangeAspect="1"/>
          </p:cNvPicPr>
          <p:nvPr/>
        </p:nvPicPr>
        <p:blipFill>
          <a:blip r:embed="rId5"/>
          <a:stretch>
            <a:fillRect/>
          </a:stretch>
        </p:blipFill>
        <p:spPr>
          <a:xfrm>
            <a:off x="6598767" y="5815584"/>
            <a:ext cx="219456" cy="219456"/>
          </a:xfrm>
          <a:prstGeom prst="rect">
            <a:avLst/>
          </a:prstGeom>
        </p:spPr>
      </p:pic>
      <p:sp>
        <p:nvSpPr>
          <p:cNvPr id="37" name="TextBox 36"/>
          <p:cNvSpPr txBox="1"/>
          <p:nvPr/>
        </p:nvSpPr>
        <p:spPr>
          <a:xfrm>
            <a:off x="6964527" y="5779008"/>
            <a:ext cx="4404207" cy="320040"/>
          </a:xfrm>
          <a:prstGeom prst="rect">
            <a:avLst/>
          </a:prstGeom>
          <a:noFill/>
        </p:spPr>
        <p:txBody>
          <a:bodyPr wrap="square" lIns="0" rIns="0" tIns="0" bIns="0" anchor="ctr">
            <a:spAutoFit/>
          </a:bodyPr>
          <a:lstStyle/>
          <a:p>
            <a:pPr algn="l">
              <a:lnSpc>
                <a:spcPct val="115000"/>
              </a:lnSpc>
              <a:spcAft>
                <a:spcPts val="0"/>
              </a:spcAft>
            </a:pPr>
            <a:r>
              <a:rPr sz="1400" b="0" i="0">
                <a:solidFill>
                  <a:srgbClr val="2A3550"/>
                </a:solidFill>
                <a:latin typeface="Arial"/>
              </a:rPr>
              <a:t>Report the minimum budget when nothing fits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6F1"/>
        </a:solidFill>
        <a:effectLst/>
      </p:bgPr>
    </p:bg>
    <p:spTree>
      <p:nvGrpSpPr>
        <p:cNvPr id="1" name=""/>
        <p:cNvGrpSpPr/>
        <p:nvPr/>
      </p:nvGrpSpPr>
      <p:grpSpPr/>
      <p:sp>
        <p:nvSpPr>
          <p:cNvPr id="2" name="Rectangle 1"/>
          <p:cNvSpPr/>
          <p:nvPr/>
        </p:nvSpPr>
        <p:spPr>
          <a:xfrm>
            <a:off x="0" y="0"/>
            <a:ext cx="100584" cy="6858000"/>
          </a:xfrm>
          <a:prstGeom prst="rect">
            <a:avLst/>
          </a:prstGeom>
          <a:solidFill>
            <a:srgbClr val="C25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47472"/>
            <a:ext cx="5943600" cy="274320"/>
          </a:xfrm>
          <a:prstGeom prst="rect">
            <a:avLst/>
          </a:prstGeom>
          <a:noFill/>
        </p:spPr>
        <p:txBody>
          <a:bodyPr wrap="square" lIns="0" rIns="0" tIns="0" bIns="0" anchor="ctr">
            <a:spAutoFit/>
          </a:bodyPr>
          <a:lstStyle/>
          <a:p>
            <a:pPr algn="l">
              <a:lnSpc>
                <a:spcPct val="115000"/>
              </a:lnSpc>
              <a:spcAft>
                <a:spcPts val="0"/>
              </a:spcAft>
            </a:pPr>
            <a:r>
              <a:rPr sz="1000" b="1" i="0">
                <a:solidFill>
                  <a:srgbClr val="C2571A"/>
                </a:solidFill>
                <a:latin typeface="Arial"/>
              </a:rPr>
              <a:t>COMPLEX STRUCTURE</a:t>
            </a:r>
          </a:p>
        </p:txBody>
      </p:sp>
      <p:sp>
        <p:nvSpPr>
          <p:cNvPr id="4" name="TextBox 3"/>
          <p:cNvSpPr txBox="1"/>
          <p:nvPr/>
        </p:nvSpPr>
        <p:spPr>
          <a:xfrm>
            <a:off x="548640" y="731520"/>
            <a:ext cx="11094415" cy="566928"/>
          </a:xfrm>
          <a:prstGeom prst="rect">
            <a:avLst/>
          </a:prstGeom>
          <a:noFill/>
        </p:spPr>
        <p:txBody>
          <a:bodyPr wrap="square" lIns="0" rIns="0" tIns="0" bIns="0" anchor="ctr">
            <a:spAutoFit/>
          </a:bodyPr>
          <a:lstStyle/>
          <a:p>
            <a:pPr algn="l">
              <a:lnSpc>
                <a:spcPct val="115000"/>
              </a:lnSpc>
              <a:spcAft>
                <a:spcPts val="0"/>
              </a:spcAft>
            </a:pPr>
            <a:r>
              <a:rPr sz="2600" b="1" i="0">
                <a:solidFill>
                  <a:srgbClr val="14213D"/>
                </a:solidFill>
                <a:latin typeface="Georgia"/>
              </a:rPr>
              <a:t>Object diagram: a Tokyo trip that is AUD 640 over budget</a:t>
            </a:r>
          </a:p>
        </p:txBody>
      </p:sp>
      <p:sp>
        <p:nvSpPr>
          <p:cNvPr id="5" name="Rectangle 4"/>
          <p:cNvSpPr/>
          <p:nvPr/>
        </p:nvSpPr>
        <p:spPr>
          <a:xfrm>
            <a:off x="548640" y="6400800"/>
            <a:ext cx="11094415" cy="10972"/>
          </a:xfrm>
          <a:prstGeom prst="rect">
            <a:avLst/>
          </a:prstGeom>
          <a:solidFill>
            <a:srgbClr val="DDDA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48640" y="6473952"/>
            <a:ext cx="7315200" cy="228600"/>
          </a:xfrm>
          <a:prstGeom prst="rect">
            <a:avLst/>
          </a:prstGeom>
          <a:noFill/>
        </p:spPr>
        <p:txBody>
          <a:bodyPr wrap="square" lIns="0" rIns="0" tIns="0" bIns="0" anchor="t">
            <a:spAutoFit/>
          </a:bodyPr>
          <a:lstStyle/>
          <a:p>
            <a:pPr algn="l">
              <a:lnSpc>
                <a:spcPct val="115000"/>
              </a:lnSpc>
              <a:spcAft>
                <a:spcPts val="0"/>
              </a:spcAft>
            </a:pPr>
            <a:r>
              <a:rPr sz="900" b="0" i="0">
                <a:solidFill>
                  <a:srgbClr val="8A93A6"/>
                </a:solidFill>
                <a:latin typeface="Arial"/>
              </a:rPr>
              <a:t>AI Trip Planner  ·  ELEC5620 Stage 1  ·  Mon 10-12 Group 14</a:t>
            </a:r>
          </a:p>
        </p:txBody>
      </p:sp>
      <p:sp>
        <p:nvSpPr>
          <p:cNvPr id="7" name="TextBox 6"/>
          <p:cNvSpPr txBox="1"/>
          <p:nvPr/>
        </p:nvSpPr>
        <p:spPr>
          <a:xfrm>
            <a:off x="9814255" y="6473952"/>
            <a:ext cx="1828800" cy="228600"/>
          </a:xfrm>
          <a:prstGeom prst="rect">
            <a:avLst/>
          </a:prstGeom>
          <a:noFill/>
        </p:spPr>
        <p:txBody>
          <a:bodyPr wrap="square" lIns="0" rIns="0" tIns="0" bIns="0" anchor="t">
            <a:spAutoFit/>
          </a:bodyPr>
          <a:lstStyle/>
          <a:p>
            <a:pPr algn="r">
              <a:lnSpc>
                <a:spcPct val="115000"/>
              </a:lnSpc>
              <a:spcAft>
                <a:spcPts val="0"/>
              </a:spcAft>
            </a:pPr>
            <a:r>
              <a:rPr sz="900" b="0" i="0">
                <a:solidFill>
                  <a:srgbClr val="8A93A6"/>
                </a:solidFill>
                <a:latin typeface="Arial"/>
              </a:rPr>
              <a:t>11 / 24</a:t>
            </a:r>
          </a:p>
        </p:txBody>
      </p:sp>
      <p:sp>
        <p:nvSpPr>
          <p:cNvPr id="8" name="Rounded Rectangle 7"/>
          <p:cNvSpPr/>
          <p:nvPr/>
        </p:nvSpPr>
        <p:spPr>
          <a:xfrm>
            <a:off x="548640" y="1481328"/>
            <a:ext cx="11094415" cy="3383280"/>
          </a:xfrm>
          <a:prstGeom prst="roundRect">
            <a:avLst>
              <a:gd name="adj" fmla="val 3243"/>
            </a:avLst>
          </a:prstGeom>
          <a:solidFill>
            <a:srgbClr val="FFFFFF"/>
          </a:solidFill>
          <a:ln w="9525">
            <a:solidFill>
              <a:srgbClr val="E2E5EB"/>
            </a:solidFill>
          </a:ln>
          <a:effectLst>
            <a:outerShdw blurRad="114300" dist="25400" dir="5400000" algn="t" rotWithShape="0">
              <a:srgbClr val="14213D">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object.png"/>
          <p:cNvPicPr>
            <a:picLocks noChangeAspect="1"/>
          </p:cNvPicPr>
          <p:nvPr/>
        </p:nvPicPr>
        <p:blipFill>
          <a:blip r:embed="rId3"/>
          <a:stretch>
            <a:fillRect/>
          </a:stretch>
        </p:blipFill>
        <p:spPr>
          <a:xfrm>
            <a:off x="1735143" y="1609344"/>
            <a:ext cx="8721408" cy="3127248"/>
          </a:xfrm>
          <a:prstGeom prst="rect">
            <a:avLst/>
          </a:prstGeom>
        </p:spPr>
      </p:pic>
      <p:sp>
        <p:nvSpPr>
          <p:cNvPr id="10" name="Oval 9"/>
          <p:cNvSpPr/>
          <p:nvPr/>
        </p:nvSpPr>
        <p:spPr>
          <a:xfrm>
            <a:off x="4127191" y="3473622"/>
            <a:ext cx="274320" cy="274320"/>
          </a:xfrm>
          <a:prstGeom prst="ellipse">
            <a:avLst/>
          </a:prstGeom>
          <a:solidFill>
            <a:srgbClr val="C2571A"/>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Arial"/>
              </a:rPr>
              <a:t>1</a:t>
            </a:r>
          </a:p>
        </p:txBody>
      </p:sp>
      <p:sp>
        <p:nvSpPr>
          <p:cNvPr id="11" name="Oval 10"/>
          <p:cNvSpPr/>
          <p:nvPr/>
        </p:nvSpPr>
        <p:spPr>
          <a:xfrm>
            <a:off x="1632868" y="3192170"/>
            <a:ext cx="274320" cy="274320"/>
          </a:xfrm>
          <a:prstGeom prst="ellipse">
            <a:avLst/>
          </a:prstGeom>
          <a:solidFill>
            <a:srgbClr val="C2571A"/>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Arial"/>
              </a:rPr>
              <a:t>2</a:t>
            </a:r>
          </a:p>
        </p:txBody>
      </p:sp>
      <p:sp>
        <p:nvSpPr>
          <p:cNvPr id="12" name="Oval 11"/>
          <p:cNvSpPr/>
          <p:nvPr/>
        </p:nvSpPr>
        <p:spPr>
          <a:xfrm>
            <a:off x="9316429" y="1534728"/>
            <a:ext cx="274320" cy="274320"/>
          </a:xfrm>
          <a:prstGeom prst="ellipse">
            <a:avLst/>
          </a:prstGeom>
          <a:solidFill>
            <a:srgbClr val="C2571A"/>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Arial"/>
              </a:rPr>
              <a:t>3</a:t>
            </a:r>
          </a:p>
        </p:txBody>
      </p:sp>
      <p:sp>
        <p:nvSpPr>
          <p:cNvPr id="13" name="Rounded Rectangle 12"/>
          <p:cNvSpPr/>
          <p:nvPr/>
        </p:nvSpPr>
        <p:spPr>
          <a:xfrm>
            <a:off x="548640" y="5047488"/>
            <a:ext cx="3576218" cy="1188720"/>
          </a:xfrm>
          <a:prstGeom prst="roundRect">
            <a:avLst>
              <a:gd name="adj" fmla="val 9230"/>
            </a:avLst>
          </a:prstGeom>
          <a:solidFill>
            <a:srgbClr val="FFFFFF"/>
          </a:solidFill>
          <a:ln w="9525">
            <a:solidFill>
              <a:srgbClr val="E2E5EB"/>
            </a:solidFill>
          </a:ln>
          <a:effectLst>
            <a:outerShdw blurRad="114300" dist="25400" dir="5400000" algn="t" rotWithShape="0">
              <a:srgbClr val="14213D">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749808" y="5230368"/>
            <a:ext cx="256032" cy="256032"/>
          </a:xfrm>
          <a:prstGeom prst="ellipse">
            <a:avLst/>
          </a:prstGeom>
          <a:solidFill>
            <a:srgbClr val="C2571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50" b="1">
                <a:solidFill>
                  <a:srgbClr val="FFFFFF"/>
                </a:solidFill>
                <a:latin typeface="Arial"/>
              </a:rPr>
              <a:t>1</a:t>
            </a:r>
          </a:p>
        </p:txBody>
      </p:sp>
      <p:sp>
        <p:nvSpPr>
          <p:cNvPr id="15" name="TextBox 14"/>
          <p:cNvSpPr txBox="1"/>
          <p:nvPr/>
        </p:nvSpPr>
        <p:spPr>
          <a:xfrm>
            <a:off x="1115568" y="5202936"/>
            <a:ext cx="2844698" cy="310896"/>
          </a:xfrm>
          <a:prstGeom prst="rect">
            <a:avLst/>
          </a:prstGeom>
          <a:noFill/>
        </p:spPr>
        <p:txBody>
          <a:bodyPr wrap="square" lIns="0" rIns="0" tIns="0" bIns="0" anchor="ctr">
            <a:spAutoFit/>
          </a:bodyPr>
          <a:lstStyle/>
          <a:p>
            <a:pPr algn="l">
              <a:lnSpc>
                <a:spcPct val="115000"/>
              </a:lnSpc>
              <a:spcAft>
                <a:spcPts val="0"/>
              </a:spcAft>
            </a:pPr>
            <a:r>
              <a:rPr sz="1200" b="1" i="0">
                <a:solidFill>
                  <a:srgbClr val="5A6478"/>
                </a:solidFill>
                <a:latin typeface="Arial"/>
              </a:rPr>
              <a:t>Budget vs total</a:t>
            </a:r>
          </a:p>
        </p:txBody>
      </p:sp>
      <p:sp>
        <p:nvSpPr>
          <p:cNvPr id="16" name="TextBox 15"/>
          <p:cNvSpPr txBox="1"/>
          <p:nvPr/>
        </p:nvSpPr>
        <p:spPr>
          <a:xfrm>
            <a:off x="749808" y="5550407"/>
            <a:ext cx="3210458" cy="411480"/>
          </a:xfrm>
          <a:prstGeom prst="rect">
            <a:avLst/>
          </a:prstGeom>
          <a:noFill/>
        </p:spPr>
        <p:txBody>
          <a:bodyPr wrap="square" lIns="0" rIns="0" tIns="0" bIns="0" anchor="t">
            <a:spAutoFit/>
          </a:bodyPr>
          <a:lstStyle/>
          <a:p>
            <a:pPr algn="l">
              <a:lnSpc>
                <a:spcPct val="115000"/>
              </a:lnSpc>
              <a:spcAft>
                <a:spcPts val="0"/>
              </a:spcAft>
            </a:pPr>
            <a:r>
              <a:rPr sz="2000" b="1" i="0">
                <a:solidFill>
                  <a:srgbClr val="14213D"/>
                </a:solidFill>
                <a:latin typeface="Georgia"/>
              </a:rPr>
              <a:t>AUD 2,300 vs 2,940</a:t>
            </a:r>
          </a:p>
        </p:txBody>
      </p:sp>
      <p:sp>
        <p:nvSpPr>
          <p:cNvPr id="17" name="TextBox 16"/>
          <p:cNvSpPr txBox="1"/>
          <p:nvPr/>
        </p:nvSpPr>
        <p:spPr>
          <a:xfrm>
            <a:off x="749808" y="5934455"/>
            <a:ext cx="3210458" cy="274320"/>
          </a:xfrm>
          <a:prstGeom prst="rect">
            <a:avLst/>
          </a:prstGeom>
          <a:noFill/>
        </p:spPr>
        <p:txBody>
          <a:bodyPr wrap="square" lIns="0" rIns="0" tIns="0" bIns="0" anchor="t">
            <a:spAutoFit/>
          </a:bodyPr>
          <a:lstStyle/>
          <a:p>
            <a:pPr algn="l">
              <a:lnSpc>
                <a:spcPct val="115000"/>
              </a:lnSpc>
              <a:spcAft>
                <a:spcPts val="0"/>
              </a:spcAft>
            </a:pPr>
            <a:r>
              <a:rPr sz="1150" b="0" i="0">
                <a:solidFill>
                  <a:srgbClr val="5A6478"/>
                </a:solidFill>
                <a:latin typeface="Arial"/>
              </a:rPr>
              <a:t>over by AUD 640</a:t>
            </a:r>
          </a:p>
        </p:txBody>
      </p:sp>
      <p:sp>
        <p:nvSpPr>
          <p:cNvPr id="18" name="Rounded Rectangle 17"/>
          <p:cNvSpPr/>
          <p:nvPr/>
        </p:nvSpPr>
        <p:spPr>
          <a:xfrm>
            <a:off x="4307738" y="5047488"/>
            <a:ext cx="3576218" cy="1188720"/>
          </a:xfrm>
          <a:prstGeom prst="roundRect">
            <a:avLst>
              <a:gd name="adj" fmla="val 9230"/>
            </a:avLst>
          </a:prstGeom>
          <a:solidFill>
            <a:srgbClr val="FFFFFF"/>
          </a:solidFill>
          <a:ln w="9525">
            <a:solidFill>
              <a:srgbClr val="E2E5EB"/>
            </a:solidFill>
          </a:ln>
          <a:effectLst>
            <a:outerShdw blurRad="114300" dist="25400" dir="5400000" algn="t" rotWithShape="0">
              <a:srgbClr val="14213D">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4508906" y="5230368"/>
            <a:ext cx="256032" cy="256032"/>
          </a:xfrm>
          <a:prstGeom prst="ellipse">
            <a:avLst/>
          </a:prstGeom>
          <a:solidFill>
            <a:srgbClr val="C2571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50" b="1">
                <a:solidFill>
                  <a:srgbClr val="FFFFFF"/>
                </a:solidFill>
                <a:latin typeface="Arial"/>
              </a:rPr>
              <a:t>2</a:t>
            </a:r>
          </a:p>
        </p:txBody>
      </p:sp>
      <p:sp>
        <p:nvSpPr>
          <p:cNvPr id="20" name="TextBox 19"/>
          <p:cNvSpPr txBox="1"/>
          <p:nvPr/>
        </p:nvSpPr>
        <p:spPr>
          <a:xfrm>
            <a:off x="4874666" y="5202936"/>
            <a:ext cx="2844698" cy="310896"/>
          </a:xfrm>
          <a:prstGeom prst="rect">
            <a:avLst/>
          </a:prstGeom>
          <a:noFill/>
        </p:spPr>
        <p:txBody>
          <a:bodyPr wrap="square" lIns="0" rIns="0" tIns="0" bIns="0" anchor="ctr">
            <a:spAutoFit/>
          </a:bodyPr>
          <a:lstStyle/>
          <a:p>
            <a:pPr algn="l">
              <a:lnSpc>
                <a:spcPct val="115000"/>
              </a:lnSpc>
              <a:spcAft>
                <a:spcPts val="0"/>
              </a:spcAft>
            </a:pPr>
            <a:r>
              <a:rPr sz="1200" b="1" i="0">
                <a:solidFill>
                  <a:srgbClr val="5A6478"/>
                </a:solidFill>
                <a:latin typeface="Arial"/>
              </a:rPr>
              <a:t>Accommodation asked to save</a:t>
            </a:r>
          </a:p>
        </p:txBody>
      </p:sp>
      <p:sp>
        <p:nvSpPr>
          <p:cNvPr id="21" name="TextBox 20"/>
          <p:cNvSpPr txBox="1"/>
          <p:nvPr/>
        </p:nvSpPr>
        <p:spPr>
          <a:xfrm>
            <a:off x="4508906" y="5550407"/>
            <a:ext cx="3210458" cy="411480"/>
          </a:xfrm>
          <a:prstGeom prst="rect">
            <a:avLst/>
          </a:prstGeom>
          <a:noFill/>
        </p:spPr>
        <p:txBody>
          <a:bodyPr wrap="square" lIns="0" rIns="0" tIns="0" bIns="0" anchor="t">
            <a:spAutoFit/>
          </a:bodyPr>
          <a:lstStyle/>
          <a:p>
            <a:pPr algn="l">
              <a:lnSpc>
                <a:spcPct val="115000"/>
              </a:lnSpc>
              <a:spcAft>
                <a:spcPts val="0"/>
              </a:spcAft>
            </a:pPr>
            <a:r>
              <a:rPr sz="2000" b="1" i="0">
                <a:solidFill>
                  <a:srgbClr val="14213D"/>
                </a:solidFill>
                <a:latin typeface="Georgia"/>
              </a:rPr>
              <a:t>AUD 379.26</a:t>
            </a:r>
          </a:p>
        </p:txBody>
      </p:sp>
      <p:sp>
        <p:nvSpPr>
          <p:cNvPr id="22" name="TextBox 21"/>
          <p:cNvSpPr txBox="1"/>
          <p:nvPr/>
        </p:nvSpPr>
        <p:spPr>
          <a:xfrm>
            <a:off x="4508906" y="5934455"/>
            <a:ext cx="3210458" cy="274320"/>
          </a:xfrm>
          <a:prstGeom prst="rect">
            <a:avLst/>
          </a:prstGeom>
          <a:noFill/>
        </p:spPr>
        <p:txBody>
          <a:bodyPr wrap="square" lIns="0" rIns="0" tIns="0" bIns="0" anchor="t">
            <a:spAutoFit/>
          </a:bodyPr>
          <a:lstStyle/>
          <a:p>
            <a:pPr algn="l">
              <a:lnSpc>
                <a:spcPct val="115000"/>
              </a:lnSpc>
              <a:spcAft>
                <a:spcPts val="0"/>
              </a:spcAft>
            </a:pPr>
            <a:r>
              <a:rPr sz="1150" b="0" i="0">
                <a:solidFill>
                  <a:srgbClr val="5A6478"/>
                </a:solidFill>
                <a:latin typeface="Arial"/>
              </a:rPr>
              <a:t>overrun spread by room to cut</a:t>
            </a:r>
          </a:p>
        </p:txBody>
      </p:sp>
      <p:sp>
        <p:nvSpPr>
          <p:cNvPr id="23" name="Rounded Rectangle 22"/>
          <p:cNvSpPr/>
          <p:nvPr/>
        </p:nvSpPr>
        <p:spPr>
          <a:xfrm>
            <a:off x="8066836" y="5047488"/>
            <a:ext cx="3576218" cy="1188720"/>
          </a:xfrm>
          <a:prstGeom prst="roundRect">
            <a:avLst>
              <a:gd name="adj" fmla="val 9230"/>
            </a:avLst>
          </a:prstGeom>
          <a:solidFill>
            <a:srgbClr val="FFFFFF"/>
          </a:solidFill>
          <a:ln w="9525">
            <a:solidFill>
              <a:srgbClr val="E2E5EB"/>
            </a:solidFill>
          </a:ln>
          <a:effectLst>
            <a:outerShdw blurRad="114300" dist="25400" dir="5400000" algn="t" rotWithShape="0">
              <a:srgbClr val="14213D">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8268004" y="5230368"/>
            <a:ext cx="256032" cy="256032"/>
          </a:xfrm>
          <a:prstGeom prst="ellipse">
            <a:avLst/>
          </a:prstGeom>
          <a:solidFill>
            <a:srgbClr val="C2571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50" b="1">
                <a:solidFill>
                  <a:srgbClr val="FFFFFF"/>
                </a:solidFill>
                <a:latin typeface="Arial"/>
              </a:rPr>
              <a:t>3</a:t>
            </a:r>
          </a:p>
        </p:txBody>
      </p:sp>
      <p:sp>
        <p:nvSpPr>
          <p:cNvPr id="25" name="TextBox 24"/>
          <p:cNvSpPr txBox="1"/>
          <p:nvPr/>
        </p:nvSpPr>
        <p:spPr>
          <a:xfrm>
            <a:off x="8633764" y="5202936"/>
            <a:ext cx="2844698" cy="310896"/>
          </a:xfrm>
          <a:prstGeom prst="rect">
            <a:avLst/>
          </a:prstGeom>
          <a:noFill/>
        </p:spPr>
        <p:txBody>
          <a:bodyPr wrap="square" lIns="0" rIns="0" tIns="0" bIns="0" anchor="ctr">
            <a:spAutoFit/>
          </a:bodyPr>
          <a:lstStyle/>
          <a:p>
            <a:pPr algn="l">
              <a:lnSpc>
                <a:spcPct val="115000"/>
              </a:lnSpc>
              <a:spcAft>
                <a:spcPts val="0"/>
              </a:spcAft>
            </a:pPr>
            <a:r>
              <a:rPr sz="1200" b="1" i="0">
                <a:solidFill>
                  <a:srgbClr val="5A6478"/>
                </a:solidFill>
                <a:latin typeface="Arial"/>
              </a:rPr>
              <a:t>Hotel moves</a:t>
            </a:r>
          </a:p>
        </p:txBody>
      </p:sp>
      <p:sp>
        <p:nvSpPr>
          <p:cNvPr id="26" name="TextBox 25"/>
          <p:cNvSpPr txBox="1"/>
          <p:nvPr/>
        </p:nvSpPr>
        <p:spPr>
          <a:xfrm>
            <a:off x="8268004" y="5550407"/>
            <a:ext cx="3210458" cy="411480"/>
          </a:xfrm>
          <a:prstGeom prst="rect">
            <a:avLst/>
          </a:prstGeom>
          <a:noFill/>
        </p:spPr>
        <p:txBody>
          <a:bodyPr wrap="square" lIns="0" rIns="0" tIns="0" bIns="0" anchor="t">
            <a:spAutoFit/>
          </a:bodyPr>
          <a:lstStyle/>
          <a:p>
            <a:pPr algn="l">
              <a:lnSpc>
                <a:spcPct val="115000"/>
              </a:lnSpc>
              <a:spcAft>
                <a:spcPts val="0"/>
              </a:spcAft>
            </a:pPr>
            <a:r>
              <a:rPr sz="2000" b="1" i="0">
                <a:solidFill>
                  <a:srgbClr val="14213D"/>
                </a:solidFill>
                <a:latin typeface="Georgia"/>
              </a:rPr>
              <a:t>standard → saver</a:t>
            </a:r>
          </a:p>
        </p:txBody>
      </p:sp>
      <p:sp>
        <p:nvSpPr>
          <p:cNvPr id="27" name="TextBox 26"/>
          <p:cNvSpPr txBox="1"/>
          <p:nvPr/>
        </p:nvSpPr>
        <p:spPr>
          <a:xfrm>
            <a:off x="8268004" y="5934455"/>
            <a:ext cx="3210458" cy="274320"/>
          </a:xfrm>
          <a:prstGeom prst="rect">
            <a:avLst/>
          </a:prstGeom>
          <a:noFill/>
        </p:spPr>
        <p:txBody>
          <a:bodyPr wrap="square" lIns="0" rIns="0" tIns="0" bIns="0" anchor="t">
            <a:spAutoFit/>
          </a:bodyPr>
          <a:lstStyle/>
          <a:p>
            <a:pPr algn="l">
              <a:lnSpc>
                <a:spcPct val="115000"/>
              </a:lnSpc>
              <a:spcAft>
                <a:spcPts val="0"/>
              </a:spcAft>
            </a:pPr>
            <a:r>
              <a:rPr sz="1150" b="0" i="0">
                <a:solidFill>
                  <a:srgbClr val="5A6478"/>
                </a:solidFill>
                <a:latin typeface="Arial"/>
              </a:rPr>
              <a:t>AUD 1,520 → AUD 880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6F1"/>
        </a:solidFill>
        <a:effectLst/>
      </p:bgPr>
    </p:bg>
    <p:spTree>
      <p:nvGrpSpPr>
        <p:cNvPr id="1" name=""/>
        <p:cNvGrpSpPr/>
        <p:nvPr/>
      </p:nvGrpSpPr>
      <p:grpSpPr/>
      <p:sp>
        <p:nvSpPr>
          <p:cNvPr id="2" name="Rectangle 1"/>
          <p:cNvSpPr/>
          <p:nvPr/>
        </p:nvSpPr>
        <p:spPr>
          <a:xfrm>
            <a:off x="0" y="0"/>
            <a:ext cx="100584" cy="6858000"/>
          </a:xfrm>
          <a:prstGeom prst="rect">
            <a:avLst/>
          </a:prstGeom>
          <a:solidFill>
            <a:srgbClr val="C25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47472"/>
            <a:ext cx="5943600" cy="274320"/>
          </a:xfrm>
          <a:prstGeom prst="rect">
            <a:avLst/>
          </a:prstGeom>
          <a:noFill/>
        </p:spPr>
        <p:txBody>
          <a:bodyPr wrap="square" lIns="0" rIns="0" tIns="0" bIns="0" anchor="ctr">
            <a:spAutoFit/>
          </a:bodyPr>
          <a:lstStyle/>
          <a:p>
            <a:pPr algn="l">
              <a:lnSpc>
                <a:spcPct val="115000"/>
              </a:lnSpc>
              <a:spcAft>
                <a:spcPts val="0"/>
              </a:spcAft>
            </a:pPr>
            <a:r>
              <a:rPr sz="1000" b="1" i="0">
                <a:solidFill>
                  <a:srgbClr val="C2571A"/>
                </a:solidFill>
                <a:latin typeface="Arial"/>
              </a:rPr>
              <a:t>COMPLEX STRUCTURE</a:t>
            </a:r>
          </a:p>
        </p:txBody>
      </p:sp>
      <p:sp>
        <p:nvSpPr>
          <p:cNvPr id="4" name="TextBox 3"/>
          <p:cNvSpPr txBox="1"/>
          <p:nvPr/>
        </p:nvSpPr>
        <p:spPr>
          <a:xfrm>
            <a:off x="548640" y="731520"/>
            <a:ext cx="11094415" cy="566928"/>
          </a:xfrm>
          <a:prstGeom prst="rect">
            <a:avLst/>
          </a:prstGeom>
          <a:noFill/>
        </p:spPr>
        <p:txBody>
          <a:bodyPr wrap="square" lIns="0" rIns="0" tIns="0" bIns="0" anchor="ctr">
            <a:spAutoFit/>
          </a:bodyPr>
          <a:lstStyle/>
          <a:p>
            <a:pPr algn="l">
              <a:lnSpc>
                <a:spcPct val="115000"/>
              </a:lnSpc>
              <a:spcAft>
                <a:spcPts val="0"/>
              </a:spcAft>
            </a:pPr>
            <a:r>
              <a:rPr sz="2600" b="1" i="0">
                <a:solidFill>
                  <a:srgbClr val="14213D"/>
                </a:solidFill>
                <a:latin typeface="Georgia"/>
              </a:rPr>
              <a:t>Collaboration and structured class</a:t>
            </a:r>
          </a:p>
        </p:txBody>
      </p:sp>
      <p:sp>
        <p:nvSpPr>
          <p:cNvPr id="5" name="Rectangle 4"/>
          <p:cNvSpPr/>
          <p:nvPr/>
        </p:nvSpPr>
        <p:spPr>
          <a:xfrm>
            <a:off x="548640" y="6400800"/>
            <a:ext cx="11094415" cy="10972"/>
          </a:xfrm>
          <a:prstGeom prst="rect">
            <a:avLst/>
          </a:prstGeom>
          <a:solidFill>
            <a:srgbClr val="DDDA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48640" y="6473952"/>
            <a:ext cx="7315200" cy="228600"/>
          </a:xfrm>
          <a:prstGeom prst="rect">
            <a:avLst/>
          </a:prstGeom>
          <a:noFill/>
        </p:spPr>
        <p:txBody>
          <a:bodyPr wrap="square" lIns="0" rIns="0" tIns="0" bIns="0" anchor="t">
            <a:spAutoFit/>
          </a:bodyPr>
          <a:lstStyle/>
          <a:p>
            <a:pPr algn="l">
              <a:lnSpc>
                <a:spcPct val="115000"/>
              </a:lnSpc>
              <a:spcAft>
                <a:spcPts val="0"/>
              </a:spcAft>
            </a:pPr>
            <a:r>
              <a:rPr sz="900" b="0" i="0">
                <a:solidFill>
                  <a:srgbClr val="8A93A6"/>
                </a:solidFill>
                <a:latin typeface="Arial"/>
              </a:rPr>
              <a:t>AI Trip Planner  ·  ELEC5620 Stage 1  ·  Mon 10-12 Group 14</a:t>
            </a:r>
          </a:p>
        </p:txBody>
      </p:sp>
      <p:sp>
        <p:nvSpPr>
          <p:cNvPr id="7" name="TextBox 6"/>
          <p:cNvSpPr txBox="1"/>
          <p:nvPr/>
        </p:nvSpPr>
        <p:spPr>
          <a:xfrm>
            <a:off x="9814255" y="6473952"/>
            <a:ext cx="1828800" cy="228600"/>
          </a:xfrm>
          <a:prstGeom prst="rect">
            <a:avLst/>
          </a:prstGeom>
          <a:noFill/>
        </p:spPr>
        <p:txBody>
          <a:bodyPr wrap="square" lIns="0" rIns="0" tIns="0" bIns="0" anchor="t">
            <a:spAutoFit/>
          </a:bodyPr>
          <a:lstStyle/>
          <a:p>
            <a:pPr algn="r">
              <a:lnSpc>
                <a:spcPct val="115000"/>
              </a:lnSpc>
              <a:spcAft>
                <a:spcPts val="0"/>
              </a:spcAft>
            </a:pPr>
            <a:r>
              <a:rPr sz="900" b="0" i="0">
                <a:solidFill>
                  <a:srgbClr val="8A93A6"/>
                </a:solidFill>
                <a:latin typeface="Arial"/>
              </a:rPr>
              <a:t>12 / 24</a:t>
            </a:r>
          </a:p>
        </p:txBody>
      </p:sp>
      <p:sp>
        <p:nvSpPr>
          <p:cNvPr id="8" name="TextBox 7"/>
          <p:cNvSpPr txBox="1"/>
          <p:nvPr/>
        </p:nvSpPr>
        <p:spPr>
          <a:xfrm>
            <a:off x="548640" y="1481328"/>
            <a:ext cx="7863840" cy="274320"/>
          </a:xfrm>
          <a:prstGeom prst="rect">
            <a:avLst/>
          </a:prstGeom>
          <a:noFill/>
        </p:spPr>
        <p:txBody>
          <a:bodyPr wrap="square" lIns="0" rIns="0" tIns="0" bIns="0" anchor="t">
            <a:spAutoFit/>
          </a:bodyPr>
          <a:lstStyle/>
          <a:p>
            <a:pPr algn="l">
              <a:lnSpc>
                <a:spcPct val="115000"/>
              </a:lnSpc>
              <a:spcAft>
                <a:spcPts val="0"/>
              </a:spcAft>
            </a:pPr>
            <a:r>
              <a:rPr sz="1100" b="1" i="0">
                <a:solidFill>
                  <a:srgbClr val="5A6478"/>
                </a:solidFill>
                <a:latin typeface="Arial"/>
              </a:rPr>
              <a:t>COLLABORATION  ·  NEGOTIATE TRIP PLAN</a:t>
            </a:r>
          </a:p>
        </p:txBody>
      </p:sp>
      <p:sp>
        <p:nvSpPr>
          <p:cNvPr id="9" name="Rounded Rectangle 8"/>
          <p:cNvSpPr/>
          <p:nvPr/>
        </p:nvSpPr>
        <p:spPr>
          <a:xfrm>
            <a:off x="548640" y="1801368"/>
            <a:ext cx="7863840" cy="1828800"/>
          </a:xfrm>
          <a:prstGeom prst="roundRect">
            <a:avLst>
              <a:gd name="adj" fmla="val 6000"/>
            </a:avLst>
          </a:prstGeom>
          <a:solidFill>
            <a:srgbClr val="FFFFFF"/>
          </a:solidFill>
          <a:ln w="9525">
            <a:solidFill>
              <a:srgbClr val="E2E5EB"/>
            </a:solidFill>
          </a:ln>
          <a:effectLst>
            <a:outerShdw blurRad="114300" dist="25400" dir="5400000" algn="t" rotWithShape="0">
              <a:srgbClr val="14213D">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collaboration.png"/>
          <p:cNvPicPr>
            <a:picLocks noChangeAspect="1"/>
          </p:cNvPicPr>
          <p:nvPr/>
        </p:nvPicPr>
        <p:blipFill>
          <a:blip r:embed="rId3"/>
          <a:stretch>
            <a:fillRect/>
          </a:stretch>
        </p:blipFill>
        <p:spPr>
          <a:xfrm>
            <a:off x="855079" y="1929384"/>
            <a:ext cx="7250961" cy="1572768"/>
          </a:xfrm>
          <a:prstGeom prst="rect">
            <a:avLst/>
          </a:prstGeom>
        </p:spPr>
      </p:pic>
      <p:sp>
        <p:nvSpPr>
          <p:cNvPr id="11" name="Oval 10"/>
          <p:cNvSpPr/>
          <p:nvPr/>
        </p:nvSpPr>
        <p:spPr>
          <a:xfrm>
            <a:off x="3292010" y="2421331"/>
            <a:ext cx="274320" cy="274320"/>
          </a:xfrm>
          <a:prstGeom prst="ellipse">
            <a:avLst/>
          </a:prstGeom>
          <a:solidFill>
            <a:srgbClr val="C2571A"/>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Arial"/>
              </a:rPr>
              <a:t>1</a:t>
            </a:r>
          </a:p>
        </p:txBody>
      </p:sp>
      <p:sp>
        <p:nvSpPr>
          <p:cNvPr id="12" name="TextBox 11"/>
          <p:cNvSpPr txBox="1"/>
          <p:nvPr/>
        </p:nvSpPr>
        <p:spPr>
          <a:xfrm>
            <a:off x="548640" y="3858768"/>
            <a:ext cx="7863840" cy="274320"/>
          </a:xfrm>
          <a:prstGeom prst="rect">
            <a:avLst/>
          </a:prstGeom>
          <a:noFill/>
        </p:spPr>
        <p:txBody>
          <a:bodyPr wrap="square" lIns="0" rIns="0" tIns="0" bIns="0" anchor="t">
            <a:spAutoFit/>
          </a:bodyPr>
          <a:lstStyle/>
          <a:p>
            <a:pPr algn="l">
              <a:lnSpc>
                <a:spcPct val="115000"/>
              </a:lnSpc>
              <a:spcAft>
                <a:spcPts val="0"/>
              </a:spcAft>
            </a:pPr>
            <a:r>
              <a:rPr sz="1100" b="1" i="0">
                <a:solidFill>
                  <a:srgbClr val="5A6478"/>
                </a:solidFill>
                <a:latin typeface="Arial"/>
              </a:rPr>
              <a:t>STRUCTURED CLASS  ·  TRIPPLANNINGWORKFLOW</a:t>
            </a:r>
          </a:p>
        </p:txBody>
      </p:sp>
      <p:sp>
        <p:nvSpPr>
          <p:cNvPr id="13" name="Rounded Rectangle 12"/>
          <p:cNvSpPr/>
          <p:nvPr/>
        </p:nvSpPr>
        <p:spPr>
          <a:xfrm>
            <a:off x="548640" y="4178808"/>
            <a:ext cx="7863840" cy="2057400"/>
          </a:xfrm>
          <a:prstGeom prst="roundRect">
            <a:avLst>
              <a:gd name="adj" fmla="val 5333"/>
            </a:avLst>
          </a:prstGeom>
          <a:solidFill>
            <a:srgbClr val="FFFFFF"/>
          </a:solidFill>
          <a:ln w="9525">
            <a:solidFill>
              <a:srgbClr val="E2E5EB"/>
            </a:solidFill>
          </a:ln>
          <a:effectLst>
            <a:outerShdw blurRad="114300" dist="25400" dir="5400000" algn="t" rotWithShape="0">
              <a:srgbClr val="14213D">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structured-class.png"/>
          <p:cNvPicPr>
            <a:picLocks noChangeAspect="1"/>
          </p:cNvPicPr>
          <p:nvPr/>
        </p:nvPicPr>
        <p:blipFill>
          <a:blip r:embed="rId4"/>
          <a:stretch>
            <a:fillRect/>
          </a:stretch>
        </p:blipFill>
        <p:spPr>
          <a:xfrm>
            <a:off x="2020954" y="4306824"/>
            <a:ext cx="4919210" cy="1801368"/>
          </a:xfrm>
          <a:prstGeom prst="rect">
            <a:avLst/>
          </a:prstGeom>
        </p:spPr>
      </p:pic>
      <p:sp>
        <p:nvSpPr>
          <p:cNvPr id="15" name="Oval 14"/>
          <p:cNvSpPr/>
          <p:nvPr/>
        </p:nvSpPr>
        <p:spPr>
          <a:xfrm>
            <a:off x="4195823" y="4475896"/>
            <a:ext cx="274320" cy="274320"/>
          </a:xfrm>
          <a:prstGeom prst="ellipse">
            <a:avLst/>
          </a:prstGeom>
          <a:solidFill>
            <a:srgbClr val="C2571A"/>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Arial"/>
              </a:rPr>
              <a:t>2</a:t>
            </a:r>
          </a:p>
        </p:txBody>
      </p:sp>
      <p:sp>
        <p:nvSpPr>
          <p:cNvPr id="16" name="Oval 15"/>
          <p:cNvSpPr/>
          <p:nvPr/>
        </p:nvSpPr>
        <p:spPr>
          <a:xfrm>
            <a:off x="5991335" y="4205691"/>
            <a:ext cx="274320" cy="274320"/>
          </a:xfrm>
          <a:prstGeom prst="ellipse">
            <a:avLst/>
          </a:prstGeom>
          <a:solidFill>
            <a:srgbClr val="C2571A"/>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Arial"/>
              </a:rPr>
              <a:t>3</a:t>
            </a:r>
          </a:p>
        </p:txBody>
      </p:sp>
      <p:sp>
        <p:nvSpPr>
          <p:cNvPr id="17" name="Oval 16"/>
          <p:cNvSpPr/>
          <p:nvPr/>
        </p:nvSpPr>
        <p:spPr>
          <a:xfrm>
            <a:off x="8686800" y="1581912"/>
            <a:ext cx="256032" cy="256032"/>
          </a:xfrm>
          <a:prstGeom prst="ellipse">
            <a:avLst/>
          </a:prstGeom>
          <a:solidFill>
            <a:srgbClr val="C2571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50" b="1">
                <a:solidFill>
                  <a:srgbClr val="FFFFFF"/>
                </a:solidFill>
                <a:latin typeface="Arial"/>
              </a:rPr>
              <a:t>1</a:t>
            </a:r>
          </a:p>
        </p:txBody>
      </p:sp>
      <p:sp>
        <p:nvSpPr>
          <p:cNvPr id="18" name="TextBox 17"/>
          <p:cNvSpPr txBox="1"/>
          <p:nvPr/>
        </p:nvSpPr>
        <p:spPr>
          <a:xfrm>
            <a:off x="9070848" y="1572768"/>
            <a:ext cx="2572207" cy="1371600"/>
          </a:xfrm>
          <a:prstGeom prst="rect">
            <a:avLst/>
          </a:prstGeom>
          <a:noFill/>
        </p:spPr>
        <p:txBody>
          <a:bodyPr wrap="square" lIns="0" rIns="0" tIns="0" bIns="0" anchor="t">
            <a:spAutoFit/>
          </a:bodyPr>
          <a:lstStyle/>
          <a:p>
            <a:pPr algn="l">
              <a:lnSpc>
                <a:spcPct val="115000"/>
              </a:lnSpc>
              <a:spcAft>
                <a:spcPts val="200"/>
              </a:spcAft>
            </a:pPr>
            <a:r>
              <a:rPr sz="1300" b="1" i="0">
                <a:solidFill>
                  <a:srgbClr val="14213D"/>
                </a:solidFill>
                <a:latin typeface="Arial"/>
              </a:rPr>
              <a:t>Roles, not classes</a:t>
            </a:r>
          </a:p>
          <a:p>
            <a:pPr algn="l">
              <a:lnSpc>
                <a:spcPct val="115000"/>
              </a:lnSpc>
              <a:spcAft>
                <a:spcPts val="200"/>
              </a:spcAft>
            </a:pPr>
            <a:r>
              <a:rPr sz="1300" b="0" i="0">
                <a:solidFill>
                  <a:srgbClr val="2A3550"/>
                </a:solidFill>
                <a:latin typeface="Arial"/>
              </a:rPr>
              <a:t>My budget code plays the judge: it turns proposals into targeted revision requests.</a:t>
            </a:r>
          </a:p>
        </p:txBody>
      </p:sp>
      <p:sp>
        <p:nvSpPr>
          <p:cNvPr id="19" name="Oval 18"/>
          <p:cNvSpPr/>
          <p:nvPr/>
        </p:nvSpPr>
        <p:spPr>
          <a:xfrm>
            <a:off x="8686800" y="3090672"/>
            <a:ext cx="256032" cy="256032"/>
          </a:xfrm>
          <a:prstGeom prst="ellipse">
            <a:avLst/>
          </a:prstGeom>
          <a:solidFill>
            <a:srgbClr val="C2571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50" b="1">
                <a:solidFill>
                  <a:srgbClr val="FFFFFF"/>
                </a:solidFill>
                <a:latin typeface="Arial"/>
              </a:rPr>
              <a:t>2</a:t>
            </a:r>
          </a:p>
        </p:txBody>
      </p:sp>
      <p:sp>
        <p:nvSpPr>
          <p:cNvPr id="20" name="TextBox 19"/>
          <p:cNvSpPr txBox="1"/>
          <p:nvPr/>
        </p:nvSpPr>
        <p:spPr>
          <a:xfrm>
            <a:off x="9070848" y="3081528"/>
            <a:ext cx="2572207" cy="1371600"/>
          </a:xfrm>
          <a:prstGeom prst="rect">
            <a:avLst/>
          </a:prstGeom>
          <a:noFill/>
        </p:spPr>
        <p:txBody>
          <a:bodyPr wrap="square" lIns="0" rIns="0" tIns="0" bIns="0" anchor="t">
            <a:spAutoFit/>
          </a:bodyPr>
          <a:lstStyle/>
          <a:p>
            <a:pPr algn="l">
              <a:lnSpc>
                <a:spcPct val="115000"/>
              </a:lnSpc>
              <a:spcAft>
                <a:spcPts val="200"/>
              </a:spcAft>
            </a:pPr>
            <a:r>
              <a:rPr sz="1300" b="1" i="0">
                <a:solidFill>
                  <a:srgbClr val="14213D"/>
                </a:solidFill>
                <a:latin typeface="Arial"/>
              </a:rPr>
              <a:t>Parts with multiplicity</a:t>
            </a:r>
          </a:p>
          <a:p>
            <a:pPr algn="l">
              <a:lnSpc>
                <a:spcPct val="115000"/>
              </a:lnSpc>
              <a:spcAft>
                <a:spcPts val="200"/>
              </a:spcAft>
            </a:pPr>
            <a:r>
              <a:rPr sz="1300" b="0" i="0">
                <a:solidFill>
                  <a:srgbClr val="2A3550"/>
                </a:solidFill>
                <a:latin typeface="Arial"/>
              </a:rPr>
              <a:t>The policy and budget calculator are parts of the workflow, one of each.</a:t>
            </a:r>
          </a:p>
        </p:txBody>
      </p:sp>
      <p:sp>
        <p:nvSpPr>
          <p:cNvPr id="21" name="Oval 20"/>
          <p:cNvSpPr/>
          <p:nvPr/>
        </p:nvSpPr>
        <p:spPr>
          <a:xfrm>
            <a:off x="8686800" y="4599431"/>
            <a:ext cx="256032" cy="256032"/>
          </a:xfrm>
          <a:prstGeom prst="ellipse">
            <a:avLst/>
          </a:prstGeom>
          <a:solidFill>
            <a:srgbClr val="C2571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50" b="1">
                <a:solidFill>
                  <a:srgbClr val="FFFFFF"/>
                </a:solidFill>
                <a:latin typeface="Arial"/>
              </a:rPr>
              <a:t>3</a:t>
            </a:r>
          </a:p>
        </p:txBody>
      </p:sp>
      <p:sp>
        <p:nvSpPr>
          <p:cNvPr id="22" name="TextBox 21"/>
          <p:cNvSpPr txBox="1"/>
          <p:nvPr/>
        </p:nvSpPr>
        <p:spPr>
          <a:xfrm>
            <a:off x="9070848" y="4590288"/>
            <a:ext cx="2572207" cy="1371600"/>
          </a:xfrm>
          <a:prstGeom prst="rect">
            <a:avLst/>
          </a:prstGeom>
          <a:noFill/>
        </p:spPr>
        <p:txBody>
          <a:bodyPr wrap="square" lIns="0" rIns="0" tIns="0" bIns="0" anchor="t">
            <a:spAutoFit/>
          </a:bodyPr>
          <a:lstStyle/>
          <a:p>
            <a:pPr algn="l">
              <a:lnSpc>
                <a:spcPct val="115000"/>
              </a:lnSpc>
              <a:spcAft>
                <a:spcPts val="200"/>
              </a:spcAft>
            </a:pPr>
            <a:r>
              <a:rPr sz="1300" b="1" i="0">
                <a:solidFill>
                  <a:srgbClr val="14213D"/>
                </a:solidFill>
                <a:latin typeface="Arial"/>
              </a:rPr>
              <a:t>Injected ports</a:t>
            </a:r>
          </a:p>
          <a:p>
            <a:pPr algn="l">
              <a:lnSpc>
                <a:spcPct val="115000"/>
              </a:lnSpc>
              <a:spcAft>
                <a:spcPts val="200"/>
              </a:spcAft>
            </a:pPr>
            <a:r>
              <a:rPr sz="1300" b="0" i="0">
                <a:solidFill>
                  <a:srgbClr val="2A3550"/>
                </a:solidFill>
                <a:latin typeface="Arial"/>
              </a:rPr>
              <a:t>Plan, progress, tools, memory and model enter only through ports, so tests swap them.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6F1"/>
        </a:solidFill>
        <a:effectLst/>
      </p:bgPr>
    </p:bg>
    <p:spTree>
      <p:nvGrpSpPr>
        <p:cNvPr id="1" name=""/>
        <p:cNvGrpSpPr/>
        <p:nvPr/>
      </p:nvGrpSpPr>
      <p:grpSpPr/>
      <p:sp>
        <p:nvSpPr>
          <p:cNvPr id="2" name="Rectangle 1"/>
          <p:cNvSpPr/>
          <p:nvPr/>
        </p:nvSpPr>
        <p:spPr>
          <a:xfrm>
            <a:off x="0" y="0"/>
            <a:ext cx="100584" cy="6858000"/>
          </a:xfrm>
          <a:prstGeom prst="rect">
            <a:avLst/>
          </a:prstGeom>
          <a:solidFill>
            <a:srgbClr val="C25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47472"/>
            <a:ext cx="5943600" cy="274320"/>
          </a:xfrm>
          <a:prstGeom prst="rect">
            <a:avLst/>
          </a:prstGeom>
          <a:noFill/>
        </p:spPr>
        <p:txBody>
          <a:bodyPr wrap="square" lIns="0" rIns="0" tIns="0" bIns="0" anchor="ctr">
            <a:spAutoFit/>
          </a:bodyPr>
          <a:lstStyle/>
          <a:p>
            <a:pPr algn="l">
              <a:lnSpc>
                <a:spcPct val="115000"/>
              </a:lnSpc>
              <a:spcAft>
                <a:spcPts val="0"/>
              </a:spcAft>
            </a:pPr>
            <a:r>
              <a:rPr sz="1000" b="1" i="0">
                <a:solidFill>
                  <a:srgbClr val="C2571A"/>
                </a:solidFill>
                <a:latin typeface="Arial"/>
              </a:rPr>
              <a:t>ACTIVITY DIAGRAM · UC-C1</a:t>
            </a:r>
          </a:p>
        </p:txBody>
      </p:sp>
      <p:sp>
        <p:nvSpPr>
          <p:cNvPr id="4" name="TextBox 3"/>
          <p:cNvSpPr txBox="1"/>
          <p:nvPr/>
        </p:nvSpPr>
        <p:spPr>
          <a:xfrm>
            <a:off x="548640" y="731520"/>
            <a:ext cx="11094415" cy="566928"/>
          </a:xfrm>
          <a:prstGeom prst="rect">
            <a:avLst/>
          </a:prstGeom>
          <a:noFill/>
        </p:spPr>
        <p:txBody>
          <a:bodyPr wrap="square" lIns="0" rIns="0" tIns="0" bIns="0" anchor="ctr">
            <a:spAutoFit/>
          </a:bodyPr>
          <a:lstStyle/>
          <a:p>
            <a:pPr algn="l">
              <a:lnSpc>
                <a:spcPct val="115000"/>
              </a:lnSpc>
              <a:spcAft>
                <a:spcPts val="0"/>
              </a:spcAft>
            </a:pPr>
            <a:r>
              <a:rPr sz="2600" b="1" i="0">
                <a:solidFill>
                  <a:srgbClr val="14213D"/>
                </a:solidFill>
                <a:latin typeface="Georgia"/>
              </a:rPr>
              <a:t>The LLM chooses once; code checks before any price</a:t>
            </a:r>
          </a:p>
        </p:txBody>
      </p:sp>
      <p:sp>
        <p:nvSpPr>
          <p:cNvPr id="5" name="Rectangle 4"/>
          <p:cNvSpPr/>
          <p:nvPr/>
        </p:nvSpPr>
        <p:spPr>
          <a:xfrm>
            <a:off x="548640" y="6400800"/>
            <a:ext cx="11094415" cy="10972"/>
          </a:xfrm>
          <a:prstGeom prst="rect">
            <a:avLst/>
          </a:prstGeom>
          <a:solidFill>
            <a:srgbClr val="DDDA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48640" y="6473952"/>
            <a:ext cx="7315200" cy="228600"/>
          </a:xfrm>
          <a:prstGeom prst="rect">
            <a:avLst/>
          </a:prstGeom>
          <a:noFill/>
        </p:spPr>
        <p:txBody>
          <a:bodyPr wrap="square" lIns="0" rIns="0" tIns="0" bIns="0" anchor="t">
            <a:spAutoFit/>
          </a:bodyPr>
          <a:lstStyle/>
          <a:p>
            <a:pPr algn="l">
              <a:lnSpc>
                <a:spcPct val="115000"/>
              </a:lnSpc>
              <a:spcAft>
                <a:spcPts val="0"/>
              </a:spcAft>
            </a:pPr>
            <a:r>
              <a:rPr sz="900" b="0" i="0">
                <a:solidFill>
                  <a:srgbClr val="8A93A6"/>
                </a:solidFill>
                <a:latin typeface="Arial"/>
              </a:rPr>
              <a:t>AI Trip Planner  ·  ELEC5620 Stage 1  ·  Mon 10-12 Group 14</a:t>
            </a:r>
          </a:p>
        </p:txBody>
      </p:sp>
      <p:sp>
        <p:nvSpPr>
          <p:cNvPr id="7" name="TextBox 6"/>
          <p:cNvSpPr txBox="1"/>
          <p:nvPr/>
        </p:nvSpPr>
        <p:spPr>
          <a:xfrm>
            <a:off x="9814255" y="6473952"/>
            <a:ext cx="1828800" cy="228600"/>
          </a:xfrm>
          <a:prstGeom prst="rect">
            <a:avLst/>
          </a:prstGeom>
          <a:noFill/>
        </p:spPr>
        <p:txBody>
          <a:bodyPr wrap="square" lIns="0" rIns="0" tIns="0" bIns="0" anchor="t">
            <a:spAutoFit/>
          </a:bodyPr>
          <a:lstStyle/>
          <a:p>
            <a:pPr algn="r">
              <a:lnSpc>
                <a:spcPct val="115000"/>
              </a:lnSpc>
              <a:spcAft>
                <a:spcPts val="0"/>
              </a:spcAft>
            </a:pPr>
            <a:r>
              <a:rPr sz="900" b="0" i="0">
                <a:solidFill>
                  <a:srgbClr val="8A93A6"/>
                </a:solidFill>
                <a:latin typeface="Arial"/>
              </a:rPr>
              <a:t>13 / 24</a:t>
            </a:r>
          </a:p>
        </p:txBody>
      </p:sp>
      <p:sp>
        <p:nvSpPr>
          <p:cNvPr id="8" name="Rounded Rectangle 7"/>
          <p:cNvSpPr/>
          <p:nvPr/>
        </p:nvSpPr>
        <p:spPr>
          <a:xfrm>
            <a:off x="548640" y="1481328"/>
            <a:ext cx="11094415" cy="3703320"/>
          </a:xfrm>
          <a:prstGeom prst="roundRect">
            <a:avLst>
              <a:gd name="adj" fmla="val 2962"/>
            </a:avLst>
          </a:prstGeom>
          <a:solidFill>
            <a:srgbClr val="FFFFFF"/>
          </a:solidFill>
          <a:ln w="9525">
            <a:solidFill>
              <a:srgbClr val="E2E5EB"/>
            </a:solidFill>
          </a:ln>
          <a:effectLst>
            <a:outerShdw blurRad="114300" dist="25400" dir="5400000" algn="t" rotWithShape="0">
              <a:srgbClr val="14213D">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c-activity.png"/>
          <p:cNvPicPr>
            <a:picLocks noChangeAspect="1"/>
          </p:cNvPicPr>
          <p:nvPr/>
        </p:nvPicPr>
        <p:blipFill>
          <a:blip r:embed="rId3"/>
          <a:stretch>
            <a:fillRect/>
          </a:stretch>
        </p:blipFill>
        <p:spPr>
          <a:xfrm>
            <a:off x="838545" y="1609344"/>
            <a:ext cx="10514603" cy="3447287"/>
          </a:xfrm>
          <a:prstGeom prst="rect">
            <a:avLst/>
          </a:prstGeom>
        </p:spPr>
      </p:pic>
      <p:sp>
        <p:nvSpPr>
          <p:cNvPr id="10" name="Oval 9"/>
          <p:cNvSpPr/>
          <p:nvPr/>
        </p:nvSpPr>
        <p:spPr>
          <a:xfrm>
            <a:off x="9113068" y="3885285"/>
            <a:ext cx="274320" cy="274320"/>
          </a:xfrm>
          <a:prstGeom prst="ellipse">
            <a:avLst/>
          </a:prstGeom>
          <a:solidFill>
            <a:srgbClr val="C2571A"/>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Arial"/>
              </a:rPr>
              <a:t>1</a:t>
            </a:r>
          </a:p>
        </p:txBody>
      </p:sp>
      <p:sp>
        <p:nvSpPr>
          <p:cNvPr id="11" name="Oval 10"/>
          <p:cNvSpPr/>
          <p:nvPr/>
        </p:nvSpPr>
        <p:spPr>
          <a:xfrm>
            <a:off x="3960912" y="2575316"/>
            <a:ext cx="274320" cy="274320"/>
          </a:xfrm>
          <a:prstGeom prst="ellipse">
            <a:avLst/>
          </a:prstGeom>
          <a:solidFill>
            <a:srgbClr val="C2571A"/>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Arial"/>
              </a:rPr>
              <a:t>2</a:t>
            </a:r>
          </a:p>
        </p:txBody>
      </p:sp>
      <p:sp>
        <p:nvSpPr>
          <p:cNvPr id="12" name="Oval 11"/>
          <p:cNvSpPr/>
          <p:nvPr/>
        </p:nvSpPr>
        <p:spPr>
          <a:xfrm>
            <a:off x="2068284" y="1747967"/>
            <a:ext cx="274320" cy="274320"/>
          </a:xfrm>
          <a:prstGeom prst="ellipse">
            <a:avLst/>
          </a:prstGeom>
          <a:solidFill>
            <a:srgbClr val="C2571A"/>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Arial"/>
              </a:rPr>
              <a:t>3</a:t>
            </a:r>
          </a:p>
        </p:txBody>
      </p:sp>
      <p:sp>
        <p:nvSpPr>
          <p:cNvPr id="13" name="Oval 12"/>
          <p:cNvSpPr/>
          <p:nvPr/>
        </p:nvSpPr>
        <p:spPr>
          <a:xfrm>
            <a:off x="7746170" y="2609789"/>
            <a:ext cx="274320" cy="274320"/>
          </a:xfrm>
          <a:prstGeom prst="ellipse">
            <a:avLst/>
          </a:prstGeom>
          <a:solidFill>
            <a:srgbClr val="C2571A"/>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Arial"/>
              </a:rPr>
              <a:t>4</a:t>
            </a:r>
          </a:p>
        </p:txBody>
      </p:sp>
      <p:sp>
        <p:nvSpPr>
          <p:cNvPr id="14" name="Oval 13"/>
          <p:cNvSpPr/>
          <p:nvPr/>
        </p:nvSpPr>
        <p:spPr>
          <a:xfrm>
            <a:off x="548640" y="5422392"/>
            <a:ext cx="256032" cy="256032"/>
          </a:xfrm>
          <a:prstGeom prst="ellipse">
            <a:avLst/>
          </a:prstGeom>
          <a:solidFill>
            <a:srgbClr val="C2571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50" b="1">
                <a:solidFill>
                  <a:srgbClr val="FFFFFF"/>
                </a:solidFill>
                <a:latin typeface="Arial"/>
              </a:rPr>
              <a:t>1</a:t>
            </a:r>
          </a:p>
        </p:txBody>
      </p:sp>
      <p:sp>
        <p:nvSpPr>
          <p:cNvPr id="15" name="TextBox 14"/>
          <p:cNvSpPr txBox="1"/>
          <p:nvPr/>
        </p:nvSpPr>
        <p:spPr>
          <a:xfrm>
            <a:off x="932688" y="5413248"/>
            <a:ext cx="2252395" cy="868680"/>
          </a:xfrm>
          <a:prstGeom prst="rect">
            <a:avLst/>
          </a:prstGeom>
          <a:noFill/>
        </p:spPr>
        <p:txBody>
          <a:bodyPr wrap="square" lIns="0" rIns="0" tIns="0" bIns="0" anchor="t">
            <a:spAutoFit/>
          </a:bodyPr>
          <a:lstStyle/>
          <a:p>
            <a:pPr algn="l">
              <a:lnSpc>
                <a:spcPct val="115000"/>
              </a:lnSpc>
              <a:spcAft>
                <a:spcPts val="200"/>
              </a:spcAft>
            </a:pPr>
            <a:r>
              <a:rPr sz="1250" b="1" i="0">
                <a:solidFill>
                  <a:srgbClr val="14213D"/>
                </a:solidFill>
                <a:latin typeface="Arial"/>
              </a:rPr>
              <a:t>LLM, once</a:t>
            </a:r>
          </a:p>
          <a:p>
            <a:pPr algn="l">
              <a:lnSpc>
                <a:spcPct val="115000"/>
              </a:lnSpc>
              <a:spcAft>
                <a:spcPts val="200"/>
              </a:spcAft>
            </a:pPr>
            <a:r>
              <a:rPr sz="1250" b="0" i="0">
                <a:solidFill>
                  <a:srgbClr val="2A3550"/>
                </a:solidFill>
                <a:latin typeface="Arial"/>
              </a:rPr>
              <a:t>Chooses one candidate id per stay.</a:t>
            </a:r>
          </a:p>
        </p:txBody>
      </p:sp>
      <p:sp>
        <p:nvSpPr>
          <p:cNvPr id="16" name="Oval 15"/>
          <p:cNvSpPr/>
          <p:nvPr/>
        </p:nvSpPr>
        <p:spPr>
          <a:xfrm>
            <a:off x="3367963" y="5422392"/>
            <a:ext cx="256032" cy="256032"/>
          </a:xfrm>
          <a:prstGeom prst="ellipse">
            <a:avLst/>
          </a:prstGeom>
          <a:solidFill>
            <a:srgbClr val="C2571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50" b="1">
                <a:solidFill>
                  <a:srgbClr val="FFFFFF"/>
                </a:solidFill>
                <a:latin typeface="Arial"/>
              </a:rPr>
              <a:t>2</a:t>
            </a:r>
          </a:p>
        </p:txBody>
      </p:sp>
      <p:sp>
        <p:nvSpPr>
          <p:cNvPr id="17" name="TextBox 16"/>
          <p:cNvSpPr txBox="1"/>
          <p:nvPr/>
        </p:nvSpPr>
        <p:spPr>
          <a:xfrm>
            <a:off x="3752011" y="5413248"/>
            <a:ext cx="2252395" cy="868680"/>
          </a:xfrm>
          <a:prstGeom prst="rect">
            <a:avLst/>
          </a:prstGeom>
          <a:noFill/>
        </p:spPr>
        <p:txBody>
          <a:bodyPr wrap="square" lIns="0" rIns="0" tIns="0" bIns="0" anchor="t">
            <a:spAutoFit/>
          </a:bodyPr>
          <a:lstStyle/>
          <a:p>
            <a:pPr algn="l">
              <a:lnSpc>
                <a:spcPct val="115000"/>
              </a:lnSpc>
              <a:spcAft>
                <a:spcPts val="200"/>
              </a:spcAft>
            </a:pPr>
            <a:r>
              <a:rPr sz="1250" b="1" i="0">
                <a:solidFill>
                  <a:srgbClr val="14213D"/>
                </a:solidFill>
                <a:latin typeface="Arial"/>
              </a:rPr>
              <a:t>Guarded</a:t>
            </a:r>
          </a:p>
          <a:p>
            <a:pPr algn="l">
              <a:lnSpc>
                <a:spcPct val="115000"/>
              </a:lnSpc>
              <a:spcAft>
                <a:spcPts val="200"/>
              </a:spcAft>
            </a:pPr>
            <a:r>
              <a:rPr sz="1250" b="0" i="0">
                <a:solidFill>
                  <a:srgbClr val="2A3550"/>
                </a:solidFill>
                <a:latin typeface="Arial"/>
              </a:rPr>
              <a:t>Unknown id or off-schema output falls back to a deterministic pick.</a:t>
            </a:r>
          </a:p>
        </p:txBody>
      </p:sp>
      <p:sp>
        <p:nvSpPr>
          <p:cNvPr id="18" name="Oval 17"/>
          <p:cNvSpPr/>
          <p:nvPr/>
        </p:nvSpPr>
        <p:spPr>
          <a:xfrm>
            <a:off x="6187287" y="5422392"/>
            <a:ext cx="256032" cy="256032"/>
          </a:xfrm>
          <a:prstGeom prst="ellipse">
            <a:avLst/>
          </a:prstGeom>
          <a:solidFill>
            <a:srgbClr val="C2571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50" b="1">
                <a:solidFill>
                  <a:srgbClr val="FFFFFF"/>
                </a:solidFill>
                <a:latin typeface="Arial"/>
              </a:rPr>
              <a:t>3</a:t>
            </a:r>
          </a:p>
        </p:txBody>
      </p:sp>
      <p:sp>
        <p:nvSpPr>
          <p:cNvPr id="19" name="TextBox 18"/>
          <p:cNvSpPr txBox="1"/>
          <p:nvPr/>
        </p:nvSpPr>
        <p:spPr>
          <a:xfrm>
            <a:off x="6571335" y="5413248"/>
            <a:ext cx="2252395" cy="868680"/>
          </a:xfrm>
          <a:prstGeom prst="rect">
            <a:avLst/>
          </a:prstGeom>
          <a:noFill/>
        </p:spPr>
        <p:txBody>
          <a:bodyPr wrap="square" lIns="0" rIns="0" tIns="0" bIns="0" anchor="t">
            <a:spAutoFit/>
          </a:bodyPr>
          <a:lstStyle/>
          <a:p>
            <a:pPr algn="l">
              <a:lnSpc>
                <a:spcPct val="115000"/>
              </a:lnSpc>
              <a:spcAft>
                <a:spcPts val="200"/>
              </a:spcAft>
            </a:pPr>
            <a:r>
              <a:rPr sz="1250" b="1" i="0">
                <a:solidFill>
                  <a:srgbClr val="14213D"/>
                </a:solidFill>
                <a:latin typeface="Arial"/>
              </a:rPr>
              <a:t>Booked stay</a:t>
            </a:r>
          </a:p>
          <a:p>
            <a:pPr algn="l">
              <a:lnSpc>
                <a:spcPct val="115000"/>
              </a:lnSpc>
              <a:spcAft>
                <a:spcPts val="200"/>
              </a:spcAft>
            </a:pPr>
            <a:r>
              <a:rPr sz="1250" b="0" i="0">
                <a:solidFill>
                  <a:srgbClr val="2A3550"/>
                </a:solidFill>
                <a:latin typeface="Arial"/>
              </a:rPr>
              <a:t>Skips the search entirely.</a:t>
            </a:r>
          </a:p>
        </p:txBody>
      </p:sp>
      <p:sp>
        <p:nvSpPr>
          <p:cNvPr id="20" name="Oval 19"/>
          <p:cNvSpPr/>
          <p:nvPr/>
        </p:nvSpPr>
        <p:spPr>
          <a:xfrm>
            <a:off x="9006611" y="5422392"/>
            <a:ext cx="256032" cy="256032"/>
          </a:xfrm>
          <a:prstGeom prst="ellipse">
            <a:avLst/>
          </a:prstGeom>
          <a:solidFill>
            <a:srgbClr val="C2571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50" b="1">
                <a:solidFill>
                  <a:srgbClr val="FFFFFF"/>
                </a:solidFill>
                <a:latin typeface="Arial"/>
              </a:rPr>
              <a:t>4</a:t>
            </a:r>
          </a:p>
        </p:txBody>
      </p:sp>
      <p:sp>
        <p:nvSpPr>
          <p:cNvPr id="21" name="TextBox 20"/>
          <p:cNvSpPr txBox="1"/>
          <p:nvPr/>
        </p:nvSpPr>
        <p:spPr>
          <a:xfrm>
            <a:off x="9390659" y="5413248"/>
            <a:ext cx="2252395" cy="868680"/>
          </a:xfrm>
          <a:prstGeom prst="rect">
            <a:avLst/>
          </a:prstGeom>
          <a:noFill/>
        </p:spPr>
        <p:txBody>
          <a:bodyPr wrap="square" lIns="0" rIns="0" tIns="0" bIns="0" anchor="t">
            <a:spAutoFit/>
          </a:bodyPr>
          <a:lstStyle/>
          <a:p>
            <a:pPr algn="l">
              <a:lnSpc>
                <a:spcPct val="115000"/>
              </a:lnSpc>
              <a:spcAft>
                <a:spcPts val="200"/>
              </a:spcAft>
            </a:pPr>
            <a:r>
              <a:rPr sz="1250" b="1" i="0">
                <a:solidFill>
                  <a:srgbClr val="14213D"/>
                </a:solidFill>
                <a:latin typeface="Arial"/>
              </a:rPr>
              <a:t>Priced in cents</a:t>
            </a:r>
          </a:p>
          <a:p>
            <a:pPr algn="l">
              <a:lnSpc>
                <a:spcPct val="115000"/>
              </a:lnSpc>
              <a:spcAft>
                <a:spcPts val="200"/>
              </a:spcAft>
            </a:pPr>
            <a:r>
              <a:rPr sz="1250" b="0" i="0">
                <a:solidFill>
                  <a:srgbClr val="2A3550"/>
                </a:solidFill>
                <a:latin typeface="Arial"/>
              </a:rPr>
              <a:t>Plus the cheapest eligible total as the floor.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6F1"/>
        </a:solidFill>
        <a:effectLst/>
      </p:bgPr>
    </p:bg>
    <p:spTree>
      <p:nvGrpSpPr>
        <p:cNvPr id="1" name=""/>
        <p:cNvGrpSpPr/>
        <p:nvPr/>
      </p:nvGrpSpPr>
      <p:grpSpPr/>
      <p:sp>
        <p:nvSpPr>
          <p:cNvPr id="2" name="Rectangle 1"/>
          <p:cNvSpPr/>
          <p:nvPr/>
        </p:nvSpPr>
        <p:spPr>
          <a:xfrm>
            <a:off x="0" y="0"/>
            <a:ext cx="100584" cy="6858000"/>
          </a:xfrm>
          <a:prstGeom prst="rect">
            <a:avLst/>
          </a:prstGeom>
          <a:solidFill>
            <a:srgbClr val="C25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47472"/>
            <a:ext cx="5943600" cy="274320"/>
          </a:xfrm>
          <a:prstGeom prst="rect">
            <a:avLst/>
          </a:prstGeom>
          <a:noFill/>
        </p:spPr>
        <p:txBody>
          <a:bodyPr wrap="square" lIns="0" rIns="0" tIns="0" bIns="0" anchor="ctr">
            <a:spAutoFit/>
          </a:bodyPr>
          <a:lstStyle/>
          <a:p>
            <a:pPr algn="l">
              <a:lnSpc>
                <a:spcPct val="115000"/>
              </a:lnSpc>
              <a:spcAft>
                <a:spcPts val="0"/>
              </a:spcAft>
            </a:pPr>
            <a:r>
              <a:rPr sz="1000" b="1" i="0">
                <a:solidFill>
                  <a:srgbClr val="C2571A"/>
                </a:solidFill>
                <a:latin typeface="Arial"/>
              </a:rPr>
              <a:t>SEQUENCE DIAGRAM · UC-C2</a:t>
            </a:r>
          </a:p>
        </p:txBody>
      </p:sp>
      <p:sp>
        <p:nvSpPr>
          <p:cNvPr id="4" name="TextBox 3"/>
          <p:cNvSpPr txBox="1"/>
          <p:nvPr/>
        </p:nvSpPr>
        <p:spPr>
          <a:xfrm>
            <a:off x="548640" y="731520"/>
            <a:ext cx="11094415" cy="566928"/>
          </a:xfrm>
          <a:prstGeom prst="rect">
            <a:avLst/>
          </a:prstGeom>
          <a:noFill/>
        </p:spPr>
        <p:txBody>
          <a:bodyPr wrap="square" lIns="0" rIns="0" tIns="0" bIns="0" anchor="ctr">
            <a:spAutoFit/>
          </a:bodyPr>
          <a:lstStyle/>
          <a:p>
            <a:pPr algn="l">
              <a:lnSpc>
                <a:spcPct val="115000"/>
              </a:lnSpc>
              <a:spcAft>
                <a:spcPts val="0"/>
              </a:spcAft>
            </a:pPr>
            <a:r>
              <a:rPr sz="2600" b="1" i="0">
                <a:solidFill>
                  <a:srgbClr val="14213D"/>
                </a:solidFill>
                <a:latin typeface="Georgia"/>
              </a:rPr>
              <a:t>Budget overrun and a targeted revision</a:t>
            </a:r>
          </a:p>
        </p:txBody>
      </p:sp>
      <p:sp>
        <p:nvSpPr>
          <p:cNvPr id="5" name="Rectangle 4"/>
          <p:cNvSpPr/>
          <p:nvPr/>
        </p:nvSpPr>
        <p:spPr>
          <a:xfrm>
            <a:off x="548640" y="6400800"/>
            <a:ext cx="11094415" cy="10972"/>
          </a:xfrm>
          <a:prstGeom prst="rect">
            <a:avLst/>
          </a:prstGeom>
          <a:solidFill>
            <a:srgbClr val="DDDA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48640" y="6473952"/>
            <a:ext cx="7315200" cy="228600"/>
          </a:xfrm>
          <a:prstGeom prst="rect">
            <a:avLst/>
          </a:prstGeom>
          <a:noFill/>
        </p:spPr>
        <p:txBody>
          <a:bodyPr wrap="square" lIns="0" rIns="0" tIns="0" bIns="0" anchor="t">
            <a:spAutoFit/>
          </a:bodyPr>
          <a:lstStyle/>
          <a:p>
            <a:pPr algn="l">
              <a:lnSpc>
                <a:spcPct val="115000"/>
              </a:lnSpc>
              <a:spcAft>
                <a:spcPts val="0"/>
              </a:spcAft>
            </a:pPr>
            <a:r>
              <a:rPr sz="900" b="0" i="0">
                <a:solidFill>
                  <a:srgbClr val="8A93A6"/>
                </a:solidFill>
                <a:latin typeface="Arial"/>
              </a:rPr>
              <a:t>AI Trip Planner  ·  ELEC5620 Stage 1  ·  Mon 10-12 Group 14</a:t>
            </a:r>
          </a:p>
        </p:txBody>
      </p:sp>
      <p:sp>
        <p:nvSpPr>
          <p:cNvPr id="7" name="TextBox 6"/>
          <p:cNvSpPr txBox="1"/>
          <p:nvPr/>
        </p:nvSpPr>
        <p:spPr>
          <a:xfrm>
            <a:off x="9814255" y="6473952"/>
            <a:ext cx="1828800" cy="228600"/>
          </a:xfrm>
          <a:prstGeom prst="rect">
            <a:avLst/>
          </a:prstGeom>
          <a:noFill/>
        </p:spPr>
        <p:txBody>
          <a:bodyPr wrap="square" lIns="0" rIns="0" tIns="0" bIns="0" anchor="t">
            <a:spAutoFit/>
          </a:bodyPr>
          <a:lstStyle/>
          <a:p>
            <a:pPr algn="r">
              <a:lnSpc>
                <a:spcPct val="115000"/>
              </a:lnSpc>
              <a:spcAft>
                <a:spcPts val="0"/>
              </a:spcAft>
            </a:pPr>
            <a:r>
              <a:rPr sz="900" b="0" i="0">
                <a:solidFill>
                  <a:srgbClr val="8A93A6"/>
                </a:solidFill>
                <a:latin typeface="Arial"/>
              </a:rPr>
              <a:t>14 / 24</a:t>
            </a:r>
          </a:p>
        </p:txBody>
      </p:sp>
      <p:sp>
        <p:nvSpPr>
          <p:cNvPr id="8" name="Rounded Rectangle 7"/>
          <p:cNvSpPr/>
          <p:nvPr/>
        </p:nvSpPr>
        <p:spPr>
          <a:xfrm>
            <a:off x="548640" y="1481328"/>
            <a:ext cx="7223760" cy="4754880"/>
          </a:xfrm>
          <a:prstGeom prst="roundRect">
            <a:avLst>
              <a:gd name="adj" fmla="val 2307"/>
            </a:avLst>
          </a:prstGeom>
          <a:solidFill>
            <a:srgbClr val="FFFFFF"/>
          </a:solidFill>
          <a:ln w="9525">
            <a:solidFill>
              <a:srgbClr val="E2E5EB"/>
            </a:solidFill>
          </a:ln>
          <a:effectLst>
            <a:outerShdw blurRad="114300" dist="25400" dir="5400000" algn="t" rotWithShape="0">
              <a:srgbClr val="14213D">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c-sequence.png"/>
          <p:cNvPicPr>
            <a:picLocks noChangeAspect="1"/>
          </p:cNvPicPr>
          <p:nvPr/>
        </p:nvPicPr>
        <p:blipFill>
          <a:blip r:embed="rId3"/>
          <a:stretch>
            <a:fillRect/>
          </a:stretch>
        </p:blipFill>
        <p:spPr>
          <a:xfrm>
            <a:off x="1223752" y="1609344"/>
            <a:ext cx="5873534" cy="4498848"/>
          </a:xfrm>
          <a:prstGeom prst="rect">
            <a:avLst/>
          </a:prstGeom>
        </p:spPr>
      </p:pic>
      <p:sp>
        <p:nvSpPr>
          <p:cNvPr id="10" name="Oval 9"/>
          <p:cNvSpPr/>
          <p:nvPr/>
        </p:nvSpPr>
        <p:spPr>
          <a:xfrm>
            <a:off x="6255303" y="3339205"/>
            <a:ext cx="274320" cy="274320"/>
          </a:xfrm>
          <a:prstGeom prst="ellipse">
            <a:avLst/>
          </a:prstGeom>
          <a:solidFill>
            <a:srgbClr val="C2571A"/>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Arial"/>
              </a:rPr>
              <a:t>1</a:t>
            </a:r>
          </a:p>
        </p:txBody>
      </p:sp>
      <p:sp>
        <p:nvSpPr>
          <p:cNvPr id="11" name="Oval 10"/>
          <p:cNvSpPr/>
          <p:nvPr/>
        </p:nvSpPr>
        <p:spPr>
          <a:xfrm>
            <a:off x="4610713" y="3856573"/>
            <a:ext cx="274320" cy="274320"/>
          </a:xfrm>
          <a:prstGeom prst="ellipse">
            <a:avLst/>
          </a:prstGeom>
          <a:solidFill>
            <a:srgbClr val="C2571A"/>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Arial"/>
              </a:rPr>
              <a:t>2</a:t>
            </a:r>
          </a:p>
        </p:txBody>
      </p:sp>
      <p:sp>
        <p:nvSpPr>
          <p:cNvPr id="12" name="Oval 11"/>
          <p:cNvSpPr/>
          <p:nvPr/>
        </p:nvSpPr>
        <p:spPr>
          <a:xfrm>
            <a:off x="4728184" y="4261469"/>
            <a:ext cx="274320" cy="274320"/>
          </a:xfrm>
          <a:prstGeom prst="ellipse">
            <a:avLst/>
          </a:prstGeom>
          <a:solidFill>
            <a:srgbClr val="C2571A"/>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Arial"/>
              </a:rPr>
              <a:t>3</a:t>
            </a:r>
          </a:p>
        </p:txBody>
      </p:sp>
      <p:sp>
        <p:nvSpPr>
          <p:cNvPr id="13" name="Oval 12"/>
          <p:cNvSpPr/>
          <p:nvPr/>
        </p:nvSpPr>
        <p:spPr>
          <a:xfrm>
            <a:off x="3024859" y="4936296"/>
            <a:ext cx="274320" cy="274320"/>
          </a:xfrm>
          <a:prstGeom prst="ellipse">
            <a:avLst/>
          </a:prstGeom>
          <a:solidFill>
            <a:srgbClr val="C2571A"/>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Arial"/>
              </a:rPr>
              <a:t>4</a:t>
            </a:r>
          </a:p>
        </p:txBody>
      </p:sp>
      <p:sp>
        <p:nvSpPr>
          <p:cNvPr id="14" name="Oval 13"/>
          <p:cNvSpPr/>
          <p:nvPr/>
        </p:nvSpPr>
        <p:spPr>
          <a:xfrm>
            <a:off x="8046719" y="1581912"/>
            <a:ext cx="256032" cy="256032"/>
          </a:xfrm>
          <a:prstGeom prst="ellipse">
            <a:avLst/>
          </a:prstGeom>
          <a:solidFill>
            <a:srgbClr val="C2571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50" b="1">
                <a:solidFill>
                  <a:srgbClr val="FFFFFF"/>
                </a:solidFill>
                <a:latin typeface="Arial"/>
              </a:rPr>
              <a:t>1</a:t>
            </a:r>
          </a:p>
        </p:txBody>
      </p:sp>
      <p:sp>
        <p:nvSpPr>
          <p:cNvPr id="15" name="TextBox 14"/>
          <p:cNvSpPr txBox="1"/>
          <p:nvPr/>
        </p:nvSpPr>
        <p:spPr>
          <a:xfrm>
            <a:off x="8430767" y="1572768"/>
            <a:ext cx="3212287" cy="1051560"/>
          </a:xfrm>
          <a:prstGeom prst="rect">
            <a:avLst/>
          </a:prstGeom>
          <a:noFill/>
        </p:spPr>
        <p:txBody>
          <a:bodyPr wrap="square" lIns="0" rIns="0" tIns="0" bIns="0" anchor="t">
            <a:spAutoFit/>
          </a:bodyPr>
          <a:lstStyle/>
          <a:p>
            <a:pPr algn="l">
              <a:lnSpc>
                <a:spcPct val="115000"/>
              </a:lnSpc>
              <a:spcAft>
                <a:spcPts val="200"/>
              </a:spcAft>
            </a:pPr>
            <a:r>
              <a:rPr sz="1300" b="1" i="0">
                <a:solidFill>
                  <a:srgbClr val="14213D"/>
                </a:solidFill>
                <a:latin typeface="Arial"/>
              </a:rPr>
              <a:t>Round 1</a:t>
            </a:r>
          </a:p>
          <a:p>
            <a:pPr algn="l">
              <a:lnSpc>
                <a:spcPct val="115000"/>
              </a:lnSpc>
              <a:spcAft>
                <a:spcPts val="200"/>
              </a:spcAft>
            </a:pPr>
            <a:r>
              <a:rPr sz="1300" b="0" i="0">
                <a:solidFill>
                  <a:srgbClr val="2A3550"/>
                </a:solidFill>
                <a:latin typeface="Arial"/>
              </a:rPr>
              <a:t>The total is over budget.</a:t>
            </a:r>
          </a:p>
        </p:txBody>
      </p:sp>
      <p:sp>
        <p:nvSpPr>
          <p:cNvPr id="16" name="Oval 15"/>
          <p:cNvSpPr/>
          <p:nvPr/>
        </p:nvSpPr>
        <p:spPr>
          <a:xfrm>
            <a:off x="8046719" y="2724912"/>
            <a:ext cx="256032" cy="256032"/>
          </a:xfrm>
          <a:prstGeom prst="ellipse">
            <a:avLst/>
          </a:prstGeom>
          <a:solidFill>
            <a:srgbClr val="C2571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50" b="1">
                <a:solidFill>
                  <a:srgbClr val="FFFFFF"/>
                </a:solidFill>
                <a:latin typeface="Arial"/>
              </a:rPr>
              <a:t>2</a:t>
            </a:r>
          </a:p>
        </p:txBody>
      </p:sp>
      <p:sp>
        <p:nvSpPr>
          <p:cNvPr id="17" name="TextBox 16"/>
          <p:cNvSpPr txBox="1"/>
          <p:nvPr/>
        </p:nvSpPr>
        <p:spPr>
          <a:xfrm>
            <a:off x="8430767" y="2715768"/>
            <a:ext cx="3212287" cy="1051560"/>
          </a:xfrm>
          <a:prstGeom prst="rect">
            <a:avLst/>
          </a:prstGeom>
          <a:noFill/>
        </p:spPr>
        <p:txBody>
          <a:bodyPr wrap="square" lIns="0" rIns="0" tIns="0" bIns="0" anchor="t">
            <a:spAutoFit/>
          </a:bodyPr>
          <a:lstStyle/>
          <a:p>
            <a:pPr algn="l">
              <a:lnSpc>
                <a:spcPct val="115000"/>
              </a:lnSpc>
              <a:spcAft>
                <a:spcPts val="200"/>
              </a:spcAft>
            </a:pPr>
            <a:r>
              <a:rPr sz="1300" b="1" i="0">
                <a:solidFill>
                  <a:srgbClr val="14213D"/>
                </a:solidFill>
                <a:latin typeface="Arial"/>
              </a:rPr>
              <a:t>detectConflicts</a:t>
            </a:r>
          </a:p>
          <a:p>
            <a:pPr algn="l">
              <a:lnSpc>
                <a:spcPct val="115000"/>
              </a:lnSpc>
              <a:spcAft>
                <a:spcPts val="200"/>
              </a:spcAft>
            </a:pPr>
            <a:r>
              <a:rPr sz="1300" b="0" i="0">
                <a:solidFill>
                  <a:srgbClr val="2A3550"/>
                </a:solidFill>
                <a:latin typeface="Arial"/>
              </a:rPr>
              <a:t>Sends a revision request with a target saving.</a:t>
            </a:r>
          </a:p>
        </p:txBody>
      </p:sp>
      <p:sp>
        <p:nvSpPr>
          <p:cNvPr id="18" name="Oval 17"/>
          <p:cNvSpPr/>
          <p:nvPr/>
        </p:nvSpPr>
        <p:spPr>
          <a:xfrm>
            <a:off x="8046719" y="3867912"/>
            <a:ext cx="256032" cy="256032"/>
          </a:xfrm>
          <a:prstGeom prst="ellipse">
            <a:avLst/>
          </a:prstGeom>
          <a:solidFill>
            <a:srgbClr val="C2571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50" b="1">
                <a:solidFill>
                  <a:srgbClr val="FFFFFF"/>
                </a:solidFill>
                <a:latin typeface="Arial"/>
              </a:rPr>
              <a:t>3</a:t>
            </a:r>
          </a:p>
        </p:txBody>
      </p:sp>
      <p:sp>
        <p:nvSpPr>
          <p:cNvPr id="19" name="TextBox 18"/>
          <p:cNvSpPr txBox="1"/>
          <p:nvPr/>
        </p:nvSpPr>
        <p:spPr>
          <a:xfrm>
            <a:off x="8430767" y="3858768"/>
            <a:ext cx="3212287" cy="1051560"/>
          </a:xfrm>
          <a:prstGeom prst="rect">
            <a:avLst/>
          </a:prstGeom>
          <a:noFill/>
        </p:spPr>
        <p:txBody>
          <a:bodyPr wrap="square" lIns="0" rIns="0" tIns="0" bIns="0" anchor="t">
            <a:spAutoFit/>
          </a:bodyPr>
          <a:lstStyle/>
          <a:p>
            <a:pPr algn="l">
              <a:lnSpc>
                <a:spcPct val="115000"/>
              </a:lnSpc>
              <a:spcAft>
                <a:spcPts val="200"/>
              </a:spcAft>
            </a:pPr>
            <a:r>
              <a:rPr sz="1300" b="1" i="0">
                <a:solidFill>
                  <a:srgbClr val="14213D"/>
                </a:solidFill>
                <a:latin typeface="Arial"/>
              </a:rPr>
              <a:t>Round 2</a:t>
            </a:r>
          </a:p>
          <a:p>
            <a:pPr algn="l">
              <a:lnSpc>
                <a:spcPct val="115000"/>
              </a:lnSpc>
              <a:spcAft>
                <a:spcPts val="200"/>
              </a:spcAft>
            </a:pPr>
            <a:r>
              <a:rPr sz="1300" b="0" i="0">
                <a:solidFill>
                  <a:srgbClr val="2A3550"/>
                </a:solidFill>
                <a:latin typeface="Arial"/>
              </a:rPr>
              <a:t>Only the targeted agents revise.</a:t>
            </a:r>
          </a:p>
        </p:txBody>
      </p:sp>
      <p:sp>
        <p:nvSpPr>
          <p:cNvPr id="20" name="Oval 19"/>
          <p:cNvSpPr/>
          <p:nvPr/>
        </p:nvSpPr>
        <p:spPr>
          <a:xfrm>
            <a:off x="8046719" y="5010912"/>
            <a:ext cx="256032" cy="256032"/>
          </a:xfrm>
          <a:prstGeom prst="ellipse">
            <a:avLst/>
          </a:prstGeom>
          <a:solidFill>
            <a:srgbClr val="C2571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50" b="1">
                <a:solidFill>
                  <a:srgbClr val="FFFFFF"/>
                </a:solidFill>
                <a:latin typeface="Arial"/>
              </a:rPr>
              <a:t>4</a:t>
            </a:r>
          </a:p>
        </p:txBody>
      </p:sp>
      <p:sp>
        <p:nvSpPr>
          <p:cNvPr id="21" name="TextBox 20"/>
          <p:cNvSpPr txBox="1"/>
          <p:nvPr/>
        </p:nvSpPr>
        <p:spPr>
          <a:xfrm>
            <a:off x="8430767" y="5001768"/>
            <a:ext cx="3212287" cy="1051560"/>
          </a:xfrm>
          <a:prstGeom prst="rect">
            <a:avLst/>
          </a:prstGeom>
          <a:noFill/>
        </p:spPr>
        <p:txBody>
          <a:bodyPr wrap="square" lIns="0" rIns="0" tIns="0" bIns="0" anchor="t">
            <a:spAutoFit/>
          </a:bodyPr>
          <a:lstStyle/>
          <a:p>
            <a:pPr algn="l">
              <a:lnSpc>
                <a:spcPct val="115000"/>
              </a:lnSpc>
              <a:spcAft>
                <a:spcPts val="200"/>
              </a:spcAft>
            </a:pPr>
            <a:r>
              <a:rPr sz="1300" b="1" i="0">
                <a:solidFill>
                  <a:srgbClr val="14213D"/>
                </a:solidFill>
                <a:latin typeface="Arial"/>
              </a:rPr>
              <a:t>Kept only if better</a:t>
            </a:r>
          </a:p>
          <a:p>
            <a:pPr algn="l">
              <a:lnSpc>
                <a:spcPct val="115000"/>
              </a:lnSpc>
              <a:spcAft>
                <a:spcPts val="200"/>
              </a:spcAft>
            </a:pPr>
            <a:r>
              <a:rPr sz="1300" b="0" i="0">
                <a:solidFill>
                  <a:srgbClr val="2A3550"/>
                </a:solidFill>
                <a:latin typeface="Arial"/>
              </a:rPr>
              <a:t>Otherwise the previous proposals stay. Infeasible: one conflict naming the minimum budget.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6F1"/>
        </a:solidFill>
        <a:effectLst/>
      </p:bgPr>
    </p:bg>
    <p:spTree>
      <p:nvGrpSpPr>
        <p:cNvPr id="1" name=""/>
        <p:cNvGrpSpPr/>
        <p:nvPr/>
      </p:nvGrpSpPr>
      <p:grpSpPr/>
      <p:sp>
        <p:nvSpPr>
          <p:cNvPr id="2" name="Rectangle 1"/>
          <p:cNvSpPr/>
          <p:nvPr/>
        </p:nvSpPr>
        <p:spPr>
          <a:xfrm>
            <a:off x="0" y="0"/>
            <a:ext cx="100584" cy="6858000"/>
          </a:xfrm>
          <a:prstGeom prst="rect">
            <a:avLst/>
          </a:prstGeom>
          <a:solidFill>
            <a:srgbClr val="C25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47472"/>
            <a:ext cx="5943600" cy="274320"/>
          </a:xfrm>
          <a:prstGeom prst="rect">
            <a:avLst/>
          </a:prstGeom>
          <a:noFill/>
        </p:spPr>
        <p:txBody>
          <a:bodyPr wrap="square" lIns="0" rIns="0" tIns="0" bIns="0" anchor="ctr">
            <a:spAutoFit/>
          </a:bodyPr>
          <a:lstStyle/>
          <a:p>
            <a:pPr algn="l">
              <a:lnSpc>
                <a:spcPct val="115000"/>
              </a:lnSpc>
              <a:spcAft>
                <a:spcPts val="0"/>
              </a:spcAft>
            </a:pPr>
            <a:r>
              <a:rPr sz="1000" b="1" i="0">
                <a:solidFill>
                  <a:srgbClr val="C2571A"/>
                </a:solidFill>
                <a:latin typeface="Arial"/>
              </a:rPr>
              <a:t>STATE MACHINE</a:t>
            </a:r>
          </a:p>
        </p:txBody>
      </p:sp>
      <p:sp>
        <p:nvSpPr>
          <p:cNvPr id="4" name="TextBox 3"/>
          <p:cNvSpPr txBox="1"/>
          <p:nvPr/>
        </p:nvSpPr>
        <p:spPr>
          <a:xfrm>
            <a:off x="548640" y="731520"/>
            <a:ext cx="11094415" cy="566928"/>
          </a:xfrm>
          <a:prstGeom prst="rect">
            <a:avLst/>
          </a:prstGeom>
          <a:noFill/>
        </p:spPr>
        <p:txBody>
          <a:bodyPr wrap="square" lIns="0" rIns="0" tIns="0" bIns="0" anchor="ctr">
            <a:spAutoFit/>
          </a:bodyPr>
          <a:lstStyle/>
          <a:p>
            <a:pPr algn="l">
              <a:lnSpc>
                <a:spcPct val="115000"/>
              </a:lnSpc>
              <a:spcAft>
                <a:spcPts val="0"/>
              </a:spcAft>
            </a:pPr>
            <a:r>
              <a:rPr sz="2600" b="1" i="0">
                <a:solidFill>
                  <a:srgbClr val="14213D"/>
                </a:solidFill>
                <a:latin typeface="Georgia"/>
              </a:rPr>
              <a:t>The accommodation section within one planning turn</a:t>
            </a:r>
          </a:p>
        </p:txBody>
      </p:sp>
      <p:sp>
        <p:nvSpPr>
          <p:cNvPr id="5" name="Rectangle 4"/>
          <p:cNvSpPr/>
          <p:nvPr/>
        </p:nvSpPr>
        <p:spPr>
          <a:xfrm>
            <a:off x="548640" y="6400800"/>
            <a:ext cx="11094415" cy="10972"/>
          </a:xfrm>
          <a:prstGeom prst="rect">
            <a:avLst/>
          </a:prstGeom>
          <a:solidFill>
            <a:srgbClr val="DDDA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48640" y="6473952"/>
            <a:ext cx="7315200" cy="228600"/>
          </a:xfrm>
          <a:prstGeom prst="rect">
            <a:avLst/>
          </a:prstGeom>
          <a:noFill/>
        </p:spPr>
        <p:txBody>
          <a:bodyPr wrap="square" lIns="0" rIns="0" tIns="0" bIns="0" anchor="t">
            <a:spAutoFit/>
          </a:bodyPr>
          <a:lstStyle/>
          <a:p>
            <a:pPr algn="l">
              <a:lnSpc>
                <a:spcPct val="115000"/>
              </a:lnSpc>
              <a:spcAft>
                <a:spcPts val="0"/>
              </a:spcAft>
            </a:pPr>
            <a:r>
              <a:rPr sz="900" b="0" i="0">
                <a:solidFill>
                  <a:srgbClr val="8A93A6"/>
                </a:solidFill>
                <a:latin typeface="Arial"/>
              </a:rPr>
              <a:t>AI Trip Planner  ·  ELEC5620 Stage 1  ·  Mon 10-12 Group 14</a:t>
            </a:r>
          </a:p>
        </p:txBody>
      </p:sp>
      <p:sp>
        <p:nvSpPr>
          <p:cNvPr id="7" name="TextBox 6"/>
          <p:cNvSpPr txBox="1"/>
          <p:nvPr/>
        </p:nvSpPr>
        <p:spPr>
          <a:xfrm>
            <a:off x="9814255" y="6473952"/>
            <a:ext cx="1828800" cy="228600"/>
          </a:xfrm>
          <a:prstGeom prst="rect">
            <a:avLst/>
          </a:prstGeom>
          <a:noFill/>
        </p:spPr>
        <p:txBody>
          <a:bodyPr wrap="square" lIns="0" rIns="0" tIns="0" bIns="0" anchor="t">
            <a:spAutoFit/>
          </a:bodyPr>
          <a:lstStyle/>
          <a:p>
            <a:pPr algn="r">
              <a:lnSpc>
                <a:spcPct val="115000"/>
              </a:lnSpc>
              <a:spcAft>
                <a:spcPts val="0"/>
              </a:spcAft>
            </a:pPr>
            <a:r>
              <a:rPr sz="900" b="0" i="0">
                <a:solidFill>
                  <a:srgbClr val="8A93A6"/>
                </a:solidFill>
                <a:latin typeface="Arial"/>
              </a:rPr>
              <a:t>15 / 24</a:t>
            </a:r>
          </a:p>
        </p:txBody>
      </p:sp>
      <p:sp>
        <p:nvSpPr>
          <p:cNvPr id="8" name="Rounded Rectangle 7"/>
          <p:cNvSpPr/>
          <p:nvPr/>
        </p:nvSpPr>
        <p:spPr>
          <a:xfrm>
            <a:off x="548640" y="1481328"/>
            <a:ext cx="4937760" cy="4754880"/>
          </a:xfrm>
          <a:prstGeom prst="roundRect">
            <a:avLst>
              <a:gd name="adj" fmla="val 2307"/>
            </a:avLst>
          </a:prstGeom>
          <a:solidFill>
            <a:srgbClr val="FFFFFF"/>
          </a:solidFill>
          <a:ln w="9525">
            <a:solidFill>
              <a:srgbClr val="E2E5EB"/>
            </a:solidFill>
          </a:ln>
          <a:effectLst>
            <a:outerShdw blurRad="114300" dist="25400" dir="5400000" algn="t" rotWithShape="0">
              <a:srgbClr val="14213D">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c-state.png"/>
          <p:cNvPicPr>
            <a:picLocks noChangeAspect="1"/>
          </p:cNvPicPr>
          <p:nvPr/>
        </p:nvPicPr>
        <p:blipFill>
          <a:blip r:embed="rId3"/>
          <a:stretch>
            <a:fillRect/>
          </a:stretch>
        </p:blipFill>
        <p:spPr>
          <a:xfrm>
            <a:off x="950727" y="1609344"/>
            <a:ext cx="4133584" cy="4498848"/>
          </a:xfrm>
          <a:prstGeom prst="rect">
            <a:avLst/>
          </a:prstGeom>
        </p:spPr>
      </p:pic>
      <p:sp>
        <p:nvSpPr>
          <p:cNvPr id="10" name="TextBox 9"/>
          <p:cNvSpPr txBox="1"/>
          <p:nvPr/>
        </p:nvSpPr>
        <p:spPr>
          <a:xfrm>
            <a:off x="5806440" y="1481328"/>
            <a:ext cx="3657600" cy="274320"/>
          </a:xfrm>
          <a:prstGeom prst="rect">
            <a:avLst/>
          </a:prstGeom>
          <a:noFill/>
        </p:spPr>
        <p:txBody>
          <a:bodyPr wrap="square" lIns="0" rIns="0" tIns="0" bIns="0" anchor="t">
            <a:spAutoFit/>
          </a:bodyPr>
          <a:lstStyle/>
          <a:p>
            <a:pPr algn="l">
              <a:lnSpc>
                <a:spcPct val="115000"/>
              </a:lnSpc>
              <a:spcAft>
                <a:spcPts val="0"/>
              </a:spcAft>
            </a:pPr>
            <a:r>
              <a:rPr sz="1100" b="1" i="0">
                <a:solidFill>
                  <a:srgbClr val="5A6478"/>
                </a:solidFill>
                <a:latin typeface="Arial"/>
              </a:rPr>
              <a:t>INTERNAL STATE</a:t>
            </a:r>
          </a:p>
        </p:txBody>
      </p:sp>
      <p:sp>
        <p:nvSpPr>
          <p:cNvPr id="11" name="TextBox 10"/>
          <p:cNvSpPr txBox="1"/>
          <p:nvPr/>
        </p:nvSpPr>
        <p:spPr>
          <a:xfrm>
            <a:off x="9539935" y="1481328"/>
            <a:ext cx="2103120" cy="274320"/>
          </a:xfrm>
          <a:prstGeom prst="rect">
            <a:avLst/>
          </a:prstGeom>
          <a:noFill/>
        </p:spPr>
        <p:txBody>
          <a:bodyPr wrap="square" lIns="0" rIns="0" tIns="0" bIns="0" anchor="t">
            <a:spAutoFit/>
          </a:bodyPr>
          <a:lstStyle/>
          <a:p>
            <a:pPr algn="r">
              <a:lnSpc>
                <a:spcPct val="115000"/>
              </a:lnSpc>
              <a:spcAft>
                <a:spcPts val="0"/>
              </a:spcAft>
            </a:pPr>
            <a:r>
              <a:rPr sz="1100" b="1" i="0">
                <a:solidFill>
                  <a:srgbClr val="5A6478"/>
                </a:solidFill>
                <a:latin typeface="Arial"/>
              </a:rPr>
              <a:t>TRAVELLER SEES</a:t>
            </a:r>
          </a:p>
        </p:txBody>
      </p:sp>
      <p:sp>
        <p:nvSpPr>
          <p:cNvPr id="12" name="Rounded Rectangle 11"/>
          <p:cNvSpPr/>
          <p:nvPr/>
        </p:nvSpPr>
        <p:spPr>
          <a:xfrm>
            <a:off x="5806440" y="1847088"/>
            <a:ext cx="5836615" cy="1417320"/>
          </a:xfrm>
          <a:prstGeom prst="roundRect">
            <a:avLst>
              <a:gd name="adj" fmla="val 7741"/>
            </a:avLst>
          </a:prstGeom>
          <a:solidFill>
            <a:srgbClr val="FFFFFF"/>
          </a:solidFill>
          <a:ln w="9525">
            <a:solidFill>
              <a:srgbClr val="E2E5EB"/>
            </a:solidFill>
          </a:ln>
          <a:effectLst>
            <a:outerShdw blurRad="114300" dist="25400" dir="5400000" algn="t" rotWithShape="0">
              <a:srgbClr val="14213D">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6035040" y="2075688"/>
            <a:ext cx="992124" cy="310896"/>
          </a:xfrm>
          <a:prstGeom prst="roundRect">
            <a:avLst>
              <a:gd name="adj" fmla="val 50000"/>
            </a:avLst>
          </a:prstGeom>
          <a:solidFill>
            <a:srgbClr val="FFFFFF"/>
          </a:solidFill>
          <a:ln w="9525">
            <a:solidFill>
              <a:srgbClr val="B9C0CD"/>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150" b="0">
                <a:solidFill>
                  <a:srgbClr val="14213D"/>
                </a:solidFill>
                <a:latin typeface="Arial"/>
              </a:rPr>
              <a:t>Waiting</a:t>
            </a:r>
          </a:p>
        </p:txBody>
      </p:sp>
      <p:sp>
        <p:nvSpPr>
          <p:cNvPr id="14" name="Rounded Rectangle 13"/>
          <p:cNvSpPr/>
          <p:nvPr/>
        </p:nvSpPr>
        <p:spPr>
          <a:xfrm>
            <a:off x="7136892" y="2075688"/>
            <a:ext cx="1088136" cy="310896"/>
          </a:xfrm>
          <a:prstGeom prst="roundRect">
            <a:avLst>
              <a:gd name="adj" fmla="val 50000"/>
            </a:avLst>
          </a:prstGeom>
          <a:solidFill>
            <a:srgbClr val="FFFFFF"/>
          </a:solidFill>
          <a:ln w="9525">
            <a:solidFill>
              <a:srgbClr val="B9C0CD"/>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150" b="0">
                <a:solidFill>
                  <a:srgbClr val="14213D"/>
                </a:solidFill>
                <a:latin typeface="Arial"/>
              </a:rPr>
              <a:t>Planning</a:t>
            </a:r>
          </a:p>
        </p:txBody>
      </p:sp>
      <p:sp>
        <p:nvSpPr>
          <p:cNvPr id="15" name="Rounded Rectangle 14"/>
          <p:cNvSpPr/>
          <p:nvPr/>
        </p:nvSpPr>
        <p:spPr>
          <a:xfrm>
            <a:off x="8334756" y="2075688"/>
            <a:ext cx="704088" cy="310896"/>
          </a:xfrm>
          <a:prstGeom prst="roundRect">
            <a:avLst>
              <a:gd name="adj" fmla="val 50000"/>
            </a:avLst>
          </a:prstGeom>
          <a:solidFill>
            <a:srgbClr val="FFFFFF"/>
          </a:solidFill>
          <a:ln w="9525">
            <a:solidFill>
              <a:srgbClr val="B9C0CD"/>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150" b="0">
                <a:solidFill>
                  <a:srgbClr val="14213D"/>
                </a:solidFill>
                <a:latin typeface="Arial"/>
              </a:rPr>
              <a:t>Kept</a:t>
            </a:r>
          </a:p>
        </p:txBody>
      </p:sp>
      <p:sp>
        <p:nvSpPr>
          <p:cNvPr id="16" name="Rounded Rectangle 15"/>
          <p:cNvSpPr/>
          <p:nvPr/>
        </p:nvSpPr>
        <p:spPr>
          <a:xfrm>
            <a:off x="6035040" y="2487168"/>
            <a:ext cx="1376172" cy="310896"/>
          </a:xfrm>
          <a:prstGeom prst="roundRect">
            <a:avLst>
              <a:gd name="adj" fmla="val 50000"/>
            </a:avLst>
          </a:prstGeom>
          <a:solidFill>
            <a:srgbClr val="FFFFFF"/>
          </a:solidFill>
          <a:ln w="9525">
            <a:solidFill>
              <a:srgbClr val="B9C0CD"/>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150" b="0">
                <a:solidFill>
                  <a:srgbClr val="14213D"/>
                </a:solidFill>
                <a:latin typeface="Arial"/>
              </a:rPr>
              <a:t>UnderReview</a:t>
            </a:r>
          </a:p>
        </p:txBody>
      </p:sp>
      <p:sp>
        <p:nvSpPr>
          <p:cNvPr id="17" name="Rounded Rectangle 16"/>
          <p:cNvSpPr/>
          <p:nvPr/>
        </p:nvSpPr>
        <p:spPr>
          <a:xfrm>
            <a:off x="7520940" y="2487168"/>
            <a:ext cx="1088136" cy="310896"/>
          </a:xfrm>
          <a:prstGeom prst="roundRect">
            <a:avLst>
              <a:gd name="adj" fmla="val 50000"/>
            </a:avLst>
          </a:prstGeom>
          <a:solidFill>
            <a:srgbClr val="FFFFFF"/>
          </a:solidFill>
          <a:ln w="9525">
            <a:solidFill>
              <a:srgbClr val="B9C0CD"/>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150" b="0">
                <a:solidFill>
                  <a:srgbClr val="14213D"/>
                </a:solidFill>
                <a:latin typeface="Arial"/>
              </a:rPr>
              <a:t>Revising</a:t>
            </a:r>
          </a:p>
        </p:txBody>
      </p:sp>
      <p:pic>
        <p:nvPicPr>
          <p:cNvPr id="18" name="Picture 17" descr="arrow-right-9AA5B8.png"/>
          <p:cNvPicPr>
            <a:picLocks noChangeAspect="1"/>
          </p:cNvPicPr>
          <p:nvPr/>
        </p:nvPicPr>
        <p:blipFill>
          <a:blip r:embed="rId4"/>
          <a:stretch>
            <a:fillRect/>
          </a:stretch>
        </p:blipFill>
        <p:spPr>
          <a:xfrm>
            <a:off x="9402775" y="2436876"/>
            <a:ext cx="237744" cy="237744"/>
          </a:xfrm>
          <a:prstGeom prst="rect">
            <a:avLst/>
          </a:prstGeom>
        </p:spPr>
      </p:pic>
      <p:sp>
        <p:nvSpPr>
          <p:cNvPr id="19" name="Rounded Rectangle 18"/>
          <p:cNvSpPr/>
          <p:nvPr/>
        </p:nvSpPr>
        <p:spPr>
          <a:xfrm>
            <a:off x="9859975" y="2382012"/>
            <a:ext cx="1554480" cy="347472"/>
          </a:xfrm>
          <a:prstGeom prst="roundRect">
            <a:avLst>
              <a:gd name="adj" fmla="val 50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200" b="1">
                <a:solidFill>
                  <a:srgbClr val="14213D"/>
                </a:solidFill>
                <a:latin typeface="Arial"/>
              </a:rPr>
              <a:t>planning</a:t>
            </a:r>
          </a:p>
        </p:txBody>
      </p:sp>
      <p:sp>
        <p:nvSpPr>
          <p:cNvPr id="20" name="Rounded Rectangle 19"/>
          <p:cNvSpPr/>
          <p:nvPr/>
        </p:nvSpPr>
        <p:spPr>
          <a:xfrm>
            <a:off x="5806440" y="3447288"/>
            <a:ext cx="5836615" cy="749808"/>
          </a:xfrm>
          <a:prstGeom prst="roundRect">
            <a:avLst>
              <a:gd name="adj" fmla="val 14634"/>
            </a:avLst>
          </a:prstGeom>
          <a:solidFill>
            <a:srgbClr val="FFFFFF"/>
          </a:solidFill>
          <a:ln w="9525">
            <a:solidFill>
              <a:srgbClr val="E2E5EB"/>
            </a:solidFill>
          </a:ln>
          <a:effectLst>
            <a:outerShdw blurRad="114300" dist="25400" dir="5400000" algn="t" rotWithShape="0">
              <a:srgbClr val="14213D">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6035040" y="3675887"/>
            <a:ext cx="800100" cy="310896"/>
          </a:xfrm>
          <a:prstGeom prst="roundRect">
            <a:avLst>
              <a:gd name="adj" fmla="val 50000"/>
            </a:avLst>
          </a:prstGeom>
          <a:solidFill>
            <a:srgbClr val="FFFFFF"/>
          </a:solidFill>
          <a:ln w="9525">
            <a:solidFill>
              <a:srgbClr val="B9C0CD"/>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150" b="0">
                <a:solidFill>
                  <a:srgbClr val="14213D"/>
                </a:solidFill>
                <a:latin typeface="Arial"/>
              </a:rPr>
              <a:t>Draft</a:t>
            </a:r>
          </a:p>
        </p:txBody>
      </p:sp>
      <p:pic>
        <p:nvPicPr>
          <p:cNvPr id="22" name="Picture 21" descr="arrow-right-9AA5B8.png"/>
          <p:cNvPicPr>
            <a:picLocks noChangeAspect="1"/>
          </p:cNvPicPr>
          <p:nvPr/>
        </p:nvPicPr>
        <p:blipFill>
          <a:blip r:embed="rId4"/>
          <a:stretch>
            <a:fillRect/>
          </a:stretch>
        </p:blipFill>
        <p:spPr>
          <a:xfrm>
            <a:off x="9402775" y="3703320"/>
            <a:ext cx="237744" cy="237744"/>
          </a:xfrm>
          <a:prstGeom prst="rect">
            <a:avLst/>
          </a:prstGeom>
        </p:spPr>
      </p:pic>
      <p:sp>
        <p:nvSpPr>
          <p:cNvPr id="23" name="Rounded Rectangle 22"/>
          <p:cNvSpPr/>
          <p:nvPr/>
        </p:nvSpPr>
        <p:spPr>
          <a:xfrm>
            <a:off x="9859975" y="3648456"/>
            <a:ext cx="1554480" cy="347472"/>
          </a:xfrm>
          <a:prstGeom prst="roundRect">
            <a:avLst>
              <a:gd name="adj" fmla="val 50000"/>
            </a:avLst>
          </a:prstGeom>
          <a:solidFill>
            <a:srgbClr val="E3F1E8"/>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200" b="1">
                <a:solidFill>
                  <a:srgbClr val="2E7D4F"/>
                </a:solidFill>
                <a:latin typeface="Arial"/>
              </a:rPr>
              <a:t>draft</a:t>
            </a:r>
          </a:p>
        </p:txBody>
      </p:sp>
      <p:sp>
        <p:nvSpPr>
          <p:cNvPr id="24" name="Rounded Rectangle 23"/>
          <p:cNvSpPr/>
          <p:nvPr/>
        </p:nvSpPr>
        <p:spPr>
          <a:xfrm>
            <a:off x="5806440" y="4379976"/>
            <a:ext cx="5836615" cy="749808"/>
          </a:xfrm>
          <a:prstGeom prst="roundRect">
            <a:avLst>
              <a:gd name="adj" fmla="val 14634"/>
            </a:avLst>
          </a:prstGeom>
          <a:solidFill>
            <a:srgbClr val="FFFFFF"/>
          </a:solidFill>
          <a:ln w="9525">
            <a:solidFill>
              <a:srgbClr val="E2E5EB"/>
            </a:solidFill>
          </a:ln>
          <a:effectLst>
            <a:outerShdw blurRad="114300" dist="25400" dir="5400000" algn="t" rotWithShape="0">
              <a:srgbClr val="14213D">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6035040" y="4608576"/>
            <a:ext cx="1088136" cy="310896"/>
          </a:xfrm>
          <a:prstGeom prst="roundRect">
            <a:avLst>
              <a:gd name="adj" fmla="val 50000"/>
            </a:avLst>
          </a:prstGeom>
          <a:solidFill>
            <a:srgbClr val="FFFFFF"/>
          </a:solidFill>
          <a:ln w="9525">
            <a:solidFill>
              <a:srgbClr val="B9C0CD"/>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150" b="0">
                <a:solidFill>
                  <a:srgbClr val="14213D"/>
                </a:solidFill>
                <a:latin typeface="Arial"/>
              </a:rPr>
              <a:t>NeedsYou</a:t>
            </a:r>
          </a:p>
        </p:txBody>
      </p:sp>
      <p:pic>
        <p:nvPicPr>
          <p:cNvPr id="26" name="Picture 25" descr="arrow-right-9AA5B8.png"/>
          <p:cNvPicPr>
            <a:picLocks noChangeAspect="1"/>
          </p:cNvPicPr>
          <p:nvPr/>
        </p:nvPicPr>
        <p:blipFill>
          <a:blip r:embed="rId4"/>
          <a:stretch>
            <a:fillRect/>
          </a:stretch>
        </p:blipFill>
        <p:spPr>
          <a:xfrm>
            <a:off x="9402775" y="4636008"/>
            <a:ext cx="237744" cy="237744"/>
          </a:xfrm>
          <a:prstGeom prst="rect">
            <a:avLst/>
          </a:prstGeom>
        </p:spPr>
      </p:pic>
      <p:sp>
        <p:nvSpPr>
          <p:cNvPr id="27" name="Rounded Rectangle 26"/>
          <p:cNvSpPr/>
          <p:nvPr/>
        </p:nvSpPr>
        <p:spPr>
          <a:xfrm>
            <a:off x="9859975" y="4581144"/>
            <a:ext cx="1554480" cy="347472"/>
          </a:xfrm>
          <a:prstGeom prst="roundRect">
            <a:avLst>
              <a:gd name="adj" fmla="val 50000"/>
            </a:avLst>
          </a:prstGeom>
          <a:solidFill>
            <a:srgbClr val="FBEDE3"/>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200" b="1">
                <a:solidFill>
                  <a:srgbClr val="C2571A"/>
                </a:solidFill>
                <a:latin typeface="Arial"/>
              </a:rPr>
              <a:t>needs_you</a:t>
            </a:r>
          </a:p>
        </p:txBody>
      </p:sp>
      <p:sp>
        <p:nvSpPr>
          <p:cNvPr id="28" name="Rounded Rectangle 27"/>
          <p:cNvSpPr/>
          <p:nvPr/>
        </p:nvSpPr>
        <p:spPr>
          <a:xfrm>
            <a:off x="5806440" y="5312664"/>
            <a:ext cx="5836615" cy="749808"/>
          </a:xfrm>
          <a:prstGeom prst="roundRect">
            <a:avLst>
              <a:gd name="adj" fmla="val 14634"/>
            </a:avLst>
          </a:prstGeom>
          <a:solidFill>
            <a:srgbClr val="FFFFFF"/>
          </a:solidFill>
          <a:ln w="9525">
            <a:solidFill>
              <a:srgbClr val="E2E5EB"/>
            </a:solidFill>
          </a:ln>
          <a:effectLst>
            <a:outerShdw blurRad="114300" dist="25400" dir="5400000" algn="t" rotWithShape="0">
              <a:srgbClr val="14213D">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6035040" y="5541264"/>
            <a:ext cx="896112" cy="310896"/>
          </a:xfrm>
          <a:prstGeom prst="roundRect">
            <a:avLst>
              <a:gd name="adj" fmla="val 50000"/>
            </a:avLst>
          </a:prstGeom>
          <a:solidFill>
            <a:srgbClr val="FFFFFF"/>
          </a:solidFill>
          <a:ln w="9525">
            <a:solidFill>
              <a:srgbClr val="B9C0CD"/>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150" b="0">
                <a:solidFill>
                  <a:srgbClr val="14213D"/>
                </a:solidFill>
                <a:latin typeface="Arial"/>
              </a:rPr>
              <a:t>Failed</a:t>
            </a:r>
          </a:p>
        </p:txBody>
      </p:sp>
      <p:pic>
        <p:nvPicPr>
          <p:cNvPr id="30" name="Picture 29" descr="arrow-right-9AA5B8.png"/>
          <p:cNvPicPr>
            <a:picLocks noChangeAspect="1"/>
          </p:cNvPicPr>
          <p:nvPr/>
        </p:nvPicPr>
        <p:blipFill>
          <a:blip r:embed="rId4"/>
          <a:stretch>
            <a:fillRect/>
          </a:stretch>
        </p:blipFill>
        <p:spPr>
          <a:xfrm>
            <a:off x="9402775" y="5568696"/>
            <a:ext cx="237744" cy="237744"/>
          </a:xfrm>
          <a:prstGeom prst="rect">
            <a:avLst/>
          </a:prstGeom>
        </p:spPr>
      </p:pic>
      <p:sp>
        <p:nvSpPr>
          <p:cNvPr id="31" name="Rounded Rectangle 30"/>
          <p:cNvSpPr/>
          <p:nvPr/>
        </p:nvSpPr>
        <p:spPr>
          <a:xfrm>
            <a:off x="9859975" y="5513832"/>
            <a:ext cx="1554480" cy="347472"/>
          </a:xfrm>
          <a:prstGeom prst="roundRect">
            <a:avLst>
              <a:gd name="adj" fmla="val 50000"/>
            </a:avLst>
          </a:prstGeom>
          <a:solidFill>
            <a:srgbClr val="F1E4E4"/>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200" b="1">
                <a:solidFill>
                  <a:srgbClr val="9B2C2C"/>
                </a:solidFill>
                <a:latin typeface="Arial"/>
              </a:rPr>
              <a:t>run stops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6F1"/>
        </a:solidFill>
        <a:effectLst/>
      </p:bgPr>
    </p:bg>
    <p:spTree>
      <p:nvGrpSpPr>
        <p:cNvPr id="1" name=""/>
        <p:cNvGrpSpPr/>
        <p:nvPr/>
      </p:nvGrpSpPr>
      <p:grpSpPr/>
      <p:sp>
        <p:nvSpPr>
          <p:cNvPr id="2" name="Rectangle 1"/>
          <p:cNvSpPr/>
          <p:nvPr/>
        </p:nvSpPr>
        <p:spPr>
          <a:xfrm>
            <a:off x="0" y="0"/>
            <a:ext cx="100584" cy="6858000"/>
          </a:xfrm>
          <a:prstGeom prst="rect">
            <a:avLst/>
          </a:prstGeom>
          <a:solidFill>
            <a:srgbClr val="C25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47472"/>
            <a:ext cx="5943600" cy="274320"/>
          </a:xfrm>
          <a:prstGeom prst="rect">
            <a:avLst/>
          </a:prstGeom>
          <a:noFill/>
        </p:spPr>
        <p:txBody>
          <a:bodyPr wrap="square" lIns="0" rIns="0" tIns="0" bIns="0" anchor="ctr">
            <a:spAutoFit/>
          </a:bodyPr>
          <a:lstStyle/>
          <a:p>
            <a:pPr algn="l">
              <a:lnSpc>
                <a:spcPct val="115000"/>
              </a:lnSpc>
              <a:spcAft>
                <a:spcPts val="0"/>
              </a:spcAft>
            </a:pPr>
            <a:r>
              <a:rPr sz="1000" b="1" i="0">
                <a:solidFill>
                  <a:srgbClr val="C2571A"/>
                </a:solidFill>
                <a:latin typeface="Arial"/>
              </a:rPr>
              <a:t>ELEMENTARY STRUCTURE</a:t>
            </a:r>
          </a:p>
        </p:txBody>
      </p:sp>
      <p:sp>
        <p:nvSpPr>
          <p:cNvPr id="4" name="TextBox 3"/>
          <p:cNvSpPr txBox="1"/>
          <p:nvPr/>
        </p:nvSpPr>
        <p:spPr>
          <a:xfrm>
            <a:off x="548640" y="731520"/>
            <a:ext cx="11094415" cy="566928"/>
          </a:xfrm>
          <a:prstGeom prst="rect">
            <a:avLst/>
          </a:prstGeom>
          <a:noFill/>
        </p:spPr>
        <p:txBody>
          <a:bodyPr wrap="square" lIns="0" rIns="0" tIns="0" bIns="0" anchor="ctr">
            <a:spAutoFit/>
          </a:bodyPr>
          <a:lstStyle/>
          <a:p>
            <a:pPr algn="l">
              <a:lnSpc>
                <a:spcPct val="115000"/>
              </a:lnSpc>
              <a:spcAft>
                <a:spcPts val="0"/>
              </a:spcAft>
            </a:pPr>
            <a:r>
              <a:rPr sz="2600" b="1" i="0">
                <a:solidFill>
                  <a:srgbClr val="14213D"/>
                </a:solidFill>
                <a:latin typeface="Georgia"/>
              </a:rPr>
              <a:t>Six class diagrams drawn from the code</a:t>
            </a:r>
          </a:p>
        </p:txBody>
      </p:sp>
      <p:sp>
        <p:nvSpPr>
          <p:cNvPr id="5" name="Rectangle 4"/>
          <p:cNvSpPr/>
          <p:nvPr/>
        </p:nvSpPr>
        <p:spPr>
          <a:xfrm>
            <a:off x="548640" y="6400800"/>
            <a:ext cx="11094415" cy="10972"/>
          </a:xfrm>
          <a:prstGeom prst="rect">
            <a:avLst/>
          </a:prstGeom>
          <a:solidFill>
            <a:srgbClr val="DDDA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48640" y="6473952"/>
            <a:ext cx="7315200" cy="228600"/>
          </a:xfrm>
          <a:prstGeom prst="rect">
            <a:avLst/>
          </a:prstGeom>
          <a:noFill/>
        </p:spPr>
        <p:txBody>
          <a:bodyPr wrap="square" lIns="0" rIns="0" tIns="0" bIns="0" anchor="t">
            <a:spAutoFit/>
          </a:bodyPr>
          <a:lstStyle/>
          <a:p>
            <a:pPr algn="l">
              <a:lnSpc>
                <a:spcPct val="115000"/>
              </a:lnSpc>
              <a:spcAft>
                <a:spcPts val="0"/>
              </a:spcAft>
            </a:pPr>
            <a:r>
              <a:rPr sz="900" b="0" i="0">
                <a:solidFill>
                  <a:srgbClr val="8A93A6"/>
                </a:solidFill>
                <a:latin typeface="Arial"/>
              </a:rPr>
              <a:t>AI Trip Planner  ·  ELEC5620 Stage 1  ·  Mon 10-12 Group 14</a:t>
            </a:r>
          </a:p>
        </p:txBody>
      </p:sp>
      <p:sp>
        <p:nvSpPr>
          <p:cNvPr id="7" name="TextBox 6"/>
          <p:cNvSpPr txBox="1"/>
          <p:nvPr/>
        </p:nvSpPr>
        <p:spPr>
          <a:xfrm>
            <a:off x="9814255" y="6473952"/>
            <a:ext cx="1828800" cy="228600"/>
          </a:xfrm>
          <a:prstGeom prst="rect">
            <a:avLst/>
          </a:prstGeom>
          <a:noFill/>
        </p:spPr>
        <p:txBody>
          <a:bodyPr wrap="square" lIns="0" rIns="0" tIns="0" bIns="0" anchor="t">
            <a:spAutoFit/>
          </a:bodyPr>
          <a:lstStyle/>
          <a:p>
            <a:pPr algn="r">
              <a:lnSpc>
                <a:spcPct val="115000"/>
              </a:lnSpc>
              <a:spcAft>
                <a:spcPts val="0"/>
              </a:spcAft>
            </a:pPr>
            <a:r>
              <a:rPr sz="900" b="0" i="0">
                <a:solidFill>
                  <a:srgbClr val="8A93A6"/>
                </a:solidFill>
                <a:latin typeface="Arial"/>
              </a:rPr>
              <a:t>16 / 24</a:t>
            </a:r>
          </a:p>
        </p:txBody>
      </p:sp>
      <p:sp>
        <p:nvSpPr>
          <p:cNvPr id="8" name="Rounded Rectangle 7"/>
          <p:cNvSpPr/>
          <p:nvPr/>
        </p:nvSpPr>
        <p:spPr>
          <a:xfrm>
            <a:off x="548640" y="1481328"/>
            <a:ext cx="11094415" cy="3794760"/>
          </a:xfrm>
          <a:prstGeom prst="roundRect">
            <a:avLst>
              <a:gd name="adj" fmla="val 2891"/>
            </a:avLst>
          </a:prstGeom>
          <a:solidFill>
            <a:srgbClr val="FFFFFF"/>
          </a:solidFill>
          <a:ln w="9525">
            <a:solidFill>
              <a:srgbClr val="E2E5EB"/>
            </a:solidFill>
          </a:ln>
          <a:effectLst>
            <a:outerShdw blurRad="114300" dist="25400" dir="5400000" algn="t" rotWithShape="0">
              <a:srgbClr val="14213D">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class-spine.png"/>
          <p:cNvPicPr>
            <a:picLocks noChangeAspect="1"/>
          </p:cNvPicPr>
          <p:nvPr/>
        </p:nvPicPr>
        <p:blipFill>
          <a:blip r:embed="rId3"/>
          <a:stretch>
            <a:fillRect/>
          </a:stretch>
        </p:blipFill>
        <p:spPr>
          <a:xfrm>
            <a:off x="2087579" y="1609344"/>
            <a:ext cx="8016535" cy="3538728"/>
          </a:xfrm>
          <a:prstGeom prst="rect">
            <a:avLst/>
          </a:prstGeom>
        </p:spPr>
      </p:pic>
      <p:sp>
        <p:nvSpPr>
          <p:cNvPr id="10" name="Rounded Rectangle 9"/>
          <p:cNvSpPr/>
          <p:nvPr/>
        </p:nvSpPr>
        <p:spPr>
          <a:xfrm>
            <a:off x="548640" y="5458968"/>
            <a:ext cx="1734769" cy="777240"/>
          </a:xfrm>
          <a:prstGeom prst="roundRect">
            <a:avLst>
              <a:gd name="adj" fmla="val 14117"/>
            </a:avLst>
          </a:prstGeom>
          <a:solidFill>
            <a:srgbClr val="14213D"/>
          </a:solidFill>
          <a:ln>
            <a:noFill/>
          </a:ln>
          <a:effectLst>
            <a:outerShdw blurRad="114300" dist="25400" dir="5400000" algn="t" rotWithShape="0">
              <a:srgbClr val="14213D">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31520" y="5568696"/>
            <a:ext cx="914400" cy="365760"/>
          </a:xfrm>
          <a:prstGeom prst="rect">
            <a:avLst/>
          </a:prstGeom>
          <a:noFill/>
        </p:spPr>
        <p:txBody>
          <a:bodyPr wrap="square" lIns="0" rIns="0" tIns="0" bIns="0" anchor="t">
            <a:spAutoFit/>
          </a:bodyPr>
          <a:lstStyle/>
          <a:p>
            <a:pPr algn="l">
              <a:lnSpc>
                <a:spcPct val="115000"/>
              </a:lnSpc>
              <a:spcAft>
                <a:spcPts val="0"/>
              </a:spcAft>
            </a:pPr>
            <a:r>
              <a:rPr sz="2000" b="1" i="0">
                <a:solidFill>
                  <a:srgbClr val="F2A65A"/>
                </a:solidFill>
                <a:latin typeface="Georgia"/>
              </a:rPr>
              <a:t>1</a:t>
            </a:r>
          </a:p>
        </p:txBody>
      </p:sp>
      <p:sp>
        <p:nvSpPr>
          <p:cNvPr id="12" name="TextBox 11"/>
          <p:cNvSpPr txBox="1"/>
          <p:nvPr/>
        </p:nvSpPr>
        <p:spPr>
          <a:xfrm>
            <a:off x="731520" y="5916168"/>
            <a:ext cx="1460449" cy="320040"/>
          </a:xfrm>
          <a:prstGeom prst="rect">
            <a:avLst/>
          </a:prstGeom>
          <a:noFill/>
        </p:spPr>
        <p:txBody>
          <a:bodyPr wrap="square" lIns="0" rIns="0" tIns="0" bIns="0" anchor="t">
            <a:spAutoFit/>
          </a:bodyPr>
          <a:lstStyle/>
          <a:p>
            <a:pPr algn="l">
              <a:lnSpc>
                <a:spcPct val="115000"/>
              </a:lnSpc>
              <a:spcAft>
                <a:spcPts val="0"/>
              </a:spcAft>
            </a:pPr>
            <a:r>
              <a:rPr sz="1250" b="1" i="0">
                <a:solidFill>
                  <a:srgbClr val="FFFFFF"/>
                </a:solidFill>
                <a:latin typeface="Arial"/>
              </a:rPr>
              <a:t>Structural spine</a:t>
            </a:r>
          </a:p>
        </p:txBody>
      </p:sp>
      <p:sp>
        <p:nvSpPr>
          <p:cNvPr id="13" name="Rounded Rectangle 12"/>
          <p:cNvSpPr/>
          <p:nvPr/>
        </p:nvSpPr>
        <p:spPr>
          <a:xfrm>
            <a:off x="2420569" y="5458968"/>
            <a:ext cx="1734769" cy="777240"/>
          </a:xfrm>
          <a:prstGeom prst="roundRect">
            <a:avLst>
              <a:gd name="adj" fmla="val 14117"/>
            </a:avLst>
          </a:prstGeom>
          <a:solidFill>
            <a:srgbClr val="FFFFFF"/>
          </a:solidFill>
          <a:ln w="9525">
            <a:solidFill>
              <a:srgbClr val="E2E5EB"/>
            </a:solidFill>
          </a:ln>
          <a:effectLst>
            <a:outerShdw blurRad="114300" dist="25400" dir="5400000" algn="t" rotWithShape="0">
              <a:srgbClr val="14213D">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2603449" y="5568696"/>
            <a:ext cx="914400" cy="365760"/>
          </a:xfrm>
          <a:prstGeom prst="rect">
            <a:avLst/>
          </a:prstGeom>
          <a:noFill/>
        </p:spPr>
        <p:txBody>
          <a:bodyPr wrap="square" lIns="0" rIns="0" tIns="0" bIns="0" anchor="t">
            <a:spAutoFit/>
          </a:bodyPr>
          <a:lstStyle/>
          <a:p>
            <a:pPr algn="l">
              <a:lnSpc>
                <a:spcPct val="115000"/>
              </a:lnSpc>
              <a:spcAft>
                <a:spcPts val="0"/>
              </a:spcAft>
            </a:pPr>
            <a:r>
              <a:rPr sz="2000" b="1" i="0">
                <a:solidFill>
                  <a:srgbClr val="2E7D4F"/>
                </a:solidFill>
                <a:latin typeface="Georgia"/>
              </a:rPr>
              <a:t>2</a:t>
            </a:r>
          </a:p>
        </p:txBody>
      </p:sp>
      <p:sp>
        <p:nvSpPr>
          <p:cNvPr id="15" name="TextBox 14"/>
          <p:cNvSpPr txBox="1"/>
          <p:nvPr/>
        </p:nvSpPr>
        <p:spPr>
          <a:xfrm>
            <a:off x="2603449" y="5916168"/>
            <a:ext cx="1460449" cy="320040"/>
          </a:xfrm>
          <a:prstGeom prst="rect">
            <a:avLst/>
          </a:prstGeom>
          <a:noFill/>
        </p:spPr>
        <p:txBody>
          <a:bodyPr wrap="square" lIns="0" rIns="0" tIns="0" bIns="0" anchor="t">
            <a:spAutoFit/>
          </a:bodyPr>
          <a:lstStyle/>
          <a:p>
            <a:pPr algn="l">
              <a:lnSpc>
                <a:spcPct val="115000"/>
              </a:lnSpc>
              <a:spcAft>
                <a:spcPts val="0"/>
              </a:spcAft>
            </a:pPr>
            <a:r>
              <a:rPr sz="1250" b="1" i="0">
                <a:solidFill>
                  <a:srgbClr val="14213D"/>
                </a:solidFill>
                <a:latin typeface="Arial"/>
              </a:rPr>
              <a:t>Domain contracts</a:t>
            </a:r>
          </a:p>
        </p:txBody>
      </p:sp>
      <p:sp>
        <p:nvSpPr>
          <p:cNvPr id="16" name="Rounded Rectangle 15"/>
          <p:cNvSpPr/>
          <p:nvPr/>
        </p:nvSpPr>
        <p:spPr>
          <a:xfrm>
            <a:off x="4292498" y="5458968"/>
            <a:ext cx="1734769" cy="777240"/>
          </a:xfrm>
          <a:prstGeom prst="roundRect">
            <a:avLst>
              <a:gd name="adj" fmla="val 14117"/>
            </a:avLst>
          </a:prstGeom>
          <a:solidFill>
            <a:srgbClr val="FFFFFF"/>
          </a:solidFill>
          <a:ln w="9525">
            <a:solidFill>
              <a:srgbClr val="E2E5EB"/>
            </a:solidFill>
          </a:ln>
          <a:effectLst>
            <a:outerShdw blurRad="114300" dist="25400" dir="5400000" algn="t" rotWithShape="0">
              <a:srgbClr val="14213D">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475378" y="5568696"/>
            <a:ext cx="914400" cy="365760"/>
          </a:xfrm>
          <a:prstGeom prst="rect">
            <a:avLst/>
          </a:prstGeom>
          <a:noFill/>
        </p:spPr>
        <p:txBody>
          <a:bodyPr wrap="square" lIns="0" rIns="0" tIns="0" bIns="0" anchor="t">
            <a:spAutoFit/>
          </a:bodyPr>
          <a:lstStyle/>
          <a:p>
            <a:pPr algn="l">
              <a:lnSpc>
                <a:spcPct val="115000"/>
              </a:lnSpc>
              <a:spcAft>
                <a:spcPts val="0"/>
              </a:spcAft>
            </a:pPr>
            <a:r>
              <a:rPr sz="2000" b="1" i="0">
                <a:solidFill>
                  <a:srgbClr val="2E7D4F"/>
                </a:solidFill>
                <a:latin typeface="Georgia"/>
              </a:rPr>
              <a:t>3</a:t>
            </a:r>
          </a:p>
        </p:txBody>
      </p:sp>
      <p:sp>
        <p:nvSpPr>
          <p:cNvPr id="18" name="TextBox 17"/>
          <p:cNvSpPr txBox="1"/>
          <p:nvPr/>
        </p:nvSpPr>
        <p:spPr>
          <a:xfrm>
            <a:off x="4475378" y="5916168"/>
            <a:ext cx="1460449" cy="320040"/>
          </a:xfrm>
          <a:prstGeom prst="rect">
            <a:avLst/>
          </a:prstGeom>
          <a:noFill/>
        </p:spPr>
        <p:txBody>
          <a:bodyPr wrap="square" lIns="0" rIns="0" tIns="0" bIns="0" anchor="t">
            <a:spAutoFit/>
          </a:bodyPr>
          <a:lstStyle/>
          <a:p>
            <a:pPr algn="l">
              <a:lnSpc>
                <a:spcPct val="115000"/>
              </a:lnSpc>
              <a:spcAft>
                <a:spcPts val="0"/>
              </a:spcAft>
            </a:pPr>
            <a:r>
              <a:rPr sz="1250" b="1" i="0">
                <a:solidFill>
                  <a:srgbClr val="14213D"/>
                </a:solidFill>
                <a:latin typeface="Arial"/>
              </a:rPr>
              <a:t>Specialists</a:t>
            </a:r>
          </a:p>
        </p:txBody>
      </p:sp>
      <p:sp>
        <p:nvSpPr>
          <p:cNvPr id="19" name="Rounded Rectangle 18"/>
          <p:cNvSpPr/>
          <p:nvPr/>
        </p:nvSpPr>
        <p:spPr>
          <a:xfrm>
            <a:off x="6164427" y="5458968"/>
            <a:ext cx="1734769" cy="777240"/>
          </a:xfrm>
          <a:prstGeom prst="roundRect">
            <a:avLst>
              <a:gd name="adj" fmla="val 14117"/>
            </a:avLst>
          </a:prstGeom>
          <a:solidFill>
            <a:srgbClr val="FFFFFF"/>
          </a:solidFill>
          <a:ln w="9525">
            <a:solidFill>
              <a:srgbClr val="E2E5EB"/>
            </a:solidFill>
          </a:ln>
          <a:effectLst>
            <a:outerShdw blurRad="114300" dist="25400" dir="5400000" algn="t" rotWithShape="0">
              <a:srgbClr val="14213D">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347307" y="5568696"/>
            <a:ext cx="914400" cy="365760"/>
          </a:xfrm>
          <a:prstGeom prst="rect">
            <a:avLst/>
          </a:prstGeom>
          <a:noFill/>
        </p:spPr>
        <p:txBody>
          <a:bodyPr wrap="square" lIns="0" rIns="0" tIns="0" bIns="0" anchor="t">
            <a:spAutoFit/>
          </a:bodyPr>
          <a:lstStyle/>
          <a:p>
            <a:pPr algn="l">
              <a:lnSpc>
                <a:spcPct val="115000"/>
              </a:lnSpc>
              <a:spcAft>
                <a:spcPts val="0"/>
              </a:spcAft>
            </a:pPr>
            <a:r>
              <a:rPr sz="2000" b="1" i="0">
                <a:solidFill>
                  <a:srgbClr val="2E7D4F"/>
                </a:solidFill>
                <a:latin typeface="Georgia"/>
              </a:rPr>
              <a:t>4</a:t>
            </a:r>
          </a:p>
        </p:txBody>
      </p:sp>
      <p:sp>
        <p:nvSpPr>
          <p:cNvPr id="21" name="TextBox 20"/>
          <p:cNvSpPr txBox="1"/>
          <p:nvPr/>
        </p:nvSpPr>
        <p:spPr>
          <a:xfrm>
            <a:off x="6347307" y="5916168"/>
            <a:ext cx="1460449" cy="320040"/>
          </a:xfrm>
          <a:prstGeom prst="rect">
            <a:avLst/>
          </a:prstGeom>
          <a:noFill/>
        </p:spPr>
        <p:txBody>
          <a:bodyPr wrap="square" lIns="0" rIns="0" tIns="0" bIns="0" anchor="t">
            <a:spAutoFit/>
          </a:bodyPr>
          <a:lstStyle/>
          <a:p>
            <a:pPr algn="l">
              <a:lnSpc>
                <a:spcPct val="115000"/>
              </a:lnSpc>
              <a:spcAft>
                <a:spcPts val="0"/>
              </a:spcAft>
            </a:pPr>
            <a:r>
              <a:rPr sz="1250" b="1" i="0">
                <a:solidFill>
                  <a:srgbClr val="14213D"/>
                </a:solidFill>
                <a:latin typeface="Arial"/>
              </a:rPr>
              <a:t>Ports and adapters</a:t>
            </a:r>
          </a:p>
        </p:txBody>
      </p:sp>
      <p:sp>
        <p:nvSpPr>
          <p:cNvPr id="22" name="Rounded Rectangle 21"/>
          <p:cNvSpPr/>
          <p:nvPr/>
        </p:nvSpPr>
        <p:spPr>
          <a:xfrm>
            <a:off x="8036356" y="5458968"/>
            <a:ext cx="1734769" cy="777240"/>
          </a:xfrm>
          <a:prstGeom prst="roundRect">
            <a:avLst>
              <a:gd name="adj" fmla="val 14117"/>
            </a:avLst>
          </a:prstGeom>
          <a:solidFill>
            <a:srgbClr val="FFFFFF"/>
          </a:solidFill>
          <a:ln w="9525">
            <a:solidFill>
              <a:srgbClr val="E2E5EB"/>
            </a:solidFill>
          </a:ln>
          <a:effectLst>
            <a:outerShdw blurRad="114300" dist="25400" dir="5400000" algn="t" rotWithShape="0">
              <a:srgbClr val="14213D">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219236" y="5568696"/>
            <a:ext cx="914400" cy="365760"/>
          </a:xfrm>
          <a:prstGeom prst="rect">
            <a:avLst/>
          </a:prstGeom>
          <a:noFill/>
        </p:spPr>
        <p:txBody>
          <a:bodyPr wrap="square" lIns="0" rIns="0" tIns="0" bIns="0" anchor="t">
            <a:spAutoFit/>
          </a:bodyPr>
          <a:lstStyle/>
          <a:p>
            <a:pPr algn="l">
              <a:lnSpc>
                <a:spcPct val="115000"/>
              </a:lnSpc>
              <a:spcAft>
                <a:spcPts val="0"/>
              </a:spcAft>
            </a:pPr>
            <a:r>
              <a:rPr sz="2000" b="1" i="0">
                <a:solidFill>
                  <a:srgbClr val="2E7D4F"/>
                </a:solidFill>
                <a:latin typeface="Georgia"/>
              </a:rPr>
              <a:t>5</a:t>
            </a:r>
          </a:p>
        </p:txBody>
      </p:sp>
      <p:sp>
        <p:nvSpPr>
          <p:cNvPr id="24" name="TextBox 23"/>
          <p:cNvSpPr txBox="1"/>
          <p:nvPr/>
        </p:nvSpPr>
        <p:spPr>
          <a:xfrm>
            <a:off x="8219236" y="5916168"/>
            <a:ext cx="1460449" cy="320040"/>
          </a:xfrm>
          <a:prstGeom prst="rect">
            <a:avLst/>
          </a:prstGeom>
          <a:noFill/>
        </p:spPr>
        <p:txBody>
          <a:bodyPr wrap="square" lIns="0" rIns="0" tIns="0" bIns="0" anchor="t">
            <a:spAutoFit/>
          </a:bodyPr>
          <a:lstStyle/>
          <a:p>
            <a:pPr algn="l">
              <a:lnSpc>
                <a:spcPct val="115000"/>
              </a:lnSpc>
              <a:spcAft>
                <a:spcPts val="0"/>
              </a:spcAft>
            </a:pPr>
            <a:r>
              <a:rPr sz="1250" b="1" i="0">
                <a:solidFill>
                  <a:srgbClr val="14213D"/>
                </a:solidFill>
                <a:latin typeface="Arial"/>
              </a:rPr>
              <a:t>Use case trace</a:t>
            </a:r>
          </a:p>
        </p:txBody>
      </p:sp>
      <p:sp>
        <p:nvSpPr>
          <p:cNvPr id="25" name="Rounded Rectangle 24"/>
          <p:cNvSpPr/>
          <p:nvPr/>
        </p:nvSpPr>
        <p:spPr>
          <a:xfrm>
            <a:off x="9908286" y="5458968"/>
            <a:ext cx="1734769" cy="777240"/>
          </a:xfrm>
          <a:prstGeom prst="roundRect">
            <a:avLst>
              <a:gd name="adj" fmla="val 14117"/>
            </a:avLst>
          </a:prstGeom>
          <a:solidFill>
            <a:srgbClr val="FFFFFF"/>
          </a:solidFill>
          <a:ln w="9525">
            <a:solidFill>
              <a:srgbClr val="E2E5EB"/>
            </a:solidFill>
          </a:ln>
          <a:effectLst>
            <a:outerShdw blurRad="114300" dist="25400" dir="5400000" algn="t" rotWithShape="0">
              <a:srgbClr val="14213D">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0091166" y="5568696"/>
            <a:ext cx="914400" cy="365760"/>
          </a:xfrm>
          <a:prstGeom prst="rect">
            <a:avLst/>
          </a:prstGeom>
          <a:noFill/>
        </p:spPr>
        <p:txBody>
          <a:bodyPr wrap="square" lIns="0" rIns="0" tIns="0" bIns="0" anchor="t">
            <a:spAutoFit/>
          </a:bodyPr>
          <a:lstStyle/>
          <a:p>
            <a:pPr algn="l">
              <a:lnSpc>
                <a:spcPct val="115000"/>
              </a:lnSpc>
              <a:spcAft>
                <a:spcPts val="0"/>
              </a:spcAft>
            </a:pPr>
            <a:r>
              <a:rPr sz="2000" b="1" i="0">
                <a:solidFill>
                  <a:srgbClr val="2E7D4F"/>
                </a:solidFill>
                <a:latin typeface="Georgia"/>
              </a:rPr>
              <a:t>6</a:t>
            </a:r>
          </a:p>
        </p:txBody>
      </p:sp>
      <p:sp>
        <p:nvSpPr>
          <p:cNvPr id="27" name="TextBox 26"/>
          <p:cNvSpPr txBox="1"/>
          <p:nvPr/>
        </p:nvSpPr>
        <p:spPr>
          <a:xfrm>
            <a:off x="10091166" y="5916168"/>
            <a:ext cx="1460449" cy="320040"/>
          </a:xfrm>
          <a:prstGeom prst="rect">
            <a:avLst/>
          </a:prstGeom>
          <a:noFill/>
        </p:spPr>
        <p:txBody>
          <a:bodyPr wrap="square" lIns="0" rIns="0" tIns="0" bIns="0" anchor="t">
            <a:spAutoFit/>
          </a:bodyPr>
          <a:lstStyle/>
          <a:p>
            <a:pPr algn="l">
              <a:lnSpc>
                <a:spcPct val="115000"/>
              </a:lnSpc>
              <a:spcAft>
                <a:spcPts val="0"/>
              </a:spcAft>
            </a:pPr>
            <a:r>
              <a:rPr sz="1250" b="1" i="0">
                <a:solidFill>
                  <a:srgbClr val="14213D"/>
                </a:solidFill>
                <a:latin typeface="Arial"/>
              </a:rPr>
              <a:t>Generalisation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6F1"/>
        </a:solidFill>
        <a:effectLst/>
      </p:bgPr>
    </p:bg>
    <p:spTree>
      <p:nvGrpSpPr>
        <p:cNvPr id="1" name=""/>
        <p:cNvGrpSpPr/>
        <p:nvPr/>
      </p:nvGrpSpPr>
      <p:grpSpPr/>
      <p:sp>
        <p:nvSpPr>
          <p:cNvPr id="2" name="Rectangle 1"/>
          <p:cNvSpPr/>
          <p:nvPr/>
        </p:nvSpPr>
        <p:spPr>
          <a:xfrm>
            <a:off x="0" y="0"/>
            <a:ext cx="100584" cy="6858000"/>
          </a:xfrm>
          <a:prstGeom prst="rect">
            <a:avLst/>
          </a:prstGeom>
          <a:solidFill>
            <a:srgbClr val="C25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47472"/>
            <a:ext cx="5943600" cy="274320"/>
          </a:xfrm>
          <a:prstGeom prst="rect">
            <a:avLst/>
          </a:prstGeom>
          <a:noFill/>
        </p:spPr>
        <p:txBody>
          <a:bodyPr wrap="square" lIns="0" rIns="0" tIns="0" bIns="0" anchor="ctr">
            <a:spAutoFit/>
          </a:bodyPr>
          <a:lstStyle/>
          <a:p>
            <a:pPr algn="l">
              <a:lnSpc>
                <a:spcPct val="115000"/>
              </a:lnSpc>
              <a:spcAft>
                <a:spcPts val="0"/>
              </a:spcAft>
            </a:pPr>
            <a:r>
              <a:rPr sz="1000" b="1" i="0">
                <a:solidFill>
                  <a:srgbClr val="C2571A"/>
                </a:solidFill>
                <a:latin typeface="Arial"/>
              </a:rPr>
              <a:t>ELEMENTARY STRUCTURE</a:t>
            </a:r>
          </a:p>
        </p:txBody>
      </p:sp>
      <p:sp>
        <p:nvSpPr>
          <p:cNvPr id="4" name="TextBox 3"/>
          <p:cNvSpPr txBox="1"/>
          <p:nvPr/>
        </p:nvSpPr>
        <p:spPr>
          <a:xfrm>
            <a:off x="548640" y="731520"/>
            <a:ext cx="11094415" cy="566928"/>
          </a:xfrm>
          <a:prstGeom prst="rect">
            <a:avLst/>
          </a:prstGeom>
          <a:noFill/>
        </p:spPr>
        <p:txBody>
          <a:bodyPr wrap="square" lIns="0" rIns="0" tIns="0" bIns="0" anchor="ctr">
            <a:spAutoFit/>
          </a:bodyPr>
          <a:lstStyle/>
          <a:p>
            <a:pPr algn="l">
              <a:lnSpc>
                <a:spcPct val="115000"/>
              </a:lnSpc>
              <a:spcAft>
                <a:spcPts val="0"/>
              </a:spcAft>
            </a:pPr>
            <a:r>
              <a:rPr sz="2600" b="1" i="0">
                <a:solidFill>
                  <a:srgbClr val="14213D"/>
                </a:solidFill>
                <a:latin typeface="Georgia"/>
              </a:rPr>
              <a:t>One Specialist interface, five realisations</a:t>
            </a:r>
          </a:p>
        </p:txBody>
      </p:sp>
      <p:sp>
        <p:nvSpPr>
          <p:cNvPr id="5" name="Rectangle 4"/>
          <p:cNvSpPr/>
          <p:nvPr/>
        </p:nvSpPr>
        <p:spPr>
          <a:xfrm>
            <a:off x="548640" y="6400800"/>
            <a:ext cx="11094415" cy="10972"/>
          </a:xfrm>
          <a:prstGeom prst="rect">
            <a:avLst/>
          </a:prstGeom>
          <a:solidFill>
            <a:srgbClr val="DDDA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48640" y="6473952"/>
            <a:ext cx="7315200" cy="228600"/>
          </a:xfrm>
          <a:prstGeom prst="rect">
            <a:avLst/>
          </a:prstGeom>
          <a:noFill/>
        </p:spPr>
        <p:txBody>
          <a:bodyPr wrap="square" lIns="0" rIns="0" tIns="0" bIns="0" anchor="t">
            <a:spAutoFit/>
          </a:bodyPr>
          <a:lstStyle/>
          <a:p>
            <a:pPr algn="l">
              <a:lnSpc>
                <a:spcPct val="115000"/>
              </a:lnSpc>
              <a:spcAft>
                <a:spcPts val="0"/>
              </a:spcAft>
            </a:pPr>
            <a:r>
              <a:rPr sz="900" b="0" i="0">
                <a:solidFill>
                  <a:srgbClr val="8A93A6"/>
                </a:solidFill>
                <a:latin typeface="Arial"/>
              </a:rPr>
              <a:t>AI Trip Planner  ·  ELEC5620 Stage 1  ·  Mon 10-12 Group 14</a:t>
            </a:r>
          </a:p>
        </p:txBody>
      </p:sp>
      <p:sp>
        <p:nvSpPr>
          <p:cNvPr id="7" name="TextBox 6"/>
          <p:cNvSpPr txBox="1"/>
          <p:nvPr/>
        </p:nvSpPr>
        <p:spPr>
          <a:xfrm>
            <a:off x="9814255" y="6473952"/>
            <a:ext cx="1828800" cy="228600"/>
          </a:xfrm>
          <a:prstGeom prst="rect">
            <a:avLst/>
          </a:prstGeom>
          <a:noFill/>
        </p:spPr>
        <p:txBody>
          <a:bodyPr wrap="square" lIns="0" rIns="0" tIns="0" bIns="0" anchor="t">
            <a:spAutoFit/>
          </a:bodyPr>
          <a:lstStyle/>
          <a:p>
            <a:pPr algn="r">
              <a:lnSpc>
                <a:spcPct val="115000"/>
              </a:lnSpc>
              <a:spcAft>
                <a:spcPts val="0"/>
              </a:spcAft>
            </a:pPr>
            <a:r>
              <a:rPr sz="900" b="0" i="0">
                <a:solidFill>
                  <a:srgbClr val="8A93A6"/>
                </a:solidFill>
                <a:latin typeface="Arial"/>
              </a:rPr>
              <a:t>17 / 24</a:t>
            </a:r>
          </a:p>
        </p:txBody>
      </p:sp>
      <p:sp>
        <p:nvSpPr>
          <p:cNvPr id="8" name="Rounded Rectangle 7"/>
          <p:cNvSpPr/>
          <p:nvPr/>
        </p:nvSpPr>
        <p:spPr>
          <a:xfrm>
            <a:off x="548640" y="1481328"/>
            <a:ext cx="11094415" cy="3108960"/>
          </a:xfrm>
          <a:prstGeom prst="roundRect">
            <a:avLst>
              <a:gd name="adj" fmla="val 3529"/>
            </a:avLst>
          </a:prstGeom>
          <a:solidFill>
            <a:srgbClr val="FFFFFF"/>
          </a:solidFill>
          <a:ln w="9525">
            <a:solidFill>
              <a:srgbClr val="E2E5EB"/>
            </a:solidFill>
          </a:ln>
          <a:effectLst>
            <a:outerShdw blurRad="114300" dist="25400" dir="5400000" algn="t" rotWithShape="0">
              <a:srgbClr val="14213D">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class-specialists.png"/>
          <p:cNvPicPr>
            <a:picLocks noChangeAspect="1"/>
          </p:cNvPicPr>
          <p:nvPr/>
        </p:nvPicPr>
        <p:blipFill>
          <a:blip r:embed="rId3"/>
          <a:stretch>
            <a:fillRect/>
          </a:stretch>
        </p:blipFill>
        <p:spPr>
          <a:xfrm>
            <a:off x="2783990" y="1609344"/>
            <a:ext cx="6623713" cy="2852928"/>
          </a:xfrm>
          <a:prstGeom prst="rect">
            <a:avLst/>
          </a:prstGeom>
        </p:spPr>
      </p:pic>
      <p:sp>
        <p:nvSpPr>
          <p:cNvPr id="10" name="Oval 9"/>
          <p:cNvSpPr/>
          <p:nvPr/>
        </p:nvSpPr>
        <p:spPr>
          <a:xfrm>
            <a:off x="5263197" y="2841589"/>
            <a:ext cx="274320" cy="274320"/>
          </a:xfrm>
          <a:prstGeom prst="ellipse">
            <a:avLst/>
          </a:prstGeom>
          <a:solidFill>
            <a:srgbClr val="C2571A"/>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Arial"/>
              </a:rPr>
              <a:t>1</a:t>
            </a:r>
          </a:p>
        </p:txBody>
      </p:sp>
      <p:sp>
        <p:nvSpPr>
          <p:cNvPr id="11" name="Oval 10"/>
          <p:cNvSpPr/>
          <p:nvPr/>
        </p:nvSpPr>
        <p:spPr>
          <a:xfrm>
            <a:off x="5461909" y="2484973"/>
            <a:ext cx="274320" cy="274320"/>
          </a:xfrm>
          <a:prstGeom prst="ellipse">
            <a:avLst/>
          </a:prstGeom>
          <a:solidFill>
            <a:srgbClr val="C2571A"/>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Arial"/>
              </a:rPr>
              <a:t>2</a:t>
            </a:r>
          </a:p>
        </p:txBody>
      </p:sp>
      <p:sp>
        <p:nvSpPr>
          <p:cNvPr id="12" name="Rounded Rectangle 11"/>
          <p:cNvSpPr/>
          <p:nvPr/>
        </p:nvSpPr>
        <p:spPr>
          <a:xfrm>
            <a:off x="548640" y="4773168"/>
            <a:ext cx="3576218" cy="1463039"/>
          </a:xfrm>
          <a:prstGeom prst="roundRect">
            <a:avLst>
              <a:gd name="adj" fmla="val 7500"/>
            </a:avLst>
          </a:prstGeom>
          <a:solidFill>
            <a:srgbClr val="FFFFFF"/>
          </a:solidFill>
          <a:ln w="9525">
            <a:solidFill>
              <a:srgbClr val="E2E5EB"/>
            </a:solidFill>
          </a:ln>
          <a:effectLst>
            <a:outerShdw blurRad="114300" dist="25400" dir="5400000" algn="t" rotWithShape="0">
              <a:srgbClr val="14213D">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749808" y="4974336"/>
            <a:ext cx="256032" cy="256032"/>
          </a:xfrm>
          <a:prstGeom prst="ellipse">
            <a:avLst/>
          </a:prstGeom>
          <a:solidFill>
            <a:srgbClr val="C2571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50" b="1">
                <a:solidFill>
                  <a:srgbClr val="FFFFFF"/>
                </a:solidFill>
                <a:latin typeface="Arial"/>
              </a:rPr>
              <a:t>1</a:t>
            </a:r>
          </a:p>
        </p:txBody>
      </p:sp>
      <p:sp>
        <p:nvSpPr>
          <p:cNvPr id="14" name="TextBox 13"/>
          <p:cNvSpPr txBox="1"/>
          <p:nvPr/>
        </p:nvSpPr>
        <p:spPr>
          <a:xfrm>
            <a:off x="1115568" y="4937760"/>
            <a:ext cx="2844698" cy="329184"/>
          </a:xfrm>
          <a:prstGeom prst="rect">
            <a:avLst/>
          </a:prstGeom>
          <a:noFill/>
        </p:spPr>
        <p:txBody>
          <a:bodyPr wrap="square" lIns="0" rIns="0" tIns="0" bIns="0" anchor="ctr">
            <a:spAutoFit/>
          </a:bodyPr>
          <a:lstStyle/>
          <a:p>
            <a:pPr algn="l">
              <a:lnSpc>
                <a:spcPct val="115000"/>
              </a:lnSpc>
              <a:spcAft>
                <a:spcPts val="0"/>
              </a:spcAft>
            </a:pPr>
            <a:r>
              <a:rPr sz="1400" b="1" i="0">
                <a:solidFill>
                  <a:srgbClr val="14213D"/>
                </a:solidFill>
                <a:latin typeface="Arial"/>
              </a:rPr>
              <a:t>Specialist interface</a:t>
            </a:r>
          </a:p>
        </p:txBody>
      </p:sp>
      <p:sp>
        <p:nvSpPr>
          <p:cNvPr id="15" name="Rounded Rectangle 14"/>
          <p:cNvSpPr/>
          <p:nvPr/>
        </p:nvSpPr>
        <p:spPr>
          <a:xfrm>
            <a:off x="749808" y="5340096"/>
            <a:ext cx="1415948" cy="274320"/>
          </a:xfrm>
          <a:prstGeom prst="roundRect">
            <a:avLst>
              <a:gd name="adj" fmla="val 50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050" b="0">
                <a:solidFill>
                  <a:srgbClr val="14213D"/>
                </a:solidFill>
                <a:latin typeface="Arial"/>
              </a:rPr>
              <a:t>realisation × 5</a:t>
            </a:r>
          </a:p>
        </p:txBody>
      </p:sp>
      <p:sp>
        <p:nvSpPr>
          <p:cNvPr id="16" name="TextBox 15"/>
          <p:cNvSpPr txBox="1"/>
          <p:nvPr/>
        </p:nvSpPr>
        <p:spPr>
          <a:xfrm>
            <a:off x="749808" y="5733288"/>
            <a:ext cx="3210458" cy="457200"/>
          </a:xfrm>
          <a:prstGeom prst="rect">
            <a:avLst/>
          </a:prstGeom>
          <a:noFill/>
        </p:spPr>
        <p:txBody>
          <a:bodyPr wrap="square" lIns="0" rIns="0" tIns="0" bIns="0" anchor="t">
            <a:spAutoFit/>
          </a:bodyPr>
          <a:lstStyle/>
          <a:p>
            <a:pPr algn="l">
              <a:lnSpc>
                <a:spcPct val="115000"/>
              </a:lnSpc>
              <a:spcAft>
                <a:spcPts val="0"/>
              </a:spcAft>
            </a:pPr>
            <a:r>
              <a:rPr sz="1200" b="0" i="0">
                <a:solidFill>
                  <a:srgbClr val="2A3550"/>
                </a:solidFill>
                <a:latin typeface="Arial"/>
              </a:rPr>
              <a:t>The graph loops over agents without knowing their models.</a:t>
            </a:r>
          </a:p>
        </p:txBody>
      </p:sp>
      <p:sp>
        <p:nvSpPr>
          <p:cNvPr id="17" name="Rounded Rectangle 16"/>
          <p:cNvSpPr/>
          <p:nvPr/>
        </p:nvSpPr>
        <p:spPr>
          <a:xfrm>
            <a:off x="4307738" y="4773168"/>
            <a:ext cx="3576218" cy="1463039"/>
          </a:xfrm>
          <a:prstGeom prst="roundRect">
            <a:avLst>
              <a:gd name="adj" fmla="val 7500"/>
            </a:avLst>
          </a:prstGeom>
          <a:solidFill>
            <a:srgbClr val="FFFFFF"/>
          </a:solidFill>
          <a:ln w="9525">
            <a:solidFill>
              <a:srgbClr val="E2E5EB"/>
            </a:solidFill>
          </a:ln>
          <a:effectLst>
            <a:outerShdw blurRad="114300" dist="25400" dir="5400000" algn="t" rotWithShape="0">
              <a:srgbClr val="14213D">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4508906" y="4974336"/>
            <a:ext cx="256032" cy="256032"/>
          </a:xfrm>
          <a:prstGeom prst="ellipse">
            <a:avLst/>
          </a:prstGeom>
          <a:solidFill>
            <a:srgbClr val="C2571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50" b="1">
                <a:solidFill>
                  <a:srgbClr val="FFFFFF"/>
                </a:solidFill>
                <a:latin typeface="Arial"/>
              </a:rPr>
              <a:t>2</a:t>
            </a:r>
          </a:p>
        </p:txBody>
      </p:sp>
      <p:sp>
        <p:nvSpPr>
          <p:cNvPr id="19" name="TextBox 18"/>
          <p:cNvSpPr txBox="1"/>
          <p:nvPr/>
        </p:nvSpPr>
        <p:spPr>
          <a:xfrm>
            <a:off x="4874666" y="4937760"/>
            <a:ext cx="2844698" cy="329184"/>
          </a:xfrm>
          <a:prstGeom prst="rect">
            <a:avLst/>
          </a:prstGeom>
          <a:noFill/>
        </p:spPr>
        <p:txBody>
          <a:bodyPr wrap="square" lIns="0" rIns="0" tIns="0" bIns="0" anchor="ctr">
            <a:spAutoFit/>
          </a:bodyPr>
          <a:lstStyle/>
          <a:p>
            <a:pPr algn="l">
              <a:lnSpc>
                <a:spcPct val="115000"/>
              </a:lnSpc>
              <a:spcAft>
                <a:spcPts val="0"/>
              </a:spcAft>
            </a:pPr>
            <a:r>
              <a:rPr sz="1400" b="1" i="0">
                <a:solidFill>
                  <a:srgbClr val="14213D"/>
                </a:solidFill>
                <a:latin typeface="Arial"/>
              </a:rPr>
              <a:t>Registry ◇ Specialist</a:t>
            </a:r>
          </a:p>
        </p:txBody>
      </p:sp>
      <p:sp>
        <p:nvSpPr>
          <p:cNvPr id="20" name="Rounded Rectangle 19"/>
          <p:cNvSpPr/>
          <p:nvPr/>
        </p:nvSpPr>
        <p:spPr>
          <a:xfrm>
            <a:off x="4508906" y="5340096"/>
            <a:ext cx="1565727" cy="274320"/>
          </a:xfrm>
          <a:prstGeom prst="roundRect">
            <a:avLst>
              <a:gd name="adj" fmla="val 50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050" b="0">
                <a:solidFill>
                  <a:srgbClr val="14213D"/>
                </a:solidFill>
                <a:latin typeface="Arial"/>
              </a:rPr>
              <a:t>aggregation 1 → 5</a:t>
            </a:r>
          </a:p>
        </p:txBody>
      </p:sp>
      <p:sp>
        <p:nvSpPr>
          <p:cNvPr id="21" name="TextBox 20"/>
          <p:cNvSpPr txBox="1"/>
          <p:nvPr/>
        </p:nvSpPr>
        <p:spPr>
          <a:xfrm>
            <a:off x="4508906" y="5733288"/>
            <a:ext cx="3210458" cy="457200"/>
          </a:xfrm>
          <a:prstGeom prst="rect">
            <a:avLst/>
          </a:prstGeom>
          <a:noFill/>
        </p:spPr>
        <p:txBody>
          <a:bodyPr wrap="square" lIns="0" rIns="0" tIns="0" bIns="0" anchor="t">
            <a:spAutoFit/>
          </a:bodyPr>
          <a:lstStyle/>
          <a:p>
            <a:pPr algn="l">
              <a:lnSpc>
                <a:spcPct val="115000"/>
              </a:lnSpc>
              <a:spcAft>
                <a:spcPts val="0"/>
              </a:spcAft>
            </a:pPr>
            <a:r>
              <a:rPr sz="1200" b="0" i="0">
                <a:solidFill>
                  <a:srgbClr val="2A3550"/>
                </a:solidFill>
                <a:latin typeface="Arial"/>
              </a:rPr>
              <a:t>Agents live on their own; the registry only lists them.</a:t>
            </a:r>
          </a:p>
        </p:txBody>
      </p:sp>
      <p:sp>
        <p:nvSpPr>
          <p:cNvPr id="22" name="Rounded Rectangle 21"/>
          <p:cNvSpPr/>
          <p:nvPr/>
        </p:nvSpPr>
        <p:spPr>
          <a:xfrm>
            <a:off x="8066836" y="4773168"/>
            <a:ext cx="3576218" cy="1463039"/>
          </a:xfrm>
          <a:prstGeom prst="roundRect">
            <a:avLst>
              <a:gd name="adj" fmla="val 7500"/>
            </a:avLst>
          </a:prstGeom>
          <a:solidFill>
            <a:srgbClr val="FFFFFF"/>
          </a:solidFill>
          <a:ln w="9525">
            <a:solidFill>
              <a:srgbClr val="E2E5EB"/>
            </a:solidFill>
          </a:ln>
          <a:effectLst>
            <a:outerShdw blurRad="114300" dist="25400" dir="5400000" algn="t" rotWithShape="0">
              <a:srgbClr val="14213D">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268004" y="4937760"/>
            <a:ext cx="2844698" cy="329184"/>
          </a:xfrm>
          <a:prstGeom prst="rect">
            <a:avLst/>
          </a:prstGeom>
          <a:noFill/>
        </p:spPr>
        <p:txBody>
          <a:bodyPr wrap="square" lIns="0" rIns="0" tIns="0" bIns="0" anchor="ctr">
            <a:spAutoFit/>
          </a:bodyPr>
          <a:lstStyle/>
          <a:p>
            <a:pPr algn="l">
              <a:lnSpc>
                <a:spcPct val="115000"/>
              </a:lnSpc>
              <a:spcAft>
                <a:spcPts val="0"/>
              </a:spcAft>
            </a:pPr>
            <a:r>
              <a:rPr sz="1400" b="1" i="0">
                <a:solidFill>
                  <a:srgbClr val="14213D"/>
                </a:solidFill>
                <a:latin typeface="Arial"/>
              </a:rPr>
              <a:t>TripPlan ◆ TripSection</a:t>
            </a:r>
          </a:p>
        </p:txBody>
      </p:sp>
      <p:sp>
        <p:nvSpPr>
          <p:cNvPr id="24" name="Rounded Rectangle 23"/>
          <p:cNvSpPr/>
          <p:nvPr/>
        </p:nvSpPr>
        <p:spPr>
          <a:xfrm>
            <a:off x="8268004" y="5340096"/>
            <a:ext cx="1790395" cy="274320"/>
          </a:xfrm>
          <a:prstGeom prst="roundRect">
            <a:avLst>
              <a:gd name="adj" fmla="val 50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050" b="0">
                <a:solidFill>
                  <a:srgbClr val="14213D"/>
                </a:solidFill>
                <a:latin typeface="Arial"/>
              </a:rPr>
              <a:t>composition 1 → 0..*</a:t>
            </a:r>
          </a:p>
        </p:txBody>
      </p:sp>
      <p:sp>
        <p:nvSpPr>
          <p:cNvPr id="25" name="TextBox 24"/>
          <p:cNvSpPr txBox="1"/>
          <p:nvPr/>
        </p:nvSpPr>
        <p:spPr>
          <a:xfrm>
            <a:off x="8268004" y="5733288"/>
            <a:ext cx="3210458" cy="457200"/>
          </a:xfrm>
          <a:prstGeom prst="rect">
            <a:avLst/>
          </a:prstGeom>
          <a:noFill/>
        </p:spPr>
        <p:txBody>
          <a:bodyPr wrap="square" lIns="0" rIns="0" tIns="0" bIns="0" anchor="t">
            <a:spAutoFit/>
          </a:bodyPr>
          <a:lstStyle/>
          <a:p>
            <a:pPr algn="l">
              <a:lnSpc>
                <a:spcPct val="115000"/>
              </a:lnSpc>
              <a:spcAft>
                <a:spcPts val="0"/>
              </a:spcAft>
            </a:pPr>
            <a:r>
              <a:rPr sz="1200" b="0" i="0">
                <a:solidFill>
                  <a:srgbClr val="2A3550"/>
                </a:solidFill>
                <a:latin typeface="Arial"/>
              </a:rPr>
              <a:t>A section cannot outlive its plan.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6F1"/>
        </a:solidFill>
        <a:effectLst/>
      </p:bgPr>
    </p:bg>
    <p:spTree>
      <p:nvGrpSpPr>
        <p:cNvPr id="1" name=""/>
        <p:cNvGrpSpPr/>
        <p:nvPr/>
      </p:nvGrpSpPr>
      <p:grpSpPr/>
      <p:sp>
        <p:nvSpPr>
          <p:cNvPr id="2" name="Rectangle 1"/>
          <p:cNvSpPr/>
          <p:nvPr/>
        </p:nvSpPr>
        <p:spPr>
          <a:xfrm>
            <a:off x="0" y="0"/>
            <a:ext cx="100584" cy="6858000"/>
          </a:xfrm>
          <a:prstGeom prst="rect">
            <a:avLst/>
          </a:prstGeom>
          <a:solidFill>
            <a:srgbClr val="C25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47472"/>
            <a:ext cx="5943600" cy="274320"/>
          </a:xfrm>
          <a:prstGeom prst="rect">
            <a:avLst/>
          </a:prstGeom>
          <a:noFill/>
        </p:spPr>
        <p:txBody>
          <a:bodyPr wrap="square" lIns="0" rIns="0" tIns="0" bIns="0" anchor="ctr">
            <a:spAutoFit/>
          </a:bodyPr>
          <a:lstStyle/>
          <a:p>
            <a:pPr algn="l">
              <a:lnSpc>
                <a:spcPct val="115000"/>
              </a:lnSpc>
              <a:spcAft>
                <a:spcPts val="0"/>
              </a:spcAft>
            </a:pPr>
            <a:r>
              <a:rPr sz="1000" b="1" i="0">
                <a:solidFill>
                  <a:srgbClr val="C2571A"/>
                </a:solidFill>
                <a:latin typeface="Arial"/>
              </a:rPr>
              <a:t>DESIGN RATIONALE</a:t>
            </a:r>
          </a:p>
        </p:txBody>
      </p:sp>
      <p:sp>
        <p:nvSpPr>
          <p:cNvPr id="4" name="TextBox 3"/>
          <p:cNvSpPr txBox="1"/>
          <p:nvPr/>
        </p:nvSpPr>
        <p:spPr>
          <a:xfrm>
            <a:off x="548640" y="731520"/>
            <a:ext cx="11094415" cy="566928"/>
          </a:xfrm>
          <a:prstGeom prst="rect">
            <a:avLst/>
          </a:prstGeom>
          <a:noFill/>
        </p:spPr>
        <p:txBody>
          <a:bodyPr wrap="square" lIns="0" rIns="0" tIns="0" bIns="0" anchor="ctr">
            <a:spAutoFit/>
          </a:bodyPr>
          <a:lstStyle/>
          <a:p>
            <a:pPr algn="l">
              <a:lnSpc>
                <a:spcPct val="115000"/>
              </a:lnSpc>
              <a:spcAft>
                <a:spcPts val="0"/>
              </a:spcAft>
            </a:pPr>
            <a:r>
              <a:rPr sz="2600" b="1" i="0">
                <a:solidFill>
                  <a:srgbClr val="14213D"/>
                </a:solidFill>
                <a:latin typeface="Georgia"/>
              </a:rPr>
              <a:t>What we chose, and what we discarded</a:t>
            </a:r>
          </a:p>
        </p:txBody>
      </p:sp>
      <p:sp>
        <p:nvSpPr>
          <p:cNvPr id="5" name="Rectangle 4"/>
          <p:cNvSpPr/>
          <p:nvPr/>
        </p:nvSpPr>
        <p:spPr>
          <a:xfrm>
            <a:off x="548640" y="6400800"/>
            <a:ext cx="11094415" cy="10972"/>
          </a:xfrm>
          <a:prstGeom prst="rect">
            <a:avLst/>
          </a:prstGeom>
          <a:solidFill>
            <a:srgbClr val="DDDA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48640" y="6473952"/>
            <a:ext cx="7315200" cy="228600"/>
          </a:xfrm>
          <a:prstGeom prst="rect">
            <a:avLst/>
          </a:prstGeom>
          <a:noFill/>
        </p:spPr>
        <p:txBody>
          <a:bodyPr wrap="square" lIns="0" rIns="0" tIns="0" bIns="0" anchor="t">
            <a:spAutoFit/>
          </a:bodyPr>
          <a:lstStyle/>
          <a:p>
            <a:pPr algn="l">
              <a:lnSpc>
                <a:spcPct val="115000"/>
              </a:lnSpc>
              <a:spcAft>
                <a:spcPts val="0"/>
              </a:spcAft>
            </a:pPr>
            <a:r>
              <a:rPr sz="900" b="0" i="0">
                <a:solidFill>
                  <a:srgbClr val="8A93A6"/>
                </a:solidFill>
                <a:latin typeface="Arial"/>
              </a:rPr>
              <a:t>AI Trip Planner  ·  ELEC5620 Stage 1  ·  Mon 10-12 Group 14</a:t>
            </a:r>
          </a:p>
        </p:txBody>
      </p:sp>
      <p:sp>
        <p:nvSpPr>
          <p:cNvPr id="7" name="TextBox 6"/>
          <p:cNvSpPr txBox="1"/>
          <p:nvPr/>
        </p:nvSpPr>
        <p:spPr>
          <a:xfrm>
            <a:off x="9814255" y="6473952"/>
            <a:ext cx="1828800" cy="228600"/>
          </a:xfrm>
          <a:prstGeom prst="rect">
            <a:avLst/>
          </a:prstGeom>
          <a:noFill/>
        </p:spPr>
        <p:txBody>
          <a:bodyPr wrap="square" lIns="0" rIns="0" tIns="0" bIns="0" anchor="t">
            <a:spAutoFit/>
          </a:bodyPr>
          <a:lstStyle/>
          <a:p>
            <a:pPr algn="r">
              <a:lnSpc>
                <a:spcPct val="115000"/>
              </a:lnSpc>
              <a:spcAft>
                <a:spcPts val="0"/>
              </a:spcAft>
            </a:pPr>
            <a:r>
              <a:rPr sz="900" b="0" i="0">
                <a:solidFill>
                  <a:srgbClr val="8A93A6"/>
                </a:solidFill>
                <a:latin typeface="Arial"/>
              </a:rPr>
              <a:t>18 / 24</a:t>
            </a:r>
          </a:p>
        </p:txBody>
      </p:sp>
      <p:sp>
        <p:nvSpPr>
          <p:cNvPr id="8" name="TextBox 7"/>
          <p:cNvSpPr txBox="1"/>
          <p:nvPr/>
        </p:nvSpPr>
        <p:spPr>
          <a:xfrm>
            <a:off x="731520" y="1481328"/>
            <a:ext cx="3657600" cy="274320"/>
          </a:xfrm>
          <a:prstGeom prst="rect">
            <a:avLst/>
          </a:prstGeom>
          <a:noFill/>
        </p:spPr>
        <p:txBody>
          <a:bodyPr wrap="square" lIns="0" rIns="0" tIns="0" bIns="0" anchor="t">
            <a:spAutoFit/>
          </a:bodyPr>
          <a:lstStyle/>
          <a:p>
            <a:pPr algn="l">
              <a:lnSpc>
                <a:spcPct val="115000"/>
              </a:lnSpc>
              <a:spcAft>
                <a:spcPts val="0"/>
              </a:spcAft>
            </a:pPr>
            <a:r>
              <a:rPr sz="1100" b="1" i="0">
                <a:solidFill>
                  <a:srgbClr val="5A6478"/>
                </a:solidFill>
                <a:latin typeface="Arial"/>
              </a:rPr>
              <a:t>DECISION</a:t>
            </a:r>
          </a:p>
        </p:txBody>
      </p:sp>
      <p:sp>
        <p:nvSpPr>
          <p:cNvPr id="9" name="TextBox 8"/>
          <p:cNvSpPr txBox="1"/>
          <p:nvPr/>
        </p:nvSpPr>
        <p:spPr>
          <a:xfrm>
            <a:off x="3566160" y="1481328"/>
            <a:ext cx="3657600" cy="274320"/>
          </a:xfrm>
          <a:prstGeom prst="rect">
            <a:avLst/>
          </a:prstGeom>
          <a:noFill/>
        </p:spPr>
        <p:txBody>
          <a:bodyPr wrap="square" lIns="0" rIns="0" tIns="0" bIns="0" anchor="t">
            <a:spAutoFit/>
          </a:bodyPr>
          <a:lstStyle/>
          <a:p>
            <a:pPr algn="l">
              <a:lnSpc>
                <a:spcPct val="115000"/>
              </a:lnSpc>
              <a:spcAft>
                <a:spcPts val="0"/>
              </a:spcAft>
            </a:pPr>
            <a:r>
              <a:rPr sz="1100" b="1" i="0">
                <a:solidFill>
                  <a:srgbClr val="2E7D4F"/>
                </a:solidFill>
                <a:latin typeface="Arial"/>
              </a:rPr>
              <a:t>CHOSEN</a:t>
            </a:r>
          </a:p>
        </p:txBody>
      </p:sp>
      <p:sp>
        <p:nvSpPr>
          <p:cNvPr id="10" name="TextBox 9"/>
          <p:cNvSpPr txBox="1"/>
          <p:nvPr/>
        </p:nvSpPr>
        <p:spPr>
          <a:xfrm>
            <a:off x="7452360" y="1481328"/>
            <a:ext cx="3657600" cy="274320"/>
          </a:xfrm>
          <a:prstGeom prst="rect">
            <a:avLst/>
          </a:prstGeom>
          <a:noFill/>
        </p:spPr>
        <p:txBody>
          <a:bodyPr wrap="square" lIns="0" rIns="0" tIns="0" bIns="0" anchor="t">
            <a:spAutoFit/>
          </a:bodyPr>
          <a:lstStyle/>
          <a:p>
            <a:pPr algn="l">
              <a:lnSpc>
                <a:spcPct val="115000"/>
              </a:lnSpc>
              <a:spcAft>
                <a:spcPts val="0"/>
              </a:spcAft>
            </a:pPr>
            <a:r>
              <a:rPr sz="1100" b="1" i="0">
                <a:solidFill>
                  <a:srgbClr val="9B2C2C"/>
                </a:solidFill>
                <a:latin typeface="Arial"/>
              </a:rPr>
              <a:t>DISCARDED, AND WHY</a:t>
            </a:r>
          </a:p>
        </p:txBody>
      </p:sp>
      <p:sp>
        <p:nvSpPr>
          <p:cNvPr id="11" name="Rounded Rectangle 10"/>
          <p:cNvSpPr/>
          <p:nvPr/>
        </p:nvSpPr>
        <p:spPr>
          <a:xfrm>
            <a:off x="548640" y="1828800"/>
            <a:ext cx="11094415" cy="621792"/>
          </a:xfrm>
          <a:prstGeom prst="roundRect">
            <a:avLst>
              <a:gd name="adj" fmla="val 17647"/>
            </a:avLst>
          </a:prstGeom>
          <a:solidFill>
            <a:srgbClr val="FFFFFF"/>
          </a:solidFill>
          <a:ln w="9525">
            <a:solidFill>
              <a:srgbClr val="E2E5EB"/>
            </a:solidFill>
          </a:ln>
          <a:effectLst>
            <a:outerShdw blurRad="114300" dist="25400" dir="5400000" algn="t" rotWithShape="0">
              <a:srgbClr val="14213D">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77240" y="1828800"/>
            <a:ext cx="2194560" cy="621792"/>
          </a:xfrm>
          <a:prstGeom prst="rect">
            <a:avLst/>
          </a:prstGeom>
          <a:noFill/>
        </p:spPr>
        <p:txBody>
          <a:bodyPr wrap="square" lIns="0" rIns="0" tIns="0" bIns="0" anchor="ctr">
            <a:spAutoFit/>
          </a:bodyPr>
          <a:lstStyle/>
          <a:p>
            <a:pPr algn="l">
              <a:lnSpc>
                <a:spcPct val="115000"/>
              </a:lnSpc>
              <a:spcAft>
                <a:spcPts val="0"/>
              </a:spcAft>
            </a:pPr>
            <a:r>
              <a:rPr sz="1300" b="1" i="0">
                <a:solidFill>
                  <a:srgbClr val="14213D"/>
                </a:solidFill>
                <a:latin typeface="Arial"/>
              </a:rPr>
              <a:t>Who drives the loop</a:t>
            </a:r>
          </a:p>
        </p:txBody>
      </p:sp>
      <p:sp>
        <p:nvSpPr>
          <p:cNvPr id="13" name="Rounded Rectangle 12"/>
          <p:cNvSpPr/>
          <p:nvPr/>
        </p:nvSpPr>
        <p:spPr>
          <a:xfrm>
            <a:off x="3136392" y="2002536"/>
            <a:ext cx="274320" cy="274320"/>
          </a:xfrm>
          <a:prstGeom prst="roundRect">
            <a:avLst>
              <a:gd name="adj" fmla="val 50000"/>
            </a:avLst>
          </a:prstGeom>
          <a:solidFill>
            <a:srgbClr val="E3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eck-2E7D4F.png"/>
          <p:cNvPicPr>
            <a:picLocks noChangeAspect="1"/>
          </p:cNvPicPr>
          <p:nvPr/>
        </p:nvPicPr>
        <p:blipFill>
          <a:blip r:embed="rId3"/>
          <a:stretch>
            <a:fillRect/>
          </a:stretch>
        </p:blipFill>
        <p:spPr>
          <a:xfrm>
            <a:off x="3182112" y="2048256"/>
            <a:ext cx="182880" cy="182880"/>
          </a:xfrm>
          <a:prstGeom prst="rect">
            <a:avLst/>
          </a:prstGeom>
        </p:spPr>
      </p:pic>
      <p:sp>
        <p:nvSpPr>
          <p:cNvPr id="15" name="TextBox 14"/>
          <p:cNvSpPr txBox="1"/>
          <p:nvPr/>
        </p:nvSpPr>
        <p:spPr>
          <a:xfrm>
            <a:off x="3566160" y="1828800"/>
            <a:ext cx="3657600" cy="621792"/>
          </a:xfrm>
          <a:prstGeom prst="rect">
            <a:avLst/>
          </a:prstGeom>
          <a:noFill/>
        </p:spPr>
        <p:txBody>
          <a:bodyPr wrap="square" lIns="0" rIns="0" tIns="0" bIns="0" anchor="ctr">
            <a:spAutoFit/>
          </a:bodyPr>
          <a:lstStyle/>
          <a:p>
            <a:pPr algn="l">
              <a:lnSpc>
                <a:spcPct val="115000"/>
              </a:lnSpc>
              <a:spcAft>
                <a:spcPts val="0"/>
              </a:spcAft>
            </a:pPr>
            <a:r>
              <a:rPr sz="1300" b="0" i="0">
                <a:solidFill>
                  <a:srgbClr val="2A3550"/>
                </a:solidFill>
                <a:latin typeface="Arial"/>
              </a:rPr>
              <a:t>Deterministic LangGraph</a:t>
            </a:r>
          </a:p>
        </p:txBody>
      </p:sp>
      <p:sp>
        <p:nvSpPr>
          <p:cNvPr id="16" name="Rounded Rectangle 15"/>
          <p:cNvSpPr/>
          <p:nvPr/>
        </p:nvSpPr>
        <p:spPr>
          <a:xfrm>
            <a:off x="7022592" y="2002536"/>
            <a:ext cx="274320" cy="274320"/>
          </a:xfrm>
          <a:prstGeom prst="roundRect">
            <a:avLst>
              <a:gd name="adj" fmla="val 50000"/>
            </a:avLst>
          </a:prstGeom>
          <a:solidFill>
            <a:srgbClr val="F1E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x-9B2C2C.png"/>
          <p:cNvPicPr>
            <a:picLocks noChangeAspect="1"/>
          </p:cNvPicPr>
          <p:nvPr/>
        </p:nvPicPr>
        <p:blipFill>
          <a:blip r:embed="rId4"/>
          <a:stretch>
            <a:fillRect/>
          </a:stretch>
        </p:blipFill>
        <p:spPr>
          <a:xfrm>
            <a:off x="7068312" y="2048256"/>
            <a:ext cx="182880" cy="182880"/>
          </a:xfrm>
          <a:prstGeom prst="rect">
            <a:avLst/>
          </a:prstGeom>
        </p:spPr>
      </p:pic>
      <p:sp>
        <p:nvSpPr>
          <p:cNvPr id="18" name="TextBox 17"/>
          <p:cNvSpPr txBox="1"/>
          <p:nvPr/>
        </p:nvSpPr>
        <p:spPr>
          <a:xfrm>
            <a:off x="7452360" y="1828800"/>
            <a:ext cx="4053535" cy="621792"/>
          </a:xfrm>
          <a:prstGeom prst="rect">
            <a:avLst/>
          </a:prstGeom>
          <a:noFill/>
        </p:spPr>
        <p:txBody>
          <a:bodyPr wrap="square" lIns="0" rIns="0" tIns="0" bIns="0" anchor="ctr">
            <a:spAutoFit/>
          </a:bodyPr>
          <a:lstStyle/>
          <a:p>
            <a:pPr algn="l">
              <a:lnSpc>
                <a:spcPct val="115000"/>
              </a:lnSpc>
              <a:spcAft>
                <a:spcPts val="0"/>
              </a:spcAft>
            </a:pPr>
            <a:r>
              <a:rPr sz="1250" b="1" i="0">
                <a:solidFill>
                  <a:srgbClr val="14213D"/>
                </a:solidFill>
                <a:latin typeface="Arial"/>
              </a:rPr>
              <a:t>Model-driven loop</a:t>
            </a:r>
            <a:r>
              <a:rPr sz="1250" b="0" i="0">
                <a:solidFill>
                  <a:srgbClr val="5A6478"/>
                </a:solidFill>
                <a:latin typeface="Arial"/>
              </a:rPr>
              <a:t>  limits and costs must be testable</a:t>
            </a:r>
          </a:p>
        </p:txBody>
      </p:sp>
      <p:sp>
        <p:nvSpPr>
          <p:cNvPr id="19" name="Rounded Rectangle 18"/>
          <p:cNvSpPr/>
          <p:nvPr/>
        </p:nvSpPr>
        <p:spPr>
          <a:xfrm>
            <a:off x="548640" y="2551176"/>
            <a:ext cx="11094415" cy="621792"/>
          </a:xfrm>
          <a:prstGeom prst="roundRect">
            <a:avLst>
              <a:gd name="adj" fmla="val 17647"/>
            </a:avLst>
          </a:prstGeom>
          <a:solidFill>
            <a:srgbClr val="FFFFFF"/>
          </a:solidFill>
          <a:ln w="9525">
            <a:solidFill>
              <a:srgbClr val="E2E5EB"/>
            </a:solidFill>
          </a:ln>
          <a:effectLst>
            <a:outerShdw blurRad="114300" dist="25400" dir="5400000" algn="t" rotWithShape="0">
              <a:srgbClr val="14213D">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77240" y="2551176"/>
            <a:ext cx="2194560" cy="621792"/>
          </a:xfrm>
          <a:prstGeom prst="rect">
            <a:avLst/>
          </a:prstGeom>
          <a:noFill/>
        </p:spPr>
        <p:txBody>
          <a:bodyPr wrap="square" lIns="0" rIns="0" tIns="0" bIns="0" anchor="ctr">
            <a:spAutoFit/>
          </a:bodyPr>
          <a:lstStyle/>
          <a:p>
            <a:pPr algn="l">
              <a:lnSpc>
                <a:spcPct val="115000"/>
              </a:lnSpc>
              <a:spcAft>
                <a:spcPts val="0"/>
              </a:spcAft>
            </a:pPr>
            <a:r>
              <a:rPr sz="1300" b="1" i="0">
                <a:solidFill>
                  <a:srgbClr val="14213D"/>
                </a:solidFill>
                <a:latin typeface="Arial"/>
              </a:rPr>
              <a:t>Collaboration</a:t>
            </a:r>
          </a:p>
        </p:txBody>
      </p:sp>
      <p:sp>
        <p:nvSpPr>
          <p:cNvPr id="21" name="Rounded Rectangle 20"/>
          <p:cNvSpPr/>
          <p:nvPr/>
        </p:nvSpPr>
        <p:spPr>
          <a:xfrm>
            <a:off x="3136392" y="2724912"/>
            <a:ext cx="274320" cy="274320"/>
          </a:xfrm>
          <a:prstGeom prst="roundRect">
            <a:avLst>
              <a:gd name="adj" fmla="val 50000"/>
            </a:avLst>
          </a:prstGeom>
          <a:solidFill>
            <a:srgbClr val="E3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check-2E7D4F.png"/>
          <p:cNvPicPr>
            <a:picLocks noChangeAspect="1"/>
          </p:cNvPicPr>
          <p:nvPr/>
        </p:nvPicPr>
        <p:blipFill>
          <a:blip r:embed="rId3"/>
          <a:stretch>
            <a:fillRect/>
          </a:stretch>
        </p:blipFill>
        <p:spPr>
          <a:xfrm>
            <a:off x="3182112" y="2770632"/>
            <a:ext cx="182880" cy="182880"/>
          </a:xfrm>
          <a:prstGeom prst="rect">
            <a:avLst/>
          </a:prstGeom>
        </p:spPr>
      </p:pic>
      <p:sp>
        <p:nvSpPr>
          <p:cNvPr id="23" name="TextBox 22"/>
          <p:cNvSpPr txBox="1"/>
          <p:nvPr/>
        </p:nvSpPr>
        <p:spPr>
          <a:xfrm>
            <a:off x="3566160" y="2551176"/>
            <a:ext cx="3657600" cy="621792"/>
          </a:xfrm>
          <a:prstGeom prst="rect">
            <a:avLst/>
          </a:prstGeom>
          <a:noFill/>
        </p:spPr>
        <p:txBody>
          <a:bodyPr wrap="square" lIns="0" rIns="0" tIns="0" bIns="0" anchor="ctr">
            <a:spAutoFit/>
          </a:bodyPr>
          <a:lstStyle/>
          <a:p>
            <a:pPr algn="l">
              <a:lnSpc>
                <a:spcPct val="115000"/>
              </a:lnSpc>
              <a:spcAft>
                <a:spcPts val="0"/>
              </a:spcAft>
            </a:pPr>
            <a:r>
              <a:rPr sz="1300" b="0" i="0">
                <a:solidFill>
                  <a:srgbClr val="2A3550"/>
                </a:solidFill>
                <a:latin typeface="Arial"/>
              </a:rPr>
              <a:t>Staged board with budget shares</a:t>
            </a:r>
          </a:p>
        </p:txBody>
      </p:sp>
      <p:sp>
        <p:nvSpPr>
          <p:cNvPr id="24" name="Rounded Rectangle 23"/>
          <p:cNvSpPr/>
          <p:nvPr/>
        </p:nvSpPr>
        <p:spPr>
          <a:xfrm>
            <a:off x="7022592" y="2724912"/>
            <a:ext cx="274320" cy="274320"/>
          </a:xfrm>
          <a:prstGeom prst="roundRect">
            <a:avLst>
              <a:gd name="adj" fmla="val 50000"/>
            </a:avLst>
          </a:prstGeom>
          <a:solidFill>
            <a:srgbClr val="F1E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x-9B2C2C.png"/>
          <p:cNvPicPr>
            <a:picLocks noChangeAspect="1"/>
          </p:cNvPicPr>
          <p:nvPr/>
        </p:nvPicPr>
        <p:blipFill>
          <a:blip r:embed="rId4"/>
          <a:stretch>
            <a:fillRect/>
          </a:stretch>
        </p:blipFill>
        <p:spPr>
          <a:xfrm>
            <a:off x="7068312" y="2770632"/>
            <a:ext cx="182880" cy="182880"/>
          </a:xfrm>
          <a:prstGeom prst="rect">
            <a:avLst/>
          </a:prstGeom>
        </p:spPr>
      </p:pic>
      <p:sp>
        <p:nvSpPr>
          <p:cNvPr id="26" name="TextBox 25"/>
          <p:cNvSpPr txBox="1"/>
          <p:nvPr/>
        </p:nvSpPr>
        <p:spPr>
          <a:xfrm>
            <a:off x="7452360" y="2551176"/>
            <a:ext cx="4053535" cy="621792"/>
          </a:xfrm>
          <a:prstGeom prst="rect">
            <a:avLst/>
          </a:prstGeom>
          <a:noFill/>
        </p:spPr>
        <p:txBody>
          <a:bodyPr wrap="square" lIns="0" rIns="0" tIns="0" bIns="0" anchor="ctr">
            <a:spAutoFit/>
          </a:bodyPr>
          <a:lstStyle/>
          <a:p>
            <a:pPr algn="l">
              <a:lnSpc>
                <a:spcPct val="115000"/>
              </a:lnSpc>
              <a:spcAft>
                <a:spcPts val="0"/>
              </a:spcAft>
            </a:pPr>
            <a:r>
              <a:rPr sz="1250" b="1" i="0">
                <a:solidFill>
                  <a:srgbClr val="14213D"/>
                </a:solidFill>
                <a:latin typeface="Arial"/>
              </a:rPr>
              <a:t>Free agent-to-agent chat</a:t>
            </a:r>
            <a:r>
              <a:rPr sz="1250" b="0" i="0">
                <a:solidFill>
                  <a:srgbClr val="5A6478"/>
                </a:solidFill>
                <a:latin typeface="Arial"/>
              </a:rPr>
              <a:t>  control flow would live in model output</a:t>
            </a:r>
          </a:p>
        </p:txBody>
      </p:sp>
      <p:sp>
        <p:nvSpPr>
          <p:cNvPr id="27" name="Rounded Rectangle 26"/>
          <p:cNvSpPr/>
          <p:nvPr/>
        </p:nvSpPr>
        <p:spPr>
          <a:xfrm>
            <a:off x="548640" y="3273552"/>
            <a:ext cx="11094415" cy="621792"/>
          </a:xfrm>
          <a:prstGeom prst="roundRect">
            <a:avLst>
              <a:gd name="adj" fmla="val 17647"/>
            </a:avLst>
          </a:prstGeom>
          <a:solidFill>
            <a:srgbClr val="FFFFFF"/>
          </a:solidFill>
          <a:ln w="9525">
            <a:solidFill>
              <a:srgbClr val="E2E5EB"/>
            </a:solidFill>
          </a:ln>
          <a:effectLst>
            <a:outerShdw blurRad="114300" dist="25400" dir="5400000" algn="t" rotWithShape="0">
              <a:srgbClr val="14213D">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77240" y="3273552"/>
            <a:ext cx="2194560" cy="621792"/>
          </a:xfrm>
          <a:prstGeom prst="rect">
            <a:avLst/>
          </a:prstGeom>
          <a:noFill/>
        </p:spPr>
        <p:txBody>
          <a:bodyPr wrap="square" lIns="0" rIns="0" tIns="0" bIns="0" anchor="ctr">
            <a:spAutoFit/>
          </a:bodyPr>
          <a:lstStyle/>
          <a:p>
            <a:pPr algn="l">
              <a:lnSpc>
                <a:spcPct val="115000"/>
              </a:lnSpc>
              <a:spcAft>
                <a:spcPts val="0"/>
              </a:spcAft>
            </a:pPr>
            <a:r>
              <a:rPr sz="1300" b="1" i="0">
                <a:solidFill>
                  <a:srgbClr val="14213D"/>
                </a:solidFill>
                <a:latin typeface="Arial"/>
              </a:rPr>
              <a:t>Human in the loop</a:t>
            </a:r>
          </a:p>
        </p:txBody>
      </p:sp>
      <p:sp>
        <p:nvSpPr>
          <p:cNvPr id="29" name="Rounded Rectangle 28"/>
          <p:cNvSpPr/>
          <p:nvPr/>
        </p:nvSpPr>
        <p:spPr>
          <a:xfrm>
            <a:off x="3136392" y="3447288"/>
            <a:ext cx="274320" cy="274320"/>
          </a:xfrm>
          <a:prstGeom prst="roundRect">
            <a:avLst>
              <a:gd name="adj" fmla="val 50000"/>
            </a:avLst>
          </a:prstGeom>
          <a:solidFill>
            <a:srgbClr val="E3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0" name="Picture 29" descr="check-2E7D4F.png"/>
          <p:cNvPicPr>
            <a:picLocks noChangeAspect="1"/>
          </p:cNvPicPr>
          <p:nvPr/>
        </p:nvPicPr>
        <p:blipFill>
          <a:blip r:embed="rId3"/>
          <a:stretch>
            <a:fillRect/>
          </a:stretch>
        </p:blipFill>
        <p:spPr>
          <a:xfrm>
            <a:off x="3182112" y="3493008"/>
            <a:ext cx="182880" cy="182880"/>
          </a:xfrm>
          <a:prstGeom prst="rect">
            <a:avLst/>
          </a:prstGeom>
        </p:spPr>
      </p:pic>
      <p:sp>
        <p:nvSpPr>
          <p:cNvPr id="31" name="TextBox 30"/>
          <p:cNvSpPr txBox="1"/>
          <p:nvPr/>
        </p:nvSpPr>
        <p:spPr>
          <a:xfrm>
            <a:off x="3566160" y="3273552"/>
            <a:ext cx="3657600" cy="621792"/>
          </a:xfrm>
          <a:prstGeom prst="rect">
            <a:avLst/>
          </a:prstGeom>
          <a:noFill/>
        </p:spPr>
        <p:txBody>
          <a:bodyPr wrap="square" lIns="0" rIns="0" tIns="0" bIns="0" anchor="ctr">
            <a:spAutoFit/>
          </a:bodyPr>
          <a:lstStyle/>
          <a:p>
            <a:pPr algn="l">
              <a:lnSpc>
                <a:spcPct val="115000"/>
              </a:lnSpc>
              <a:spcAft>
                <a:spcPts val="0"/>
              </a:spcAft>
            </a:pPr>
            <a:r>
              <a:rPr sz="1300" b="0" i="0">
                <a:solidFill>
                  <a:srgbClr val="2A3550"/>
                </a:solidFill>
                <a:latin typeface="Arial"/>
              </a:rPr>
              <a:t>Traveller edits; sections show needs_you</a:t>
            </a:r>
          </a:p>
        </p:txBody>
      </p:sp>
      <p:sp>
        <p:nvSpPr>
          <p:cNvPr id="32" name="Rounded Rectangle 31"/>
          <p:cNvSpPr/>
          <p:nvPr/>
        </p:nvSpPr>
        <p:spPr>
          <a:xfrm>
            <a:off x="7022592" y="3447288"/>
            <a:ext cx="274320" cy="274320"/>
          </a:xfrm>
          <a:prstGeom prst="roundRect">
            <a:avLst>
              <a:gd name="adj" fmla="val 50000"/>
            </a:avLst>
          </a:prstGeom>
          <a:solidFill>
            <a:srgbClr val="F1E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3" name="Picture 32" descr="x-9B2C2C.png"/>
          <p:cNvPicPr>
            <a:picLocks noChangeAspect="1"/>
          </p:cNvPicPr>
          <p:nvPr/>
        </p:nvPicPr>
        <p:blipFill>
          <a:blip r:embed="rId4"/>
          <a:stretch>
            <a:fillRect/>
          </a:stretch>
        </p:blipFill>
        <p:spPr>
          <a:xfrm>
            <a:off x="7068312" y="3493008"/>
            <a:ext cx="182880" cy="182880"/>
          </a:xfrm>
          <a:prstGeom prst="rect">
            <a:avLst/>
          </a:prstGeom>
        </p:spPr>
      </p:pic>
      <p:sp>
        <p:nvSpPr>
          <p:cNvPr id="34" name="TextBox 33"/>
          <p:cNvSpPr txBox="1"/>
          <p:nvPr/>
        </p:nvSpPr>
        <p:spPr>
          <a:xfrm>
            <a:off x="7452360" y="3273552"/>
            <a:ext cx="4053535" cy="621792"/>
          </a:xfrm>
          <a:prstGeom prst="rect">
            <a:avLst/>
          </a:prstGeom>
          <a:noFill/>
        </p:spPr>
        <p:txBody>
          <a:bodyPr wrap="square" lIns="0" rIns="0" tIns="0" bIns="0" anchor="ctr">
            <a:spAutoFit/>
          </a:bodyPr>
          <a:lstStyle/>
          <a:p>
            <a:pPr algn="l">
              <a:lnSpc>
                <a:spcPct val="115000"/>
              </a:lnSpc>
              <a:spcAft>
                <a:spcPts val="0"/>
              </a:spcAft>
            </a:pPr>
            <a:r>
              <a:rPr sz="1250" b="1" i="0">
                <a:solidFill>
                  <a:srgbClr val="14213D"/>
                </a:solidFill>
                <a:latin typeface="Arial"/>
              </a:rPr>
              <a:t>Approval checkpoints</a:t>
            </a:r>
            <a:r>
              <a:rPr sz="1250" b="0" i="0">
                <a:solidFill>
                  <a:srgbClr val="5A6478"/>
                </a:solidFill>
                <a:latin typeface="Arial"/>
              </a:rPr>
              <a:t>  confirming applied nothing</a:t>
            </a:r>
          </a:p>
        </p:txBody>
      </p:sp>
      <p:sp>
        <p:nvSpPr>
          <p:cNvPr id="35" name="Rounded Rectangle 34"/>
          <p:cNvSpPr/>
          <p:nvPr/>
        </p:nvSpPr>
        <p:spPr>
          <a:xfrm>
            <a:off x="548640" y="3995928"/>
            <a:ext cx="11094415" cy="621792"/>
          </a:xfrm>
          <a:prstGeom prst="roundRect">
            <a:avLst>
              <a:gd name="adj" fmla="val 17647"/>
            </a:avLst>
          </a:prstGeom>
          <a:solidFill>
            <a:srgbClr val="FFFFFF"/>
          </a:solidFill>
          <a:ln w="9525">
            <a:solidFill>
              <a:srgbClr val="E2E5EB"/>
            </a:solidFill>
          </a:ln>
          <a:effectLst>
            <a:outerShdw blurRad="114300" dist="25400" dir="5400000" algn="t" rotWithShape="0">
              <a:srgbClr val="14213D">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777240" y="3995928"/>
            <a:ext cx="2194560" cy="621792"/>
          </a:xfrm>
          <a:prstGeom prst="rect">
            <a:avLst/>
          </a:prstGeom>
          <a:noFill/>
        </p:spPr>
        <p:txBody>
          <a:bodyPr wrap="square" lIns="0" rIns="0" tIns="0" bIns="0" anchor="ctr">
            <a:spAutoFit/>
          </a:bodyPr>
          <a:lstStyle/>
          <a:p>
            <a:pPr algn="l">
              <a:lnSpc>
                <a:spcPct val="115000"/>
              </a:lnSpc>
              <a:spcAft>
                <a:spcPts val="0"/>
              </a:spcAft>
            </a:pPr>
            <a:r>
              <a:rPr sz="1300" b="1" i="0">
                <a:solidFill>
                  <a:srgbClr val="14213D"/>
                </a:solidFill>
                <a:latin typeface="Arial"/>
              </a:rPr>
              <a:t>LLM provider</a:t>
            </a:r>
          </a:p>
        </p:txBody>
      </p:sp>
      <p:sp>
        <p:nvSpPr>
          <p:cNvPr id="37" name="Rounded Rectangle 36"/>
          <p:cNvSpPr/>
          <p:nvPr/>
        </p:nvSpPr>
        <p:spPr>
          <a:xfrm>
            <a:off x="3136392" y="4169664"/>
            <a:ext cx="274320" cy="274320"/>
          </a:xfrm>
          <a:prstGeom prst="roundRect">
            <a:avLst>
              <a:gd name="adj" fmla="val 50000"/>
            </a:avLst>
          </a:prstGeom>
          <a:solidFill>
            <a:srgbClr val="E3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8" name="Picture 37" descr="check-2E7D4F.png"/>
          <p:cNvPicPr>
            <a:picLocks noChangeAspect="1"/>
          </p:cNvPicPr>
          <p:nvPr/>
        </p:nvPicPr>
        <p:blipFill>
          <a:blip r:embed="rId3"/>
          <a:stretch>
            <a:fillRect/>
          </a:stretch>
        </p:blipFill>
        <p:spPr>
          <a:xfrm>
            <a:off x="3182112" y="4215384"/>
            <a:ext cx="182880" cy="182880"/>
          </a:xfrm>
          <a:prstGeom prst="rect">
            <a:avLst/>
          </a:prstGeom>
        </p:spPr>
      </p:pic>
      <p:sp>
        <p:nvSpPr>
          <p:cNvPr id="39" name="TextBox 38"/>
          <p:cNvSpPr txBox="1"/>
          <p:nvPr/>
        </p:nvSpPr>
        <p:spPr>
          <a:xfrm>
            <a:off x="3566160" y="3995928"/>
            <a:ext cx="3657600" cy="621792"/>
          </a:xfrm>
          <a:prstGeom prst="rect">
            <a:avLst/>
          </a:prstGeom>
          <a:noFill/>
        </p:spPr>
        <p:txBody>
          <a:bodyPr wrap="square" lIns="0" rIns="0" tIns="0" bIns="0" anchor="ctr">
            <a:spAutoFit/>
          </a:bodyPr>
          <a:lstStyle/>
          <a:p>
            <a:pPr algn="l">
              <a:lnSpc>
                <a:spcPct val="115000"/>
              </a:lnSpc>
              <a:spcAft>
                <a:spcPts val="0"/>
              </a:spcAft>
            </a:pPr>
            <a:r>
              <a:rPr sz="1300" b="0" i="0">
                <a:solidFill>
                  <a:srgbClr val="2A3550"/>
                </a:solidFill>
                <a:latin typeface="Arial"/>
              </a:rPr>
              <a:t>DeepSeek</a:t>
            </a:r>
          </a:p>
        </p:txBody>
      </p:sp>
      <p:sp>
        <p:nvSpPr>
          <p:cNvPr id="40" name="Rounded Rectangle 39"/>
          <p:cNvSpPr/>
          <p:nvPr/>
        </p:nvSpPr>
        <p:spPr>
          <a:xfrm>
            <a:off x="7022592" y="4169664"/>
            <a:ext cx="274320" cy="274320"/>
          </a:xfrm>
          <a:prstGeom prst="roundRect">
            <a:avLst>
              <a:gd name="adj" fmla="val 50000"/>
            </a:avLst>
          </a:prstGeom>
          <a:solidFill>
            <a:srgbClr val="F1E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1" name="Picture 40" descr="x-9B2C2C.png"/>
          <p:cNvPicPr>
            <a:picLocks noChangeAspect="1"/>
          </p:cNvPicPr>
          <p:nvPr/>
        </p:nvPicPr>
        <p:blipFill>
          <a:blip r:embed="rId4"/>
          <a:stretch>
            <a:fillRect/>
          </a:stretch>
        </p:blipFill>
        <p:spPr>
          <a:xfrm>
            <a:off x="7068312" y="4215384"/>
            <a:ext cx="182880" cy="182880"/>
          </a:xfrm>
          <a:prstGeom prst="rect">
            <a:avLst/>
          </a:prstGeom>
        </p:spPr>
      </p:pic>
      <p:sp>
        <p:nvSpPr>
          <p:cNvPr id="42" name="TextBox 41"/>
          <p:cNvSpPr txBox="1"/>
          <p:nvPr/>
        </p:nvSpPr>
        <p:spPr>
          <a:xfrm>
            <a:off x="7452360" y="3995928"/>
            <a:ext cx="4053535" cy="621792"/>
          </a:xfrm>
          <a:prstGeom prst="rect">
            <a:avLst/>
          </a:prstGeom>
          <a:noFill/>
        </p:spPr>
        <p:txBody>
          <a:bodyPr wrap="square" lIns="0" rIns="0" tIns="0" bIns="0" anchor="ctr">
            <a:spAutoFit/>
          </a:bodyPr>
          <a:lstStyle/>
          <a:p>
            <a:pPr algn="l">
              <a:lnSpc>
                <a:spcPct val="115000"/>
              </a:lnSpc>
              <a:spcAft>
                <a:spcPts val="0"/>
              </a:spcAft>
            </a:pPr>
            <a:r>
              <a:rPr sz="1250" b="1" i="0">
                <a:solidFill>
                  <a:srgbClr val="14213D"/>
                </a:solidFill>
                <a:latin typeface="Arial"/>
              </a:rPr>
              <a:t>MiniMax</a:t>
            </a:r>
            <a:r>
              <a:rPr sz="1250" b="0" i="0">
                <a:solidFill>
                  <a:srgbClr val="5A6478"/>
                </a:solidFill>
                <a:latin typeface="Arial"/>
              </a:rPr>
              <a:t>  pages took 37–81 s against 15–23 s</a:t>
            </a:r>
          </a:p>
        </p:txBody>
      </p:sp>
      <p:sp>
        <p:nvSpPr>
          <p:cNvPr id="43" name="Rounded Rectangle 42"/>
          <p:cNvSpPr/>
          <p:nvPr/>
        </p:nvSpPr>
        <p:spPr>
          <a:xfrm>
            <a:off x="548640" y="4718304"/>
            <a:ext cx="11094415" cy="621792"/>
          </a:xfrm>
          <a:prstGeom prst="roundRect">
            <a:avLst>
              <a:gd name="adj" fmla="val 17647"/>
            </a:avLst>
          </a:prstGeom>
          <a:solidFill>
            <a:srgbClr val="FFFFFF"/>
          </a:solidFill>
          <a:ln w="9525">
            <a:solidFill>
              <a:srgbClr val="E2E5EB"/>
            </a:solidFill>
          </a:ln>
          <a:effectLst>
            <a:outerShdw blurRad="114300" dist="25400" dir="5400000" algn="t" rotWithShape="0">
              <a:srgbClr val="14213D">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777240" y="4718304"/>
            <a:ext cx="2194560" cy="621792"/>
          </a:xfrm>
          <a:prstGeom prst="rect">
            <a:avLst/>
          </a:prstGeom>
          <a:noFill/>
        </p:spPr>
        <p:txBody>
          <a:bodyPr wrap="square" lIns="0" rIns="0" tIns="0" bIns="0" anchor="ctr">
            <a:spAutoFit/>
          </a:bodyPr>
          <a:lstStyle/>
          <a:p>
            <a:pPr algn="l">
              <a:lnSpc>
                <a:spcPct val="115000"/>
              </a:lnSpc>
              <a:spcAft>
                <a:spcPts val="0"/>
              </a:spcAft>
            </a:pPr>
            <a:r>
              <a:rPr sz="1300" b="1" i="0">
                <a:solidFill>
                  <a:srgbClr val="14213D"/>
                </a:solidFill>
                <a:latin typeface="Arial"/>
              </a:rPr>
              <a:t>Prices</a:t>
            </a:r>
          </a:p>
        </p:txBody>
      </p:sp>
      <p:sp>
        <p:nvSpPr>
          <p:cNvPr id="45" name="Rounded Rectangle 44"/>
          <p:cNvSpPr/>
          <p:nvPr/>
        </p:nvSpPr>
        <p:spPr>
          <a:xfrm>
            <a:off x="3136392" y="4892040"/>
            <a:ext cx="274320" cy="274320"/>
          </a:xfrm>
          <a:prstGeom prst="roundRect">
            <a:avLst>
              <a:gd name="adj" fmla="val 50000"/>
            </a:avLst>
          </a:prstGeom>
          <a:solidFill>
            <a:srgbClr val="E3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6" name="Picture 45" descr="check-2E7D4F.png"/>
          <p:cNvPicPr>
            <a:picLocks noChangeAspect="1"/>
          </p:cNvPicPr>
          <p:nvPr/>
        </p:nvPicPr>
        <p:blipFill>
          <a:blip r:embed="rId3"/>
          <a:stretch>
            <a:fillRect/>
          </a:stretch>
        </p:blipFill>
        <p:spPr>
          <a:xfrm>
            <a:off x="3182112" y="4937760"/>
            <a:ext cx="182880" cy="182880"/>
          </a:xfrm>
          <a:prstGeom prst="rect">
            <a:avLst/>
          </a:prstGeom>
        </p:spPr>
      </p:pic>
      <p:sp>
        <p:nvSpPr>
          <p:cNvPr id="47" name="TextBox 46"/>
          <p:cNvSpPr txBox="1"/>
          <p:nvPr/>
        </p:nvSpPr>
        <p:spPr>
          <a:xfrm>
            <a:off x="3566160" y="4718304"/>
            <a:ext cx="3657600" cy="621792"/>
          </a:xfrm>
          <a:prstGeom prst="rect">
            <a:avLst/>
          </a:prstGeom>
          <a:noFill/>
        </p:spPr>
        <p:txBody>
          <a:bodyPr wrap="square" lIns="0" rIns="0" tIns="0" bIns="0" anchor="ctr">
            <a:spAutoFit/>
          </a:bodyPr>
          <a:lstStyle/>
          <a:p>
            <a:pPr algn="l">
              <a:lnSpc>
                <a:spcPct val="115000"/>
              </a:lnSpc>
              <a:spcAft>
                <a:spcPts val="0"/>
              </a:spcAft>
            </a:pPr>
            <a:r>
              <a:rPr sz="1300" b="0" i="0">
                <a:solidFill>
                  <a:srgbClr val="2A3550"/>
                </a:solidFill>
                <a:latin typeface="Arial"/>
              </a:rPr>
              <a:t>Tools only, with provenance</a:t>
            </a:r>
          </a:p>
        </p:txBody>
      </p:sp>
      <p:sp>
        <p:nvSpPr>
          <p:cNvPr id="48" name="Rounded Rectangle 47"/>
          <p:cNvSpPr/>
          <p:nvPr/>
        </p:nvSpPr>
        <p:spPr>
          <a:xfrm>
            <a:off x="7022592" y="4892040"/>
            <a:ext cx="274320" cy="274320"/>
          </a:xfrm>
          <a:prstGeom prst="roundRect">
            <a:avLst>
              <a:gd name="adj" fmla="val 50000"/>
            </a:avLst>
          </a:prstGeom>
          <a:solidFill>
            <a:srgbClr val="F1E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9" name="Picture 48" descr="x-9B2C2C.png"/>
          <p:cNvPicPr>
            <a:picLocks noChangeAspect="1"/>
          </p:cNvPicPr>
          <p:nvPr/>
        </p:nvPicPr>
        <p:blipFill>
          <a:blip r:embed="rId4"/>
          <a:stretch>
            <a:fillRect/>
          </a:stretch>
        </p:blipFill>
        <p:spPr>
          <a:xfrm>
            <a:off x="7068312" y="4937760"/>
            <a:ext cx="182880" cy="182880"/>
          </a:xfrm>
          <a:prstGeom prst="rect">
            <a:avLst/>
          </a:prstGeom>
        </p:spPr>
      </p:pic>
      <p:sp>
        <p:nvSpPr>
          <p:cNvPr id="50" name="TextBox 49"/>
          <p:cNvSpPr txBox="1"/>
          <p:nvPr/>
        </p:nvSpPr>
        <p:spPr>
          <a:xfrm>
            <a:off x="7452360" y="4718304"/>
            <a:ext cx="4053535" cy="621792"/>
          </a:xfrm>
          <a:prstGeom prst="rect">
            <a:avLst/>
          </a:prstGeom>
          <a:noFill/>
        </p:spPr>
        <p:txBody>
          <a:bodyPr wrap="square" lIns="0" rIns="0" tIns="0" bIns="0" anchor="ctr">
            <a:spAutoFit/>
          </a:bodyPr>
          <a:lstStyle/>
          <a:p>
            <a:pPr algn="l">
              <a:lnSpc>
                <a:spcPct val="115000"/>
              </a:lnSpc>
              <a:spcAft>
                <a:spcPts val="0"/>
              </a:spcAft>
            </a:pPr>
            <a:r>
              <a:rPr sz="1250" b="1" i="0">
                <a:solidFill>
                  <a:srgbClr val="14213D"/>
                </a:solidFill>
                <a:latin typeface="Arial"/>
              </a:rPr>
              <a:t>Model estimates</a:t>
            </a:r>
            <a:r>
              <a:rPr sz="1250" b="0" i="0">
                <a:solidFill>
                  <a:srgbClr val="5A6478"/>
                </a:solidFill>
                <a:latin typeface="Arial"/>
              </a:rPr>
              <a:t>  it invents hotels and fares</a:t>
            </a:r>
          </a:p>
        </p:txBody>
      </p:sp>
      <p:sp>
        <p:nvSpPr>
          <p:cNvPr id="51" name="Rounded Rectangle 50"/>
          <p:cNvSpPr/>
          <p:nvPr/>
        </p:nvSpPr>
        <p:spPr>
          <a:xfrm>
            <a:off x="548640" y="5440680"/>
            <a:ext cx="11094415" cy="621792"/>
          </a:xfrm>
          <a:prstGeom prst="roundRect">
            <a:avLst>
              <a:gd name="adj" fmla="val 17647"/>
            </a:avLst>
          </a:prstGeom>
          <a:solidFill>
            <a:srgbClr val="FFFFFF"/>
          </a:solidFill>
          <a:ln w="9525">
            <a:solidFill>
              <a:srgbClr val="E2E5EB"/>
            </a:solidFill>
          </a:ln>
          <a:effectLst>
            <a:outerShdw blurRad="114300" dist="25400" dir="5400000" algn="t" rotWithShape="0">
              <a:srgbClr val="14213D">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Box 51"/>
          <p:cNvSpPr txBox="1"/>
          <p:nvPr/>
        </p:nvSpPr>
        <p:spPr>
          <a:xfrm>
            <a:off x="777240" y="5440680"/>
            <a:ext cx="2194560" cy="621792"/>
          </a:xfrm>
          <a:prstGeom prst="rect">
            <a:avLst/>
          </a:prstGeom>
          <a:noFill/>
        </p:spPr>
        <p:txBody>
          <a:bodyPr wrap="square" lIns="0" rIns="0" tIns="0" bIns="0" anchor="ctr">
            <a:spAutoFit/>
          </a:bodyPr>
          <a:lstStyle/>
          <a:p>
            <a:pPr algn="l">
              <a:lnSpc>
                <a:spcPct val="115000"/>
              </a:lnSpc>
              <a:spcAft>
                <a:spcPts val="0"/>
              </a:spcAft>
            </a:pPr>
            <a:r>
              <a:rPr sz="1300" b="1" i="0">
                <a:solidFill>
                  <a:srgbClr val="14213D"/>
                </a:solidFill>
                <a:latin typeface="Arial"/>
              </a:rPr>
              <a:t>Server state</a:t>
            </a:r>
          </a:p>
        </p:txBody>
      </p:sp>
      <p:sp>
        <p:nvSpPr>
          <p:cNvPr id="53" name="Rounded Rectangle 52"/>
          <p:cNvSpPr/>
          <p:nvPr/>
        </p:nvSpPr>
        <p:spPr>
          <a:xfrm>
            <a:off x="3136392" y="5614416"/>
            <a:ext cx="274320" cy="274320"/>
          </a:xfrm>
          <a:prstGeom prst="roundRect">
            <a:avLst>
              <a:gd name="adj" fmla="val 50000"/>
            </a:avLst>
          </a:prstGeom>
          <a:solidFill>
            <a:srgbClr val="E3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4" name="Picture 53" descr="check-2E7D4F.png"/>
          <p:cNvPicPr>
            <a:picLocks noChangeAspect="1"/>
          </p:cNvPicPr>
          <p:nvPr/>
        </p:nvPicPr>
        <p:blipFill>
          <a:blip r:embed="rId3"/>
          <a:stretch>
            <a:fillRect/>
          </a:stretch>
        </p:blipFill>
        <p:spPr>
          <a:xfrm>
            <a:off x="3182112" y="5660136"/>
            <a:ext cx="182880" cy="182880"/>
          </a:xfrm>
          <a:prstGeom prst="rect">
            <a:avLst/>
          </a:prstGeom>
        </p:spPr>
      </p:pic>
      <p:sp>
        <p:nvSpPr>
          <p:cNvPr id="55" name="TextBox 54"/>
          <p:cNvSpPr txBox="1"/>
          <p:nvPr/>
        </p:nvSpPr>
        <p:spPr>
          <a:xfrm>
            <a:off x="3566160" y="5440680"/>
            <a:ext cx="3657600" cy="621792"/>
          </a:xfrm>
          <a:prstGeom prst="rect">
            <a:avLst/>
          </a:prstGeom>
          <a:noFill/>
        </p:spPr>
        <p:txBody>
          <a:bodyPr wrap="square" lIns="0" rIns="0" tIns="0" bIns="0" anchor="ctr">
            <a:spAutoFit/>
          </a:bodyPr>
          <a:lstStyle/>
          <a:p>
            <a:pPr algn="l">
              <a:lnSpc>
                <a:spcPct val="115000"/>
              </a:lnSpc>
              <a:spcAft>
                <a:spcPts val="0"/>
              </a:spcAft>
            </a:pPr>
            <a:r>
              <a:rPr sz="1300" b="0" i="0">
                <a:solidFill>
                  <a:srgbClr val="2A3550"/>
                </a:solidFill>
                <a:latin typeface="Arial"/>
              </a:rPr>
              <a:t>Redis REST store</a:t>
            </a:r>
          </a:p>
        </p:txBody>
      </p:sp>
      <p:sp>
        <p:nvSpPr>
          <p:cNvPr id="56" name="Rounded Rectangle 55"/>
          <p:cNvSpPr/>
          <p:nvPr/>
        </p:nvSpPr>
        <p:spPr>
          <a:xfrm>
            <a:off x="7022592" y="5614416"/>
            <a:ext cx="274320" cy="274320"/>
          </a:xfrm>
          <a:prstGeom prst="roundRect">
            <a:avLst>
              <a:gd name="adj" fmla="val 50000"/>
            </a:avLst>
          </a:prstGeom>
          <a:solidFill>
            <a:srgbClr val="F1E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7" name="Picture 56" descr="x-9B2C2C.png"/>
          <p:cNvPicPr>
            <a:picLocks noChangeAspect="1"/>
          </p:cNvPicPr>
          <p:nvPr/>
        </p:nvPicPr>
        <p:blipFill>
          <a:blip r:embed="rId4"/>
          <a:stretch>
            <a:fillRect/>
          </a:stretch>
        </p:blipFill>
        <p:spPr>
          <a:xfrm>
            <a:off x="7068312" y="5660136"/>
            <a:ext cx="182880" cy="182880"/>
          </a:xfrm>
          <a:prstGeom prst="rect">
            <a:avLst/>
          </a:prstGeom>
        </p:spPr>
      </p:pic>
      <p:sp>
        <p:nvSpPr>
          <p:cNvPr id="58" name="TextBox 57"/>
          <p:cNvSpPr txBox="1"/>
          <p:nvPr/>
        </p:nvSpPr>
        <p:spPr>
          <a:xfrm>
            <a:off x="7452360" y="5440680"/>
            <a:ext cx="4053535" cy="621792"/>
          </a:xfrm>
          <a:prstGeom prst="rect">
            <a:avLst/>
          </a:prstGeom>
          <a:noFill/>
        </p:spPr>
        <p:txBody>
          <a:bodyPr wrap="square" lIns="0" rIns="0" tIns="0" bIns="0" anchor="ctr">
            <a:spAutoFit/>
          </a:bodyPr>
          <a:lstStyle/>
          <a:p>
            <a:pPr algn="l">
              <a:lnSpc>
                <a:spcPct val="115000"/>
              </a:lnSpc>
              <a:spcAft>
                <a:spcPts val="0"/>
              </a:spcAft>
            </a:pPr>
            <a:r>
              <a:rPr sz="1250" b="1" i="0">
                <a:solidFill>
                  <a:srgbClr val="14213D"/>
                </a:solidFill>
                <a:latin typeface="Arial"/>
              </a:rPr>
              <a:t>Process memory</a:t>
            </a:r>
            <a:r>
              <a:rPr sz="1250" b="0" i="0">
                <a:solidFill>
                  <a:srgbClr val="5A6478"/>
                </a:solidFill>
                <a:latin typeface="Arial"/>
              </a:rPr>
              <a:t>  lost on cold starts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6F1"/>
        </a:solidFill>
        <a:effectLst/>
      </p:bgPr>
    </p:bg>
    <p:spTree>
      <p:nvGrpSpPr>
        <p:cNvPr id="1" name=""/>
        <p:cNvGrpSpPr/>
        <p:nvPr/>
      </p:nvGrpSpPr>
      <p:grpSpPr/>
      <p:sp>
        <p:nvSpPr>
          <p:cNvPr id="2" name="Rectangle 1"/>
          <p:cNvSpPr/>
          <p:nvPr/>
        </p:nvSpPr>
        <p:spPr>
          <a:xfrm>
            <a:off x="0" y="0"/>
            <a:ext cx="100584" cy="6858000"/>
          </a:xfrm>
          <a:prstGeom prst="rect">
            <a:avLst/>
          </a:prstGeom>
          <a:solidFill>
            <a:srgbClr val="C25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47472"/>
            <a:ext cx="5943600" cy="274320"/>
          </a:xfrm>
          <a:prstGeom prst="rect">
            <a:avLst/>
          </a:prstGeom>
          <a:noFill/>
        </p:spPr>
        <p:txBody>
          <a:bodyPr wrap="square" lIns="0" rIns="0" tIns="0" bIns="0" anchor="ctr">
            <a:spAutoFit/>
          </a:bodyPr>
          <a:lstStyle/>
          <a:p>
            <a:pPr algn="l">
              <a:lnSpc>
                <a:spcPct val="115000"/>
              </a:lnSpc>
              <a:spcAft>
                <a:spcPts val="0"/>
              </a:spcAft>
            </a:pPr>
            <a:r>
              <a:rPr sz="1000" b="1" i="0">
                <a:solidFill>
                  <a:srgbClr val="C2571A"/>
                </a:solidFill>
                <a:latin typeface="Arial"/>
              </a:rPr>
              <a:t>INDIVIDUAL BEHAVIOUR MODELS · UC-D1</a:t>
            </a:r>
          </a:p>
        </p:txBody>
      </p:sp>
      <p:sp>
        <p:nvSpPr>
          <p:cNvPr id="4" name="TextBox 3"/>
          <p:cNvSpPr txBox="1"/>
          <p:nvPr/>
        </p:nvSpPr>
        <p:spPr>
          <a:xfrm>
            <a:off x="548640" y="731520"/>
            <a:ext cx="11094415" cy="566928"/>
          </a:xfrm>
          <a:prstGeom prst="rect">
            <a:avLst/>
          </a:prstGeom>
          <a:noFill/>
        </p:spPr>
        <p:txBody>
          <a:bodyPr wrap="square" lIns="0" rIns="0" tIns="0" bIns="0" anchor="ctr">
            <a:spAutoFit/>
          </a:bodyPr>
          <a:lstStyle/>
          <a:p>
            <a:pPr algn="l">
              <a:lnSpc>
                <a:spcPct val="115000"/>
              </a:lnSpc>
              <a:spcAft>
                <a:spcPts val="0"/>
              </a:spcAft>
            </a:pPr>
            <a:r>
              <a:rPr sz="2600" b="1" i="0">
                <a:solidFill>
                  <a:srgbClr val="14213D"/>
                </a:solidFill>
                <a:latin typeface="Georgia"/>
              </a:rPr>
              <a:t>Evidence first; the LLM drafts, code decides</a:t>
            </a:r>
          </a:p>
        </p:txBody>
      </p:sp>
      <p:sp>
        <p:nvSpPr>
          <p:cNvPr id="5" name="Rectangle 4"/>
          <p:cNvSpPr/>
          <p:nvPr/>
        </p:nvSpPr>
        <p:spPr>
          <a:xfrm>
            <a:off x="548640" y="6400800"/>
            <a:ext cx="11094415" cy="10972"/>
          </a:xfrm>
          <a:prstGeom prst="rect">
            <a:avLst/>
          </a:prstGeom>
          <a:solidFill>
            <a:srgbClr val="DDDA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48640" y="6473952"/>
            <a:ext cx="7315200" cy="228600"/>
          </a:xfrm>
          <a:prstGeom prst="rect">
            <a:avLst/>
          </a:prstGeom>
          <a:noFill/>
        </p:spPr>
        <p:txBody>
          <a:bodyPr wrap="square" lIns="0" rIns="0" tIns="0" bIns="0" anchor="t">
            <a:spAutoFit/>
          </a:bodyPr>
          <a:lstStyle/>
          <a:p>
            <a:pPr algn="l">
              <a:lnSpc>
                <a:spcPct val="115000"/>
              </a:lnSpc>
              <a:spcAft>
                <a:spcPts val="0"/>
              </a:spcAft>
            </a:pPr>
            <a:r>
              <a:rPr sz="900" b="0" i="0">
                <a:solidFill>
                  <a:srgbClr val="8A93A6"/>
                </a:solidFill>
                <a:latin typeface="Arial"/>
              </a:rPr>
              <a:t>AI Trip Planner  ·  ELEC5620 Stage 1  ·  Mon 10-12 Group 14</a:t>
            </a:r>
          </a:p>
        </p:txBody>
      </p:sp>
      <p:sp>
        <p:nvSpPr>
          <p:cNvPr id="7" name="TextBox 6"/>
          <p:cNvSpPr txBox="1"/>
          <p:nvPr/>
        </p:nvSpPr>
        <p:spPr>
          <a:xfrm>
            <a:off x="9814255" y="6473952"/>
            <a:ext cx="1828800" cy="228600"/>
          </a:xfrm>
          <a:prstGeom prst="rect">
            <a:avLst/>
          </a:prstGeom>
          <a:noFill/>
        </p:spPr>
        <p:txBody>
          <a:bodyPr wrap="square" lIns="0" rIns="0" tIns="0" bIns="0" anchor="t">
            <a:spAutoFit/>
          </a:bodyPr>
          <a:lstStyle/>
          <a:p>
            <a:pPr algn="r">
              <a:lnSpc>
                <a:spcPct val="115000"/>
              </a:lnSpc>
              <a:spcAft>
                <a:spcPts val="0"/>
              </a:spcAft>
            </a:pPr>
            <a:r>
              <a:rPr sz="900" b="0" i="0">
                <a:solidFill>
                  <a:srgbClr val="8A93A6"/>
                </a:solidFill>
                <a:latin typeface="Arial"/>
              </a:rPr>
              <a:t>19 / 24</a:t>
            </a:r>
          </a:p>
        </p:txBody>
      </p:sp>
      <p:sp>
        <p:nvSpPr>
          <p:cNvPr id="8" name="Rounded Rectangle 7"/>
          <p:cNvSpPr/>
          <p:nvPr/>
        </p:nvSpPr>
        <p:spPr>
          <a:xfrm>
            <a:off x="548640" y="1481328"/>
            <a:ext cx="11094415" cy="566928"/>
          </a:xfrm>
          <a:prstGeom prst="roundRect">
            <a:avLst>
              <a:gd name="adj" fmla="val 19354"/>
            </a:avLst>
          </a:prstGeom>
          <a:solidFill>
            <a:srgbClr val="FFFFFF"/>
          </a:solidFill>
          <a:ln w="9525">
            <a:solidFill>
              <a:srgbClr val="E2E5EB"/>
            </a:solidFill>
          </a:ln>
          <a:effectLst>
            <a:outerShdw blurRad="114300" dist="25400" dir="5400000" algn="t" rotWithShape="0">
              <a:srgbClr val="14213D">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548640" y="1645920"/>
            <a:ext cx="54864" cy="237744"/>
          </a:xfrm>
          <a:prstGeom prst="roundRect">
            <a:avLst>
              <a:gd name="adj" fmla="val 50000"/>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22959" y="1572768"/>
            <a:ext cx="10637215" cy="384048"/>
          </a:xfrm>
          <a:prstGeom prst="rect">
            <a:avLst/>
          </a:prstGeom>
          <a:noFill/>
        </p:spPr>
        <p:txBody>
          <a:bodyPr wrap="square" lIns="0" rIns="0" tIns="0" bIns="0" anchor="ctr">
            <a:spAutoFit/>
          </a:bodyPr>
          <a:lstStyle/>
          <a:p>
            <a:pPr algn="l">
              <a:lnSpc>
                <a:spcPct val="115000"/>
              </a:lnSpc>
              <a:spcAft>
                <a:spcPts val="0"/>
              </a:spcAft>
            </a:pPr>
            <a:r>
              <a:rPr sz="1200" b="1" i="0">
                <a:solidFill>
                  <a:srgbClr val="2E7D4F"/>
                </a:solidFill>
                <a:latin typeface="Arial"/>
              </a:rPr>
              <a:t>Ad hoc requirement  </a:t>
            </a:r>
            <a:r>
              <a:rPr sz="1200" b="0" i="0">
                <a:solidFill>
                  <a:srgbClr val="2A3550"/>
                </a:solidFill>
                <a:latin typeface="Arial"/>
              </a:rPr>
              <a:t>AH-D1: pack for my real Kyoto dates; vegetarian, peanut allergy; never claim allergy-safe unless confirmed</a:t>
            </a:r>
            <a:r>
              <a:rPr sz="1200" b="1" i="0">
                <a:solidFill>
                  <a:srgbClr val="2E7D4F"/>
                </a:solidFill>
                <a:latin typeface="Arial"/>
              </a:rPr>
              <a:t>      Use case  </a:t>
            </a:r>
            <a:r>
              <a:rPr sz="1200" b="0" i="0">
                <a:solidFill>
                  <a:srgbClr val="2A3550"/>
                </a:solidFill>
                <a:latin typeface="Arial"/>
              </a:rPr>
              <a:t>UC-D1 Weather-based clothing + dining</a:t>
            </a:r>
          </a:p>
        </p:txBody>
      </p:sp>
      <p:sp>
        <p:nvSpPr>
          <p:cNvPr id="11" name="TextBox 10"/>
          <p:cNvSpPr txBox="1"/>
          <p:nvPr/>
        </p:nvSpPr>
        <p:spPr>
          <a:xfrm>
            <a:off x="548640" y="2231136"/>
            <a:ext cx="3576218" cy="274320"/>
          </a:xfrm>
          <a:prstGeom prst="rect">
            <a:avLst/>
          </a:prstGeom>
          <a:noFill/>
        </p:spPr>
        <p:txBody>
          <a:bodyPr wrap="square" lIns="0" rIns="0" tIns="0" bIns="0" anchor="t">
            <a:spAutoFit/>
          </a:bodyPr>
          <a:lstStyle/>
          <a:p>
            <a:pPr algn="l">
              <a:lnSpc>
                <a:spcPct val="115000"/>
              </a:lnSpc>
              <a:spcAft>
                <a:spcPts val="0"/>
              </a:spcAft>
            </a:pPr>
            <a:r>
              <a:rPr sz="1100" b="1" i="0">
                <a:solidFill>
                  <a:srgbClr val="5A6478"/>
                </a:solidFill>
                <a:latin typeface="Arial"/>
              </a:rPr>
              <a:t>ACTIVITY</a:t>
            </a:r>
          </a:p>
        </p:txBody>
      </p:sp>
      <p:sp>
        <p:nvSpPr>
          <p:cNvPr id="12" name="Rounded Rectangle 11"/>
          <p:cNvSpPr/>
          <p:nvPr/>
        </p:nvSpPr>
        <p:spPr>
          <a:xfrm>
            <a:off x="548640" y="2551176"/>
            <a:ext cx="3576218" cy="3685032"/>
          </a:xfrm>
          <a:prstGeom prst="roundRect">
            <a:avLst>
              <a:gd name="adj" fmla="val 3068"/>
            </a:avLst>
          </a:prstGeom>
          <a:solidFill>
            <a:srgbClr val="FFFFFF"/>
          </a:solidFill>
          <a:ln w="9525">
            <a:solidFill>
              <a:srgbClr val="E2E5EB"/>
            </a:solidFill>
          </a:ln>
          <a:effectLst>
            <a:outerShdw blurRad="114300" dist="25400" dir="5400000" algn="t" rotWithShape="0">
              <a:srgbClr val="14213D">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d-activity.png"/>
          <p:cNvPicPr>
            <a:picLocks noChangeAspect="1"/>
          </p:cNvPicPr>
          <p:nvPr/>
        </p:nvPicPr>
        <p:blipFill>
          <a:blip r:embed="rId3"/>
          <a:stretch>
            <a:fillRect/>
          </a:stretch>
        </p:blipFill>
        <p:spPr>
          <a:xfrm>
            <a:off x="1203614" y="2679192"/>
            <a:ext cx="2266268" cy="3429000"/>
          </a:xfrm>
          <a:prstGeom prst="rect">
            <a:avLst/>
          </a:prstGeom>
        </p:spPr>
      </p:pic>
      <p:sp>
        <p:nvSpPr>
          <p:cNvPr id="14" name="TextBox 13"/>
          <p:cNvSpPr txBox="1"/>
          <p:nvPr/>
        </p:nvSpPr>
        <p:spPr>
          <a:xfrm>
            <a:off x="4307738" y="2231136"/>
            <a:ext cx="3576218" cy="274320"/>
          </a:xfrm>
          <a:prstGeom prst="rect">
            <a:avLst/>
          </a:prstGeom>
          <a:noFill/>
        </p:spPr>
        <p:txBody>
          <a:bodyPr wrap="square" lIns="0" rIns="0" tIns="0" bIns="0" anchor="t">
            <a:spAutoFit/>
          </a:bodyPr>
          <a:lstStyle/>
          <a:p>
            <a:pPr algn="l">
              <a:lnSpc>
                <a:spcPct val="115000"/>
              </a:lnSpc>
              <a:spcAft>
                <a:spcPts val="0"/>
              </a:spcAft>
            </a:pPr>
            <a:r>
              <a:rPr sz="1100" b="1" i="0">
                <a:solidFill>
                  <a:srgbClr val="5A6478"/>
                </a:solidFill>
                <a:latin typeface="Arial"/>
              </a:rPr>
              <a:t>SEQUENCE</a:t>
            </a:r>
          </a:p>
        </p:txBody>
      </p:sp>
      <p:sp>
        <p:nvSpPr>
          <p:cNvPr id="15" name="Rounded Rectangle 14"/>
          <p:cNvSpPr/>
          <p:nvPr/>
        </p:nvSpPr>
        <p:spPr>
          <a:xfrm>
            <a:off x="4307738" y="2551176"/>
            <a:ext cx="3576218" cy="3685032"/>
          </a:xfrm>
          <a:prstGeom prst="roundRect">
            <a:avLst>
              <a:gd name="adj" fmla="val 3068"/>
            </a:avLst>
          </a:prstGeom>
          <a:solidFill>
            <a:srgbClr val="FFFFFF"/>
          </a:solidFill>
          <a:ln w="9525">
            <a:solidFill>
              <a:srgbClr val="E2E5EB"/>
            </a:solidFill>
          </a:ln>
          <a:effectLst>
            <a:outerShdw blurRad="114300" dist="25400" dir="5400000" algn="t" rotWithShape="0">
              <a:srgbClr val="14213D">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d-sequence.png"/>
          <p:cNvPicPr>
            <a:picLocks noChangeAspect="1"/>
          </p:cNvPicPr>
          <p:nvPr/>
        </p:nvPicPr>
        <p:blipFill>
          <a:blip r:embed="rId4"/>
          <a:stretch>
            <a:fillRect/>
          </a:stretch>
        </p:blipFill>
        <p:spPr>
          <a:xfrm>
            <a:off x="4435754" y="2735489"/>
            <a:ext cx="3320186" cy="3316404"/>
          </a:xfrm>
          <a:prstGeom prst="rect">
            <a:avLst/>
          </a:prstGeom>
        </p:spPr>
      </p:pic>
      <p:sp>
        <p:nvSpPr>
          <p:cNvPr id="17" name="TextBox 16"/>
          <p:cNvSpPr txBox="1"/>
          <p:nvPr/>
        </p:nvSpPr>
        <p:spPr>
          <a:xfrm>
            <a:off x="8066836" y="2231136"/>
            <a:ext cx="3576218" cy="274320"/>
          </a:xfrm>
          <a:prstGeom prst="rect">
            <a:avLst/>
          </a:prstGeom>
          <a:noFill/>
        </p:spPr>
        <p:txBody>
          <a:bodyPr wrap="square" lIns="0" rIns="0" tIns="0" bIns="0" anchor="t">
            <a:spAutoFit/>
          </a:bodyPr>
          <a:lstStyle/>
          <a:p>
            <a:pPr algn="l">
              <a:lnSpc>
                <a:spcPct val="115000"/>
              </a:lnSpc>
              <a:spcAft>
                <a:spcPts val="0"/>
              </a:spcAft>
            </a:pPr>
            <a:r>
              <a:rPr sz="1100" b="1" i="0">
                <a:solidFill>
                  <a:srgbClr val="5A6478"/>
                </a:solidFill>
                <a:latin typeface="Arial"/>
              </a:rPr>
              <a:t>STATE MACHINE</a:t>
            </a:r>
          </a:p>
        </p:txBody>
      </p:sp>
      <p:sp>
        <p:nvSpPr>
          <p:cNvPr id="18" name="Rounded Rectangle 17"/>
          <p:cNvSpPr/>
          <p:nvPr/>
        </p:nvSpPr>
        <p:spPr>
          <a:xfrm>
            <a:off x="8066836" y="2551176"/>
            <a:ext cx="3576218" cy="3685032"/>
          </a:xfrm>
          <a:prstGeom prst="roundRect">
            <a:avLst>
              <a:gd name="adj" fmla="val 3068"/>
            </a:avLst>
          </a:prstGeom>
          <a:solidFill>
            <a:srgbClr val="FFFFFF"/>
          </a:solidFill>
          <a:ln w="9525">
            <a:solidFill>
              <a:srgbClr val="E2E5EB"/>
            </a:solidFill>
          </a:ln>
          <a:effectLst>
            <a:outerShdw blurRad="114300" dist="25400" dir="5400000" algn="t" rotWithShape="0">
              <a:srgbClr val="14213D">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d-state.png"/>
          <p:cNvPicPr>
            <a:picLocks noChangeAspect="1"/>
          </p:cNvPicPr>
          <p:nvPr/>
        </p:nvPicPr>
        <p:blipFill>
          <a:blip r:embed="rId5"/>
          <a:stretch>
            <a:fillRect/>
          </a:stretch>
        </p:blipFill>
        <p:spPr>
          <a:xfrm>
            <a:off x="8426196" y="2679192"/>
            <a:ext cx="2857500" cy="3429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7F6F1"/>
        </a:solidFill>
        <a:effectLst/>
      </p:bgPr>
    </p:bg>
    <p:spTree>
      <p:nvGrpSpPr>
        <p:cNvPr id="1" name=""/>
        <p:cNvGrpSpPr/>
        <p:nvPr/>
      </p:nvGrpSpPr>
      <p:grpSpPr/>
      <p:sp>
        <p:nvSpPr>
          <p:cNvPr id="2" name="Rectangle 1"/>
          <p:cNvSpPr/>
          <p:nvPr/>
        </p:nvSpPr>
        <p:spPr>
          <a:xfrm>
            <a:off x="0" y="0"/>
            <a:ext cx="100584" cy="6858000"/>
          </a:xfrm>
          <a:prstGeom prst="rect">
            <a:avLst/>
          </a:prstGeom>
          <a:solidFill>
            <a:srgbClr val="C25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47472"/>
            <a:ext cx="5943600" cy="274320"/>
          </a:xfrm>
          <a:prstGeom prst="rect">
            <a:avLst/>
          </a:prstGeom>
          <a:noFill/>
        </p:spPr>
        <p:txBody>
          <a:bodyPr wrap="square" lIns="0" rIns="0" tIns="0" bIns="0" anchor="ctr">
            <a:spAutoFit/>
          </a:bodyPr>
          <a:lstStyle/>
          <a:p>
            <a:pPr algn="l">
              <a:lnSpc>
                <a:spcPct val="115000"/>
              </a:lnSpc>
              <a:spcAft>
                <a:spcPts val="0"/>
              </a:spcAft>
            </a:pPr>
            <a:r>
              <a:rPr sz="1000" b="1" i="0">
                <a:solidFill>
                  <a:srgbClr val="C2571A"/>
                </a:solidFill>
                <a:latin typeface="Arial"/>
              </a:rPr>
              <a:t>PACKAGE DIAGRAM</a:t>
            </a:r>
          </a:p>
        </p:txBody>
      </p:sp>
      <p:sp>
        <p:nvSpPr>
          <p:cNvPr id="4" name="TextBox 3"/>
          <p:cNvSpPr txBox="1"/>
          <p:nvPr/>
        </p:nvSpPr>
        <p:spPr>
          <a:xfrm>
            <a:off x="548640" y="731520"/>
            <a:ext cx="11094415" cy="566928"/>
          </a:xfrm>
          <a:prstGeom prst="rect">
            <a:avLst/>
          </a:prstGeom>
          <a:noFill/>
        </p:spPr>
        <p:txBody>
          <a:bodyPr wrap="square" lIns="0" rIns="0" tIns="0" bIns="0" anchor="ctr">
            <a:spAutoFit/>
          </a:bodyPr>
          <a:lstStyle/>
          <a:p>
            <a:pPr algn="l">
              <a:lnSpc>
                <a:spcPct val="115000"/>
              </a:lnSpc>
              <a:spcAft>
                <a:spcPts val="0"/>
              </a:spcAft>
            </a:pPr>
            <a:r>
              <a:rPr sz="2600" b="1" i="0">
                <a:solidFill>
                  <a:srgbClr val="14213D"/>
                </a:solidFill>
                <a:latin typeface="Georgia"/>
              </a:rPr>
              <a:t>Dependencies point inward to the shared contracts</a:t>
            </a:r>
          </a:p>
        </p:txBody>
      </p:sp>
      <p:sp>
        <p:nvSpPr>
          <p:cNvPr id="5" name="Rectangle 4"/>
          <p:cNvSpPr/>
          <p:nvPr/>
        </p:nvSpPr>
        <p:spPr>
          <a:xfrm>
            <a:off x="548640" y="6400800"/>
            <a:ext cx="11094415" cy="10972"/>
          </a:xfrm>
          <a:prstGeom prst="rect">
            <a:avLst/>
          </a:prstGeom>
          <a:solidFill>
            <a:srgbClr val="DDDA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48640" y="6473952"/>
            <a:ext cx="7315200" cy="228600"/>
          </a:xfrm>
          <a:prstGeom prst="rect">
            <a:avLst/>
          </a:prstGeom>
          <a:noFill/>
        </p:spPr>
        <p:txBody>
          <a:bodyPr wrap="square" lIns="0" rIns="0" tIns="0" bIns="0" anchor="t">
            <a:spAutoFit/>
          </a:bodyPr>
          <a:lstStyle/>
          <a:p>
            <a:pPr algn="l">
              <a:lnSpc>
                <a:spcPct val="115000"/>
              </a:lnSpc>
              <a:spcAft>
                <a:spcPts val="0"/>
              </a:spcAft>
            </a:pPr>
            <a:r>
              <a:rPr sz="900" b="0" i="0">
                <a:solidFill>
                  <a:srgbClr val="8A93A6"/>
                </a:solidFill>
                <a:latin typeface="Arial"/>
              </a:rPr>
              <a:t>AI Trip Planner  ·  ELEC5620 Stage 1  ·  Mon 10-12 Group 14</a:t>
            </a:r>
          </a:p>
        </p:txBody>
      </p:sp>
      <p:sp>
        <p:nvSpPr>
          <p:cNvPr id="7" name="TextBox 6"/>
          <p:cNvSpPr txBox="1"/>
          <p:nvPr/>
        </p:nvSpPr>
        <p:spPr>
          <a:xfrm>
            <a:off x="9814255" y="6473952"/>
            <a:ext cx="1828800" cy="228600"/>
          </a:xfrm>
          <a:prstGeom prst="rect">
            <a:avLst/>
          </a:prstGeom>
          <a:noFill/>
        </p:spPr>
        <p:txBody>
          <a:bodyPr wrap="square" lIns="0" rIns="0" tIns="0" bIns="0" anchor="t">
            <a:spAutoFit/>
          </a:bodyPr>
          <a:lstStyle/>
          <a:p>
            <a:pPr algn="r">
              <a:lnSpc>
                <a:spcPct val="115000"/>
              </a:lnSpc>
              <a:spcAft>
                <a:spcPts val="0"/>
              </a:spcAft>
            </a:pPr>
            <a:r>
              <a:rPr sz="900" b="0" i="0">
                <a:solidFill>
                  <a:srgbClr val="8A93A6"/>
                </a:solidFill>
                <a:latin typeface="Arial"/>
              </a:rPr>
              <a:t>20 / 24</a:t>
            </a:r>
          </a:p>
        </p:txBody>
      </p:sp>
      <p:sp>
        <p:nvSpPr>
          <p:cNvPr id="8" name="Rounded Rectangle 7"/>
          <p:cNvSpPr/>
          <p:nvPr/>
        </p:nvSpPr>
        <p:spPr>
          <a:xfrm>
            <a:off x="548640" y="1481328"/>
            <a:ext cx="11094415" cy="3017520"/>
          </a:xfrm>
          <a:prstGeom prst="roundRect">
            <a:avLst>
              <a:gd name="adj" fmla="val 3636"/>
            </a:avLst>
          </a:prstGeom>
          <a:solidFill>
            <a:srgbClr val="FFFFFF"/>
          </a:solidFill>
          <a:ln w="9525">
            <a:solidFill>
              <a:srgbClr val="E2E5EB"/>
            </a:solidFill>
          </a:ln>
          <a:effectLst>
            <a:outerShdw blurRad="114300" dist="25400" dir="5400000" algn="t" rotWithShape="0">
              <a:srgbClr val="14213D">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package.png"/>
          <p:cNvPicPr>
            <a:picLocks noChangeAspect="1"/>
          </p:cNvPicPr>
          <p:nvPr/>
        </p:nvPicPr>
        <p:blipFill>
          <a:blip r:embed="rId3"/>
          <a:stretch>
            <a:fillRect/>
          </a:stretch>
        </p:blipFill>
        <p:spPr>
          <a:xfrm>
            <a:off x="706326" y="1609344"/>
            <a:ext cx="10779042" cy="2761487"/>
          </a:xfrm>
          <a:prstGeom prst="rect">
            <a:avLst/>
          </a:prstGeom>
        </p:spPr>
      </p:pic>
      <p:sp>
        <p:nvSpPr>
          <p:cNvPr id="10" name="Oval 9"/>
          <p:cNvSpPr/>
          <p:nvPr/>
        </p:nvSpPr>
        <p:spPr>
          <a:xfrm>
            <a:off x="10485885" y="2770083"/>
            <a:ext cx="274320" cy="274320"/>
          </a:xfrm>
          <a:prstGeom prst="ellipse">
            <a:avLst/>
          </a:prstGeom>
          <a:solidFill>
            <a:srgbClr val="C2571A"/>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Arial"/>
              </a:rPr>
              <a:t>1</a:t>
            </a:r>
          </a:p>
        </p:txBody>
      </p:sp>
      <p:sp>
        <p:nvSpPr>
          <p:cNvPr id="11" name="Oval 10"/>
          <p:cNvSpPr/>
          <p:nvPr/>
        </p:nvSpPr>
        <p:spPr>
          <a:xfrm>
            <a:off x="838642" y="2935772"/>
            <a:ext cx="274320" cy="274320"/>
          </a:xfrm>
          <a:prstGeom prst="ellipse">
            <a:avLst/>
          </a:prstGeom>
          <a:solidFill>
            <a:srgbClr val="C2571A"/>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Arial"/>
              </a:rPr>
              <a:t>2</a:t>
            </a:r>
          </a:p>
        </p:txBody>
      </p:sp>
      <p:sp>
        <p:nvSpPr>
          <p:cNvPr id="12" name="Rounded Rectangle 11"/>
          <p:cNvSpPr/>
          <p:nvPr/>
        </p:nvSpPr>
        <p:spPr>
          <a:xfrm>
            <a:off x="548640" y="4681728"/>
            <a:ext cx="2636443" cy="1554480"/>
          </a:xfrm>
          <a:prstGeom prst="roundRect">
            <a:avLst>
              <a:gd name="adj" fmla="val 7058"/>
            </a:avLst>
          </a:prstGeom>
          <a:solidFill>
            <a:srgbClr val="FFFFFF"/>
          </a:solidFill>
          <a:ln w="9525">
            <a:solidFill>
              <a:srgbClr val="E2E5EB"/>
            </a:solidFill>
          </a:ln>
          <a:effectLst>
            <a:outerShdw blurRad="114300" dist="25400" dir="5400000" algn="t" rotWithShape="0">
              <a:srgbClr val="14213D">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package-2F5DA8.png"/>
          <p:cNvPicPr>
            <a:picLocks noChangeAspect="1"/>
          </p:cNvPicPr>
          <p:nvPr/>
        </p:nvPicPr>
        <p:blipFill>
          <a:blip r:embed="rId4"/>
          <a:stretch>
            <a:fillRect/>
          </a:stretch>
        </p:blipFill>
        <p:spPr>
          <a:xfrm>
            <a:off x="777240" y="4864608"/>
            <a:ext cx="329184" cy="329184"/>
          </a:xfrm>
          <a:prstGeom prst="rect">
            <a:avLst/>
          </a:prstGeom>
        </p:spPr>
      </p:pic>
      <p:sp>
        <p:nvSpPr>
          <p:cNvPr id="14" name="TextBox 13"/>
          <p:cNvSpPr txBox="1"/>
          <p:nvPr/>
        </p:nvSpPr>
        <p:spPr>
          <a:xfrm>
            <a:off x="777240" y="5303520"/>
            <a:ext cx="2270683" cy="320040"/>
          </a:xfrm>
          <a:prstGeom prst="rect">
            <a:avLst/>
          </a:prstGeom>
          <a:noFill/>
        </p:spPr>
        <p:txBody>
          <a:bodyPr wrap="square" lIns="0" rIns="0" tIns="0" bIns="0" anchor="t">
            <a:spAutoFit/>
          </a:bodyPr>
          <a:lstStyle/>
          <a:p>
            <a:pPr algn="l">
              <a:lnSpc>
                <a:spcPct val="115000"/>
              </a:lnSpc>
              <a:spcAft>
                <a:spcPts val="0"/>
              </a:spcAft>
            </a:pPr>
            <a:r>
              <a:rPr sz="1350" b="1" i="0">
                <a:solidFill>
                  <a:srgbClr val="14213D"/>
                </a:solidFill>
                <a:latin typeface="Arial"/>
              </a:rPr>
              <a:t>Six packages</a:t>
            </a:r>
          </a:p>
        </p:txBody>
      </p:sp>
      <p:sp>
        <p:nvSpPr>
          <p:cNvPr id="15" name="TextBox 14"/>
          <p:cNvSpPr txBox="1"/>
          <p:nvPr/>
        </p:nvSpPr>
        <p:spPr>
          <a:xfrm>
            <a:off x="777240" y="5650992"/>
            <a:ext cx="2270683" cy="548640"/>
          </a:xfrm>
          <a:prstGeom prst="rect">
            <a:avLst/>
          </a:prstGeom>
          <a:noFill/>
        </p:spPr>
        <p:txBody>
          <a:bodyPr wrap="square" lIns="0" rIns="0" tIns="0" bIns="0" anchor="t">
            <a:spAutoFit/>
          </a:bodyPr>
          <a:lstStyle/>
          <a:p>
            <a:pPr algn="l">
              <a:lnSpc>
                <a:spcPct val="115000"/>
              </a:lnSpc>
              <a:spcAft>
                <a:spcPts val="0"/>
              </a:spcAft>
            </a:pPr>
            <a:r>
              <a:rPr sz="1200" b="0" i="0">
                <a:solidFill>
                  <a:srgbClr val="2A3550"/>
                </a:solidFill>
                <a:latin typeface="Arial"/>
              </a:rPr>
              <a:t>One monorepo, each package with an owner.</a:t>
            </a:r>
          </a:p>
        </p:txBody>
      </p:sp>
      <p:sp>
        <p:nvSpPr>
          <p:cNvPr id="16" name="Rounded Rectangle 15"/>
          <p:cNvSpPr/>
          <p:nvPr/>
        </p:nvSpPr>
        <p:spPr>
          <a:xfrm>
            <a:off x="3367963" y="4681728"/>
            <a:ext cx="2636443" cy="1554480"/>
          </a:xfrm>
          <a:prstGeom prst="roundRect">
            <a:avLst>
              <a:gd name="adj" fmla="val 7058"/>
            </a:avLst>
          </a:prstGeom>
          <a:solidFill>
            <a:srgbClr val="FFFFFF"/>
          </a:solidFill>
          <a:ln w="9525">
            <a:solidFill>
              <a:srgbClr val="E2E5EB"/>
            </a:solidFill>
          </a:ln>
          <a:effectLst>
            <a:outerShdw blurRad="114300" dist="25400" dir="5400000" algn="t" rotWithShape="0">
              <a:srgbClr val="14213D">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target-2F5DA8.png"/>
          <p:cNvPicPr>
            <a:picLocks noChangeAspect="1"/>
          </p:cNvPicPr>
          <p:nvPr/>
        </p:nvPicPr>
        <p:blipFill>
          <a:blip r:embed="rId5"/>
          <a:stretch>
            <a:fillRect/>
          </a:stretch>
        </p:blipFill>
        <p:spPr>
          <a:xfrm>
            <a:off x="3596563" y="4864608"/>
            <a:ext cx="329184" cy="329184"/>
          </a:xfrm>
          <a:prstGeom prst="rect">
            <a:avLst/>
          </a:prstGeom>
        </p:spPr>
      </p:pic>
      <p:sp>
        <p:nvSpPr>
          <p:cNvPr id="18" name="Oval 17"/>
          <p:cNvSpPr/>
          <p:nvPr/>
        </p:nvSpPr>
        <p:spPr>
          <a:xfrm>
            <a:off x="5547207" y="4882896"/>
            <a:ext cx="256032" cy="256032"/>
          </a:xfrm>
          <a:prstGeom prst="ellipse">
            <a:avLst/>
          </a:prstGeom>
          <a:solidFill>
            <a:srgbClr val="C2571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50" b="1">
                <a:solidFill>
                  <a:srgbClr val="FFFFFF"/>
                </a:solidFill>
                <a:latin typeface="Arial"/>
              </a:rPr>
              <a:t>1</a:t>
            </a:r>
          </a:p>
        </p:txBody>
      </p:sp>
      <p:sp>
        <p:nvSpPr>
          <p:cNvPr id="19" name="TextBox 18"/>
          <p:cNvSpPr txBox="1"/>
          <p:nvPr/>
        </p:nvSpPr>
        <p:spPr>
          <a:xfrm>
            <a:off x="3596563" y="5303520"/>
            <a:ext cx="2270683" cy="320040"/>
          </a:xfrm>
          <a:prstGeom prst="rect">
            <a:avLst/>
          </a:prstGeom>
          <a:noFill/>
        </p:spPr>
        <p:txBody>
          <a:bodyPr wrap="square" lIns="0" rIns="0" tIns="0" bIns="0" anchor="t">
            <a:spAutoFit/>
          </a:bodyPr>
          <a:lstStyle/>
          <a:p>
            <a:pPr algn="l">
              <a:lnSpc>
                <a:spcPct val="115000"/>
              </a:lnSpc>
              <a:spcAft>
                <a:spcPts val="0"/>
              </a:spcAft>
            </a:pPr>
            <a:r>
              <a:rPr sz="1350" b="1" i="0">
                <a:solidFill>
                  <a:srgbClr val="14213D"/>
                </a:solidFill>
                <a:latin typeface="Arial"/>
              </a:rPr>
              <a:t>shared: no dependencies</a:t>
            </a:r>
          </a:p>
        </p:txBody>
      </p:sp>
      <p:sp>
        <p:nvSpPr>
          <p:cNvPr id="20" name="TextBox 19"/>
          <p:cNvSpPr txBox="1"/>
          <p:nvPr/>
        </p:nvSpPr>
        <p:spPr>
          <a:xfrm>
            <a:off x="3596563" y="5650992"/>
            <a:ext cx="2270683" cy="548640"/>
          </a:xfrm>
          <a:prstGeom prst="rect">
            <a:avLst/>
          </a:prstGeom>
          <a:noFill/>
        </p:spPr>
        <p:txBody>
          <a:bodyPr wrap="square" lIns="0" rIns="0" tIns="0" bIns="0" anchor="t">
            <a:spAutoFit/>
          </a:bodyPr>
          <a:lstStyle/>
          <a:p>
            <a:pPr algn="l">
              <a:lnSpc>
                <a:spcPct val="115000"/>
              </a:lnSpc>
              <a:spcAft>
                <a:spcPts val="0"/>
              </a:spcAft>
            </a:pPr>
            <a:r>
              <a:rPr sz="1200" b="0" i="0">
                <a:solidFill>
                  <a:srgbClr val="2A3550"/>
                </a:solidFill>
                <a:latin typeface="Arial"/>
              </a:rPr>
              <a:t>It holds the Zod contracts and ports.</a:t>
            </a:r>
          </a:p>
        </p:txBody>
      </p:sp>
      <p:sp>
        <p:nvSpPr>
          <p:cNvPr id="21" name="Rounded Rectangle 20"/>
          <p:cNvSpPr/>
          <p:nvPr/>
        </p:nvSpPr>
        <p:spPr>
          <a:xfrm>
            <a:off x="6187287" y="4681728"/>
            <a:ext cx="2636443" cy="1554480"/>
          </a:xfrm>
          <a:prstGeom prst="roundRect">
            <a:avLst>
              <a:gd name="adj" fmla="val 7058"/>
            </a:avLst>
          </a:prstGeom>
          <a:solidFill>
            <a:srgbClr val="FFFFFF"/>
          </a:solidFill>
          <a:ln w="9525">
            <a:solidFill>
              <a:srgbClr val="E2E5EB"/>
            </a:solidFill>
          </a:ln>
          <a:effectLst>
            <a:outerShdw blurRad="114300" dist="25400" dir="5400000" algn="t" rotWithShape="0">
              <a:srgbClr val="14213D">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monitor-2F5DA8.png"/>
          <p:cNvPicPr>
            <a:picLocks noChangeAspect="1"/>
          </p:cNvPicPr>
          <p:nvPr/>
        </p:nvPicPr>
        <p:blipFill>
          <a:blip r:embed="rId6"/>
          <a:stretch>
            <a:fillRect/>
          </a:stretch>
        </p:blipFill>
        <p:spPr>
          <a:xfrm>
            <a:off x="6415887" y="4864608"/>
            <a:ext cx="329184" cy="329184"/>
          </a:xfrm>
          <a:prstGeom prst="rect">
            <a:avLst/>
          </a:prstGeom>
        </p:spPr>
      </p:pic>
      <p:sp>
        <p:nvSpPr>
          <p:cNvPr id="23" name="Oval 22"/>
          <p:cNvSpPr/>
          <p:nvPr/>
        </p:nvSpPr>
        <p:spPr>
          <a:xfrm>
            <a:off x="8366531" y="4882896"/>
            <a:ext cx="256032" cy="256032"/>
          </a:xfrm>
          <a:prstGeom prst="ellipse">
            <a:avLst/>
          </a:prstGeom>
          <a:solidFill>
            <a:srgbClr val="C2571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50" b="1">
                <a:solidFill>
                  <a:srgbClr val="FFFFFF"/>
                </a:solidFill>
                <a:latin typeface="Arial"/>
              </a:rPr>
              <a:t>2</a:t>
            </a:r>
          </a:p>
        </p:txBody>
      </p:sp>
      <p:sp>
        <p:nvSpPr>
          <p:cNvPr id="24" name="TextBox 23"/>
          <p:cNvSpPr txBox="1"/>
          <p:nvPr/>
        </p:nvSpPr>
        <p:spPr>
          <a:xfrm>
            <a:off x="6415887" y="5303520"/>
            <a:ext cx="2270683" cy="320040"/>
          </a:xfrm>
          <a:prstGeom prst="rect">
            <a:avLst/>
          </a:prstGeom>
          <a:noFill/>
        </p:spPr>
        <p:txBody>
          <a:bodyPr wrap="square" lIns="0" rIns="0" tIns="0" bIns="0" anchor="t">
            <a:spAutoFit/>
          </a:bodyPr>
          <a:lstStyle/>
          <a:p>
            <a:pPr algn="l">
              <a:lnSpc>
                <a:spcPct val="115000"/>
              </a:lnSpc>
              <a:spcAft>
                <a:spcPts val="0"/>
              </a:spcAft>
            </a:pPr>
            <a:r>
              <a:rPr sz="1350" b="1" i="0">
                <a:solidFill>
                  <a:srgbClr val="14213D"/>
                </a:solidFill>
                <a:latin typeface="Arial"/>
              </a:rPr>
              <a:t>Nothing imports web</a:t>
            </a:r>
          </a:p>
        </p:txBody>
      </p:sp>
      <p:sp>
        <p:nvSpPr>
          <p:cNvPr id="25" name="TextBox 24"/>
          <p:cNvSpPr txBox="1"/>
          <p:nvPr/>
        </p:nvSpPr>
        <p:spPr>
          <a:xfrm>
            <a:off x="6415887" y="5650992"/>
            <a:ext cx="2270683" cy="548640"/>
          </a:xfrm>
          <a:prstGeom prst="rect">
            <a:avLst/>
          </a:prstGeom>
          <a:noFill/>
        </p:spPr>
        <p:txBody>
          <a:bodyPr wrap="square" lIns="0" rIns="0" tIns="0" bIns="0" anchor="t">
            <a:spAutoFit/>
          </a:bodyPr>
          <a:lstStyle/>
          <a:p>
            <a:pPr algn="l">
              <a:lnSpc>
                <a:spcPct val="115000"/>
              </a:lnSpc>
              <a:spcAft>
                <a:spcPts val="0"/>
              </a:spcAft>
            </a:pPr>
            <a:r>
              <a:rPr sz="1200" b="0" i="0">
                <a:solidFill>
                  <a:srgbClr val="2A3550"/>
                </a:solidFill>
                <a:latin typeface="Arial"/>
              </a:rPr>
              <a:t>So the planner runs and is tested without a browser.</a:t>
            </a:r>
          </a:p>
        </p:txBody>
      </p:sp>
      <p:sp>
        <p:nvSpPr>
          <p:cNvPr id="26" name="Rounded Rectangle 25"/>
          <p:cNvSpPr/>
          <p:nvPr/>
        </p:nvSpPr>
        <p:spPr>
          <a:xfrm>
            <a:off x="9006611" y="4681728"/>
            <a:ext cx="2636443" cy="1554480"/>
          </a:xfrm>
          <a:prstGeom prst="roundRect">
            <a:avLst>
              <a:gd name="adj" fmla="val 7058"/>
            </a:avLst>
          </a:prstGeom>
          <a:solidFill>
            <a:srgbClr val="FFFFFF"/>
          </a:solidFill>
          <a:ln w="9525">
            <a:solidFill>
              <a:srgbClr val="E2E5EB"/>
            </a:solidFill>
          </a:ln>
          <a:effectLst>
            <a:outerShdw blurRad="114300" dist="25400" dir="5400000" algn="t" rotWithShape="0">
              <a:srgbClr val="14213D">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Picture 26" descr="boxes-2F5DA8.png"/>
          <p:cNvPicPr>
            <a:picLocks noChangeAspect="1"/>
          </p:cNvPicPr>
          <p:nvPr/>
        </p:nvPicPr>
        <p:blipFill>
          <a:blip r:embed="rId7"/>
          <a:stretch>
            <a:fillRect/>
          </a:stretch>
        </p:blipFill>
        <p:spPr>
          <a:xfrm>
            <a:off x="9235211" y="4864608"/>
            <a:ext cx="329184" cy="329184"/>
          </a:xfrm>
          <a:prstGeom prst="rect">
            <a:avLst/>
          </a:prstGeom>
        </p:spPr>
      </p:pic>
      <p:sp>
        <p:nvSpPr>
          <p:cNvPr id="28" name="TextBox 27"/>
          <p:cNvSpPr txBox="1"/>
          <p:nvPr/>
        </p:nvSpPr>
        <p:spPr>
          <a:xfrm>
            <a:off x="9235211" y="5303520"/>
            <a:ext cx="2270683" cy="320040"/>
          </a:xfrm>
          <a:prstGeom prst="rect">
            <a:avLst/>
          </a:prstGeom>
          <a:noFill/>
        </p:spPr>
        <p:txBody>
          <a:bodyPr wrap="square" lIns="0" rIns="0" tIns="0" bIns="0" anchor="t">
            <a:spAutoFit/>
          </a:bodyPr>
          <a:lstStyle/>
          <a:p>
            <a:pPr algn="l">
              <a:lnSpc>
                <a:spcPct val="115000"/>
              </a:lnSpc>
              <a:spcAft>
                <a:spcPts val="0"/>
              </a:spcAft>
            </a:pPr>
            <a:r>
              <a:rPr sz="1350" b="1" i="0">
                <a:solidFill>
                  <a:srgbClr val="14213D"/>
                </a:solidFill>
                <a:latin typeface="Arial"/>
              </a:rPr>
              <a:t>Plug in at interfaces</a:t>
            </a:r>
          </a:p>
        </p:txBody>
      </p:sp>
      <p:sp>
        <p:nvSpPr>
          <p:cNvPr id="29" name="TextBox 28"/>
          <p:cNvSpPr txBox="1"/>
          <p:nvPr/>
        </p:nvSpPr>
        <p:spPr>
          <a:xfrm>
            <a:off x="9235211" y="5650992"/>
            <a:ext cx="2270683" cy="548640"/>
          </a:xfrm>
          <a:prstGeom prst="rect">
            <a:avLst/>
          </a:prstGeom>
          <a:noFill/>
        </p:spPr>
        <p:txBody>
          <a:bodyPr wrap="square" lIns="0" rIns="0" tIns="0" bIns="0" anchor="t">
            <a:spAutoFit/>
          </a:bodyPr>
          <a:lstStyle/>
          <a:p>
            <a:pPr algn="l">
              <a:lnSpc>
                <a:spcPct val="115000"/>
              </a:lnSpc>
              <a:spcAft>
                <a:spcPts val="0"/>
              </a:spcAft>
            </a:pPr>
            <a:r>
              <a:rPr sz="1200" b="0" i="0">
                <a:solidFill>
                  <a:srgbClr val="2A3550"/>
                </a:solidFill>
                <a:latin typeface="Arial"/>
              </a:rPr>
              <a:t>A new specialist, provider or store.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7F6F1"/>
        </a:solidFill>
        <a:effectLst/>
      </p:bgPr>
    </p:bg>
    <p:spTree>
      <p:nvGrpSpPr>
        <p:cNvPr id="1" name=""/>
        <p:cNvGrpSpPr/>
        <p:nvPr/>
      </p:nvGrpSpPr>
      <p:grpSpPr/>
      <p:sp>
        <p:nvSpPr>
          <p:cNvPr id="2" name="Rectangle 1"/>
          <p:cNvSpPr/>
          <p:nvPr/>
        </p:nvSpPr>
        <p:spPr>
          <a:xfrm>
            <a:off x="0" y="0"/>
            <a:ext cx="100584" cy="6858000"/>
          </a:xfrm>
          <a:prstGeom prst="rect">
            <a:avLst/>
          </a:prstGeom>
          <a:solidFill>
            <a:srgbClr val="C25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47472"/>
            <a:ext cx="5943600" cy="274320"/>
          </a:xfrm>
          <a:prstGeom prst="rect">
            <a:avLst/>
          </a:prstGeom>
          <a:noFill/>
        </p:spPr>
        <p:txBody>
          <a:bodyPr wrap="square" lIns="0" rIns="0" tIns="0" bIns="0" anchor="ctr">
            <a:spAutoFit/>
          </a:bodyPr>
          <a:lstStyle/>
          <a:p>
            <a:pPr algn="l">
              <a:lnSpc>
                <a:spcPct val="115000"/>
              </a:lnSpc>
              <a:spcAft>
                <a:spcPts val="0"/>
              </a:spcAft>
            </a:pPr>
            <a:r>
              <a:rPr sz="1000" b="1" i="0">
                <a:solidFill>
                  <a:srgbClr val="C2571A"/>
                </a:solidFill>
                <a:latin typeface="Arial"/>
              </a:rPr>
              <a:t>DEPLOYMENT</a:t>
            </a:r>
          </a:p>
        </p:txBody>
      </p:sp>
      <p:sp>
        <p:nvSpPr>
          <p:cNvPr id="4" name="TextBox 3"/>
          <p:cNvSpPr txBox="1"/>
          <p:nvPr/>
        </p:nvSpPr>
        <p:spPr>
          <a:xfrm>
            <a:off x="548640" y="731520"/>
            <a:ext cx="11094415" cy="566928"/>
          </a:xfrm>
          <a:prstGeom prst="rect">
            <a:avLst/>
          </a:prstGeom>
          <a:noFill/>
        </p:spPr>
        <p:txBody>
          <a:bodyPr wrap="square" lIns="0" rIns="0" tIns="0" bIns="0" anchor="ctr">
            <a:spAutoFit/>
          </a:bodyPr>
          <a:lstStyle/>
          <a:p>
            <a:pPr algn="l">
              <a:lnSpc>
                <a:spcPct val="115000"/>
              </a:lnSpc>
              <a:spcAft>
                <a:spcPts val="0"/>
              </a:spcAft>
            </a:pPr>
            <a:r>
              <a:rPr sz="2600" b="1" i="0">
                <a:solidFill>
                  <a:srgbClr val="14213D"/>
                </a:solidFill>
                <a:latin typeface="Georgia"/>
              </a:rPr>
              <a:t>One serverless app, optional cloud services</a:t>
            </a:r>
          </a:p>
        </p:txBody>
      </p:sp>
      <p:sp>
        <p:nvSpPr>
          <p:cNvPr id="5" name="Rectangle 4"/>
          <p:cNvSpPr/>
          <p:nvPr/>
        </p:nvSpPr>
        <p:spPr>
          <a:xfrm>
            <a:off x="548640" y="6400800"/>
            <a:ext cx="11094415" cy="10972"/>
          </a:xfrm>
          <a:prstGeom prst="rect">
            <a:avLst/>
          </a:prstGeom>
          <a:solidFill>
            <a:srgbClr val="DDDA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48640" y="6473952"/>
            <a:ext cx="7315200" cy="228600"/>
          </a:xfrm>
          <a:prstGeom prst="rect">
            <a:avLst/>
          </a:prstGeom>
          <a:noFill/>
        </p:spPr>
        <p:txBody>
          <a:bodyPr wrap="square" lIns="0" rIns="0" tIns="0" bIns="0" anchor="t">
            <a:spAutoFit/>
          </a:bodyPr>
          <a:lstStyle/>
          <a:p>
            <a:pPr algn="l">
              <a:lnSpc>
                <a:spcPct val="115000"/>
              </a:lnSpc>
              <a:spcAft>
                <a:spcPts val="0"/>
              </a:spcAft>
            </a:pPr>
            <a:r>
              <a:rPr sz="900" b="0" i="0">
                <a:solidFill>
                  <a:srgbClr val="8A93A6"/>
                </a:solidFill>
                <a:latin typeface="Arial"/>
              </a:rPr>
              <a:t>AI Trip Planner  ·  ELEC5620 Stage 1  ·  Mon 10-12 Group 14</a:t>
            </a:r>
          </a:p>
        </p:txBody>
      </p:sp>
      <p:sp>
        <p:nvSpPr>
          <p:cNvPr id="7" name="TextBox 6"/>
          <p:cNvSpPr txBox="1"/>
          <p:nvPr/>
        </p:nvSpPr>
        <p:spPr>
          <a:xfrm>
            <a:off x="9814255" y="6473952"/>
            <a:ext cx="1828800" cy="228600"/>
          </a:xfrm>
          <a:prstGeom prst="rect">
            <a:avLst/>
          </a:prstGeom>
          <a:noFill/>
        </p:spPr>
        <p:txBody>
          <a:bodyPr wrap="square" lIns="0" rIns="0" tIns="0" bIns="0" anchor="t">
            <a:spAutoFit/>
          </a:bodyPr>
          <a:lstStyle/>
          <a:p>
            <a:pPr algn="r">
              <a:lnSpc>
                <a:spcPct val="115000"/>
              </a:lnSpc>
              <a:spcAft>
                <a:spcPts val="0"/>
              </a:spcAft>
            </a:pPr>
            <a:r>
              <a:rPr sz="900" b="0" i="0">
                <a:solidFill>
                  <a:srgbClr val="8A93A6"/>
                </a:solidFill>
                <a:latin typeface="Arial"/>
              </a:rPr>
              <a:t>21 / 24</a:t>
            </a:r>
          </a:p>
        </p:txBody>
      </p:sp>
      <p:sp>
        <p:nvSpPr>
          <p:cNvPr id="8" name="Rounded Rectangle 7"/>
          <p:cNvSpPr/>
          <p:nvPr/>
        </p:nvSpPr>
        <p:spPr>
          <a:xfrm>
            <a:off x="548640" y="1481328"/>
            <a:ext cx="6309360" cy="4754880"/>
          </a:xfrm>
          <a:prstGeom prst="roundRect">
            <a:avLst>
              <a:gd name="adj" fmla="val 2307"/>
            </a:avLst>
          </a:prstGeom>
          <a:solidFill>
            <a:srgbClr val="FFFFFF"/>
          </a:solidFill>
          <a:ln w="9525">
            <a:solidFill>
              <a:srgbClr val="E2E5EB"/>
            </a:solidFill>
          </a:ln>
          <a:effectLst>
            <a:outerShdw blurRad="114300" dist="25400" dir="5400000" algn="t" rotWithShape="0">
              <a:srgbClr val="14213D">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deployment.png"/>
          <p:cNvPicPr>
            <a:picLocks noChangeAspect="1"/>
          </p:cNvPicPr>
          <p:nvPr/>
        </p:nvPicPr>
        <p:blipFill>
          <a:blip r:embed="rId3"/>
          <a:stretch>
            <a:fillRect/>
          </a:stretch>
        </p:blipFill>
        <p:spPr>
          <a:xfrm>
            <a:off x="879968" y="1609344"/>
            <a:ext cx="5646702" cy="4498848"/>
          </a:xfrm>
          <a:prstGeom prst="rect">
            <a:avLst/>
          </a:prstGeom>
        </p:spPr>
      </p:pic>
      <p:sp>
        <p:nvSpPr>
          <p:cNvPr id="10" name="Oval 9"/>
          <p:cNvSpPr/>
          <p:nvPr/>
        </p:nvSpPr>
        <p:spPr>
          <a:xfrm>
            <a:off x="912209" y="3586642"/>
            <a:ext cx="274320" cy="274320"/>
          </a:xfrm>
          <a:prstGeom prst="ellipse">
            <a:avLst/>
          </a:prstGeom>
          <a:solidFill>
            <a:srgbClr val="C2571A"/>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Arial"/>
              </a:rPr>
              <a:t>1</a:t>
            </a:r>
          </a:p>
        </p:txBody>
      </p:sp>
      <p:sp>
        <p:nvSpPr>
          <p:cNvPr id="11" name="Oval 10"/>
          <p:cNvSpPr/>
          <p:nvPr/>
        </p:nvSpPr>
        <p:spPr>
          <a:xfrm>
            <a:off x="3566160" y="3046780"/>
            <a:ext cx="274320" cy="274320"/>
          </a:xfrm>
          <a:prstGeom prst="ellipse">
            <a:avLst/>
          </a:prstGeom>
          <a:solidFill>
            <a:srgbClr val="C2571A"/>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Arial"/>
              </a:rPr>
              <a:t>2</a:t>
            </a:r>
          </a:p>
        </p:txBody>
      </p:sp>
      <p:sp>
        <p:nvSpPr>
          <p:cNvPr id="12" name="Oval 11"/>
          <p:cNvSpPr/>
          <p:nvPr/>
        </p:nvSpPr>
        <p:spPr>
          <a:xfrm>
            <a:off x="5429571" y="3901561"/>
            <a:ext cx="274320" cy="274320"/>
          </a:xfrm>
          <a:prstGeom prst="ellipse">
            <a:avLst/>
          </a:prstGeom>
          <a:solidFill>
            <a:srgbClr val="C2571A"/>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Arial"/>
              </a:rPr>
              <a:t>3</a:t>
            </a:r>
          </a:p>
        </p:txBody>
      </p:sp>
      <p:sp>
        <p:nvSpPr>
          <p:cNvPr id="13" name="Oval 12"/>
          <p:cNvSpPr/>
          <p:nvPr/>
        </p:nvSpPr>
        <p:spPr>
          <a:xfrm>
            <a:off x="7132320" y="1581912"/>
            <a:ext cx="256032" cy="256032"/>
          </a:xfrm>
          <a:prstGeom prst="ellipse">
            <a:avLst/>
          </a:prstGeom>
          <a:solidFill>
            <a:srgbClr val="C2571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50" b="1">
                <a:solidFill>
                  <a:srgbClr val="FFFFFF"/>
                </a:solidFill>
                <a:latin typeface="Arial"/>
              </a:rPr>
              <a:t>1</a:t>
            </a:r>
          </a:p>
        </p:txBody>
      </p:sp>
      <p:sp>
        <p:nvSpPr>
          <p:cNvPr id="14" name="TextBox 13"/>
          <p:cNvSpPr txBox="1"/>
          <p:nvPr/>
        </p:nvSpPr>
        <p:spPr>
          <a:xfrm>
            <a:off x="7516368" y="1572768"/>
            <a:ext cx="4126687" cy="1005840"/>
          </a:xfrm>
          <a:prstGeom prst="rect">
            <a:avLst/>
          </a:prstGeom>
          <a:noFill/>
        </p:spPr>
        <p:txBody>
          <a:bodyPr wrap="square" lIns="0" rIns="0" tIns="0" bIns="0" anchor="t">
            <a:spAutoFit/>
          </a:bodyPr>
          <a:lstStyle/>
          <a:p>
            <a:pPr algn="l">
              <a:lnSpc>
                <a:spcPct val="115000"/>
              </a:lnSpc>
              <a:spcAft>
                <a:spcPts val="200"/>
              </a:spcAft>
            </a:pPr>
            <a:r>
              <a:rPr sz="1350" b="1" i="0">
                <a:solidFill>
                  <a:srgbClr val="14213D"/>
                </a:solidFill>
                <a:latin typeface="Arial"/>
              </a:rPr>
              <a:t>Browser</a:t>
            </a:r>
          </a:p>
          <a:p>
            <a:pPr algn="l">
              <a:lnSpc>
                <a:spcPct val="115000"/>
              </a:lnSpc>
              <a:spcAft>
                <a:spcPts val="200"/>
              </a:spcAft>
            </a:pPr>
            <a:r>
              <a:rPr sz="1350" b="0" i="0">
                <a:solidFill>
                  <a:srgbClr val="2A3550"/>
                </a:solidFill>
                <a:latin typeface="Arial"/>
              </a:rPr>
              <a:t>Chats and trips in local storage; progress streams as NDJSON.</a:t>
            </a:r>
          </a:p>
        </p:txBody>
      </p:sp>
      <p:sp>
        <p:nvSpPr>
          <p:cNvPr id="15" name="Oval 14"/>
          <p:cNvSpPr/>
          <p:nvPr/>
        </p:nvSpPr>
        <p:spPr>
          <a:xfrm>
            <a:off x="7132320" y="2770632"/>
            <a:ext cx="256032" cy="256032"/>
          </a:xfrm>
          <a:prstGeom prst="ellipse">
            <a:avLst/>
          </a:prstGeom>
          <a:solidFill>
            <a:srgbClr val="C2571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50" b="1">
                <a:solidFill>
                  <a:srgbClr val="FFFFFF"/>
                </a:solidFill>
                <a:latin typeface="Arial"/>
              </a:rPr>
              <a:t>2</a:t>
            </a:r>
          </a:p>
        </p:txBody>
      </p:sp>
      <p:sp>
        <p:nvSpPr>
          <p:cNvPr id="16" name="TextBox 15"/>
          <p:cNvSpPr txBox="1"/>
          <p:nvPr/>
        </p:nvSpPr>
        <p:spPr>
          <a:xfrm>
            <a:off x="7516368" y="2761488"/>
            <a:ext cx="4126687" cy="1005840"/>
          </a:xfrm>
          <a:prstGeom prst="rect">
            <a:avLst/>
          </a:prstGeom>
          <a:noFill/>
        </p:spPr>
        <p:txBody>
          <a:bodyPr wrap="square" lIns="0" rIns="0" tIns="0" bIns="0" anchor="t">
            <a:spAutoFit/>
          </a:bodyPr>
          <a:lstStyle/>
          <a:p>
            <a:pPr algn="l">
              <a:lnSpc>
                <a:spcPct val="115000"/>
              </a:lnSpc>
              <a:spcAft>
                <a:spcPts val="200"/>
              </a:spcAft>
            </a:pPr>
            <a:r>
              <a:rPr sz="1350" b="1" i="0">
                <a:solidFill>
                  <a:srgbClr val="14213D"/>
                </a:solidFill>
                <a:latin typeface="Arial"/>
              </a:rPr>
              <a:t>Server</a:t>
            </a:r>
          </a:p>
          <a:p>
            <a:pPr algn="l">
              <a:lnSpc>
                <a:spcPct val="115000"/>
              </a:lnSpc>
              <a:spcAft>
                <a:spcPts val="200"/>
              </a:spcAft>
            </a:pPr>
            <a:r>
              <a:rPr sz="1350" b="0" i="0">
                <a:solidFill>
                  <a:srgbClr val="2A3550"/>
                </a:solidFill>
                <a:latin typeface="Arial"/>
              </a:rPr>
              <a:t>Next.js API routes and the orchestrator.</a:t>
            </a:r>
          </a:p>
        </p:txBody>
      </p:sp>
      <p:sp>
        <p:nvSpPr>
          <p:cNvPr id="17" name="Oval 16"/>
          <p:cNvSpPr/>
          <p:nvPr/>
        </p:nvSpPr>
        <p:spPr>
          <a:xfrm>
            <a:off x="7132320" y="3959352"/>
            <a:ext cx="256032" cy="256032"/>
          </a:xfrm>
          <a:prstGeom prst="ellipse">
            <a:avLst/>
          </a:prstGeom>
          <a:solidFill>
            <a:srgbClr val="C2571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50" b="1">
                <a:solidFill>
                  <a:srgbClr val="FFFFFF"/>
                </a:solidFill>
                <a:latin typeface="Arial"/>
              </a:rPr>
              <a:t>3</a:t>
            </a:r>
          </a:p>
        </p:txBody>
      </p:sp>
      <p:sp>
        <p:nvSpPr>
          <p:cNvPr id="18" name="TextBox 17"/>
          <p:cNvSpPr txBox="1"/>
          <p:nvPr/>
        </p:nvSpPr>
        <p:spPr>
          <a:xfrm>
            <a:off x="7516368" y="3950208"/>
            <a:ext cx="4126687" cy="1005840"/>
          </a:xfrm>
          <a:prstGeom prst="rect">
            <a:avLst/>
          </a:prstGeom>
          <a:noFill/>
        </p:spPr>
        <p:txBody>
          <a:bodyPr wrap="square" lIns="0" rIns="0" tIns="0" bIns="0" anchor="t">
            <a:spAutoFit/>
          </a:bodyPr>
          <a:lstStyle/>
          <a:p>
            <a:pPr algn="l">
              <a:lnSpc>
                <a:spcPct val="115000"/>
              </a:lnSpc>
              <a:spcAft>
                <a:spcPts val="200"/>
              </a:spcAft>
            </a:pPr>
            <a:r>
              <a:rPr sz="1350" b="1" i="0">
                <a:solidFill>
                  <a:srgbClr val="14213D"/>
                </a:solidFill>
                <a:latin typeface="Arial"/>
              </a:rPr>
              <a:t>Optional</a:t>
            </a:r>
          </a:p>
          <a:p>
            <a:pPr algn="l">
              <a:lnSpc>
                <a:spcPct val="115000"/>
              </a:lnSpc>
              <a:spcAft>
                <a:spcPts val="200"/>
              </a:spcAft>
            </a:pPr>
            <a:r>
              <a:rPr sz="1350" b="0" i="0">
                <a:solidFill>
                  <a:srgbClr val="2A3550"/>
                </a:solidFill>
                <a:latin typeface="Arial"/>
              </a:rPr>
              <a:t>Redis REST memory, Postgres account sync, Clerk sign-in.</a:t>
            </a:r>
          </a:p>
        </p:txBody>
      </p:sp>
      <p:sp>
        <p:nvSpPr>
          <p:cNvPr id="19" name="Rounded Rectangle 18"/>
          <p:cNvSpPr/>
          <p:nvPr/>
        </p:nvSpPr>
        <p:spPr>
          <a:xfrm>
            <a:off x="7132320" y="5047488"/>
            <a:ext cx="4510735" cy="1051560"/>
          </a:xfrm>
          <a:prstGeom prst="roundRect">
            <a:avLst>
              <a:gd name="adj" fmla="val 10434"/>
            </a:avLst>
          </a:prstGeom>
          <a:solidFill>
            <a:srgbClr val="14213D"/>
          </a:solidFill>
          <a:ln>
            <a:noFill/>
          </a:ln>
          <a:effectLst>
            <a:outerShdw blurRad="114300" dist="25400" dir="5400000" algn="t" rotWithShape="0">
              <a:srgbClr val="14213D">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wifi-off-F2A65A.png"/>
          <p:cNvPicPr>
            <a:picLocks noChangeAspect="1"/>
          </p:cNvPicPr>
          <p:nvPr/>
        </p:nvPicPr>
        <p:blipFill>
          <a:blip r:embed="rId4"/>
          <a:stretch>
            <a:fillRect/>
          </a:stretch>
        </p:blipFill>
        <p:spPr>
          <a:xfrm>
            <a:off x="7360920" y="5394960"/>
            <a:ext cx="347472" cy="347472"/>
          </a:xfrm>
          <a:prstGeom prst="rect">
            <a:avLst/>
          </a:prstGeom>
        </p:spPr>
      </p:pic>
      <p:sp>
        <p:nvSpPr>
          <p:cNvPr id="21" name="TextBox 20"/>
          <p:cNvSpPr txBox="1"/>
          <p:nvPr/>
        </p:nvSpPr>
        <p:spPr>
          <a:xfrm>
            <a:off x="7909560" y="5138928"/>
            <a:ext cx="3596335" cy="868680"/>
          </a:xfrm>
          <a:prstGeom prst="rect">
            <a:avLst/>
          </a:prstGeom>
          <a:noFill/>
        </p:spPr>
        <p:txBody>
          <a:bodyPr wrap="square" lIns="0" rIns="0" tIns="0" bIns="0" anchor="ctr">
            <a:spAutoFit/>
          </a:bodyPr>
          <a:lstStyle/>
          <a:p>
            <a:pPr algn="l">
              <a:lnSpc>
                <a:spcPct val="115000"/>
              </a:lnSpc>
              <a:spcAft>
                <a:spcPts val="0"/>
              </a:spcAft>
            </a:pPr>
            <a:r>
              <a:rPr sz="1400" b="1" i="0">
                <a:solidFill>
                  <a:srgbClr val="F2A65A"/>
                </a:solidFill>
                <a:latin typeface="Arial"/>
              </a:rPr>
              <a:t>No keys?  </a:t>
            </a:r>
            <a:r>
              <a:rPr sz="1400" b="0" i="0">
                <a:solidFill>
                  <a:srgbClr val="FFFFFF"/>
                </a:solidFill>
                <a:latin typeface="Arial"/>
              </a:rPr>
              <a:t>The same build runs offline on mock data.</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7F6F1"/>
        </a:solidFill>
        <a:effectLst/>
      </p:bgPr>
    </p:bg>
    <p:spTree>
      <p:nvGrpSpPr>
        <p:cNvPr id="1" name=""/>
        <p:cNvGrpSpPr/>
        <p:nvPr/>
      </p:nvGrpSpPr>
      <p:grpSpPr/>
      <p:sp>
        <p:nvSpPr>
          <p:cNvPr id="2" name="Rectangle 1"/>
          <p:cNvSpPr/>
          <p:nvPr/>
        </p:nvSpPr>
        <p:spPr>
          <a:xfrm>
            <a:off x="0" y="0"/>
            <a:ext cx="100584" cy="6858000"/>
          </a:xfrm>
          <a:prstGeom prst="rect">
            <a:avLst/>
          </a:prstGeom>
          <a:solidFill>
            <a:srgbClr val="C25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47472"/>
            <a:ext cx="5943600" cy="274320"/>
          </a:xfrm>
          <a:prstGeom prst="rect">
            <a:avLst/>
          </a:prstGeom>
          <a:noFill/>
        </p:spPr>
        <p:txBody>
          <a:bodyPr wrap="square" lIns="0" rIns="0" tIns="0" bIns="0" anchor="ctr">
            <a:spAutoFit/>
          </a:bodyPr>
          <a:lstStyle/>
          <a:p>
            <a:pPr algn="l">
              <a:lnSpc>
                <a:spcPct val="115000"/>
              </a:lnSpc>
              <a:spcAft>
                <a:spcPts val="0"/>
              </a:spcAft>
            </a:pPr>
            <a:r>
              <a:rPr sz="1000" b="1" i="0">
                <a:solidFill>
                  <a:srgbClr val="C2571A"/>
                </a:solidFill>
                <a:latin typeface="Arial"/>
              </a:rPr>
              <a:t>CHANGE ASSESSMENT AND ACCEPTANCE</a:t>
            </a:r>
          </a:p>
        </p:txBody>
      </p:sp>
      <p:sp>
        <p:nvSpPr>
          <p:cNvPr id="4" name="TextBox 3"/>
          <p:cNvSpPr txBox="1"/>
          <p:nvPr/>
        </p:nvSpPr>
        <p:spPr>
          <a:xfrm>
            <a:off x="548640" y="731520"/>
            <a:ext cx="11094415" cy="566928"/>
          </a:xfrm>
          <a:prstGeom prst="rect">
            <a:avLst/>
          </a:prstGeom>
          <a:noFill/>
        </p:spPr>
        <p:txBody>
          <a:bodyPr wrap="square" lIns="0" rIns="0" tIns="0" bIns="0" anchor="ctr">
            <a:spAutoFit/>
          </a:bodyPr>
          <a:lstStyle/>
          <a:p>
            <a:pPr algn="l">
              <a:lnSpc>
                <a:spcPct val="115000"/>
              </a:lnSpc>
              <a:spcAft>
                <a:spcPts val="0"/>
              </a:spcAft>
            </a:pPr>
            <a:r>
              <a:rPr sz="2600" b="1" i="0">
                <a:solidFill>
                  <a:srgbClr val="14213D"/>
                </a:solidFill>
                <a:latin typeface="Georgia"/>
              </a:rPr>
              <a:t>How a change gets in</a:t>
            </a:r>
          </a:p>
        </p:txBody>
      </p:sp>
      <p:sp>
        <p:nvSpPr>
          <p:cNvPr id="5" name="Rectangle 4"/>
          <p:cNvSpPr/>
          <p:nvPr/>
        </p:nvSpPr>
        <p:spPr>
          <a:xfrm>
            <a:off x="548640" y="6400800"/>
            <a:ext cx="11094415" cy="10972"/>
          </a:xfrm>
          <a:prstGeom prst="rect">
            <a:avLst/>
          </a:prstGeom>
          <a:solidFill>
            <a:srgbClr val="DDDA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48640" y="6473952"/>
            <a:ext cx="7315200" cy="228600"/>
          </a:xfrm>
          <a:prstGeom prst="rect">
            <a:avLst/>
          </a:prstGeom>
          <a:noFill/>
        </p:spPr>
        <p:txBody>
          <a:bodyPr wrap="square" lIns="0" rIns="0" tIns="0" bIns="0" anchor="t">
            <a:spAutoFit/>
          </a:bodyPr>
          <a:lstStyle/>
          <a:p>
            <a:pPr algn="l">
              <a:lnSpc>
                <a:spcPct val="115000"/>
              </a:lnSpc>
              <a:spcAft>
                <a:spcPts val="0"/>
              </a:spcAft>
            </a:pPr>
            <a:r>
              <a:rPr sz="900" b="0" i="0">
                <a:solidFill>
                  <a:srgbClr val="8A93A6"/>
                </a:solidFill>
                <a:latin typeface="Arial"/>
              </a:rPr>
              <a:t>AI Trip Planner  ·  ELEC5620 Stage 1  ·  Mon 10-12 Group 14</a:t>
            </a:r>
          </a:p>
        </p:txBody>
      </p:sp>
      <p:sp>
        <p:nvSpPr>
          <p:cNvPr id="7" name="TextBox 6"/>
          <p:cNvSpPr txBox="1"/>
          <p:nvPr/>
        </p:nvSpPr>
        <p:spPr>
          <a:xfrm>
            <a:off x="9814255" y="6473952"/>
            <a:ext cx="1828800" cy="228600"/>
          </a:xfrm>
          <a:prstGeom prst="rect">
            <a:avLst/>
          </a:prstGeom>
          <a:noFill/>
        </p:spPr>
        <p:txBody>
          <a:bodyPr wrap="square" lIns="0" rIns="0" tIns="0" bIns="0" anchor="t">
            <a:spAutoFit/>
          </a:bodyPr>
          <a:lstStyle/>
          <a:p>
            <a:pPr algn="r">
              <a:lnSpc>
                <a:spcPct val="115000"/>
              </a:lnSpc>
              <a:spcAft>
                <a:spcPts val="0"/>
              </a:spcAft>
            </a:pPr>
            <a:r>
              <a:rPr sz="900" b="0" i="0">
                <a:solidFill>
                  <a:srgbClr val="8A93A6"/>
                </a:solidFill>
                <a:latin typeface="Arial"/>
              </a:rPr>
              <a:t>22 / 24</a:t>
            </a:r>
          </a:p>
        </p:txBody>
      </p:sp>
      <p:sp>
        <p:nvSpPr>
          <p:cNvPr id="8" name="Rounded Rectangle 7"/>
          <p:cNvSpPr/>
          <p:nvPr/>
        </p:nvSpPr>
        <p:spPr>
          <a:xfrm>
            <a:off x="548640" y="1481328"/>
            <a:ext cx="5410047" cy="3337560"/>
          </a:xfrm>
          <a:prstGeom prst="roundRect">
            <a:avLst>
              <a:gd name="adj" fmla="val 3287"/>
            </a:avLst>
          </a:prstGeom>
          <a:solidFill>
            <a:srgbClr val="FFFFFF"/>
          </a:solidFill>
          <a:ln w="9525">
            <a:solidFill>
              <a:srgbClr val="E2E5EB"/>
            </a:solidFill>
          </a:ln>
          <a:effectLst>
            <a:outerShdw blurRad="114300" dist="25400" dir="5400000" algn="t" rotWithShape="0">
              <a:srgbClr val="14213D">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548640" y="1645920"/>
            <a:ext cx="54864" cy="3008376"/>
          </a:xfrm>
          <a:prstGeom prst="roundRect">
            <a:avLst>
              <a:gd name="adj" fmla="val 50000"/>
            </a:avLst>
          </a:prstGeom>
          <a:solidFill>
            <a:srgbClr val="2F5D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ounded Rectangle 9"/>
          <p:cNvSpPr/>
          <p:nvPr/>
        </p:nvSpPr>
        <p:spPr>
          <a:xfrm>
            <a:off x="868680" y="1755648"/>
            <a:ext cx="566928" cy="566928"/>
          </a:xfrm>
          <a:prstGeom prst="roundRect">
            <a:avLst>
              <a:gd name="adj" fmla="val 50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git-pull-request-2F5DA8.png"/>
          <p:cNvPicPr>
            <a:picLocks noChangeAspect="1"/>
          </p:cNvPicPr>
          <p:nvPr/>
        </p:nvPicPr>
        <p:blipFill>
          <a:blip r:embed="rId3"/>
          <a:stretch>
            <a:fillRect/>
          </a:stretch>
        </p:blipFill>
        <p:spPr>
          <a:xfrm>
            <a:off x="987552" y="1874520"/>
            <a:ext cx="329184" cy="329184"/>
          </a:xfrm>
          <a:prstGeom prst="rect">
            <a:avLst/>
          </a:prstGeom>
        </p:spPr>
      </p:pic>
      <p:sp>
        <p:nvSpPr>
          <p:cNvPr id="12" name="TextBox 11"/>
          <p:cNvSpPr txBox="1"/>
          <p:nvPr/>
        </p:nvSpPr>
        <p:spPr>
          <a:xfrm>
            <a:off x="1600200" y="1755648"/>
            <a:ext cx="2743200" cy="566928"/>
          </a:xfrm>
          <a:prstGeom prst="rect">
            <a:avLst/>
          </a:prstGeom>
          <a:noFill/>
        </p:spPr>
        <p:txBody>
          <a:bodyPr wrap="square" lIns="0" rIns="0" tIns="0" bIns="0" anchor="ctr">
            <a:spAutoFit/>
          </a:bodyPr>
          <a:lstStyle/>
          <a:p>
            <a:pPr algn="l">
              <a:lnSpc>
                <a:spcPct val="115000"/>
              </a:lnSpc>
              <a:spcAft>
                <a:spcPts val="0"/>
              </a:spcAft>
            </a:pPr>
            <a:r>
              <a:rPr sz="2000" b="1" i="0">
                <a:solidFill>
                  <a:srgbClr val="14213D"/>
                </a:solidFill>
                <a:latin typeface="Georgia"/>
              </a:rPr>
              <a:t>Assess</a:t>
            </a:r>
          </a:p>
        </p:txBody>
      </p:sp>
      <p:pic>
        <p:nvPicPr>
          <p:cNvPr id="13" name="Picture 12" descr="check-2F5DA8.png"/>
          <p:cNvPicPr>
            <a:picLocks noChangeAspect="1"/>
          </p:cNvPicPr>
          <p:nvPr/>
        </p:nvPicPr>
        <p:blipFill>
          <a:blip r:embed="rId4"/>
          <a:stretch>
            <a:fillRect/>
          </a:stretch>
        </p:blipFill>
        <p:spPr>
          <a:xfrm>
            <a:off x="914400" y="2569464"/>
            <a:ext cx="219456" cy="219456"/>
          </a:xfrm>
          <a:prstGeom prst="rect">
            <a:avLst/>
          </a:prstGeom>
        </p:spPr>
      </p:pic>
      <p:sp>
        <p:nvSpPr>
          <p:cNvPr id="14" name="TextBox 13"/>
          <p:cNvSpPr txBox="1"/>
          <p:nvPr/>
        </p:nvSpPr>
        <p:spPr>
          <a:xfrm>
            <a:off x="1280160" y="2532888"/>
            <a:ext cx="4404207" cy="457200"/>
          </a:xfrm>
          <a:prstGeom prst="rect">
            <a:avLst/>
          </a:prstGeom>
          <a:noFill/>
        </p:spPr>
        <p:txBody>
          <a:bodyPr wrap="square" lIns="0" rIns="0" tIns="0" bIns="0" anchor="t">
            <a:spAutoFit/>
          </a:bodyPr>
          <a:lstStyle/>
          <a:p>
            <a:pPr algn="l">
              <a:lnSpc>
                <a:spcPct val="115000"/>
              </a:lnSpc>
              <a:spcAft>
                <a:spcPts val="0"/>
              </a:spcAft>
            </a:pPr>
            <a:r>
              <a:rPr sz="1400" b="0" i="0">
                <a:solidFill>
                  <a:srgbClr val="2A3550"/>
                </a:solidFill>
                <a:latin typeface="Arial"/>
              </a:rPr>
              <a:t>Trace it to a requirement and use case</a:t>
            </a:r>
          </a:p>
        </p:txBody>
      </p:sp>
      <p:pic>
        <p:nvPicPr>
          <p:cNvPr id="15" name="Picture 14" descr="check-2F5DA8.png"/>
          <p:cNvPicPr>
            <a:picLocks noChangeAspect="1"/>
          </p:cNvPicPr>
          <p:nvPr/>
        </p:nvPicPr>
        <p:blipFill>
          <a:blip r:embed="rId4"/>
          <a:stretch>
            <a:fillRect/>
          </a:stretch>
        </p:blipFill>
        <p:spPr>
          <a:xfrm>
            <a:off x="914400" y="3081528"/>
            <a:ext cx="219456" cy="219456"/>
          </a:xfrm>
          <a:prstGeom prst="rect">
            <a:avLst/>
          </a:prstGeom>
        </p:spPr>
      </p:pic>
      <p:sp>
        <p:nvSpPr>
          <p:cNvPr id="16" name="TextBox 15"/>
          <p:cNvSpPr txBox="1"/>
          <p:nvPr/>
        </p:nvSpPr>
        <p:spPr>
          <a:xfrm>
            <a:off x="1280160" y="3044952"/>
            <a:ext cx="4404207" cy="457200"/>
          </a:xfrm>
          <a:prstGeom prst="rect">
            <a:avLst/>
          </a:prstGeom>
          <a:noFill/>
        </p:spPr>
        <p:txBody>
          <a:bodyPr wrap="square" lIns="0" rIns="0" tIns="0" bIns="0" anchor="t">
            <a:spAutoFit/>
          </a:bodyPr>
          <a:lstStyle/>
          <a:p>
            <a:pPr algn="l">
              <a:lnSpc>
                <a:spcPct val="115000"/>
              </a:lnSpc>
              <a:spcAft>
                <a:spcPts val="0"/>
              </a:spcAft>
            </a:pPr>
            <a:r>
              <a:rPr sz="1400" b="0" i="0">
                <a:solidFill>
                  <a:srgbClr val="2A3550"/>
                </a:solidFill>
                <a:latin typeface="Arial"/>
              </a:rPr>
              <a:t>Shared contract touched? Write a decision note and tell every owner</a:t>
            </a:r>
          </a:p>
        </p:txBody>
      </p:sp>
      <p:pic>
        <p:nvPicPr>
          <p:cNvPr id="17" name="Picture 16" descr="check-2F5DA8.png"/>
          <p:cNvPicPr>
            <a:picLocks noChangeAspect="1"/>
          </p:cNvPicPr>
          <p:nvPr/>
        </p:nvPicPr>
        <p:blipFill>
          <a:blip r:embed="rId4"/>
          <a:stretch>
            <a:fillRect/>
          </a:stretch>
        </p:blipFill>
        <p:spPr>
          <a:xfrm>
            <a:off x="914400" y="3813048"/>
            <a:ext cx="219456" cy="219456"/>
          </a:xfrm>
          <a:prstGeom prst="rect">
            <a:avLst/>
          </a:prstGeom>
        </p:spPr>
      </p:pic>
      <p:sp>
        <p:nvSpPr>
          <p:cNvPr id="18" name="TextBox 17"/>
          <p:cNvSpPr txBox="1"/>
          <p:nvPr/>
        </p:nvSpPr>
        <p:spPr>
          <a:xfrm>
            <a:off x="1280160" y="3776472"/>
            <a:ext cx="4404207" cy="457200"/>
          </a:xfrm>
          <a:prstGeom prst="rect">
            <a:avLst/>
          </a:prstGeom>
          <a:noFill/>
        </p:spPr>
        <p:txBody>
          <a:bodyPr wrap="square" lIns="0" rIns="0" tIns="0" bIns="0" anchor="t">
            <a:spAutoFit/>
          </a:bodyPr>
          <a:lstStyle/>
          <a:p>
            <a:pPr algn="l">
              <a:lnSpc>
                <a:spcPct val="115000"/>
              </a:lnSpc>
              <a:spcAft>
                <a:spcPts val="0"/>
              </a:spcAft>
            </a:pPr>
            <a:r>
              <a:rPr sz="1400" b="0" i="0">
                <a:solidFill>
                  <a:srgbClr val="2A3550"/>
                </a:solidFill>
                <a:latin typeface="Arial"/>
              </a:rPr>
              <a:t>Reversing a decision? Supersede it in writing</a:t>
            </a:r>
          </a:p>
        </p:txBody>
      </p:sp>
      <p:sp>
        <p:nvSpPr>
          <p:cNvPr id="19" name="Rounded Rectangle 18"/>
          <p:cNvSpPr/>
          <p:nvPr/>
        </p:nvSpPr>
        <p:spPr>
          <a:xfrm>
            <a:off x="6233007" y="1481328"/>
            <a:ext cx="5410047" cy="3337560"/>
          </a:xfrm>
          <a:prstGeom prst="roundRect">
            <a:avLst>
              <a:gd name="adj" fmla="val 3287"/>
            </a:avLst>
          </a:prstGeom>
          <a:solidFill>
            <a:srgbClr val="FFFFFF"/>
          </a:solidFill>
          <a:ln w="9525">
            <a:solidFill>
              <a:srgbClr val="E2E5EB"/>
            </a:solidFill>
          </a:ln>
          <a:effectLst>
            <a:outerShdw blurRad="114300" dist="25400" dir="5400000" algn="t" rotWithShape="0">
              <a:srgbClr val="14213D">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6233007" y="1645920"/>
            <a:ext cx="54864" cy="3008376"/>
          </a:xfrm>
          <a:prstGeom prst="roundRect">
            <a:avLst>
              <a:gd name="adj" fmla="val 50000"/>
            </a:avLst>
          </a:prstGeom>
          <a:solidFill>
            <a:srgbClr val="2F5D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6553047" y="1755648"/>
            <a:ext cx="566928" cy="566928"/>
          </a:xfrm>
          <a:prstGeom prst="roundRect">
            <a:avLst>
              <a:gd name="adj" fmla="val 50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clipboard-check-2F5DA8.png"/>
          <p:cNvPicPr>
            <a:picLocks noChangeAspect="1"/>
          </p:cNvPicPr>
          <p:nvPr/>
        </p:nvPicPr>
        <p:blipFill>
          <a:blip r:embed="rId5"/>
          <a:stretch>
            <a:fillRect/>
          </a:stretch>
        </p:blipFill>
        <p:spPr>
          <a:xfrm>
            <a:off x="6671919" y="1874520"/>
            <a:ext cx="329184" cy="329184"/>
          </a:xfrm>
          <a:prstGeom prst="rect">
            <a:avLst/>
          </a:prstGeom>
        </p:spPr>
      </p:pic>
      <p:sp>
        <p:nvSpPr>
          <p:cNvPr id="23" name="TextBox 22"/>
          <p:cNvSpPr txBox="1"/>
          <p:nvPr/>
        </p:nvSpPr>
        <p:spPr>
          <a:xfrm>
            <a:off x="7284567" y="1755648"/>
            <a:ext cx="2743200" cy="566928"/>
          </a:xfrm>
          <a:prstGeom prst="rect">
            <a:avLst/>
          </a:prstGeom>
          <a:noFill/>
        </p:spPr>
        <p:txBody>
          <a:bodyPr wrap="square" lIns="0" rIns="0" tIns="0" bIns="0" anchor="ctr">
            <a:spAutoFit/>
          </a:bodyPr>
          <a:lstStyle/>
          <a:p>
            <a:pPr algn="l">
              <a:lnSpc>
                <a:spcPct val="115000"/>
              </a:lnSpc>
              <a:spcAft>
                <a:spcPts val="0"/>
              </a:spcAft>
            </a:pPr>
            <a:r>
              <a:rPr sz="2000" b="1" i="0">
                <a:solidFill>
                  <a:srgbClr val="14213D"/>
                </a:solidFill>
                <a:latin typeface="Georgia"/>
              </a:rPr>
              <a:t>Accept</a:t>
            </a:r>
          </a:p>
        </p:txBody>
      </p:sp>
      <p:pic>
        <p:nvPicPr>
          <p:cNvPr id="24" name="Picture 23" descr="check-2F5DA8.png"/>
          <p:cNvPicPr>
            <a:picLocks noChangeAspect="1"/>
          </p:cNvPicPr>
          <p:nvPr/>
        </p:nvPicPr>
        <p:blipFill>
          <a:blip r:embed="rId4"/>
          <a:stretch>
            <a:fillRect/>
          </a:stretch>
        </p:blipFill>
        <p:spPr>
          <a:xfrm>
            <a:off x="6598767" y="2569464"/>
            <a:ext cx="219456" cy="219456"/>
          </a:xfrm>
          <a:prstGeom prst="rect">
            <a:avLst/>
          </a:prstGeom>
        </p:spPr>
      </p:pic>
      <p:sp>
        <p:nvSpPr>
          <p:cNvPr id="25" name="TextBox 24"/>
          <p:cNvSpPr txBox="1"/>
          <p:nvPr/>
        </p:nvSpPr>
        <p:spPr>
          <a:xfrm>
            <a:off x="6964527" y="2532888"/>
            <a:ext cx="4404207" cy="457200"/>
          </a:xfrm>
          <a:prstGeom prst="rect">
            <a:avLst/>
          </a:prstGeom>
          <a:noFill/>
        </p:spPr>
        <p:txBody>
          <a:bodyPr wrap="square" lIns="0" rIns="0" tIns="0" bIns="0" anchor="t">
            <a:spAutoFit/>
          </a:bodyPr>
          <a:lstStyle/>
          <a:p>
            <a:pPr algn="l">
              <a:lnSpc>
                <a:spcPct val="115000"/>
              </a:lnSpc>
              <a:spcAft>
                <a:spcPts val="0"/>
              </a:spcAft>
            </a:pPr>
            <a:r>
              <a:rPr sz="1400" b="0" i="0">
                <a:solidFill>
                  <a:srgbClr val="2A3550"/>
                </a:solidFill>
                <a:latin typeface="Arial"/>
              </a:rPr>
              <a:t>CI green: types, lint, tests, build, docs</a:t>
            </a:r>
          </a:p>
        </p:txBody>
      </p:sp>
      <p:pic>
        <p:nvPicPr>
          <p:cNvPr id="26" name="Picture 25" descr="check-2F5DA8.png"/>
          <p:cNvPicPr>
            <a:picLocks noChangeAspect="1"/>
          </p:cNvPicPr>
          <p:nvPr/>
        </p:nvPicPr>
        <p:blipFill>
          <a:blip r:embed="rId4"/>
          <a:stretch>
            <a:fillRect/>
          </a:stretch>
        </p:blipFill>
        <p:spPr>
          <a:xfrm>
            <a:off x="6598767" y="3081528"/>
            <a:ext cx="219456" cy="219456"/>
          </a:xfrm>
          <a:prstGeom prst="rect">
            <a:avLst/>
          </a:prstGeom>
        </p:spPr>
      </p:pic>
      <p:sp>
        <p:nvSpPr>
          <p:cNvPr id="27" name="TextBox 26"/>
          <p:cNvSpPr txBox="1"/>
          <p:nvPr/>
        </p:nvSpPr>
        <p:spPr>
          <a:xfrm>
            <a:off x="6964527" y="3044952"/>
            <a:ext cx="4404207" cy="457200"/>
          </a:xfrm>
          <a:prstGeom prst="rect">
            <a:avLst/>
          </a:prstGeom>
          <a:noFill/>
        </p:spPr>
        <p:txBody>
          <a:bodyPr wrap="square" lIns="0" rIns="0" tIns="0" bIns="0" anchor="t">
            <a:spAutoFit/>
          </a:bodyPr>
          <a:lstStyle/>
          <a:p>
            <a:pPr algn="l">
              <a:lnSpc>
                <a:spcPct val="115000"/>
              </a:lnSpc>
              <a:spcAft>
                <a:spcPts val="0"/>
              </a:spcAft>
            </a:pPr>
            <a:r>
              <a:rPr sz="1400" b="0" i="0">
                <a:solidFill>
                  <a:srgbClr val="2A3550"/>
                </a:solidFill>
                <a:latin typeface="Arial"/>
              </a:rPr>
              <a:t>End-to-end test leaves a repeatable artifact</a:t>
            </a:r>
          </a:p>
        </p:txBody>
      </p:sp>
      <p:pic>
        <p:nvPicPr>
          <p:cNvPr id="28" name="Picture 27" descr="check-2F5DA8.png"/>
          <p:cNvPicPr>
            <a:picLocks noChangeAspect="1"/>
          </p:cNvPicPr>
          <p:nvPr/>
        </p:nvPicPr>
        <p:blipFill>
          <a:blip r:embed="rId4"/>
          <a:stretch>
            <a:fillRect/>
          </a:stretch>
        </p:blipFill>
        <p:spPr>
          <a:xfrm>
            <a:off x="6598767" y="3593592"/>
            <a:ext cx="219456" cy="219456"/>
          </a:xfrm>
          <a:prstGeom prst="rect">
            <a:avLst/>
          </a:prstGeom>
        </p:spPr>
      </p:pic>
      <p:sp>
        <p:nvSpPr>
          <p:cNvPr id="29" name="TextBox 28"/>
          <p:cNvSpPr txBox="1"/>
          <p:nvPr/>
        </p:nvSpPr>
        <p:spPr>
          <a:xfrm>
            <a:off x="6964527" y="3557016"/>
            <a:ext cx="4404207" cy="457200"/>
          </a:xfrm>
          <a:prstGeom prst="rect">
            <a:avLst/>
          </a:prstGeom>
          <a:noFill/>
        </p:spPr>
        <p:txBody>
          <a:bodyPr wrap="square" lIns="0" rIns="0" tIns="0" bIns="0" anchor="t">
            <a:spAutoFit/>
          </a:bodyPr>
          <a:lstStyle/>
          <a:p>
            <a:pPr algn="l">
              <a:lnSpc>
                <a:spcPct val="115000"/>
              </a:lnSpc>
              <a:spcAft>
                <a:spcPts val="0"/>
              </a:spcAft>
            </a:pPr>
            <a:r>
              <a:rPr sz="1400" b="0" i="0">
                <a:solidFill>
                  <a:srgbClr val="2A3550"/>
                </a:solidFill>
                <a:latin typeface="Arial"/>
              </a:rPr>
              <a:t>Use case postconditions still hold</a:t>
            </a:r>
          </a:p>
        </p:txBody>
      </p:sp>
      <p:pic>
        <p:nvPicPr>
          <p:cNvPr id="30" name="Picture 29" descr="check-2F5DA8.png"/>
          <p:cNvPicPr>
            <a:picLocks noChangeAspect="1"/>
          </p:cNvPicPr>
          <p:nvPr/>
        </p:nvPicPr>
        <p:blipFill>
          <a:blip r:embed="rId4"/>
          <a:stretch>
            <a:fillRect/>
          </a:stretch>
        </p:blipFill>
        <p:spPr>
          <a:xfrm>
            <a:off x="6598767" y="4105656"/>
            <a:ext cx="219456" cy="219456"/>
          </a:xfrm>
          <a:prstGeom prst="rect">
            <a:avLst/>
          </a:prstGeom>
        </p:spPr>
      </p:pic>
      <p:sp>
        <p:nvSpPr>
          <p:cNvPr id="31" name="TextBox 30"/>
          <p:cNvSpPr txBox="1"/>
          <p:nvPr/>
        </p:nvSpPr>
        <p:spPr>
          <a:xfrm>
            <a:off x="6964527" y="4069080"/>
            <a:ext cx="4404207" cy="457200"/>
          </a:xfrm>
          <a:prstGeom prst="rect">
            <a:avLst/>
          </a:prstGeom>
          <a:noFill/>
        </p:spPr>
        <p:txBody>
          <a:bodyPr wrap="square" lIns="0" rIns="0" tIns="0" bIns="0" anchor="t">
            <a:spAutoFit/>
          </a:bodyPr>
          <a:lstStyle/>
          <a:p>
            <a:pPr algn="l">
              <a:lnSpc>
                <a:spcPct val="115000"/>
              </a:lnSpc>
              <a:spcAft>
                <a:spcPts val="0"/>
              </a:spcAft>
            </a:pPr>
            <a:r>
              <a:rPr sz="1400" b="0" i="0">
                <a:solidFill>
                  <a:srgbClr val="2A3550"/>
                </a:solidFill>
                <a:latin typeface="Arial"/>
              </a:rPr>
              <a:t>Docs and models updated in the same pull request</a:t>
            </a:r>
          </a:p>
        </p:txBody>
      </p:sp>
      <p:sp>
        <p:nvSpPr>
          <p:cNvPr id="32" name="Rounded Rectangle 31"/>
          <p:cNvSpPr/>
          <p:nvPr/>
        </p:nvSpPr>
        <p:spPr>
          <a:xfrm>
            <a:off x="548640" y="5047488"/>
            <a:ext cx="11094415" cy="1188720"/>
          </a:xfrm>
          <a:prstGeom prst="roundRect">
            <a:avLst>
              <a:gd name="adj" fmla="val 9230"/>
            </a:avLst>
          </a:prstGeom>
          <a:solidFill>
            <a:srgbClr val="14213D"/>
          </a:solidFill>
          <a:ln>
            <a:noFill/>
          </a:ln>
          <a:effectLst>
            <a:outerShdw blurRad="114300" dist="25400" dir="5400000" algn="t" rotWithShape="0">
              <a:srgbClr val="14213D">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68680" y="5212079"/>
            <a:ext cx="3657600" cy="274320"/>
          </a:xfrm>
          <a:prstGeom prst="rect">
            <a:avLst/>
          </a:prstGeom>
          <a:noFill/>
        </p:spPr>
        <p:txBody>
          <a:bodyPr wrap="square" lIns="0" rIns="0" tIns="0" bIns="0" anchor="t">
            <a:spAutoFit/>
          </a:bodyPr>
          <a:lstStyle/>
          <a:p>
            <a:pPr algn="l">
              <a:lnSpc>
                <a:spcPct val="115000"/>
              </a:lnSpc>
              <a:spcAft>
                <a:spcPts val="0"/>
              </a:spcAft>
            </a:pPr>
            <a:r>
              <a:rPr sz="1100" b="1" i="0">
                <a:solidFill>
                  <a:srgbClr val="F2A65A"/>
                </a:solidFill>
                <a:latin typeface="Arial"/>
              </a:rPr>
              <a:t>KEY ASSUMPTIONS</a:t>
            </a:r>
          </a:p>
        </p:txBody>
      </p:sp>
      <p:sp>
        <p:nvSpPr>
          <p:cNvPr id="34" name="Rounded Rectangle 33"/>
          <p:cNvSpPr/>
          <p:nvPr/>
        </p:nvSpPr>
        <p:spPr>
          <a:xfrm>
            <a:off x="868680" y="5614416"/>
            <a:ext cx="2097084" cy="365760"/>
          </a:xfrm>
          <a:prstGeom prst="roundRect">
            <a:avLst>
              <a:gd name="adj" fmla="val 50000"/>
            </a:avLst>
          </a:prstGeom>
          <a:solidFill>
            <a:srgbClr val="243457"/>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150" b="0">
                <a:solidFill>
                  <a:srgbClr val="FFFFFF"/>
                </a:solidFill>
                <a:latin typeface="Arial"/>
              </a:rPr>
              <a:t>One traveller per trip</a:t>
            </a:r>
          </a:p>
        </p:txBody>
      </p:sp>
      <p:sp>
        <p:nvSpPr>
          <p:cNvPr id="35" name="Rounded Rectangle 34"/>
          <p:cNvSpPr/>
          <p:nvPr/>
        </p:nvSpPr>
        <p:spPr>
          <a:xfrm>
            <a:off x="3075492" y="5614416"/>
            <a:ext cx="1440911" cy="365760"/>
          </a:xfrm>
          <a:prstGeom prst="roundRect">
            <a:avLst>
              <a:gd name="adj" fmla="val 50000"/>
            </a:avLst>
          </a:prstGeom>
          <a:solidFill>
            <a:srgbClr val="243457"/>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150" b="0">
                <a:solidFill>
                  <a:srgbClr val="FFFFFF"/>
                </a:solidFill>
                <a:latin typeface="Arial"/>
              </a:rPr>
              <a:t>AUD everywhere</a:t>
            </a:r>
          </a:p>
        </p:txBody>
      </p:sp>
      <p:sp>
        <p:nvSpPr>
          <p:cNvPr id="36" name="Rounded Rectangle 35"/>
          <p:cNvSpPr/>
          <p:nvPr/>
        </p:nvSpPr>
        <p:spPr>
          <a:xfrm>
            <a:off x="4626132" y="5614416"/>
            <a:ext cx="2179106" cy="365760"/>
          </a:xfrm>
          <a:prstGeom prst="roundRect">
            <a:avLst>
              <a:gd name="adj" fmla="val 50000"/>
            </a:avLst>
          </a:prstGeom>
          <a:solidFill>
            <a:srgbClr val="243457"/>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150" b="0">
                <a:solidFill>
                  <a:srgbClr val="FFFFFF"/>
                </a:solidFill>
                <a:latin typeface="Arial"/>
              </a:rPr>
              <a:t>Estimates, not bookings</a:t>
            </a:r>
          </a:p>
        </p:txBody>
      </p:sp>
      <p:sp>
        <p:nvSpPr>
          <p:cNvPr id="37" name="Rounded Rectangle 36"/>
          <p:cNvSpPr/>
          <p:nvPr/>
        </p:nvSpPr>
        <p:spPr>
          <a:xfrm>
            <a:off x="6914967" y="5614416"/>
            <a:ext cx="1768998" cy="365760"/>
          </a:xfrm>
          <a:prstGeom prst="roundRect">
            <a:avLst>
              <a:gd name="adj" fmla="val 50000"/>
            </a:avLst>
          </a:prstGeom>
          <a:solidFill>
            <a:srgbClr val="243457"/>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150" b="0">
                <a:solidFill>
                  <a:srgbClr val="FFFFFF"/>
                </a:solidFill>
                <a:latin typeface="Arial"/>
              </a:rPr>
              <a:t>Flights paid first</a:t>
            </a:r>
          </a:p>
        </p:txBody>
      </p:sp>
      <p:sp>
        <p:nvSpPr>
          <p:cNvPr id="38" name="Rounded Rectangle 37"/>
          <p:cNvSpPr/>
          <p:nvPr/>
        </p:nvSpPr>
        <p:spPr>
          <a:xfrm>
            <a:off x="8793693" y="5614416"/>
            <a:ext cx="2671236" cy="365760"/>
          </a:xfrm>
          <a:prstGeom prst="roundRect">
            <a:avLst>
              <a:gd name="adj" fmla="val 50000"/>
            </a:avLst>
          </a:prstGeom>
          <a:solidFill>
            <a:srgbClr val="243457"/>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150" b="0">
                <a:solidFill>
                  <a:srgbClr val="FFFFFF"/>
                </a:solidFill>
                <a:latin typeface="Arial"/>
              </a:rPr>
              <a:t>Models and providers can fail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7F6F1"/>
        </a:solidFill>
        <a:effectLst/>
      </p:bgPr>
    </p:bg>
    <p:spTree>
      <p:nvGrpSpPr>
        <p:cNvPr id="1" name=""/>
        <p:cNvGrpSpPr/>
        <p:nvPr/>
      </p:nvGrpSpPr>
      <p:grpSpPr/>
      <p:sp>
        <p:nvSpPr>
          <p:cNvPr id="2" name="Rectangle 1"/>
          <p:cNvSpPr/>
          <p:nvPr/>
        </p:nvSpPr>
        <p:spPr>
          <a:xfrm>
            <a:off x="0" y="0"/>
            <a:ext cx="100584" cy="6858000"/>
          </a:xfrm>
          <a:prstGeom prst="rect">
            <a:avLst/>
          </a:prstGeom>
          <a:solidFill>
            <a:srgbClr val="C25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47472"/>
            <a:ext cx="5943600" cy="274320"/>
          </a:xfrm>
          <a:prstGeom prst="rect">
            <a:avLst/>
          </a:prstGeom>
          <a:noFill/>
        </p:spPr>
        <p:txBody>
          <a:bodyPr wrap="square" lIns="0" rIns="0" tIns="0" bIns="0" anchor="ctr">
            <a:spAutoFit/>
          </a:bodyPr>
          <a:lstStyle/>
          <a:p>
            <a:pPr algn="l">
              <a:lnSpc>
                <a:spcPct val="115000"/>
              </a:lnSpc>
              <a:spcAft>
                <a:spcPts val="0"/>
              </a:spcAft>
            </a:pPr>
            <a:r>
              <a:rPr sz="1000" b="1" i="0">
                <a:solidFill>
                  <a:srgbClr val="C2571A"/>
                </a:solidFill>
                <a:latin typeface="Arial"/>
              </a:rPr>
              <a:t>INDIVIDUAL BEHAVIOUR MODELS · UC-E1</a:t>
            </a:r>
          </a:p>
        </p:txBody>
      </p:sp>
      <p:sp>
        <p:nvSpPr>
          <p:cNvPr id="4" name="TextBox 3"/>
          <p:cNvSpPr txBox="1"/>
          <p:nvPr/>
        </p:nvSpPr>
        <p:spPr>
          <a:xfrm>
            <a:off x="548640" y="731520"/>
            <a:ext cx="11094415" cy="566928"/>
          </a:xfrm>
          <a:prstGeom prst="rect">
            <a:avLst/>
          </a:prstGeom>
          <a:noFill/>
        </p:spPr>
        <p:txBody>
          <a:bodyPr wrap="square" lIns="0" rIns="0" tIns="0" bIns="0" anchor="ctr">
            <a:spAutoFit/>
          </a:bodyPr>
          <a:lstStyle/>
          <a:p>
            <a:pPr algn="l">
              <a:lnSpc>
                <a:spcPct val="115000"/>
              </a:lnSpc>
              <a:spcAft>
                <a:spcPts val="0"/>
              </a:spcAft>
            </a:pPr>
            <a:r>
              <a:rPr sz="2600" b="1" i="0">
                <a:solidFill>
                  <a:srgbClr val="14213D"/>
                </a:solidFill>
                <a:latin typeface="Georgia"/>
              </a:rPr>
              <a:t>Edits are previewed and checked before they apply</a:t>
            </a:r>
          </a:p>
        </p:txBody>
      </p:sp>
      <p:sp>
        <p:nvSpPr>
          <p:cNvPr id="5" name="Rectangle 4"/>
          <p:cNvSpPr/>
          <p:nvPr/>
        </p:nvSpPr>
        <p:spPr>
          <a:xfrm>
            <a:off x="548640" y="6400800"/>
            <a:ext cx="11094415" cy="10972"/>
          </a:xfrm>
          <a:prstGeom prst="rect">
            <a:avLst/>
          </a:prstGeom>
          <a:solidFill>
            <a:srgbClr val="DDDA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48640" y="6473952"/>
            <a:ext cx="7315200" cy="228600"/>
          </a:xfrm>
          <a:prstGeom prst="rect">
            <a:avLst/>
          </a:prstGeom>
          <a:noFill/>
        </p:spPr>
        <p:txBody>
          <a:bodyPr wrap="square" lIns="0" rIns="0" tIns="0" bIns="0" anchor="t">
            <a:spAutoFit/>
          </a:bodyPr>
          <a:lstStyle/>
          <a:p>
            <a:pPr algn="l">
              <a:lnSpc>
                <a:spcPct val="115000"/>
              </a:lnSpc>
              <a:spcAft>
                <a:spcPts val="0"/>
              </a:spcAft>
            </a:pPr>
            <a:r>
              <a:rPr sz="900" b="0" i="0">
                <a:solidFill>
                  <a:srgbClr val="8A93A6"/>
                </a:solidFill>
                <a:latin typeface="Arial"/>
              </a:rPr>
              <a:t>AI Trip Planner  ·  ELEC5620 Stage 1  ·  Mon 10-12 Group 14</a:t>
            </a:r>
          </a:p>
        </p:txBody>
      </p:sp>
      <p:sp>
        <p:nvSpPr>
          <p:cNvPr id="7" name="TextBox 6"/>
          <p:cNvSpPr txBox="1"/>
          <p:nvPr/>
        </p:nvSpPr>
        <p:spPr>
          <a:xfrm>
            <a:off x="9814255" y="6473952"/>
            <a:ext cx="1828800" cy="228600"/>
          </a:xfrm>
          <a:prstGeom prst="rect">
            <a:avLst/>
          </a:prstGeom>
          <a:noFill/>
        </p:spPr>
        <p:txBody>
          <a:bodyPr wrap="square" lIns="0" rIns="0" tIns="0" bIns="0" anchor="t">
            <a:spAutoFit/>
          </a:bodyPr>
          <a:lstStyle/>
          <a:p>
            <a:pPr algn="r">
              <a:lnSpc>
                <a:spcPct val="115000"/>
              </a:lnSpc>
              <a:spcAft>
                <a:spcPts val="0"/>
              </a:spcAft>
            </a:pPr>
            <a:r>
              <a:rPr sz="900" b="0" i="0">
                <a:solidFill>
                  <a:srgbClr val="8A93A6"/>
                </a:solidFill>
                <a:latin typeface="Arial"/>
              </a:rPr>
              <a:t>23 / 24</a:t>
            </a:r>
          </a:p>
        </p:txBody>
      </p:sp>
      <p:sp>
        <p:nvSpPr>
          <p:cNvPr id="8" name="Rounded Rectangle 7"/>
          <p:cNvSpPr/>
          <p:nvPr/>
        </p:nvSpPr>
        <p:spPr>
          <a:xfrm>
            <a:off x="548640" y="1481328"/>
            <a:ext cx="11094415" cy="566928"/>
          </a:xfrm>
          <a:prstGeom prst="roundRect">
            <a:avLst>
              <a:gd name="adj" fmla="val 19354"/>
            </a:avLst>
          </a:prstGeom>
          <a:solidFill>
            <a:srgbClr val="FFFFFF"/>
          </a:solidFill>
          <a:ln w="9525">
            <a:solidFill>
              <a:srgbClr val="E2E5EB"/>
            </a:solidFill>
          </a:ln>
          <a:effectLst>
            <a:outerShdw blurRad="114300" dist="25400" dir="5400000" algn="t" rotWithShape="0">
              <a:srgbClr val="14213D">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548640" y="1645920"/>
            <a:ext cx="54864" cy="237744"/>
          </a:xfrm>
          <a:prstGeom prst="roundRect">
            <a:avLst>
              <a:gd name="adj" fmla="val 50000"/>
            </a:avLst>
          </a:prstGeom>
          <a:solidFill>
            <a:srgbClr val="2F5D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22959" y="1572768"/>
            <a:ext cx="10637215" cy="384048"/>
          </a:xfrm>
          <a:prstGeom prst="rect">
            <a:avLst/>
          </a:prstGeom>
          <a:noFill/>
        </p:spPr>
        <p:txBody>
          <a:bodyPr wrap="square" lIns="0" rIns="0" tIns="0" bIns="0" anchor="ctr">
            <a:spAutoFit/>
          </a:bodyPr>
          <a:lstStyle/>
          <a:p>
            <a:pPr algn="l">
              <a:lnSpc>
                <a:spcPct val="115000"/>
              </a:lnSpc>
              <a:spcAft>
                <a:spcPts val="0"/>
              </a:spcAft>
            </a:pPr>
            <a:r>
              <a:rPr sz="1200" b="1" i="0">
                <a:solidFill>
                  <a:srgbClr val="2F5DA8"/>
                </a:solidFill>
                <a:latin typeface="Arial"/>
              </a:rPr>
              <a:t>Ad hoc requirement  </a:t>
            </a:r>
            <a:r>
              <a:rPr sz="1200" b="0" i="0">
                <a:solidFill>
                  <a:srgbClr val="2A3550"/>
                </a:solidFill>
                <a:latin typeface="Arial"/>
              </a:rPr>
              <a:t>AH-E1: change my trip in the timeline or map; check conflicts, routes and budget</a:t>
            </a:r>
            <a:r>
              <a:rPr sz="1200" b="1" i="0">
                <a:solidFill>
                  <a:srgbClr val="2F5DA8"/>
                </a:solidFill>
                <a:latin typeface="Arial"/>
              </a:rPr>
              <a:t>      Use case  </a:t>
            </a:r>
            <a:r>
              <a:rPr sz="1200" b="0" i="0">
                <a:solidFill>
                  <a:srgbClr val="2A3550"/>
                </a:solidFill>
                <a:latin typeface="Arial"/>
              </a:rPr>
              <a:t>UC-E1 Edit Itinerary (Timeline / Map)</a:t>
            </a:r>
          </a:p>
        </p:txBody>
      </p:sp>
      <p:sp>
        <p:nvSpPr>
          <p:cNvPr id="11" name="TextBox 10"/>
          <p:cNvSpPr txBox="1"/>
          <p:nvPr/>
        </p:nvSpPr>
        <p:spPr>
          <a:xfrm>
            <a:off x="548640" y="2231136"/>
            <a:ext cx="3576218" cy="274320"/>
          </a:xfrm>
          <a:prstGeom prst="rect">
            <a:avLst/>
          </a:prstGeom>
          <a:noFill/>
        </p:spPr>
        <p:txBody>
          <a:bodyPr wrap="square" lIns="0" rIns="0" tIns="0" bIns="0" anchor="t">
            <a:spAutoFit/>
          </a:bodyPr>
          <a:lstStyle/>
          <a:p>
            <a:pPr algn="l">
              <a:lnSpc>
                <a:spcPct val="115000"/>
              </a:lnSpc>
              <a:spcAft>
                <a:spcPts val="0"/>
              </a:spcAft>
            </a:pPr>
            <a:r>
              <a:rPr sz="1100" b="1" i="0">
                <a:solidFill>
                  <a:srgbClr val="5A6478"/>
                </a:solidFill>
                <a:latin typeface="Arial"/>
              </a:rPr>
              <a:t>ACTIVITY</a:t>
            </a:r>
          </a:p>
        </p:txBody>
      </p:sp>
      <p:sp>
        <p:nvSpPr>
          <p:cNvPr id="12" name="Rounded Rectangle 11"/>
          <p:cNvSpPr/>
          <p:nvPr/>
        </p:nvSpPr>
        <p:spPr>
          <a:xfrm>
            <a:off x="548640" y="2551176"/>
            <a:ext cx="3576218" cy="3685032"/>
          </a:xfrm>
          <a:prstGeom prst="roundRect">
            <a:avLst>
              <a:gd name="adj" fmla="val 3068"/>
            </a:avLst>
          </a:prstGeom>
          <a:solidFill>
            <a:srgbClr val="FFFFFF"/>
          </a:solidFill>
          <a:ln w="9525">
            <a:solidFill>
              <a:srgbClr val="E2E5EB"/>
            </a:solidFill>
          </a:ln>
          <a:effectLst>
            <a:outerShdw blurRad="114300" dist="25400" dir="5400000" algn="t" rotWithShape="0">
              <a:srgbClr val="14213D">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e-activity.png"/>
          <p:cNvPicPr>
            <a:picLocks noChangeAspect="1"/>
          </p:cNvPicPr>
          <p:nvPr/>
        </p:nvPicPr>
        <p:blipFill>
          <a:blip r:embed="rId3"/>
          <a:stretch>
            <a:fillRect/>
          </a:stretch>
        </p:blipFill>
        <p:spPr>
          <a:xfrm>
            <a:off x="676656" y="3282468"/>
            <a:ext cx="3320186" cy="2222446"/>
          </a:xfrm>
          <a:prstGeom prst="rect">
            <a:avLst/>
          </a:prstGeom>
        </p:spPr>
      </p:pic>
      <p:sp>
        <p:nvSpPr>
          <p:cNvPr id="14" name="TextBox 13"/>
          <p:cNvSpPr txBox="1"/>
          <p:nvPr/>
        </p:nvSpPr>
        <p:spPr>
          <a:xfrm>
            <a:off x="4307738" y="2231136"/>
            <a:ext cx="3576218" cy="274320"/>
          </a:xfrm>
          <a:prstGeom prst="rect">
            <a:avLst/>
          </a:prstGeom>
          <a:noFill/>
        </p:spPr>
        <p:txBody>
          <a:bodyPr wrap="square" lIns="0" rIns="0" tIns="0" bIns="0" anchor="t">
            <a:spAutoFit/>
          </a:bodyPr>
          <a:lstStyle/>
          <a:p>
            <a:pPr algn="l">
              <a:lnSpc>
                <a:spcPct val="115000"/>
              </a:lnSpc>
              <a:spcAft>
                <a:spcPts val="0"/>
              </a:spcAft>
            </a:pPr>
            <a:r>
              <a:rPr sz="1100" b="1" i="0">
                <a:solidFill>
                  <a:srgbClr val="5A6478"/>
                </a:solidFill>
                <a:latin typeface="Arial"/>
              </a:rPr>
              <a:t>SEQUENCE</a:t>
            </a:r>
          </a:p>
        </p:txBody>
      </p:sp>
      <p:sp>
        <p:nvSpPr>
          <p:cNvPr id="15" name="Rounded Rectangle 14"/>
          <p:cNvSpPr/>
          <p:nvPr/>
        </p:nvSpPr>
        <p:spPr>
          <a:xfrm>
            <a:off x="4307738" y="2551176"/>
            <a:ext cx="3576218" cy="3685032"/>
          </a:xfrm>
          <a:prstGeom prst="roundRect">
            <a:avLst>
              <a:gd name="adj" fmla="val 3068"/>
            </a:avLst>
          </a:prstGeom>
          <a:solidFill>
            <a:srgbClr val="FFFFFF"/>
          </a:solidFill>
          <a:ln w="9525">
            <a:solidFill>
              <a:srgbClr val="E2E5EB"/>
            </a:solidFill>
          </a:ln>
          <a:effectLst>
            <a:outerShdw blurRad="114300" dist="25400" dir="5400000" algn="t" rotWithShape="0">
              <a:srgbClr val="14213D">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e-sequence.png"/>
          <p:cNvPicPr>
            <a:picLocks noChangeAspect="1"/>
          </p:cNvPicPr>
          <p:nvPr/>
        </p:nvPicPr>
        <p:blipFill>
          <a:blip r:embed="rId4"/>
          <a:stretch>
            <a:fillRect/>
          </a:stretch>
        </p:blipFill>
        <p:spPr>
          <a:xfrm>
            <a:off x="4435754" y="3234074"/>
            <a:ext cx="3320186" cy="2319234"/>
          </a:xfrm>
          <a:prstGeom prst="rect">
            <a:avLst/>
          </a:prstGeom>
        </p:spPr>
      </p:pic>
      <p:sp>
        <p:nvSpPr>
          <p:cNvPr id="17" name="TextBox 16"/>
          <p:cNvSpPr txBox="1"/>
          <p:nvPr/>
        </p:nvSpPr>
        <p:spPr>
          <a:xfrm>
            <a:off x="8066836" y="2231136"/>
            <a:ext cx="3576218" cy="274320"/>
          </a:xfrm>
          <a:prstGeom prst="rect">
            <a:avLst/>
          </a:prstGeom>
          <a:noFill/>
        </p:spPr>
        <p:txBody>
          <a:bodyPr wrap="square" lIns="0" rIns="0" tIns="0" bIns="0" anchor="t">
            <a:spAutoFit/>
          </a:bodyPr>
          <a:lstStyle/>
          <a:p>
            <a:pPr algn="l">
              <a:lnSpc>
                <a:spcPct val="115000"/>
              </a:lnSpc>
              <a:spcAft>
                <a:spcPts val="0"/>
              </a:spcAft>
            </a:pPr>
            <a:r>
              <a:rPr sz="1100" b="1" i="0">
                <a:solidFill>
                  <a:srgbClr val="5A6478"/>
                </a:solidFill>
                <a:latin typeface="Arial"/>
              </a:rPr>
              <a:t>STATE MACHINE</a:t>
            </a:r>
          </a:p>
        </p:txBody>
      </p:sp>
      <p:sp>
        <p:nvSpPr>
          <p:cNvPr id="18" name="Rounded Rectangle 17"/>
          <p:cNvSpPr/>
          <p:nvPr/>
        </p:nvSpPr>
        <p:spPr>
          <a:xfrm>
            <a:off x="8066836" y="2551176"/>
            <a:ext cx="3576218" cy="3685032"/>
          </a:xfrm>
          <a:prstGeom prst="roundRect">
            <a:avLst>
              <a:gd name="adj" fmla="val 3068"/>
            </a:avLst>
          </a:prstGeom>
          <a:solidFill>
            <a:srgbClr val="FFFFFF"/>
          </a:solidFill>
          <a:ln w="9525">
            <a:solidFill>
              <a:srgbClr val="E2E5EB"/>
            </a:solidFill>
          </a:ln>
          <a:effectLst>
            <a:outerShdw blurRad="114300" dist="25400" dir="5400000" algn="t" rotWithShape="0">
              <a:srgbClr val="14213D">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e-state.png"/>
          <p:cNvPicPr>
            <a:picLocks noChangeAspect="1"/>
          </p:cNvPicPr>
          <p:nvPr/>
        </p:nvPicPr>
        <p:blipFill>
          <a:blip r:embed="rId5"/>
          <a:stretch>
            <a:fillRect/>
          </a:stretch>
        </p:blipFill>
        <p:spPr>
          <a:xfrm>
            <a:off x="8194852" y="3480879"/>
            <a:ext cx="3320186" cy="1825625"/>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4213D"/>
        </a:solidFill>
        <a:effectLst/>
      </p:bgPr>
    </p:bg>
    <p:spTree>
      <p:nvGrpSpPr>
        <p:cNvPr id="1" name=""/>
        <p:cNvGrpSpPr/>
        <p:nvPr/>
      </p:nvGrpSpPr>
      <p:grpSpPr/>
      <p:sp>
        <p:nvSpPr>
          <p:cNvPr id="2" name="TextBox 1"/>
          <p:cNvSpPr txBox="1"/>
          <p:nvPr/>
        </p:nvSpPr>
        <p:spPr>
          <a:xfrm>
            <a:off x="822960" y="1188720"/>
            <a:ext cx="5486400" cy="274320"/>
          </a:xfrm>
          <a:prstGeom prst="rect">
            <a:avLst/>
          </a:prstGeom>
          <a:noFill/>
        </p:spPr>
        <p:txBody>
          <a:bodyPr wrap="square" lIns="0" rIns="0" tIns="0" bIns="0" anchor="t">
            <a:spAutoFit/>
          </a:bodyPr>
          <a:lstStyle/>
          <a:p>
            <a:pPr algn="l">
              <a:lnSpc>
                <a:spcPct val="115000"/>
              </a:lnSpc>
              <a:spcAft>
                <a:spcPts val="0"/>
              </a:spcAft>
            </a:pPr>
            <a:r>
              <a:rPr sz="1200" b="1" i="0">
                <a:solidFill>
                  <a:srgbClr val="F2A65A"/>
                </a:solidFill>
                <a:latin typeface="Arial"/>
              </a:rPr>
              <a:t>SUMMARY</a:t>
            </a:r>
          </a:p>
        </p:txBody>
      </p:sp>
      <p:sp>
        <p:nvSpPr>
          <p:cNvPr id="3" name="TextBox 2"/>
          <p:cNvSpPr txBox="1"/>
          <p:nvPr/>
        </p:nvSpPr>
        <p:spPr>
          <a:xfrm>
            <a:off x="822960" y="1691640"/>
            <a:ext cx="10058400" cy="822960"/>
          </a:xfrm>
          <a:prstGeom prst="rect">
            <a:avLst/>
          </a:prstGeom>
          <a:noFill/>
        </p:spPr>
        <p:txBody>
          <a:bodyPr wrap="square" lIns="0" rIns="0" tIns="0" bIns="0" anchor="t">
            <a:spAutoFit/>
          </a:bodyPr>
          <a:lstStyle/>
          <a:p>
            <a:pPr algn="l">
              <a:lnSpc>
                <a:spcPct val="115000"/>
              </a:lnSpc>
              <a:spcAft>
                <a:spcPts val="0"/>
              </a:spcAft>
            </a:pPr>
            <a:r>
              <a:rPr sz="4800" b="1" i="0">
                <a:solidFill>
                  <a:srgbClr val="F2A65A"/>
                </a:solidFill>
                <a:latin typeface="Georgia"/>
              </a:rPr>
              <a:t>Models</a:t>
            </a:r>
            <a:r>
              <a:rPr sz="4800" b="1" i="0">
                <a:solidFill>
                  <a:srgbClr val="FFFFFF"/>
                </a:solidFill>
                <a:latin typeface="Georgia"/>
              </a:rPr>
              <a:t> choose.</a:t>
            </a:r>
          </a:p>
        </p:txBody>
      </p:sp>
      <p:sp>
        <p:nvSpPr>
          <p:cNvPr id="4" name="TextBox 3"/>
          <p:cNvSpPr txBox="1"/>
          <p:nvPr/>
        </p:nvSpPr>
        <p:spPr>
          <a:xfrm>
            <a:off x="822960" y="2560320"/>
            <a:ext cx="10058400" cy="822960"/>
          </a:xfrm>
          <a:prstGeom prst="rect">
            <a:avLst/>
          </a:prstGeom>
          <a:noFill/>
        </p:spPr>
        <p:txBody>
          <a:bodyPr wrap="square" lIns="0" rIns="0" tIns="0" bIns="0" anchor="t">
            <a:spAutoFit/>
          </a:bodyPr>
          <a:lstStyle/>
          <a:p>
            <a:pPr algn="l">
              <a:lnSpc>
                <a:spcPct val="115000"/>
              </a:lnSpc>
              <a:spcAft>
                <a:spcPts val="0"/>
              </a:spcAft>
            </a:pPr>
            <a:r>
              <a:rPr sz="4800" b="1" i="0">
                <a:solidFill>
                  <a:srgbClr val="F2A65A"/>
                </a:solidFill>
                <a:latin typeface="Georgia"/>
              </a:rPr>
              <a:t>Code</a:t>
            </a:r>
            <a:r>
              <a:rPr sz="4800" b="1" i="0">
                <a:solidFill>
                  <a:srgbClr val="FFFFFF"/>
                </a:solidFill>
                <a:latin typeface="Georgia"/>
              </a:rPr>
              <a:t> decides.</a:t>
            </a:r>
          </a:p>
        </p:txBody>
      </p:sp>
      <p:sp>
        <p:nvSpPr>
          <p:cNvPr id="5" name="TextBox 4"/>
          <p:cNvSpPr txBox="1"/>
          <p:nvPr/>
        </p:nvSpPr>
        <p:spPr>
          <a:xfrm>
            <a:off x="822960" y="3429000"/>
            <a:ext cx="10058400" cy="822960"/>
          </a:xfrm>
          <a:prstGeom prst="rect">
            <a:avLst/>
          </a:prstGeom>
          <a:noFill/>
        </p:spPr>
        <p:txBody>
          <a:bodyPr wrap="square" lIns="0" rIns="0" tIns="0" bIns="0" anchor="t">
            <a:spAutoFit/>
          </a:bodyPr>
          <a:lstStyle/>
          <a:p>
            <a:pPr algn="l">
              <a:lnSpc>
                <a:spcPct val="115000"/>
              </a:lnSpc>
              <a:spcAft>
                <a:spcPts val="0"/>
              </a:spcAft>
            </a:pPr>
            <a:r>
              <a:rPr sz="4800" b="1" i="0">
                <a:solidFill>
                  <a:srgbClr val="F2A65A"/>
                </a:solidFill>
                <a:latin typeface="Georgia"/>
              </a:rPr>
              <a:t>The traveller</a:t>
            </a:r>
            <a:r>
              <a:rPr sz="4800" b="1" i="0">
                <a:solidFill>
                  <a:srgbClr val="FFFFFF"/>
                </a:solidFill>
                <a:latin typeface="Georgia"/>
              </a:rPr>
              <a:t> stays in control.</a:t>
            </a:r>
          </a:p>
        </p:txBody>
      </p:sp>
      <p:sp>
        <p:nvSpPr>
          <p:cNvPr id="6" name="Rectangle 5"/>
          <p:cNvSpPr/>
          <p:nvPr/>
        </p:nvSpPr>
        <p:spPr>
          <a:xfrm>
            <a:off x="841248" y="4434840"/>
            <a:ext cx="822960" cy="54864"/>
          </a:xfrm>
          <a:prstGeom prst="rect">
            <a:avLst/>
          </a:prstGeom>
          <a:solidFill>
            <a:srgbClr val="C25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22960" y="4709160"/>
            <a:ext cx="10058400" cy="365760"/>
          </a:xfrm>
          <a:prstGeom prst="rect">
            <a:avLst/>
          </a:prstGeom>
          <a:noFill/>
        </p:spPr>
        <p:txBody>
          <a:bodyPr wrap="square" lIns="0" rIns="0" tIns="0" bIns="0" anchor="t">
            <a:spAutoFit/>
          </a:bodyPr>
          <a:lstStyle/>
          <a:p>
            <a:pPr algn="l">
              <a:lnSpc>
                <a:spcPct val="115000"/>
              </a:lnSpc>
              <a:spcAft>
                <a:spcPts val="0"/>
              </a:spcAft>
            </a:pPr>
            <a:r>
              <a:rPr sz="1700" b="0" i="0">
                <a:solidFill>
                  <a:srgbClr val="C9D3E3"/>
                </a:solidFill>
                <a:latin typeface="Arial"/>
              </a:rPr>
              <a:t>Stage 2: verify live providers end to end, extend the Agent Lab, and track the work in Jira.</a:t>
            </a:r>
          </a:p>
        </p:txBody>
      </p:sp>
      <p:sp>
        <p:nvSpPr>
          <p:cNvPr id="8" name="TextBox 7"/>
          <p:cNvSpPr txBox="1"/>
          <p:nvPr/>
        </p:nvSpPr>
        <p:spPr>
          <a:xfrm>
            <a:off x="822960" y="5257800"/>
            <a:ext cx="10058400" cy="365760"/>
          </a:xfrm>
          <a:prstGeom prst="rect">
            <a:avLst/>
          </a:prstGeom>
          <a:noFill/>
        </p:spPr>
        <p:txBody>
          <a:bodyPr wrap="square" lIns="0" rIns="0" tIns="0" bIns="0" anchor="t">
            <a:spAutoFit/>
          </a:bodyPr>
          <a:lstStyle/>
          <a:p>
            <a:pPr algn="l">
              <a:lnSpc>
                <a:spcPct val="115000"/>
              </a:lnSpc>
              <a:spcAft>
                <a:spcPts val="0"/>
              </a:spcAft>
            </a:pPr>
            <a:r>
              <a:rPr sz="1400" b="0" i="0">
                <a:solidFill>
                  <a:srgbClr val="8A93A6"/>
                </a:solidFill>
                <a:latin typeface="Arial"/>
              </a:rPr>
              <a:t>github.com/Lilstanie/AI_TRIP_PLANNER</a:t>
            </a:r>
          </a:p>
        </p:txBody>
      </p:sp>
      <p:sp>
        <p:nvSpPr>
          <p:cNvPr id="9" name="Oval 8"/>
          <p:cNvSpPr/>
          <p:nvPr/>
        </p:nvSpPr>
        <p:spPr>
          <a:xfrm>
            <a:off x="9357055" y="5989320"/>
            <a:ext cx="347472" cy="347472"/>
          </a:xfrm>
          <a:prstGeom prst="ellipse">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Arial"/>
              </a:rPr>
              <a:t>A</a:t>
            </a:r>
          </a:p>
        </p:txBody>
      </p:sp>
      <p:sp>
        <p:nvSpPr>
          <p:cNvPr id="10" name="Oval 9"/>
          <p:cNvSpPr/>
          <p:nvPr/>
        </p:nvSpPr>
        <p:spPr>
          <a:xfrm>
            <a:off x="9814255" y="5989320"/>
            <a:ext cx="347472" cy="347472"/>
          </a:xfrm>
          <a:prstGeom prst="ellipse">
            <a:avLst/>
          </a:prstGeom>
          <a:solidFill>
            <a:srgbClr val="6B4FA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Arial"/>
              </a:rPr>
              <a:t>B</a:t>
            </a:r>
          </a:p>
        </p:txBody>
      </p:sp>
      <p:sp>
        <p:nvSpPr>
          <p:cNvPr id="11" name="Oval 10"/>
          <p:cNvSpPr/>
          <p:nvPr/>
        </p:nvSpPr>
        <p:spPr>
          <a:xfrm>
            <a:off x="10271455" y="5989320"/>
            <a:ext cx="347472" cy="347472"/>
          </a:xfrm>
          <a:prstGeom prst="ellipse">
            <a:avLst/>
          </a:prstGeom>
          <a:solidFill>
            <a:srgbClr val="C2571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Arial"/>
              </a:rPr>
              <a:t>C</a:t>
            </a:r>
          </a:p>
        </p:txBody>
      </p:sp>
      <p:sp>
        <p:nvSpPr>
          <p:cNvPr id="12" name="Oval 11"/>
          <p:cNvSpPr/>
          <p:nvPr/>
        </p:nvSpPr>
        <p:spPr>
          <a:xfrm>
            <a:off x="10728655" y="5989320"/>
            <a:ext cx="347472" cy="347472"/>
          </a:xfrm>
          <a:prstGeom prst="ellipse">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Arial"/>
              </a:rPr>
              <a:t>D</a:t>
            </a:r>
          </a:p>
        </p:txBody>
      </p:sp>
      <p:sp>
        <p:nvSpPr>
          <p:cNvPr id="13" name="Oval 12"/>
          <p:cNvSpPr/>
          <p:nvPr/>
        </p:nvSpPr>
        <p:spPr>
          <a:xfrm>
            <a:off x="11185855" y="5989320"/>
            <a:ext cx="347472" cy="347472"/>
          </a:xfrm>
          <a:prstGeom prst="ellipse">
            <a:avLst/>
          </a:prstGeom>
          <a:solidFill>
            <a:srgbClr val="2F5DA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Arial"/>
              </a:rPr>
              <a: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