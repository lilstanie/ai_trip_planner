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Group 14 from the Monday 10 to 12 class, and this is AI Trip Planner, a one-person AI travel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seconds. Name member A's ad hoc requirement and use case, then point to where the LLM sits in each diagram and which code checks it. Replace the three placeholders with the diagrams.]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seconds. Name member B's ad hoc requirement and use case, then point to where the LLM sits in each diagram and which code checks it. Replace the three placeholders with the diagrams.]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C owns accommodation and budget. The ad hoc requirement: the hotel must fit the money left after flights, a budget overrun should swap to a cheaper hotel that still meets the traveller's rules, and an impossible budget should name the minimum. That gave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collaboration shows roles, not classes: the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diagram shows an overrun: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machine follows the accommodation section through one turn, and maps its internal states onto the three statuses the traveller sees.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seconds. Name member D's ad hoc requirement and use case, then point to where the LLM sits in each diagram and which code checks it. Replace the three placeholders with the diagrams.]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seconds. Name member E's ad hoc requirement and use case, then point to where the LLM sits in each diagram and which code checks it. Replace the three placeholders with the diagrams.]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4.png"/><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THE PROBLEM</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24</a:t>
            </a:r>
          </a:p>
        </p:txBody>
      </p:sp>
      <p:sp>
        <p:nvSpPr>
          <p:cNvPr id="14" name="Rounded Rectangle 13"/>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7" name="TextBox 16"/>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8" name="TextBox 17"/>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9" name="Rounded Rectangle 18"/>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ot-14213D.png"/>
          <p:cNvPicPr>
            <a:picLocks noChangeAspect="1"/>
          </p:cNvPicPr>
          <p:nvPr/>
        </p:nvPicPr>
        <p:blipFill>
          <a:blip r:embed="rId4"/>
          <a:stretch>
            <a:fillRect/>
          </a:stretch>
        </p:blipFill>
        <p:spPr>
          <a:xfrm>
            <a:off x="4871618" y="2212848"/>
            <a:ext cx="457200" cy="457200"/>
          </a:xfrm>
          <a:prstGeom prst="rect">
            <a:avLst/>
          </a:prstGeom>
        </p:spPr>
      </p:pic>
      <p:sp>
        <p:nvSpPr>
          <p:cNvPr id="22" name="TextBox 21"/>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23" name="TextBox 22"/>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24" name="Rounded Rectangle 23"/>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7" name="TextBox 26"/>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8" name="TextBox 27"/>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9" name="TextBox 28"/>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USERS AND AI ROLES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24</a:t>
            </a:r>
          </a:p>
        </p:txBody>
      </p:sp>
      <p:sp>
        <p:nvSpPr>
          <p:cNvPr id="14" name="TextBox 13"/>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15" name="Rounded Rectangle 14"/>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14213D.png"/>
          <p:cNvPicPr>
            <a:picLocks noChangeAspect="1"/>
          </p:cNvPicPr>
          <p:nvPr/>
        </p:nvPicPr>
        <p:blipFill>
          <a:blip r:embed="rId3"/>
          <a:stretch>
            <a:fillRect/>
          </a:stretch>
        </p:blipFill>
        <p:spPr>
          <a:xfrm>
            <a:off x="941832" y="2240280"/>
            <a:ext cx="329184" cy="329184"/>
          </a:xfrm>
          <a:prstGeom prst="rect">
            <a:avLst/>
          </a:prstGeom>
        </p:spPr>
      </p:pic>
      <p:sp>
        <p:nvSpPr>
          <p:cNvPr id="18" name="TextBox 17"/>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9" name="TextBox 18"/>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20" name="Rounded Rectangle 19"/>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23" name="TextBox 22"/>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24" name="TextBox 23"/>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25" name="TextBox 24"/>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6" name="Rounded Rectangle 25"/>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8" name="TextBox 27"/>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9" name="TextBox 28"/>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30" name="Rounded Rectangle 29"/>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32" name="TextBox 31"/>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33" name="TextBox 32"/>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34" name="TextBox 33"/>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35" name="Rounded Rectangle 34"/>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8" name="TextBox 37"/>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9" name="TextBox 38"/>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40" name="Rounded Rectangle 39"/>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plane-14213D.png"/>
          <p:cNvPicPr>
            <a:picLocks noChangeAspect="1"/>
          </p:cNvPicPr>
          <p:nvPr/>
        </p:nvPicPr>
        <p:blipFill>
          <a:blip r:embed="rId8"/>
          <a:stretch>
            <a:fillRect/>
          </a:stretch>
        </p:blipFill>
        <p:spPr>
          <a:xfrm>
            <a:off x="5390022" y="4535424"/>
            <a:ext cx="384048" cy="384048"/>
          </a:xfrm>
          <a:prstGeom prst="rect">
            <a:avLst/>
          </a:prstGeom>
        </p:spPr>
      </p:pic>
      <p:sp>
        <p:nvSpPr>
          <p:cNvPr id="43" name="TextBox 42"/>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44" name="TextBox 43"/>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45" name="Rounded Rectangle 44"/>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8" name="TextBox 47"/>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9" name="TextBox 48"/>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50" name="Rounded Rectangle 49"/>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53" name="TextBox 52"/>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54" name="TextBox 53"/>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55" name="Rounded Rectangle 54"/>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8" name="TextBox 57"/>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9" name="TextBox 58"/>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ARCHITECTURE</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24</a:t>
            </a:r>
          </a:p>
        </p:txBody>
      </p:sp>
      <p:sp>
        <p:nvSpPr>
          <p:cNvPr id="14" name="TextBox 13"/>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15" name="Rounded Rectangle 14"/>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workflow.png"/>
          <p:cNvPicPr>
            <a:picLocks noChangeAspect="1"/>
          </p:cNvPicPr>
          <p:nvPr/>
        </p:nvPicPr>
        <p:blipFill>
          <a:blip r:embed="rId3"/>
          <a:stretch>
            <a:fillRect/>
          </a:stretch>
        </p:blipFill>
        <p:spPr>
          <a:xfrm>
            <a:off x="676656" y="2217465"/>
            <a:ext cx="7104888" cy="768004"/>
          </a:xfrm>
          <a:prstGeom prst="rect">
            <a:avLst/>
          </a:prstGeom>
        </p:spPr>
      </p:pic>
      <p:sp>
        <p:nvSpPr>
          <p:cNvPr id="17" name="Oval 16"/>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Oval 17"/>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9" name="Oval 18"/>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0" name="Oval 19"/>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22" name="Oval 21"/>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24" name="Oval 23"/>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6" name="TextBox 25"/>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7" name="Rounded Rectangle 26"/>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INDIVIDUAL BEHAVIOUR MODELS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[A's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1F7A8C"/>
                </a:solidFill>
                <a:latin typeface="Arial"/>
              </a:rPr>
              <a:t>Ad hoc requirement  </a:t>
            </a:r>
            <a:r>
              <a:rPr sz="1300" b="0" i="1">
                <a:solidFill>
                  <a:srgbClr val="5A6478"/>
                </a:solidFill>
                <a:latin typeface="Arial"/>
              </a:rPr>
              <a:t>[AH-A1, one line in the traveller's words]</a:t>
            </a:r>
            <a:r>
              <a:rPr sz="1300" b="1" i="0">
                <a:solidFill>
                  <a:srgbClr val="1F7A8C"/>
                </a:solidFill>
                <a:latin typeface="Arial"/>
              </a:rPr>
              <a:t>      Use case  </a:t>
            </a:r>
            <a:r>
              <a:rPr sz="1300" b="0" i="1">
                <a:solidFill>
                  <a:srgbClr val="5A6478"/>
                </a:solidFill>
                <a:latin typeface="Arial"/>
              </a:rPr>
              <a:t>[UC-Ax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REQUIREMENT CLASSIFICATION</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24</a:t>
            </a:r>
          </a:p>
        </p:txBody>
      </p:sp>
      <p:sp>
        <p:nvSpPr>
          <p:cNvPr id="14" name="TextBox 13"/>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15" name="TextBox 14"/>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6" name="TextBox 15"/>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7" name="Rounded Rectangle 16"/>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20" name="TextBox 19"/>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21" name="TextBox 20"/>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conflicts, targeted revision</a:t>
            </a:r>
          </a:p>
        </p:txBody>
      </p:sp>
      <p:sp>
        <p:nvSpPr>
          <p:cNvPr id="22" name="Rounded Rectangle 21"/>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23" name="Rounded Rectangle 22"/>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5" name="TextBox 24"/>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6" name="TextBox 25"/>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7" name="TextBox 26"/>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8" name="Rounded Rectangle 27"/>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9" name="Rounded Rectangle 28"/>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32" name="TextBox 31"/>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33" name="TextBox 32"/>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34" name="Rounded Rectangle 33"/>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35" name="Rounded Rectangle 34"/>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7" name="TextBox 36"/>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8" name="TextBox 37"/>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9" name="TextBox 38"/>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40" name="Rounded Rectangle 39"/>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41" name="Rounded Rectangle 40"/>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3" name="TextBox 42"/>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44" name="TextBox 43"/>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45" name="TextBox 44"/>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6" name="Rounded Rectangle 45"/>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7" name="Rounded Rectangle 46"/>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scale-F2A65A.png"/>
          <p:cNvPicPr>
            <a:picLocks noChangeAspect="1"/>
          </p:cNvPicPr>
          <p:nvPr/>
        </p:nvPicPr>
        <p:blipFill>
          <a:blip r:embed="rId3"/>
          <a:stretch>
            <a:fillRect/>
          </a:stretch>
        </p:blipFill>
        <p:spPr>
          <a:xfrm>
            <a:off x="868680" y="5477256"/>
            <a:ext cx="420624" cy="420624"/>
          </a:xfrm>
          <a:prstGeom prst="rect">
            <a:avLst/>
          </a:prstGeom>
        </p:spPr>
      </p:pic>
      <p:sp>
        <p:nvSpPr>
          <p:cNvPr id="49" name="TextBox 48"/>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50" name="TextBox 49"/>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FEATURE MODEL</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24</a:t>
            </a:r>
          </a:p>
        </p:txBody>
      </p:sp>
      <p:sp>
        <p:nvSpPr>
          <p:cNvPr id="14" name="Rounded Rectangle 13"/>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6" name="TextBox 15"/>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7" name="TextBox 16"/>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8" name="Rounded Rectangle 17"/>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20" name="TextBox 19"/>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21" name="TextBox 20"/>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22" name="Rounded Rectangle 21"/>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boxes-C2571A.png"/>
          <p:cNvPicPr>
            <a:picLocks noChangeAspect="1"/>
          </p:cNvPicPr>
          <p:nvPr/>
        </p:nvPicPr>
        <p:blipFill>
          <a:blip r:embed="rId5"/>
          <a:stretch>
            <a:fillRect/>
          </a:stretch>
        </p:blipFill>
        <p:spPr>
          <a:xfrm>
            <a:off x="6379311" y="1664208"/>
            <a:ext cx="292608" cy="292608"/>
          </a:xfrm>
          <a:prstGeom prst="rect">
            <a:avLst/>
          </a:prstGeom>
        </p:spPr>
      </p:pic>
      <p:sp>
        <p:nvSpPr>
          <p:cNvPr id="24" name="TextBox 23"/>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25" name="TextBox 24"/>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6" name="Rounded Rectangle 25"/>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8" name="TextBox 27"/>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9" name="TextBox 28"/>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30" name="Rounded Rectangle 29"/>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32" name="TextBox 31"/>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33" name="TextBox 32"/>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34" name="Rounded Rectangle 33"/>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6" name="TextBox 35"/>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7" name="TextBox 36"/>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8" name="Rounded Rectangle 37"/>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pu-C2571A.png"/>
          <p:cNvPicPr>
            <a:picLocks noChangeAspect="1"/>
          </p:cNvPicPr>
          <p:nvPr/>
        </p:nvPicPr>
        <p:blipFill>
          <a:blip r:embed="rId9"/>
          <a:stretch>
            <a:fillRect/>
          </a:stretch>
        </p:blipFill>
        <p:spPr>
          <a:xfrm>
            <a:off x="6379311" y="3703320"/>
            <a:ext cx="292608" cy="292608"/>
          </a:xfrm>
          <a:prstGeom prst="rect">
            <a:avLst/>
          </a:prstGeom>
        </p:spPr>
      </p:pic>
      <p:sp>
        <p:nvSpPr>
          <p:cNvPr id="40" name="TextBox 39"/>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41" name="TextBox 40"/>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42" name="Rounded Rectangle 41"/>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44" name="TextBox 43"/>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USE CASES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24</a:t>
            </a:r>
          </a:p>
        </p:txBody>
      </p:sp>
      <p:sp>
        <p:nvSpPr>
          <p:cNvPr id="14" name="Rounded Rectangle 13"/>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case.png"/>
          <p:cNvPicPr>
            <a:picLocks noChangeAspect="1"/>
          </p:cNvPicPr>
          <p:nvPr/>
        </p:nvPicPr>
        <p:blipFill>
          <a:blip r:embed="rId3"/>
          <a:stretch>
            <a:fillRect/>
          </a:stretch>
        </p:blipFill>
        <p:spPr>
          <a:xfrm>
            <a:off x="715060" y="1609344"/>
            <a:ext cx="3599078" cy="4498848"/>
          </a:xfrm>
          <a:prstGeom prst="rect">
            <a:avLst/>
          </a:prstGeom>
        </p:spPr>
      </p:pic>
      <p:sp>
        <p:nvSpPr>
          <p:cNvPr id="16" name="TextBox 15"/>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7" name="Rounded Rectangle 16"/>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20" name="TextBox 19"/>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21" name="Rounded Rectangle 20"/>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3" name="TextBox 22"/>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24" name="TextBox 23"/>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25" name="Rounded Rectangle 24"/>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7" name="TextBox 26"/>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8" name="TextBox 27"/>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9" name="Rounded Rectangle 28"/>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32" name="TextBox 31"/>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33" name="Rounded Rectangle 32"/>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5" name="TextBox 34"/>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6" name="TextBox 35"/>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7" name="Rounded Rectangle 36"/>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9" name="TextBox 38"/>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40" name="Rounded Rectangle 39"/>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2" name="TextBox 41"/>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6B4FA0"/>
                </a:solidFill>
                <a:latin typeface="Arial"/>
              </a:rPr>
              <a:t>Ad hoc requirement  </a:t>
            </a:r>
            <a:r>
              <a:rPr sz="1300" b="0" i="1">
                <a:solidFill>
                  <a:srgbClr val="5A6478"/>
                </a:solidFill>
                <a:latin typeface="Arial"/>
              </a:rPr>
              <a:t>[AH-B1, one line in the traveller's words]</a:t>
            </a:r>
            <a:r>
              <a:rPr sz="1300" b="1" i="0">
                <a:solidFill>
                  <a:srgbClr val="6B4FA0"/>
                </a:solidFill>
                <a:latin typeface="Arial"/>
              </a:rPr>
              <a:t>      Use case  </a:t>
            </a:r>
            <a:r>
              <a:rPr sz="1300" b="0" i="1">
                <a:solidFill>
                  <a:srgbClr val="5A6478"/>
                </a:solidFill>
                <a:latin typeface="Arial"/>
              </a:rPr>
              <a:t>[UC-Bx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24</a:t>
            </a:r>
          </a:p>
        </p:txBody>
      </p:sp>
      <p:sp>
        <p:nvSpPr>
          <p:cNvPr id="14" name="Rounded Rectangle 13"/>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quote-F2A65A.png"/>
          <p:cNvPicPr>
            <a:picLocks noChangeAspect="1"/>
          </p:cNvPicPr>
          <p:nvPr/>
        </p:nvPicPr>
        <p:blipFill>
          <a:blip r:embed="rId3"/>
          <a:stretch>
            <a:fillRect/>
          </a:stretch>
        </p:blipFill>
        <p:spPr>
          <a:xfrm>
            <a:off x="868680" y="1755648"/>
            <a:ext cx="502920" cy="502920"/>
          </a:xfrm>
          <a:prstGeom prst="rect">
            <a:avLst/>
          </a:prstGeom>
        </p:spPr>
      </p:pic>
      <p:sp>
        <p:nvSpPr>
          <p:cNvPr id="16" name="TextBox 15"/>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7" name="TextBox 16"/>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8" name="Rounded Rectangle 17"/>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22" name="TextBox 21"/>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23" name="Picture 22" descr="check-C2571A.png"/>
          <p:cNvPicPr>
            <a:picLocks noChangeAspect="1"/>
          </p:cNvPicPr>
          <p:nvPr/>
        </p:nvPicPr>
        <p:blipFill>
          <a:blip r:embed="rId5"/>
          <a:stretch>
            <a:fillRect/>
          </a:stretch>
        </p:blipFill>
        <p:spPr>
          <a:xfrm>
            <a:off x="914400" y="4581144"/>
            <a:ext cx="219456" cy="219456"/>
          </a:xfrm>
          <a:prstGeom prst="rect">
            <a:avLst/>
          </a:prstGeom>
        </p:spPr>
      </p:pic>
      <p:sp>
        <p:nvSpPr>
          <p:cNvPr id="24" name="TextBox 23"/>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25" name="Picture 24" descr="check-C2571A.png"/>
          <p:cNvPicPr>
            <a:picLocks noChangeAspect="1"/>
          </p:cNvPicPr>
          <p:nvPr/>
        </p:nvPicPr>
        <p:blipFill>
          <a:blip r:embed="rId5"/>
          <a:stretch>
            <a:fillRect/>
          </a:stretch>
        </p:blipFill>
        <p:spPr>
          <a:xfrm>
            <a:off x="914400" y="4992624"/>
            <a:ext cx="219456" cy="219456"/>
          </a:xfrm>
          <a:prstGeom prst="rect">
            <a:avLst/>
          </a:prstGeom>
        </p:spPr>
      </p:pic>
      <p:sp>
        <p:nvSpPr>
          <p:cNvPr id="26" name="TextBox 25"/>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7" name="Picture 26" descr="check-C2571A.png"/>
          <p:cNvPicPr>
            <a:picLocks noChangeAspect="1"/>
          </p:cNvPicPr>
          <p:nvPr/>
        </p:nvPicPr>
        <p:blipFill>
          <a:blip r:embed="rId5"/>
          <a:stretch>
            <a:fillRect/>
          </a:stretch>
        </p:blipFill>
        <p:spPr>
          <a:xfrm>
            <a:off x="914400" y="5404104"/>
            <a:ext cx="219456" cy="219456"/>
          </a:xfrm>
          <a:prstGeom prst="rect">
            <a:avLst/>
          </a:prstGeom>
        </p:spPr>
      </p:pic>
      <p:sp>
        <p:nvSpPr>
          <p:cNvPr id="28" name="TextBox 27"/>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9" name="Picture 28" descr="check-C2571A.png"/>
          <p:cNvPicPr>
            <a:picLocks noChangeAspect="1"/>
          </p:cNvPicPr>
          <p:nvPr/>
        </p:nvPicPr>
        <p:blipFill>
          <a:blip r:embed="rId5"/>
          <a:stretch>
            <a:fillRect/>
          </a:stretch>
        </p:blipFill>
        <p:spPr>
          <a:xfrm>
            <a:off x="914400" y="5815584"/>
            <a:ext cx="219456" cy="219456"/>
          </a:xfrm>
          <a:prstGeom prst="rect">
            <a:avLst/>
          </a:prstGeom>
        </p:spPr>
      </p:pic>
      <p:sp>
        <p:nvSpPr>
          <p:cNvPr id="30" name="TextBox 29"/>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31" name="Rounded Rectangle 30"/>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35" name="TextBox 34"/>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6" name="Picture 35"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7" name="TextBox 36"/>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8" name="Picture 37"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9" name="TextBox 38"/>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40" name="Picture 39" descr="check-C2571A.png"/>
          <p:cNvPicPr>
            <a:picLocks noChangeAspect="1"/>
          </p:cNvPicPr>
          <p:nvPr/>
        </p:nvPicPr>
        <p:blipFill>
          <a:blip r:embed="rId5"/>
          <a:stretch>
            <a:fillRect/>
          </a:stretch>
        </p:blipFill>
        <p:spPr>
          <a:xfrm>
            <a:off x="6598767" y="5404104"/>
            <a:ext cx="219456" cy="219456"/>
          </a:xfrm>
          <a:prstGeom prst="rect">
            <a:avLst/>
          </a:prstGeom>
        </p:spPr>
      </p:pic>
      <p:sp>
        <p:nvSpPr>
          <p:cNvPr id="41" name="TextBox 40"/>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42" name="Picture 41" descr="check-C2571A.png"/>
          <p:cNvPicPr>
            <a:picLocks noChangeAspect="1"/>
          </p:cNvPicPr>
          <p:nvPr/>
        </p:nvPicPr>
        <p:blipFill>
          <a:blip r:embed="rId5"/>
          <a:stretch>
            <a:fillRect/>
          </a:stretch>
        </p:blipFill>
        <p:spPr>
          <a:xfrm>
            <a:off x="6598767" y="5815584"/>
            <a:ext cx="219456" cy="219456"/>
          </a:xfrm>
          <a:prstGeom prst="rect">
            <a:avLst/>
          </a:prstGeom>
        </p:spPr>
      </p:pic>
      <p:sp>
        <p:nvSpPr>
          <p:cNvPr id="43" name="TextBox 42"/>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24</a:t>
            </a:r>
          </a:p>
        </p:txBody>
      </p:sp>
      <p:sp>
        <p:nvSpPr>
          <p:cNvPr id="14" name="Rounded Rectangle 13"/>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object.png"/>
          <p:cNvPicPr>
            <a:picLocks noChangeAspect="1"/>
          </p:cNvPicPr>
          <p:nvPr/>
        </p:nvPicPr>
        <p:blipFill>
          <a:blip r:embed="rId3"/>
          <a:stretch>
            <a:fillRect/>
          </a:stretch>
        </p:blipFill>
        <p:spPr>
          <a:xfrm>
            <a:off x="1735143" y="1609344"/>
            <a:ext cx="8721408" cy="3127248"/>
          </a:xfrm>
          <a:prstGeom prst="rect">
            <a:avLst/>
          </a:prstGeom>
        </p:spPr>
      </p:pic>
      <p:sp>
        <p:nvSpPr>
          <p:cNvPr id="16" name="Oval 15"/>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Rounded Rectangle 18"/>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22" name="TextBox 21"/>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23" name="TextBox 22"/>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24" name="Rounded Rectangle 23"/>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7" name="TextBox 26"/>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8" name="TextBox 27"/>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9" name="Rounded Rectangle 28"/>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31" name="TextBox 30"/>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32" name="TextBox 31"/>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33" name="TextBox 32"/>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24</a:t>
            </a:r>
          </a:p>
        </p:txBody>
      </p:sp>
      <p:sp>
        <p:nvSpPr>
          <p:cNvPr id="14" name="TextBox 13"/>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15" name="Rounded Rectangle 14"/>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7" name="Oval 16"/>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TextBox 17"/>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9" name="Rounded Rectangle 18"/>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21" name="Oval 20"/>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Oval 21"/>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3" name="Oval 22"/>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4" name="TextBox 23"/>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25" name="Oval 24"/>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7" name="Oval 26"/>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8" name="TextBox 27"/>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24</a:t>
            </a:r>
          </a:p>
        </p:txBody>
      </p:sp>
      <p:sp>
        <p:nvSpPr>
          <p:cNvPr id="14" name="Rounded Rectangle 13"/>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6" name="Oval 15"/>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22" name="Oval 21"/>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24" name="Oval 23"/>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6" name="Oval 25"/>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24</a:t>
            </a:r>
          </a:p>
        </p:txBody>
      </p:sp>
      <p:sp>
        <p:nvSpPr>
          <p:cNvPr id="14" name="Rounded Rectangle 13"/>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6" name="Oval 15"/>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22" name="Oval 21"/>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24" name="Oval 23"/>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6" name="Oval 25"/>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24</a:t>
            </a:r>
          </a:p>
        </p:txBody>
      </p:sp>
      <p:sp>
        <p:nvSpPr>
          <p:cNvPr id="14" name="Rounded Rectangle 13"/>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tate.png"/>
          <p:cNvPicPr>
            <a:picLocks noChangeAspect="1"/>
          </p:cNvPicPr>
          <p:nvPr/>
        </p:nvPicPr>
        <p:blipFill>
          <a:blip r:embed="rId3"/>
          <a:stretch>
            <a:fillRect/>
          </a:stretch>
        </p:blipFill>
        <p:spPr>
          <a:xfrm>
            <a:off x="950727" y="1609344"/>
            <a:ext cx="4133584" cy="4498848"/>
          </a:xfrm>
          <a:prstGeom prst="rect">
            <a:avLst/>
          </a:prstGeom>
        </p:spPr>
      </p:pic>
      <p:sp>
        <p:nvSpPr>
          <p:cNvPr id="16" name="TextBox 15"/>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7" name="TextBox 16"/>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8" name="Rounded Rectangle 17"/>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20" name="Rounded Rectangle 19"/>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21" name="Rounded Rectangle 20"/>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22" name="Rounded Rectangle 21"/>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23" name="Rounded Rectangle 22"/>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24" name="Picture 23"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25" name="Rounded Rectangle 24"/>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6" name="Rounded Rectangle 25"/>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8" name="Picture 27"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9" name="Rounded Rectangle 28"/>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30" name="Rounded Rectangle 29"/>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32" name="Picture 31"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33" name="Rounded Rectangle 32"/>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34" name="Rounded Rectangle 33"/>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6" name="Picture 35"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7" name="Rounded Rectangle 36"/>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24</a:t>
            </a:r>
          </a:p>
        </p:txBody>
      </p:sp>
      <p:sp>
        <p:nvSpPr>
          <p:cNvPr id="14" name="Rounded Rectangle 13"/>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6" name="Rounded Rectangle 15"/>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8" name="TextBox 17"/>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9" name="Rounded Rectangle 18"/>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21" name="TextBox 20"/>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22" name="Rounded Rectangle 21"/>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24" name="TextBox 23"/>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25" name="Rounded Rectangle 24"/>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7" name="TextBox 26"/>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8" name="Rounded Rectangle 27"/>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30" name="TextBox 29"/>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31" name="Rounded Rectangle 30"/>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33" name="TextBox 32"/>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24</a:t>
            </a:r>
          </a:p>
        </p:txBody>
      </p:sp>
      <p:sp>
        <p:nvSpPr>
          <p:cNvPr id="14" name="Rounded Rectangle 13"/>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6" name="Oval 15"/>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21" name="Rounded Rectangle 20"/>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22" name="TextBox 21"/>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23" name="Rounded Rectangle 22"/>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5" name="TextBox 24"/>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6" name="Rounded Rectangle 25"/>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7" name="TextBox 26"/>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8" name="Rounded Rectangle 27"/>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30" name="Rounded Rectangle 29"/>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31" name="TextBox 30"/>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DESIGN RATIONALE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24</a:t>
            </a:r>
          </a:p>
        </p:txBody>
      </p:sp>
      <p:sp>
        <p:nvSpPr>
          <p:cNvPr id="14" name="TextBox 13"/>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15" name="TextBox 14"/>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6" name="TextBox 15"/>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7" name="Rounded Rectangle 16"/>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9" name="Rounded Rectangle 18"/>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2E7D4F.png"/>
          <p:cNvPicPr>
            <a:picLocks noChangeAspect="1"/>
          </p:cNvPicPr>
          <p:nvPr/>
        </p:nvPicPr>
        <p:blipFill>
          <a:blip r:embed="rId3"/>
          <a:stretch>
            <a:fillRect/>
          </a:stretch>
        </p:blipFill>
        <p:spPr>
          <a:xfrm>
            <a:off x="3182112" y="2048256"/>
            <a:ext cx="182880" cy="182880"/>
          </a:xfrm>
          <a:prstGeom prst="rect">
            <a:avLst/>
          </a:prstGeom>
        </p:spPr>
      </p:pic>
      <p:sp>
        <p:nvSpPr>
          <p:cNvPr id="21" name="TextBox 20"/>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22" name="Rounded Rectangle 21"/>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x-9B2C2C.png"/>
          <p:cNvPicPr>
            <a:picLocks noChangeAspect="1"/>
          </p:cNvPicPr>
          <p:nvPr/>
        </p:nvPicPr>
        <p:blipFill>
          <a:blip r:embed="rId4"/>
          <a:stretch>
            <a:fillRect/>
          </a:stretch>
        </p:blipFill>
        <p:spPr>
          <a:xfrm>
            <a:off x="7068312" y="2048256"/>
            <a:ext cx="182880" cy="182880"/>
          </a:xfrm>
          <a:prstGeom prst="rect">
            <a:avLst/>
          </a:prstGeom>
        </p:spPr>
      </p:pic>
      <p:sp>
        <p:nvSpPr>
          <p:cNvPr id="24" name="TextBox 23"/>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25" name="Rounded Rectangle 24"/>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7" name="Rounded Rectangle 26"/>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9" name="TextBox 28"/>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30" name="Rounded Rectangle 29"/>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x-9B2C2C.png"/>
          <p:cNvPicPr>
            <a:picLocks noChangeAspect="1"/>
          </p:cNvPicPr>
          <p:nvPr/>
        </p:nvPicPr>
        <p:blipFill>
          <a:blip r:embed="rId4"/>
          <a:stretch>
            <a:fillRect/>
          </a:stretch>
        </p:blipFill>
        <p:spPr>
          <a:xfrm>
            <a:off x="7068312" y="2770632"/>
            <a:ext cx="182880" cy="182880"/>
          </a:xfrm>
          <a:prstGeom prst="rect">
            <a:avLst/>
          </a:prstGeom>
        </p:spPr>
      </p:pic>
      <p:sp>
        <p:nvSpPr>
          <p:cNvPr id="32" name="TextBox 31"/>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33" name="Rounded Rectangle 32"/>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35" name="Rounded Rectangle 34"/>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7" name="TextBox 36"/>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8" name="Rounded Rectangle 37"/>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x-9B2C2C.png"/>
          <p:cNvPicPr>
            <a:picLocks noChangeAspect="1"/>
          </p:cNvPicPr>
          <p:nvPr/>
        </p:nvPicPr>
        <p:blipFill>
          <a:blip r:embed="rId4"/>
          <a:stretch>
            <a:fillRect/>
          </a:stretch>
        </p:blipFill>
        <p:spPr>
          <a:xfrm>
            <a:off x="7068312" y="3493008"/>
            <a:ext cx="182880" cy="182880"/>
          </a:xfrm>
          <a:prstGeom prst="rect">
            <a:avLst/>
          </a:prstGeom>
        </p:spPr>
      </p:pic>
      <p:sp>
        <p:nvSpPr>
          <p:cNvPr id="40" name="TextBox 39"/>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41" name="Rounded Rectangle 40"/>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43" name="Rounded Rectangle 42"/>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check-2E7D4F.png"/>
          <p:cNvPicPr>
            <a:picLocks noChangeAspect="1"/>
          </p:cNvPicPr>
          <p:nvPr/>
        </p:nvPicPr>
        <p:blipFill>
          <a:blip r:embed="rId3"/>
          <a:stretch>
            <a:fillRect/>
          </a:stretch>
        </p:blipFill>
        <p:spPr>
          <a:xfrm>
            <a:off x="3182112" y="4215384"/>
            <a:ext cx="182880" cy="182880"/>
          </a:xfrm>
          <a:prstGeom prst="rect">
            <a:avLst/>
          </a:prstGeom>
        </p:spPr>
      </p:pic>
      <p:sp>
        <p:nvSpPr>
          <p:cNvPr id="45" name="TextBox 44"/>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6" name="Rounded Rectangle 45"/>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x-9B2C2C.png"/>
          <p:cNvPicPr>
            <a:picLocks noChangeAspect="1"/>
          </p:cNvPicPr>
          <p:nvPr/>
        </p:nvPicPr>
        <p:blipFill>
          <a:blip r:embed="rId4"/>
          <a:stretch>
            <a:fillRect/>
          </a:stretch>
        </p:blipFill>
        <p:spPr>
          <a:xfrm>
            <a:off x="7068312" y="4215384"/>
            <a:ext cx="182880" cy="182880"/>
          </a:xfrm>
          <a:prstGeom prst="rect">
            <a:avLst/>
          </a:prstGeom>
        </p:spPr>
      </p:pic>
      <p:sp>
        <p:nvSpPr>
          <p:cNvPr id="48" name="TextBox 47"/>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9" name="Rounded Rectangle 48"/>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51" name="Rounded Rectangle 50"/>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heck-2E7D4F.png"/>
          <p:cNvPicPr>
            <a:picLocks noChangeAspect="1"/>
          </p:cNvPicPr>
          <p:nvPr/>
        </p:nvPicPr>
        <p:blipFill>
          <a:blip r:embed="rId3"/>
          <a:stretch>
            <a:fillRect/>
          </a:stretch>
        </p:blipFill>
        <p:spPr>
          <a:xfrm>
            <a:off x="3182112" y="4937760"/>
            <a:ext cx="182880" cy="182880"/>
          </a:xfrm>
          <a:prstGeom prst="rect">
            <a:avLst/>
          </a:prstGeom>
        </p:spPr>
      </p:pic>
      <p:sp>
        <p:nvSpPr>
          <p:cNvPr id="53" name="TextBox 52"/>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54" name="Rounded Rectangle 53"/>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Picture 54" descr="x-9B2C2C.png"/>
          <p:cNvPicPr>
            <a:picLocks noChangeAspect="1"/>
          </p:cNvPicPr>
          <p:nvPr/>
        </p:nvPicPr>
        <p:blipFill>
          <a:blip r:embed="rId4"/>
          <a:stretch>
            <a:fillRect/>
          </a:stretch>
        </p:blipFill>
        <p:spPr>
          <a:xfrm>
            <a:off x="7068312" y="4937760"/>
            <a:ext cx="182880" cy="182880"/>
          </a:xfrm>
          <a:prstGeom prst="rect">
            <a:avLst/>
          </a:prstGeom>
        </p:spPr>
      </p:pic>
      <p:sp>
        <p:nvSpPr>
          <p:cNvPr id="56" name="TextBox 55"/>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7" name="Rounded Rectangle 56"/>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9" name="Rounded Rectangle 58"/>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check-2E7D4F.png"/>
          <p:cNvPicPr>
            <a:picLocks noChangeAspect="1"/>
          </p:cNvPicPr>
          <p:nvPr/>
        </p:nvPicPr>
        <p:blipFill>
          <a:blip r:embed="rId3"/>
          <a:stretch>
            <a:fillRect/>
          </a:stretch>
        </p:blipFill>
        <p:spPr>
          <a:xfrm>
            <a:off x="3182112" y="5660136"/>
            <a:ext cx="182880" cy="182880"/>
          </a:xfrm>
          <a:prstGeom prst="rect">
            <a:avLst/>
          </a:prstGeom>
        </p:spPr>
      </p:pic>
      <p:sp>
        <p:nvSpPr>
          <p:cNvPr id="61" name="TextBox 60"/>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62" name="Rounded Rectangle 61"/>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Picture 62" descr="x-9B2C2C.png"/>
          <p:cNvPicPr>
            <a:picLocks noChangeAspect="1"/>
          </p:cNvPicPr>
          <p:nvPr/>
        </p:nvPicPr>
        <p:blipFill>
          <a:blip r:embed="rId4"/>
          <a:stretch>
            <a:fillRect/>
          </a:stretch>
        </p:blipFill>
        <p:spPr>
          <a:xfrm>
            <a:off x="7068312" y="5660136"/>
            <a:ext cx="182880" cy="182880"/>
          </a:xfrm>
          <a:prstGeom prst="rect">
            <a:avLst/>
          </a:prstGeom>
        </p:spPr>
      </p:pic>
      <p:sp>
        <p:nvSpPr>
          <p:cNvPr id="64" name="TextBox 63"/>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E7D4F"/>
                </a:solidFill>
                <a:latin typeface="Arial"/>
              </a:rPr>
              <a:t>Ad hoc requirement  </a:t>
            </a:r>
            <a:r>
              <a:rPr sz="1300" b="0" i="1">
                <a:solidFill>
                  <a:srgbClr val="5A6478"/>
                </a:solidFill>
                <a:latin typeface="Arial"/>
              </a:rPr>
              <a:t>[AH-D1, one line in the traveller's words]</a:t>
            </a:r>
            <a:r>
              <a:rPr sz="1300" b="1" i="0">
                <a:solidFill>
                  <a:srgbClr val="2E7D4F"/>
                </a:solidFill>
                <a:latin typeface="Arial"/>
              </a:rPr>
              <a:t>      Use case  </a:t>
            </a:r>
            <a:r>
              <a:rPr sz="1300" b="0" i="1">
                <a:solidFill>
                  <a:srgbClr val="5A6478"/>
                </a:solidFill>
                <a:latin typeface="Arial"/>
              </a:rPr>
              <a:t>[UC-Dx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E7D4F"/>
                </a:solidFill>
                <a:latin typeface="Arial"/>
              </a:rPr>
              <a:t>LLM step  </a:t>
            </a:r>
            <a:r>
              <a:rPr sz="1000" b="0" i="1">
                <a:solidFill>
                  <a:srgbClr val="5A6478"/>
                </a:solidFill>
                <a:latin typeface="Arial"/>
              </a:rPr>
              <a:t>[where it sits]  </a:t>
            </a:r>
            <a:r>
              <a:rPr sz="1000" b="1" i="0">
                <a:solidFill>
                  <a:srgbClr val="2E7D4F"/>
                </a:solidFill>
                <a:latin typeface="Arial"/>
              </a:rPr>
              <a:t>Code check  </a:t>
            </a:r>
            <a:r>
              <a:rPr sz="1000" b="0" i="1">
                <a:solidFill>
                  <a:srgbClr val="5A6478"/>
                </a:solidFill>
                <a:latin typeface="Arial"/>
              </a:rPr>
              <a:t>[what validates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PACKAGE DIAGRAM</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24</a:t>
            </a:r>
          </a:p>
        </p:txBody>
      </p:sp>
      <p:sp>
        <p:nvSpPr>
          <p:cNvPr id="14" name="Rounded Rectangle 13"/>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package.png"/>
          <p:cNvPicPr>
            <a:picLocks noChangeAspect="1"/>
          </p:cNvPicPr>
          <p:nvPr/>
        </p:nvPicPr>
        <p:blipFill>
          <a:blip r:embed="rId3"/>
          <a:stretch>
            <a:fillRect/>
          </a:stretch>
        </p:blipFill>
        <p:spPr>
          <a:xfrm>
            <a:off x="706326" y="1609344"/>
            <a:ext cx="10779042" cy="2761487"/>
          </a:xfrm>
          <a:prstGeom prst="rect">
            <a:avLst/>
          </a:prstGeom>
        </p:spPr>
      </p:pic>
      <p:sp>
        <p:nvSpPr>
          <p:cNvPr id="16" name="Oval 15"/>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20" name="TextBox 19"/>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21" name="TextBox 20"/>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22" name="Rounded Rectangle 21"/>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24" name="Oval 23"/>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5" name="TextBox 24"/>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6" name="TextBox 25"/>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7" name="Rounded Rectangle 26"/>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9" name="Oval 28"/>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30" name="TextBox 29"/>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31" name="TextBox 30"/>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32" name="Rounded Rectangle 31"/>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boxes-2F5DA8.png"/>
          <p:cNvPicPr>
            <a:picLocks noChangeAspect="1"/>
          </p:cNvPicPr>
          <p:nvPr/>
        </p:nvPicPr>
        <p:blipFill>
          <a:blip r:embed="rId7"/>
          <a:stretch>
            <a:fillRect/>
          </a:stretch>
        </p:blipFill>
        <p:spPr>
          <a:xfrm>
            <a:off x="9235211" y="4864608"/>
            <a:ext cx="329184" cy="329184"/>
          </a:xfrm>
          <a:prstGeom prst="rect">
            <a:avLst/>
          </a:prstGeom>
        </p:spPr>
      </p:pic>
      <p:sp>
        <p:nvSpPr>
          <p:cNvPr id="34" name="TextBox 33"/>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35" name="TextBox 34"/>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DEPLOYMENT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24</a:t>
            </a:r>
          </a:p>
        </p:txBody>
      </p:sp>
      <p:sp>
        <p:nvSpPr>
          <p:cNvPr id="14" name="Rounded Rectangle 13"/>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6" name="Oval 15"/>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21" name="Oval 20"/>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2" name="TextBox 21"/>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23" name="Oval 22"/>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4" name="TextBox 23"/>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25" name="Rounded Rectangle 24"/>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7" name="TextBox 26"/>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CHANGE ASSESSMENT AND ACCEPTANCE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24</a:t>
            </a:r>
          </a:p>
        </p:txBody>
      </p:sp>
      <p:sp>
        <p:nvSpPr>
          <p:cNvPr id="14" name="Rounded Rectangle 13"/>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8" name="TextBox 17"/>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9" name="Picture 18" descr="check-2F5DA8.png"/>
          <p:cNvPicPr>
            <a:picLocks noChangeAspect="1"/>
          </p:cNvPicPr>
          <p:nvPr/>
        </p:nvPicPr>
        <p:blipFill>
          <a:blip r:embed="rId4"/>
          <a:stretch>
            <a:fillRect/>
          </a:stretch>
        </p:blipFill>
        <p:spPr>
          <a:xfrm>
            <a:off x="914400" y="2569464"/>
            <a:ext cx="219456" cy="219456"/>
          </a:xfrm>
          <a:prstGeom prst="rect">
            <a:avLst/>
          </a:prstGeom>
        </p:spPr>
      </p:pic>
      <p:sp>
        <p:nvSpPr>
          <p:cNvPr id="20" name="TextBox 19"/>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21" name="Picture 20" descr="check-2F5DA8.png"/>
          <p:cNvPicPr>
            <a:picLocks noChangeAspect="1"/>
          </p:cNvPicPr>
          <p:nvPr/>
        </p:nvPicPr>
        <p:blipFill>
          <a:blip r:embed="rId4"/>
          <a:stretch>
            <a:fillRect/>
          </a:stretch>
        </p:blipFill>
        <p:spPr>
          <a:xfrm>
            <a:off x="914400" y="3081528"/>
            <a:ext cx="219456" cy="219456"/>
          </a:xfrm>
          <a:prstGeom prst="rect">
            <a:avLst/>
          </a:prstGeom>
        </p:spPr>
      </p:pic>
      <p:sp>
        <p:nvSpPr>
          <p:cNvPr id="22" name="TextBox 21"/>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23" name="Picture 22" descr="check-2F5DA8.png"/>
          <p:cNvPicPr>
            <a:picLocks noChangeAspect="1"/>
          </p:cNvPicPr>
          <p:nvPr/>
        </p:nvPicPr>
        <p:blipFill>
          <a:blip r:embed="rId4"/>
          <a:stretch>
            <a:fillRect/>
          </a:stretch>
        </p:blipFill>
        <p:spPr>
          <a:xfrm>
            <a:off x="914400" y="3813048"/>
            <a:ext cx="219456" cy="219456"/>
          </a:xfrm>
          <a:prstGeom prst="rect">
            <a:avLst/>
          </a:prstGeom>
        </p:spPr>
      </p:pic>
      <p:sp>
        <p:nvSpPr>
          <p:cNvPr id="24" name="TextBox 23"/>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25" name="Rounded Rectangle 24"/>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9" name="TextBox 28"/>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30" name="Picture 29" descr="check-2F5DA8.png"/>
          <p:cNvPicPr>
            <a:picLocks noChangeAspect="1"/>
          </p:cNvPicPr>
          <p:nvPr/>
        </p:nvPicPr>
        <p:blipFill>
          <a:blip r:embed="rId4"/>
          <a:stretch>
            <a:fillRect/>
          </a:stretch>
        </p:blipFill>
        <p:spPr>
          <a:xfrm>
            <a:off x="6598767" y="2569464"/>
            <a:ext cx="219456" cy="219456"/>
          </a:xfrm>
          <a:prstGeom prst="rect">
            <a:avLst/>
          </a:prstGeom>
        </p:spPr>
      </p:pic>
      <p:sp>
        <p:nvSpPr>
          <p:cNvPr id="31" name="TextBox 30"/>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32" name="Picture 31" descr="check-2F5DA8.png"/>
          <p:cNvPicPr>
            <a:picLocks noChangeAspect="1"/>
          </p:cNvPicPr>
          <p:nvPr/>
        </p:nvPicPr>
        <p:blipFill>
          <a:blip r:embed="rId4"/>
          <a:stretch>
            <a:fillRect/>
          </a:stretch>
        </p:blipFill>
        <p:spPr>
          <a:xfrm>
            <a:off x="6598767" y="3081528"/>
            <a:ext cx="219456" cy="219456"/>
          </a:xfrm>
          <a:prstGeom prst="rect">
            <a:avLst/>
          </a:prstGeom>
        </p:spPr>
      </p:pic>
      <p:sp>
        <p:nvSpPr>
          <p:cNvPr id="33" name="TextBox 32"/>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34" name="Picture 33" descr="check-2F5DA8.png"/>
          <p:cNvPicPr>
            <a:picLocks noChangeAspect="1"/>
          </p:cNvPicPr>
          <p:nvPr/>
        </p:nvPicPr>
        <p:blipFill>
          <a:blip r:embed="rId4"/>
          <a:stretch>
            <a:fillRect/>
          </a:stretch>
        </p:blipFill>
        <p:spPr>
          <a:xfrm>
            <a:off x="6598767" y="3593592"/>
            <a:ext cx="219456" cy="219456"/>
          </a:xfrm>
          <a:prstGeom prst="rect">
            <a:avLst/>
          </a:prstGeom>
        </p:spPr>
      </p:pic>
      <p:sp>
        <p:nvSpPr>
          <p:cNvPr id="35" name="TextBox 34"/>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6" name="Picture 35"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7" name="TextBox 36"/>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8" name="Rounded Rectangle 37"/>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40" name="Rounded Rectangle 39"/>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41" name="Rounded Rectangle 40"/>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42" name="Rounded Rectangle 41"/>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43" name="Rounded Rectangle 42"/>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44" name="Rounded Rectangle 43"/>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F5DA8"/>
                </a:solidFill>
                <a:latin typeface="Arial"/>
              </a:rPr>
              <a:t>Ad hoc requirement  </a:t>
            </a:r>
            <a:r>
              <a:rPr sz="1300" b="0" i="1">
                <a:solidFill>
                  <a:srgbClr val="5A6478"/>
                </a:solidFill>
                <a:latin typeface="Arial"/>
              </a:rPr>
              <a:t>[AH-E1, one line in the traveller's words]</a:t>
            </a:r>
            <a:r>
              <a:rPr sz="1300" b="1" i="0">
                <a:solidFill>
                  <a:srgbClr val="2F5DA8"/>
                </a:solidFill>
                <a:latin typeface="Arial"/>
              </a:rPr>
              <a:t>      Use case  </a:t>
            </a:r>
            <a:r>
              <a:rPr sz="1300" b="0" i="1">
                <a:solidFill>
                  <a:srgbClr val="5A6478"/>
                </a:solidFill>
                <a:latin typeface="Arial"/>
              </a:rPr>
              <a:t>[UC-Ex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Models</a:t>
            </a:r>
            <a:r>
              <a:rPr sz="4800" b="1" i="0">
                <a:solidFill>
                  <a:srgbClr val="FFFFFF"/>
                </a:solidFill>
                <a:latin typeface="Georgia"/>
              </a:rPr>
              <a:t> choose.</a:t>
            </a:r>
          </a:p>
        </p:txBody>
      </p:sp>
      <p:sp>
        <p:nvSpPr>
          <p:cNvPr id="4" name="TextBox 3"/>
          <p:cNvSpPr txBox="1"/>
          <p:nvPr/>
        </p:nvSpPr>
        <p:spPr>
          <a:xfrm>
            <a:off x="822960" y="256032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Code</a:t>
            </a:r>
            <a:r>
              <a:rPr sz="4800" b="1" i="0">
                <a:solidFill>
                  <a:srgbClr val="FFFFFF"/>
                </a:solidFill>
                <a:latin typeface="Georgia"/>
              </a:rPr>
              <a:t> decides.</a:t>
            </a:r>
          </a:p>
        </p:txBody>
      </p:sp>
      <p:sp>
        <p:nvSpPr>
          <p:cNvPr id="5" name="TextBox 4"/>
          <p:cNvSpPr txBox="1"/>
          <p:nvPr/>
        </p:nvSpPr>
        <p:spPr>
          <a:xfrm>
            <a:off x="822960" y="342900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The traveller</a:t>
            </a:r>
            <a:r>
              <a:rPr sz="48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