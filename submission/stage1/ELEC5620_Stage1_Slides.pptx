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51" d="100"/>
          <a:sy n="51" d="100"/>
        </p:scale>
        <p:origin x="705" y="45"/>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6550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A. Hi, I'm Ziqi He, member A. We are Group 14 from the Monday 10 to 12 class, and this is AI Trip Planner, a one-person AI travel agency. Each of us will present our own part.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A. Planning a trip means juggling many sites, and every choice constrains the others. A chatbot can write an itinerary, but it invents prices and never checks that the parts fit. So we built an agency where specialist agents plan together on real data, and code checks their work.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A. There are two humans: the traveller, our customer, and the founder who runs the agency and tests the agents in our Agent Lab. Then seven AI roles: a coordinator that talks to the traveller, a supervisor that assigns work, and five specialists, each with its own prompt and tools.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A. Our key design choice: the LangGraph workflow drives the agents, not the other way round. Specialists plan in stages on a shared board, code detects budget, time and route conflicts, and only the agents involved revise, for at most three rounds. If a model fails, a validated fallback keeps planning working.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A. [About 25 seconds. Name your ad hoc requirement and use case, then point to where the LLM sits in each diagram and which code checks it. Replace the three placeholders with your diagrams.]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B. I'm Tingsong Jin, member B. We classified requirements into the agreed scope, mandatory capabilities and optional features. Each member owns two core features and one optional one, shown here. Every member also wrote an ad hoc requirement and broke it into functional, non-functional and constraint requirements.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B. The feature diagram groups the system into seven areas, with mandatory, optional and alternative features, such as shared or individual rooms. We added cross-tree constraints and attached non-functional requirements, like money in integer cents.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B. The use case diagram has one traveller and three external systems. Each member wrote at least one full specification, and our behaviour diagrams come from those.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B. [About 25 seconds. Name your ad hoc requirement and use case, then point to where the LLM sits in each diagram and which code checks it. Replace the three placeholders with your diagrams.]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C. I'm Yi Qiao, member C. I own accommodation and budget. My ad hoc requirement: the hotel must fit the money left after flights, a budget overrun should swap to a cheaper hotel that still meets my rules, and an impossible budget should name the minimum. That gave my two use cases.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C. The object diagram snapshots the planning board for a Tokyo trip that is 640 dollars over budget. The hotel prices are real fixture values; transport and dining are illustrative. Accommodation is asked to save 379 dollars, so it moves to the saver hotel.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C. The collaboration shows roles, not classes: my budget code plays the judge that turns proposals into targeted revisions. The structured class shows the workflow's parts and its injected ports.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C. In my activity diagram the LLM appears once, choosing one candidate id. Around it everything is deterministic: invalid output falls back to a rule, a booked stay skips the search, and prices are in cents.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C. The sequence diagram shows an overrun: my detectConflicts sends a revision only to the agents that can cut, and round two is kept only because the plan score improved.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C. The state machine follows the accommodation section through one turn, and maps its internal states onto the three statuses the traveller sees. Over to 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D. I'm Jiahang Bian, member D. Our class model has six diagrams drawn from the code. The spine runs from the workspace, through the coordinator and workflow, to specialists that reach tools and memory only through injected interfaces.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D. Every agent realises one Specialist interface, so the graph loops over them without knowing their models. The registry aggregates agents, while a plan is composed of its sections.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D. We discarded a model-driven loop and free agent-to-agent chat, because limits and costs must be testable. We dropped approval checkpoints, since confirming applied nothing, and chose DeepSeek because it was about three times faster.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I am Jiahang Bian, member D. UC-D1 shows both specialists working from evidence: the guide uses map coordinates and weather data; dining uses restaurant candidates and confirmed dietary preferences. The LLM drafts guidance, while deterministic code validates its output and budget. Forecasts are distinguished from climate context, and unavailable weather is disclosed.</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E. I'm Weihao Wang, member E. Six packages, each with an owner, all depend inward on the shared contracts, which depend on nothing. New specialists, providers or stores plug in behind existing interfaces.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E. It deploys as one serverless Next.js app. Memory, account sync and sign-in are optional, and without keys the same build runs fully on mock data.</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E. A change must trace to a requirement; a change to shared contracts needs a written decision. A pull request is accepted when CI passes, an end-to-end artifact exists, use case postconditions hold and the models are updated.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E. [About 25 seconds. Name your ad hoc requirement and use case, then point to where the LLM sits in each diagram and which code checks it. Replace the three placeholders with your diagrams.]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E. In short: models choose, code decides, and the traveller stays in control. Thank you for watching.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2" name="TextBox 1"/>
          <p:cNvSpPr txBox="1"/>
          <p:nvPr/>
        </p:nvSpPr>
        <p:spPr>
          <a:xfrm>
            <a:off x="812800" y="1853009"/>
            <a:ext cx="10617200" cy="203200"/>
          </a:xfrm>
          <a:prstGeom prst="rect">
            <a:avLst/>
          </a:prstGeom>
          <a:noFill/>
        </p:spPr>
        <p:txBody>
          <a:bodyPr wrap="square" lIns="0" tIns="0" rIns="0" bIns="0" anchor="t">
            <a:spAutoFit/>
          </a:bodyPr>
          <a:lstStyle/>
          <a:p>
            <a:pPr algn="l"/>
            <a:r>
              <a:rPr sz="1400" b="0" i="0" spc="150">
                <a:solidFill>
                  <a:srgbClr val="F2A65A"/>
                </a:solidFill>
                <a:latin typeface="IBM Plex Sans"/>
              </a:rPr>
              <a:t>ELEC5620 · STAGE 1 · MON 10-12 GROUP 14</a:t>
            </a:r>
          </a:p>
        </p:txBody>
      </p:sp>
      <p:sp>
        <p:nvSpPr>
          <p:cNvPr id="3" name="TextBox 2"/>
          <p:cNvSpPr txBox="1"/>
          <p:nvPr/>
        </p:nvSpPr>
        <p:spPr>
          <a:xfrm>
            <a:off x="812800" y="2259409"/>
            <a:ext cx="10617200" cy="800100"/>
          </a:xfrm>
          <a:prstGeom prst="rect">
            <a:avLst/>
          </a:prstGeom>
          <a:noFill/>
        </p:spPr>
        <p:txBody>
          <a:bodyPr wrap="square" lIns="0" tIns="0" rIns="0" bIns="0" anchor="t">
            <a:spAutoFit/>
          </a:bodyPr>
          <a:lstStyle/>
          <a:p>
            <a:pPr algn="l">
              <a:lnSpc>
                <a:spcPct val="99750"/>
              </a:lnSpc>
            </a:pPr>
            <a:r>
              <a:rPr sz="6000" b="1" i="0">
                <a:solidFill>
                  <a:srgbClr val="F7F6F1"/>
                </a:solidFill>
                <a:latin typeface="Rubik"/>
              </a:rPr>
              <a:t>AI Trip Planner</a:t>
            </a:r>
          </a:p>
        </p:txBody>
      </p:sp>
      <p:sp>
        <p:nvSpPr>
          <p:cNvPr id="4" name="TextBox 3"/>
          <p:cNvSpPr txBox="1"/>
          <p:nvPr/>
        </p:nvSpPr>
        <p:spPr>
          <a:xfrm>
            <a:off x="812800" y="3262709"/>
            <a:ext cx="10617200" cy="726281"/>
          </a:xfrm>
          <a:prstGeom prst="rect">
            <a:avLst/>
          </a:prstGeom>
          <a:noFill/>
        </p:spPr>
        <p:txBody>
          <a:bodyPr wrap="square" lIns="0" tIns="0" rIns="0" bIns="0" anchor="t">
            <a:spAutoFit/>
          </a:bodyPr>
          <a:lstStyle/>
          <a:p>
            <a:pPr algn="l">
              <a:lnSpc>
                <a:spcPct val="123500"/>
              </a:lnSpc>
            </a:pPr>
            <a:r>
              <a:rPr sz="2200" b="0" i="0">
                <a:solidFill>
                  <a:srgbClr val="C9D3E3"/>
                </a:solidFill>
                <a:latin typeface="IBM Plex Sans"/>
              </a:rPr>
              <a:t>A one-person AI travel agency: seven AI roles plan a trip together, one human runs the company.</a:t>
            </a:r>
          </a:p>
        </p:txBody>
      </p:sp>
      <p:sp>
        <p:nvSpPr>
          <p:cNvPr id="5" name="Rounded Rectangle 4"/>
          <p:cNvSpPr/>
          <p:nvPr/>
        </p:nvSpPr>
        <p:spPr>
          <a:xfrm>
            <a:off x="812800" y="4192191"/>
            <a:ext cx="1998563" cy="330200"/>
          </a:xfrm>
          <a:prstGeom prst="roundRect">
            <a:avLst>
              <a:gd name="adj" fmla="val 50000"/>
            </a:avLst>
          </a:prstGeom>
          <a:solidFill>
            <a:srgbClr val="22335A"/>
          </a:solidFill>
          <a:ln>
            <a:noFill/>
          </a:ln>
          <a:effectLst/>
        </p:spPr>
        <p:style>
          <a:lnRef idx="1">
            <a:schemeClr val="accent1"/>
          </a:lnRef>
          <a:fillRef idx="3">
            <a:schemeClr val="accent1"/>
          </a:fillRef>
          <a:effectRef idx="2">
            <a:schemeClr val="accent1"/>
          </a:effectRef>
          <a:fontRef idx="minor">
            <a:schemeClr val="lt1"/>
          </a:fontRef>
        </p:style>
        <p:txBody>
          <a:bodyPr wrap="square" lIns="152400" tIns="0" rIns="152400" bIns="0" rtlCol="0" anchor="ctr"/>
          <a:lstStyle/>
          <a:p>
            <a:pPr algn="l"/>
            <a:r>
              <a:rPr sz="1200" b="0" i="0">
                <a:solidFill>
                  <a:srgbClr val="F7F6F1"/>
                </a:solidFill>
                <a:latin typeface="IBM Plex Sans"/>
              </a:rPr>
              <a:t>A · Ziqi He · Orchestrator</a:t>
            </a:r>
          </a:p>
        </p:txBody>
      </p:sp>
      <p:sp>
        <p:nvSpPr>
          <p:cNvPr id="6" name="Rounded Rectangle 5"/>
          <p:cNvSpPr/>
          <p:nvPr/>
        </p:nvSpPr>
        <p:spPr>
          <a:xfrm>
            <a:off x="2963763" y="4192191"/>
            <a:ext cx="3023890" cy="330200"/>
          </a:xfrm>
          <a:prstGeom prst="roundRect">
            <a:avLst>
              <a:gd name="adj" fmla="val 50000"/>
            </a:avLst>
          </a:prstGeom>
          <a:solidFill>
            <a:srgbClr val="22335A"/>
          </a:solidFill>
          <a:ln>
            <a:noFill/>
          </a:ln>
          <a:effectLst/>
        </p:spPr>
        <p:style>
          <a:lnRef idx="1">
            <a:schemeClr val="accent1"/>
          </a:lnRef>
          <a:fillRef idx="3">
            <a:schemeClr val="accent1"/>
          </a:fillRef>
          <a:effectRef idx="2">
            <a:schemeClr val="accent1"/>
          </a:effectRef>
          <a:fontRef idx="minor">
            <a:schemeClr val="lt1"/>
          </a:fontRef>
        </p:style>
        <p:txBody>
          <a:bodyPr wrap="square" lIns="152400" tIns="0" rIns="152400" bIns="0" rtlCol="0" anchor="ctr"/>
          <a:lstStyle/>
          <a:p>
            <a:pPr algn="l"/>
            <a:r>
              <a:rPr sz="1200" b="0" i="0">
                <a:solidFill>
                  <a:srgbClr val="F7F6F1"/>
                </a:solidFill>
                <a:latin typeface="IBM Plex Sans"/>
              </a:rPr>
              <a:t>B · Tingsong Jin · Itinerary and transport</a:t>
            </a:r>
          </a:p>
        </p:txBody>
      </p:sp>
      <p:sp>
        <p:nvSpPr>
          <p:cNvPr id="7" name="Rounded Rectangle 6"/>
          <p:cNvSpPr/>
          <p:nvPr/>
        </p:nvSpPr>
        <p:spPr>
          <a:xfrm>
            <a:off x="6140053" y="4192191"/>
            <a:ext cx="3066455" cy="330200"/>
          </a:xfrm>
          <a:prstGeom prst="roundRect">
            <a:avLst>
              <a:gd name="adj" fmla="val 50000"/>
            </a:avLst>
          </a:prstGeom>
          <a:solidFill>
            <a:srgbClr val="22335A"/>
          </a:solidFill>
          <a:ln>
            <a:noFill/>
          </a:ln>
          <a:effectLst/>
        </p:spPr>
        <p:style>
          <a:lnRef idx="1">
            <a:schemeClr val="accent1"/>
          </a:lnRef>
          <a:fillRef idx="3">
            <a:schemeClr val="accent1"/>
          </a:fillRef>
          <a:effectRef idx="2">
            <a:schemeClr val="accent1"/>
          </a:effectRef>
          <a:fontRef idx="minor">
            <a:schemeClr val="lt1"/>
          </a:fontRef>
        </p:style>
        <p:txBody>
          <a:bodyPr wrap="square" lIns="152400" tIns="0" rIns="152400" bIns="0" rtlCol="0" anchor="ctr"/>
          <a:lstStyle/>
          <a:p>
            <a:pPr algn="l"/>
            <a:r>
              <a:rPr sz="1200" b="0" i="0">
                <a:solidFill>
                  <a:srgbClr val="F7F6F1"/>
                </a:solidFill>
                <a:latin typeface="IBM Plex Sans"/>
              </a:rPr>
              <a:t>C · Yi Qiao · Accommodation and budget</a:t>
            </a:r>
          </a:p>
        </p:txBody>
      </p:sp>
      <p:sp>
        <p:nvSpPr>
          <p:cNvPr id="8" name="Rounded Rectangle 7"/>
          <p:cNvSpPr/>
          <p:nvPr/>
        </p:nvSpPr>
        <p:spPr>
          <a:xfrm>
            <a:off x="812800" y="4674791"/>
            <a:ext cx="3075087" cy="330200"/>
          </a:xfrm>
          <a:prstGeom prst="roundRect">
            <a:avLst>
              <a:gd name="adj" fmla="val 50000"/>
            </a:avLst>
          </a:prstGeom>
          <a:solidFill>
            <a:srgbClr val="22335A"/>
          </a:solidFill>
          <a:ln>
            <a:noFill/>
          </a:ln>
          <a:effectLst/>
        </p:spPr>
        <p:style>
          <a:lnRef idx="1">
            <a:schemeClr val="accent1"/>
          </a:lnRef>
          <a:fillRef idx="3">
            <a:schemeClr val="accent1"/>
          </a:fillRef>
          <a:effectRef idx="2">
            <a:schemeClr val="accent1"/>
          </a:effectRef>
          <a:fontRef idx="minor">
            <a:schemeClr val="lt1"/>
          </a:fontRef>
        </p:style>
        <p:txBody>
          <a:bodyPr wrap="square" lIns="152400" tIns="0" rIns="152400" bIns="0" rtlCol="0" anchor="ctr"/>
          <a:lstStyle/>
          <a:p>
            <a:pPr algn="l"/>
            <a:r>
              <a:rPr sz="1200" b="0" i="0">
                <a:solidFill>
                  <a:srgbClr val="F7F6F1"/>
                </a:solidFill>
                <a:latin typeface="IBM Plex Sans"/>
              </a:rPr>
              <a:t>D · Jiahang Bian · Destination and dining</a:t>
            </a:r>
          </a:p>
        </p:txBody>
      </p:sp>
      <p:sp>
        <p:nvSpPr>
          <p:cNvPr id="9" name="Rounded Rectangle 8"/>
          <p:cNvSpPr/>
          <p:nvPr/>
        </p:nvSpPr>
        <p:spPr>
          <a:xfrm>
            <a:off x="4040287" y="4674791"/>
            <a:ext cx="3274913" cy="330200"/>
          </a:xfrm>
          <a:prstGeom prst="roundRect">
            <a:avLst>
              <a:gd name="adj" fmla="val 50000"/>
            </a:avLst>
          </a:prstGeom>
          <a:solidFill>
            <a:srgbClr val="22335A"/>
          </a:solidFill>
          <a:ln>
            <a:noFill/>
          </a:ln>
          <a:effectLst/>
        </p:spPr>
        <p:style>
          <a:lnRef idx="1">
            <a:schemeClr val="accent1"/>
          </a:lnRef>
          <a:fillRef idx="3">
            <a:schemeClr val="accent1"/>
          </a:fillRef>
          <a:effectRef idx="2">
            <a:schemeClr val="accent1"/>
          </a:effectRef>
          <a:fontRef idx="minor">
            <a:schemeClr val="lt1"/>
          </a:fontRef>
        </p:style>
        <p:txBody>
          <a:bodyPr wrap="square" lIns="152400" tIns="0" rIns="152400" bIns="0" rtlCol="0" anchor="ctr"/>
          <a:lstStyle/>
          <a:p>
            <a:pPr algn="l"/>
            <a:r>
              <a:rPr sz="1200" b="0" i="0">
                <a:solidFill>
                  <a:srgbClr val="F7F6F1"/>
                </a:solidFill>
                <a:latin typeface="IBM Plex Sans"/>
              </a:rPr>
              <a:t>E · Weihao Wang · Workspace and memory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A · THE PROBLEM</a:t>
            </a:r>
          </a:p>
        </p:txBody>
      </p:sp>
      <p:sp>
        <p:nvSpPr>
          <p:cNvPr id="3" name="TextBox 2"/>
          <p:cNvSpPr txBox="1"/>
          <p:nvPr/>
        </p:nvSpPr>
        <p:spPr>
          <a:xfrm>
            <a:off x="812800" y="9906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Every travel choice constrains the others</a:t>
            </a:r>
          </a:p>
        </p:txBody>
      </p:sp>
      <p:sp>
        <p:nvSpPr>
          <p:cNvPr id="4" name="Rounded Rectangle 3"/>
          <p:cNvSpPr/>
          <p:nvPr/>
        </p:nvSpPr>
        <p:spPr>
          <a:xfrm>
            <a:off x="812800" y="1631950"/>
            <a:ext cx="3390900" cy="4210050"/>
          </a:xfrm>
          <a:prstGeom prst="roundRect">
            <a:avLst>
              <a:gd name="adj" fmla="val 2996"/>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73150" y="1892300"/>
            <a:ext cx="2921000" cy="266700"/>
          </a:xfrm>
          <a:prstGeom prst="rect">
            <a:avLst/>
          </a:prstGeom>
          <a:noFill/>
        </p:spPr>
        <p:txBody>
          <a:bodyPr wrap="square" lIns="0" tIns="0" rIns="0" bIns="0" anchor="t">
            <a:spAutoFit/>
          </a:bodyPr>
          <a:lstStyle/>
          <a:p>
            <a:pPr algn="l"/>
            <a:r>
              <a:rPr sz="1800" b="1" i="0">
                <a:solidFill>
                  <a:srgbClr val="14213D"/>
                </a:solidFill>
                <a:latin typeface="IBM Plex Sans"/>
              </a:rPr>
              <a:t>Too many sites</a:t>
            </a:r>
          </a:p>
        </p:txBody>
      </p:sp>
      <p:sp>
        <p:nvSpPr>
          <p:cNvPr id="6" name="TextBox 5"/>
          <p:cNvSpPr txBox="1"/>
          <p:nvPr/>
        </p:nvSpPr>
        <p:spPr>
          <a:xfrm>
            <a:off x="1073150" y="2260600"/>
            <a:ext cx="2921000" cy="746522"/>
          </a:xfrm>
          <a:prstGeom prst="rect">
            <a:avLst/>
          </a:prstGeom>
          <a:noFill/>
        </p:spPr>
        <p:txBody>
          <a:bodyPr wrap="square" lIns="0" tIns="0" rIns="0" bIns="0" anchor="t">
            <a:spAutoFit/>
          </a:bodyPr>
          <a:lstStyle/>
          <a:p>
            <a:pPr algn="l">
              <a:lnSpc>
                <a:spcPct val="133000"/>
              </a:lnSpc>
            </a:pPr>
            <a:r>
              <a:rPr sz="1400" b="0" i="0">
                <a:solidFill>
                  <a:srgbClr val="4A5568"/>
                </a:solidFill>
                <a:latin typeface="IBM Plex Sans"/>
              </a:rPr>
              <a:t>Flights, hotels, maps, food blogs and a budget spreadsheet, each on its own.</a:t>
            </a:r>
          </a:p>
        </p:txBody>
      </p:sp>
      <p:sp>
        <p:nvSpPr>
          <p:cNvPr id="7" name="Rounded Rectangle 6"/>
          <p:cNvSpPr/>
          <p:nvPr/>
        </p:nvSpPr>
        <p:spPr>
          <a:xfrm>
            <a:off x="4406900" y="1631950"/>
            <a:ext cx="3390900" cy="4210050"/>
          </a:xfrm>
          <a:prstGeom prst="roundRect">
            <a:avLst>
              <a:gd name="adj" fmla="val 2996"/>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67250" y="1892300"/>
            <a:ext cx="2921000" cy="266700"/>
          </a:xfrm>
          <a:prstGeom prst="rect">
            <a:avLst/>
          </a:prstGeom>
          <a:noFill/>
        </p:spPr>
        <p:txBody>
          <a:bodyPr wrap="square" lIns="0" tIns="0" rIns="0" bIns="0" anchor="t">
            <a:spAutoFit/>
          </a:bodyPr>
          <a:lstStyle/>
          <a:p>
            <a:pPr algn="l"/>
            <a:r>
              <a:rPr sz="1800" b="1" i="0">
                <a:solidFill>
                  <a:srgbClr val="14213D"/>
                </a:solidFill>
                <a:latin typeface="IBM Plex Sans"/>
              </a:rPr>
              <a:t>Chatbots invent facts</a:t>
            </a:r>
          </a:p>
        </p:txBody>
      </p:sp>
      <p:sp>
        <p:nvSpPr>
          <p:cNvPr id="9" name="TextBox 8"/>
          <p:cNvSpPr txBox="1"/>
          <p:nvPr/>
        </p:nvSpPr>
        <p:spPr>
          <a:xfrm>
            <a:off x="4667250" y="2260600"/>
            <a:ext cx="2921000" cy="746522"/>
          </a:xfrm>
          <a:prstGeom prst="rect">
            <a:avLst/>
          </a:prstGeom>
          <a:noFill/>
        </p:spPr>
        <p:txBody>
          <a:bodyPr wrap="square" lIns="0" tIns="0" rIns="0" bIns="0" anchor="t">
            <a:spAutoFit/>
          </a:bodyPr>
          <a:lstStyle/>
          <a:p>
            <a:pPr algn="l">
              <a:lnSpc>
                <a:spcPct val="133000"/>
              </a:lnSpc>
            </a:pPr>
            <a:r>
              <a:rPr sz="1400" b="0" i="0">
                <a:solidFill>
                  <a:srgbClr val="4A5568"/>
                </a:solidFill>
                <a:latin typeface="IBM Plex Sans"/>
              </a:rPr>
              <a:t>A single model writes a nice itinerary with made-up prices and never checks that the parts fit.</a:t>
            </a:r>
          </a:p>
        </p:txBody>
      </p:sp>
      <p:sp>
        <p:nvSpPr>
          <p:cNvPr id="10" name="Rounded Rectangle 9"/>
          <p:cNvSpPr/>
          <p:nvPr/>
        </p:nvSpPr>
        <p:spPr>
          <a:xfrm>
            <a:off x="8001000" y="1631950"/>
            <a:ext cx="3378200" cy="4210050"/>
          </a:xfrm>
          <a:prstGeom prst="roundRect">
            <a:avLst>
              <a:gd name="adj" fmla="val 3007"/>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55000" y="1885950"/>
            <a:ext cx="2921000" cy="266700"/>
          </a:xfrm>
          <a:prstGeom prst="rect">
            <a:avLst/>
          </a:prstGeom>
          <a:noFill/>
        </p:spPr>
        <p:txBody>
          <a:bodyPr wrap="square" lIns="0" tIns="0" rIns="0" bIns="0" anchor="t">
            <a:spAutoFit/>
          </a:bodyPr>
          <a:lstStyle/>
          <a:p>
            <a:pPr algn="l"/>
            <a:r>
              <a:rPr sz="1800" b="1" i="0">
                <a:solidFill>
                  <a:srgbClr val="F7F6F1"/>
                </a:solidFill>
                <a:latin typeface="IBM Plex Sans"/>
              </a:rPr>
              <a:t>Our answer</a:t>
            </a:r>
          </a:p>
        </p:txBody>
      </p:sp>
      <p:sp>
        <p:nvSpPr>
          <p:cNvPr id="12" name="TextBox 11"/>
          <p:cNvSpPr txBox="1"/>
          <p:nvPr/>
        </p:nvSpPr>
        <p:spPr>
          <a:xfrm>
            <a:off x="8255000" y="2254250"/>
            <a:ext cx="2921000" cy="995362"/>
          </a:xfrm>
          <a:prstGeom prst="rect">
            <a:avLst/>
          </a:prstGeom>
          <a:noFill/>
        </p:spPr>
        <p:txBody>
          <a:bodyPr wrap="square" lIns="0" tIns="0" rIns="0" bIns="0" anchor="t">
            <a:spAutoFit/>
          </a:bodyPr>
          <a:lstStyle/>
          <a:p>
            <a:pPr algn="l">
              <a:lnSpc>
                <a:spcPct val="133000"/>
              </a:lnSpc>
            </a:pPr>
            <a:r>
              <a:rPr sz="1400" b="0" i="0">
                <a:solidFill>
                  <a:srgbClr val="C9D3E3"/>
                </a:solidFill>
                <a:latin typeface="IBM Plex Sans"/>
              </a:rPr>
              <a:t>A one-person AI travel agency: specialist agents plan together on real data, and code checks their work.</a:t>
            </a:r>
          </a:p>
        </p:txBody>
      </p:sp>
      <p:sp>
        <p:nvSpPr>
          <p:cNvPr id="13" name="TextBox 12"/>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A · USERS AND AI ROLES</a:t>
            </a:r>
          </a:p>
        </p:txBody>
      </p:sp>
      <p:sp>
        <p:nvSpPr>
          <p:cNvPr id="3" name="TextBox 2"/>
          <p:cNvSpPr txBox="1"/>
          <p:nvPr/>
        </p:nvSpPr>
        <p:spPr>
          <a:xfrm>
            <a:off x="812800" y="9652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Two humans, seven AI roles</a:t>
            </a:r>
          </a:p>
        </p:txBody>
      </p:sp>
      <p:graphicFrame>
        <p:nvGraphicFramePr>
          <p:cNvPr id="4" name="Table 3"/>
          <p:cNvGraphicFramePr>
            <a:graphicFrameLocks noGrp="1"/>
          </p:cNvGraphicFramePr>
          <p:nvPr/>
        </p:nvGraphicFramePr>
        <p:xfrm>
          <a:off x="812800" y="1581150"/>
          <a:ext cx="10560049" cy="2549528"/>
        </p:xfrm>
        <a:graphic>
          <a:graphicData uri="http://schemas.openxmlformats.org/drawingml/2006/table">
            <a:tbl>
              <a:tblPr/>
              <a:tblGrid>
                <a:gridCol w="3167955">
                  <a:extLst>
                    <a:ext uri="{9D8B030D-6E8A-4147-A177-3AD203B41FA5}">
                      <a16:colId xmlns:a16="http://schemas.microsoft.com/office/drawing/2014/main" val="20000"/>
                    </a:ext>
                  </a:extLst>
                </a:gridCol>
                <a:gridCol w="1689596">
                  <a:extLst>
                    <a:ext uri="{9D8B030D-6E8A-4147-A177-3AD203B41FA5}">
                      <a16:colId xmlns:a16="http://schemas.microsoft.com/office/drawing/2014/main" val="20001"/>
                    </a:ext>
                  </a:extLst>
                </a:gridCol>
                <a:gridCol w="5702498">
                  <a:extLst>
                    <a:ext uri="{9D8B030D-6E8A-4147-A177-3AD203B41FA5}">
                      <a16:colId xmlns:a16="http://schemas.microsoft.com/office/drawing/2014/main" val="20002"/>
                    </a:ext>
                  </a:extLst>
                </a:gridCol>
              </a:tblGrid>
              <a:tr h="318691">
                <a:tc>
                  <a:txBody>
                    <a:bodyPr/>
                    <a:lstStyle/>
                    <a:p>
                      <a:r>
                        <a:rPr sz="1300" b="1">
                          <a:solidFill>
                            <a:srgbClr val="14213D"/>
                          </a:solidFill>
                          <a:latin typeface="IBM Plex Sans"/>
                        </a:rPr>
                        <a:t>Role</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300" b="1">
                          <a:solidFill>
                            <a:srgbClr val="14213D"/>
                          </a:solidFill>
                          <a:latin typeface="IBM Plex Sans"/>
                        </a:rPr>
                        <a:t>Kind</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300" b="1">
                          <a:solidFill>
                            <a:srgbClr val="14213D"/>
                          </a:solidFill>
                          <a:latin typeface="IBM Plex Sans"/>
                        </a:rPr>
                        <a:t>Responsibility</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extLst>
                  <a:ext uri="{0D108BD9-81ED-4DB2-BD59-A6C34878D82A}">
                    <a16:rowId xmlns:a16="http://schemas.microsoft.com/office/drawing/2014/main" val="10000"/>
                  </a:ext>
                </a:extLst>
              </a:tr>
              <a:tr h="318691">
                <a:tc>
                  <a:txBody>
                    <a:bodyPr/>
                    <a:lstStyle/>
                    <a:p>
                      <a:r>
                        <a:rPr sz="1300" b="0">
                          <a:solidFill>
                            <a:srgbClr val="14213D"/>
                          </a:solidFill>
                          <a:latin typeface="IBM Plex Sans"/>
                        </a:rPr>
                        <a:t>Traveller</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Human user</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Describes the trip, reads and edits the plan</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1"/>
                  </a:ext>
                </a:extLst>
              </a:tr>
              <a:tr h="318691">
                <a:tc>
                  <a:txBody>
                    <a:bodyPr/>
                    <a:lstStyle/>
                    <a:p>
                      <a:r>
                        <a:rPr sz="1300" b="0">
                          <a:solidFill>
                            <a:srgbClr val="14213D"/>
                          </a:solidFill>
                          <a:latin typeface="IBM Plex Sans"/>
                        </a:rPr>
                        <a:t>Founder / operator</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300" b="0">
                          <a:solidFill>
                            <a:srgbClr val="14213D"/>
                          </a:solidFill>
                          <a:latin typeface="IBM Plex Sans"/>
                        </a:rPr>
                        <a:t>Human</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300" b="0">
                          <a:solidFill>
                            <a:srgbClr val="14213D"/>
                          </a:solidFill>
                          <a:latin typeface="IBM Plex Sans"/>
                        </a:rPr>
                        <a:t>Runs the agency: models, providers, quotas, Agent Lab</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extLst>
                  <a:ext uri="{0D108BD9-81ED-4DB2-BD59-A6C34878D82A}">
                    <a16:rowId xmlns:a16="http://schemas.microsoft.com/office/drawing/2014/main" val="10002"/>
                  </a:ext>
                </a:extLst>
              </a:tr>
              <a:tr h="318691">
                <a:tc>
                  <a:txBody>
                    <a:bodyPr/>
                    <a:lstStyle/>
                    <a:p>
                      <a:r>
                        <a:rPr sz="1300" b="0">
                          <a:solidFill>
                            <a:srgbClr val="14213D"/>
                          </a:solidFill>
                          <a:latin typeface="IBM Plex Sans"/>
                        </a:rPr>
                        <a:t>Travel Coordinator</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AI</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Chat, turns it into a TripBrief, asks for missing facts</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3"/>
                  </a:ext>
                </a:extLst>
              </a:tr>
              <a:tr h="318691">
                <a:tc>
                  <a:txBody>
                    <a:bodyPr/>
                    <a:lstStyle/>
                    <a:p>
                      <a:r>
                        <a:rPr sz="1300" b="0">
                          <a:solidFill>
                            <a:srgbClr val="14213D"/>
                          </a:solidFill>
                          <a:latin typeface="IBM Plex Sans"/>
                        </a:rPr>
                        <a:t>Planning Supervisor</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300" b="0">
                          <a:solidFill>
                            <a:srgbClr val="14213D"/>
                          </a:solidFill>
                          <a:latin typeface="IBM Plex Sans"/>
                        </a:rPr>
                        <a:t>AI</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300" b="0">
                          <a:solidFill>
                            <a:srgbClr val="14213D"/>
                          </a:solidFill>
                          <a:latin typeface="IBM Plex Sans"/>
                        </a:rPr>
                        <a:t>Picks which specialists each step needs</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extLst>
                  <a:ext uri="{0D108BD9-81ED-4DB2-BD59-A6C34878D82A}">
                    <a16:rowId xmlns:a16="http://schemas.microsoft.com/office/drawing/2014/main" val="10004"/>
                  </a:ext>
                </a:extLst>
              </a:tr>
              <a:tr h="318691">
                <a:tc>
                  <a:txBody>
                    <a:bodyPr/>
                    <a:lstStyle/>
                    <a:p>
                      <a:r>
                        <a:rPr sz="1300" b="0">
                          <a:solidFill>
                            <a:srgbClr val="14213D"/>
                          </a:solidFill>
                          <a:latin typeface="IBM Plex Sans"/>
                        </a:rPr>
                        <a:t>Itinerary · Transport</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AI specialists</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Day plan and route checks; flights, rail, local routes</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5"/>
                  </a:ext>
                </a:extLst>
              </a:tr>
              <a:tr h="318691">
                <a:tc>
                  <a:txBody>
                    <a:bodyPr/>
                    <a:lstStyle/>
                    <a:p>
                      <a:r>
                        <a:rPr sz="1300" b="0">
                          <a:solidFill>
                            <a:srgbClr val="14213D"/>
                          </a:solidFill>
                          <a:latin typeface="IBM Plex Sans"/>
                        </a:rPr>
                        <a:t>Accommodation · Dining</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300" b="0">
                          <a:solidFill>
                            <a:srgbClr val="14213D"/>
                          </a:solidFill>
                          <a:latin typeface="IBM Plex Sans"/>
                        </a:rPr>
                        <a:t>AI specialists</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300" b="0">
                          <a:solidFill>
                            <a:srgbClr val="14213D"/>
                          </a:solidFill>
                          <a:latin typeface="IBM Plex Sans"/>
                        </a:rPr>
                        <a:t>Stays and room allocation; venues and dietary needs</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extLst>
                  <a:ext uri="{0D108BD9-81ED-4DB2-BD59-A6C34878D82A}">
                    <a16:rowId xmlns:a16="http://schemas.microsoft.com/office/drawing/2014/main" val="10006"/>
                  </a:ext>
                </a:extLst>
              </a:tr>
              <a:tr h="318691">
                <a:tc>
                  <a:txBody>
                    <a:bodyPr/>
                    <a:lstStyle/>
                    <a:p>
                      <a:r>
                        <a:rPr sz="1300" b="0">
                          <a:solidFill>
                            <a:srgbClr val="14213D"/>
                          </a:solidFill>
                          <a:latin typeface="IBM Plex Sans"/>
                        </a:rPr>
                        <a:t>Destination guide</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AI specialist</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300" b="0">
                          <a:solidFill>
                            <a:srgbClr val="14213D"/>
                          </a:solidFill>
                          <a:latin typeface="IBM Plex Sans"/>
                        </a:rPr>
                        <a:t>Attractions, customs, safety, weather and packing</a:t>
                      </a:r>
                    </a:p>
                  </a:txBody>
                  <a:tcPr marL="99060" marR="99060" marT="49530" marB="49530">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A · ARCHITECTURE</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The graph drives the agents, not the other way round</a:t>
            </a:r>
          </a:p>
        </p:txBody>
      </p:sp>
      <p:sp>
        <p:nvSpPr>
          <p:cNvPr id="4" name="Rounded Rectangle 3"/>
          <p:cNvSpPr/>
          <p:nvPr/>
        </p:nvSpPr>
        <p:spPr>
          <a:xfrm>
            <a:off x="812800" y="1530350"/>
            <a:ext cx="6985000" cy="1460500"/>
          </a:xfrm>
          <a:prstGeom prst="roundRect">
            <a:avLst>
              <a:gd name="adj" fmla="val 6956"/>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ngGraph loop: dispatch specialists, detect conflicts, revise conflicts up to three rounds, build plan"/>
          <p:cNvPicPr>
            <a:picLocks noChangeAspect="1"/>
          </p:cNvPicPr>
          <p:nvPr/>
        </p:nvPicPr>
        <p:blipFill>
          <a:blip r:embed="rId3"/>
          <a:stretch>
            <a:fillRect/>
          </a:stretch>
        </p:blipFill>
        <p:spPr>
          <a:xfrm>
            <a:off x="812800" y="1789458"/>
            <a:ext cx="6985000" cy="942283"/>
          </a:xfrm>
          <a:prstGeom prst="rect">
            <a:avLst/>
          </a:prstGeom>
        </p:spPr>
      </p:pic>
      <p:sp>
        <p:nvSpPr>
          <p:cNvPr id="6" name="Rounded Rectangle 5"/>
          <p:cNvSpPr/>
          <p:nvPr/>
        </p:nvSpPr>
        <p:spPr>
          <a:xfrm>
            <a:off x="812800" y="3117850"/>
            <a:ext cx="6985000" cy="1815703"/>
          </a:xfrm>
          <a:prstGeom prst="roundRect">
            <a:avLst>
              <a:gd name="adj" fmla="val 5595"/>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2350" y="3327400"/>
            <a:ext cx="6616700" cy="49768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1.</a:t>
            </a:r>
            <a:r>
              <a:rPr sz="1400" b="0" i="0">
                <a:solidFill>
                  <a:srgbClr val="14213D"/>
                </a:solidFill>
                <a:latin typeface="IBM Plex Sans"/>
              </a:rPr>
              <a:t> Specialists plan in stages on a shared board: transport, then accommodation, then itinerary and dining.</a:t>
            </a:r>
          </a:p>
        </p:txBody>
      </p:sp>
      <p:sp>
        <p:nvSpPr>
          <p:cNvPr id="8" name="TextBox 7"/>
          <p:cNvSpPr txBox="1"/>
          <p:nvPr/>
        </p:nvSpPr>
        <p:spPr>
          <a:xfrm>
            <a:off x="1022350" y="3901281"/>
            <a:ext cx="6616700" cy="24884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2.</a:t>
            </a:r>
            <a:r>
              <a:rPr sz="1400" b="0" i="0">
                <a:solidFill>
                  <a:srgbClr val="14213D"/>
                </a:solidFill>
                <a:latin typeface="IBM Plex Sans"/>
              </a:rPr>
              <a:t> Code detects budget, time and route conflicts.</a:t>
            </a:r>
          </a:p>
        </p:txBody>
      </p:sp>
      <p:sp>
        <p:nvSpPr>
          <p:cNvPr id="9" name="TextBox 8"/>
          <p:cNvSpPr txBox="1"/>
          <p:nvPr/>
        </p:nvSpPr>
        <p:spPr>
          <a:xfrm>
            <a:off x="1022350" y="4226322"/>
            <a:ext cx="6616700" cy="49768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3.</a:t>
            </a:r>
            <a:r>
              <a:rPr sz="1400" b="0" i="0">
                <a:solidFill>
                  <a:srgbClr val="14213D"/>
                </a:solidFill>
                <a:latin typeface="IBM Plex Sans"/>
              </a:rPr>
              <a:t> Only the agents involved revise, for at most three rounds, and a round is kept only if the plan improves.</a:t>
            </a:r>
          </a:p>
        </p:txBody>
      </p:sp>
      <p:sp>
        <p:nvSpPr>
          <p:cNvPr id="10" name="Rounded Rectangle 9"/>
          <p:cNvSpPr/>
          <p:nvPr/>
        </p:nvSpPr>
        <p:spPr>
          <a:xfrm>
            <a:off x="8001000" y="1530350"/>
            <a:ext cx="3378200" cy="3937000"/>
          </a:xfrm>
          <a:prstGeom prst="roundRect">
            <a:avLst>
              <a:gd name="adj" fmla="val 3007"/>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Runtime flow from the traveller through the coordinator, LangGraph workflow, supervisor and specialists to tools and a validated plan, with fallbacks"/>
          <p:cNvPicPr>
            <a:picLocks noChangeAspect="1"/>
          </p:cNvPicPr>
          <p:nvPr/>
        </p:nvPicPr>
        <p:blipFill>
          <a:blip r:embed="rId4"/>
          <a:stretch>
            <a:fillRect/>
          </a:stretch>
        </p:blipFill>
        <p:spPr>
          <a:xfrm>
            <a:off x="8001000" y="1806590"/>
            <a:ext cx="3378200" cy="3384520"/>
          </a:xfrm>
          <a:prstGeom prst="rect">
            <a:avLst/>
          </a:prstGeom>
        </p:spPr>
      </p:pic>
      <p:sp>
        <p:nvSpPr>
          <p:cNvPr id="12" name="TextBox 11"/>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A · INDIVIDUAL BEHAVIOUR MODELS</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[A's use case]: activity, sequence and state machine</a:t>
            </a:r>
          </a:p>
        </p:txBody>
      </p:sp>
      <p:sp>
        <p:nvSpPr>
          <p:cNvPr id="4" name="Rounded Rectangle 3"/>
          <p:cNvSpPr/>
          <p:nvPr/>
        </p:nvSpPr>
        <p:spPr>
          <a:xfrm>
            <a:off x="812800"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9296" y="3584575"/>
            <a:ext cx="1404441" cy="203200"/>
          </a:xfrm>
          <a:prstGeom prst="rect">
            <a:avLst/>
          </a:prstGeom>
          <a:noFill/>
        </p:spPr>
        <p:txBody>
          <a:bodyPr wrap="square" lIns="0" tIns="0" rIns="0" bIns="0" anchor="t">
            <a:spAutoFit/>
          </a:bodyPr>
          <a:lstStyle/>
          <a:p>
            <a:pPr algn="l"/>
            <a:r>
              <a:rPr sz="1400" b="0" i="0">
                <a:solidFill>
                  <a:srgbClr val="5A6478"/>
                </a:solidFill>
                <a:latin typeface="IBM Plex Sans"/>
              </a:rPr>
              <a:t>[Activity diagram]</a:t>
            </a:r>
          </a:p>
        </p:txBody>
      </p:sp>
      <p:sp>
        <p:nvSpPr>
          <p:cNvPr id="6" name="Rounded Rectangle 5"/>
          <p:cNvSpPr/>
          <p:nvPr/>
        </p:nvSpPr>
        <p:spPr>
          <a:xfrm>
            <a:off x="4402634"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00266" y="3584575"/>
            <a:ext cx="1642170" cy="203200"/>
          </a:xfrm>
          <a:prstGeom prst="rect">
            <a:avLst/>
          </a:prstGeom>
          <a:noFill/>
        </p:spPr>
        <p:txBody>
          <a:bodyPr wrap="square" lIns="0" tIns="0" rIns="0" bIns="0" anchor="t">
            <a:spAutoFit/>
          </a:bodyPr>
          <a:lstStyle/>
          <a:p>
            <a:pPr algn="l"/>
            <a:r>
              <a:rPr sz="1400" b="0" i="0">
                <a:solidFill>
                  <a:srgbClr val="5A6478"/>
                </a:solidFill>
                <a:latin typeface="IBM Plex Sans"/>
              </a:rPr>
              <a:t>[Sequence diagram]</a:t>
            </a:r>
          </a:p>
        </p:txBody>
      </p:sp>
      <p:sp>
        <p:nvSpPr>
          <p:cNvPr id="8" name="Rounded Rectangle 7"/>
          <p:cNvSpPr/>
          <p:nvPr/>
        </p:nvSpPr>
        <p:spPr>
          <a:xfrm>
            <a:off x="7992467"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067998" y="3584575"/>
            <a:ext cx="1286272" cy="203200"/>
          </a:xfrm>
          <a:prstGeom prst="rect">
            <a:avLst/>
          </a:prstGeom>
          <a:noFill/>
        </p:spPr>
        <p:txBody>
          <a:bodyPr wrap="square" lIns="0" tIns="0" rIns="0" bIns="0" anchor="t">
            <a:spAutoFit/>
          </a:bodyPr>
          <a:lstStyle/>
          <a:p>
            <a:pPr algn="l"/>
            <a:r>
              <a:rPr sz="1400" b="0" i="0">
                <a:solidFill>
                  <a:srgbClr val="5A6478"/>
                </a:solidFill>
                <a:latin typeface="IBM Plex Sans"/>
              </a:rPr>
              <a:t>[State machine]</a:t>
            </a:r>
          </a:p>
        </p:txBody>
      </p:sp>
      <p:sp>
        <p:nvSpPr>
          <p:cNvPr id="10" name="TextBox 9"/>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B · REQUIREMENT CLASSIFICATION</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Each member owns two core features and one optional</a:t>
            </a:r>
          </a:p>
        </p:txBody>
      </p:sp>
      <p:graphicFrame>
        <p:nvGraphicFramePr>
          <p:cNvPr id="4" name="Table 3"/>
          <p:cNvGraphicFramePr>
            <a:graphicFrameLocks noGrp="1"/>
          </p:cNvGraphicFramePr>
          <p:nvPr/>
        </p:nvGraphicFramePr>
        <p:xfrm>
          <a:off x="812800" y="1530350"/>
          <a:ext cx="10560050" cy="1809750"/>
        </p:xfrm>
        <a:graphic>
          <a:graphicData uri="http://schemas.openxmlformats.org/drawingml/2006/table">
            <a:tbl>
              <a:tblPr/>
              <a:tblGrid>
                <a:gridCol w="633512">
                  <a:extLst>
                    <a:ext uri="{9D8B030D-6E8A-4147-A177-3AD203B41FA5}">
                      <a16:colId xmlns:a16="http://schemas.microsoft.com/office/drawing/2014/main" val="20000"/>
                    </a:ext>
                  </a:extLst>
                </a:gridCol>
                <a:gridCol w="3484761">
                  <a:extLst>
                    <a:ext uri="{9D8B030D-6E8A-4147-A177-3AD203B41FA5}">
                      <a16:colId xmlns:a16="http://schemas.microsoft.com/office/drawing/2014/main" val="20001"/>
                    </a:ext>
                  </a:extLst>
                </a:gridCol>
                <a:gridCol w="3484761">
                  <a:extLst>
                    <a:ext uri="{9D8B030D-6E8A-4147-A177-3AD203B41FA5}">
                      <a16:colId xmlns:a16="http://schemas.microsoft.com/office/drawing/2014/main" val="20002"/>
                    </a:ext>
                  </a:extLst>
                </a:gridCol>
                <a:gridCol w="2957016">
                  <a:extLst>
                    <a:ext uri="{9D8B030D-6E8A-4147-A177-3AD203B41FA5}">
                      <a16:colId xmlns:a16="http://schemas.microsoft.com/office/drawing/2014/main" val="20003"/>
                    </a:ext>
                  </a:extLst>
                </a:gridCol>
              </a:tblGrid>
              <a:tr h="301625">
                <a:tc>
                  <a:txBody>
                    <a:bodyPr/>
                    <a:lstStyle/>
                    <a:p>
                      <a:r>
                        <a:rPr sz="1250" b="1">
                          <a:solidFill>
                            <a:srgbClr val="14213D"/>
                          </a:solidFill>
                          <a:latin typeface="IBM Plex Sans"/>
                        </a:rPr>
                        <a:t>Who</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Core feature 1</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Core feature 2</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Optional</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extLst>
                  <a:ext uri="{0D108BD9-81ED-4DB2-BD59-A6C34878D82A}">
                    <a16:rowId xmlns:a16="http://schemas.microsoft.com/office/drawing/2014/main" val="10000"/>
                  </a:ext>
                </a:extLst>
              </a:tr>
              <a:tr h="301625">
                <a:tc>
                  <a:txBody>
                    <a:bodyPr/>
                    <a:lstStyle/>
                    <a:p>
                      <a:r>
                        <a:rPr sz="1250" b="0">
                          <a:solidFill>
                            <a:srgbClr val="14213D"/>
                          </a:solidFill>
                          <a:latin typeface="IBM Plex Sans"/>
                        </a:rPr>
                        <a:t>A</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Brief extraction and clarifying questions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Orchestration, conflicts, targeted revision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Agent Lab and Failure Lab</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1"/>
                  </a:ext>
                </a:extLst>
              </a:tr>
              <a:tr h="301625">
                <a:tc>
                  <a:txBody>
                    <a:bodyPr/>
                    <a:lstStyle/>
                    <a:p>
                      <a:r>
                        <a:rPr sz="1250" b="0">
                          <a:solidFill>
                            <a:srgbClr val="14213D"/>
                          </a:solidFill>
                          <a:latin typeface="IBM Plex Sans"/>
                        </a:rPr>
                        <a:t>B</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Itinerary with route feasibility</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Flights, rail and local transport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Traveller-chosen leg mode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extLst>
                  <a:ext uri="{0D108BD9-81ED-4DB2-BD59-A6C34878D82A}">
                    <a16:rowId xmlns:a16="http://schemas.microsoft.com/office/drawing/2014/main" val="10002"/>
                  </a:ext>
                </a:extLst>
              </a:tr>
              <a:tr h="301625">
                <a:tc>
                  <a:txBody>
                    <a:bodyPr/>
                    <a:lstStyle/>
                    <a:p>
                      <a:r>
                        <a:rPr sz="1250" b="0">
                          <a:solidFill>
                            <a:srgbClr val="14213D"/>
                          </a:solidFill>
                          <a:latin typeface="IBM Plex Sans"/>
                        </a:rPr>
                        <a:t>C</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Accommodation, individual or group</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Budget management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Keep a booked stay</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3"/>
                  </a:ext>
                </a:extLst>
              </a:tr>
              <a:tr h="301625">
                <a:tc>
                  <a:txBody>
                    <a:bodyPr/>
                    <a:lstStyle/>
                    <a:p>
                      <a:r>
                        <a:rPr sz="1250" b="0">
                          <a:solidFill>
                            <a:srgbClr val="14213D"/>
                          </a:solidFill>
                          <a:latin typeface="IBM Plex Sans"/>
                        </a:rPr>
                        <a:t>D</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Destination guide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Dining with dietary needs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Weather-based packing</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extLst>
                  <a:ext uri="{0D108BD9-81ED-4DB2-BD59-A6C34878D82A}">
                    <a16:rowId xmlns:a16="http://schemas.microsoft.com/office/drawing/2014/main" val="10004"/>
                  </a:ext>
                </a:extLst>
              </a:tr>
              <a:tr h="301625">
                <a:tc>
                  <a:txBody>
                    <a:bodyPr/>
                    <a:lstStyle/>
                    <a:p>
                      <a:r>
                        <a:rPr sz="1250" b="0">
                          <a:solidFill>
                            <a:srgbClr val="14213D"/>
                          </a:solidFill>
                          <a:latin typeface="IBM Plex Sans"/>
                        </a:rPr>
                        <a:t>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Chat, timeline and map editing</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Preferences and memory</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Accounts and cloud sync</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812800" y="3498850"/>
            <a:ext cx="10617200" cy="49768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Agreement:</a:t>
            </a:r>
            <a:r>
              <a:rPr sz="1400" b="0" i="0">
                <a:solidFill>
                  <a:srgbClr val="4A5568"/>
                </a:solidFill>
                <a:latin typeface="IBM Plex Sans"/>
              </a:rPr>
              <a:t> a single-user planner with AUD estimates; no booking or payment. Models choose, code decides: no invented prices, no relaxed preferences.</a:t>
            </a:r>
          </a:p>
        </p:txBody>
      </p:sp>
      <p:sp>
        <p:nvSpPr>
          <p:cNvPr id="6" name="TextBox 5"/>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B · FEATURE MODEL</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Eight feature groups with their constraints</a:t>
            </a:r>
          </a:p>
        </p:txBody>
      </p:sp>
      <p:sp>
        <p:nvSpPr>
          <p:cNvPr id="4" name="Rounded Rectangle 3"/>
          <p:cNvSpPr/>
          <p:nvPr/>
        </p:nvSpPr>
        <p:spPr>
          <a:xfrm>
            <a:off x="812800" y="1530350"/>
            <a:ext cx="4826000" cy="4064000"/>
          </a:xfrm>
          <a:prstGeom prst="roundRect">
            <a:avLst>
              <a:gd name="adj" fmla="val 250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eature diagram: coordination, multi-agent planning, specialist roles, budget, evidence and tools, workspace and memory, with mandatory, optional and alternative features"/>
          <p:cNvPicPr>
            <a:picLocks noChangeAspect="1"/>
          </p:cNvPicPr>
          <p:nvPr/>
        </p:nvPicPr>
        <p:blipFill>
          <a:blip r:embed="rId3"/>
          <a:stretch>
            <a:fillRect/>
          </a:stretch>
        </p:blipFill>
        <p:spPr>
          <a:xfrm>
            <a:off x="2273409" y="1530350"/>
            <a:ext cx="1904781" cy="4064000"/>
          </a:xfrm>
          <a:prstGeom prst="rect">
            <a:avLst/>
          </a:prstGeom>
        </p:spPr>
      </p:pic>
      <p:sp>
        <p:nvSpPr>
          <p:cNvPr id="6" name="Rounded Rectangle 5"/>
          <p:cNvSpPr/>
          <p:nvPr/>
        </p:nvSpPr>
        <p:spPr>
          <a:xfrm>
            <a:off x="5842000" y="1530350"/>
            <a:ext cx="5537200" cy="831850"/>
          </a:xfrm>
          <a:prstGeom prst="roundRect">
            <a:avLst>
              <a:gd name="adj" fmla="val 12213"/>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026150" y="1714500"/>
            <a:ext cx="5219700" cy="215900"/>
          </a:xfrm>
          <a:prstGeom prst="rect">
            <a:avLst/>
          </a:prstGeom>
          <a:noFill/>
        </p:spPr>
        <p:txBody>
          <a:bodyPr wrap="square" lIns="0" tIns="0" rIns="0" bIns="0" anchor="t">
            <a:spAutoFit/>
          </a:bodyPr>
          <a:lstStyle/>
          <a:p>
            <a:pPr algn="l"/>
            <a:r>
              <a:rPr sz="1500" b="1" i="0">
                <a:solidFill>
                  <a:srgbClr val="14213D"/>
                </a:solidFill>
                <a:latin typeface="IBM Plex Sans"/>
              </a:rPr>
              <a:t>Notation</a:t>
            </a:r>
          </a:p>
        </p:txBody>
      </p:sp>
      <p:sp>
        <p:nvSpPr>
          <p:cNvPr id="8" name="TextBox 7"/>
          <p:cNvSpPr txBox="1"/>
          <p:nvPr/>
        </p:nvSpPr>
        <p:spPr>
          <a:xfrm>
            <a:off x="6026150" y="1981200"/>
            <a:ext cx="5219700" cy="196850"/>
          </a:xfrm>
          <a:prstGeom prst="rect">
            <a:avLst/>
          </a:prstGeom>
          <a:noFill/>
        </p:spPr>
        <p:txBody>
          <a:bodyPr wrap="square" lIns="0" tIns="0" rIns="0" bIns="0" anchor="t">
            <a:spAutoFit/>
          </a:bodyPr>
          <a:lstStyle/>
          <a:p>
            <a:pPr algn="l"/>
            <a:r>
              <a:rPr sz="1300" b="0" i="0">
                <a:solidFill>
                  <a:srgbClr val="4A5568"/>
                </a:solidFill>
                <a:latin typeface="IBM Plex Sans"/>
              </a:rPr>
              <a:t>● mandatory · ○ optional · ⊕ exactly one · ⊗ one or more</a:t>
            </a:r>
          </a:p>
        </p:txBody>
      </p:sp>
      <p:sp>
        <p:nvSpPr>
          <p:cNvPr id="9" name="Rounded Rectangle 8"/>
          <p:cNvSpPr/>
          <p:nvPr/>
        </p:nvSpPr>
        <p:spPr>
          <a:xfrm>
            <a:off x="5842000" y="2489200"/>
            <a:ext cx="5537200" cy="1328241"/>
          </a:xfrm>
          <a:prstGeom prst="roundRect">
            <a:avLst>
              <a:gd name="adj" fmla="val 7649"/>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026150" y="2673350"/>
            <a:ext cx="5219700" cy="215900"/>
          </a:xfrm>
          <a:prstGeom prst="rect">
            <a:avLst/>
          </a:prstGeom>
          <a:noFill/>
        </p:spPr>
        <p:txBody>
          <a:bodyPr wrap="square" lIns="0" tIns="0" rIns="0" bIns="0" anchor="t">
            <a:spAutoFit/>
          </a:bodyPr>
          <a:lstStyle/>
          <a:p>
            <a:pPr algn="l"/>
            <a:r>
              <a:rPr sz="1500" b="1" i="0">
                <a:solidFill>
                  <a:srgbClr val="14213D"/>
                </a:solidFill>
                <a:latin typeface="IBM Plex Sans"/>
              </a:rPr>
              <a:t>Cross-tree constraints</a:t>
            </a:r>
          </a:p>
        </p:txBody>
      </p:sp>
      <p:sp>
        <p:nvSpPr>
          <p:cNvPr id="11" name="TextBox 10"/>
          <p:cNvSpPr txBox="1"/>
          <p:nvPr/>
        </p:nvSpPr>
        <p:spPr>
          <a:xfrm>
            <a:off x="6026150" y="2940050"/>
            <a:ext cx="5219700" cy="693241"/>
          </a:xfrm>
          <a:prstGeom prst="rect">
            <a:avLst/>
          </a:prstGeom>
          <a:noFill/>
        </p:spPr>
        <p:txBody>
          <a:bodyPr wrap="square" lIns="0" tIns="0" rIns="0" bIns="0" anchor="t">
            <a:spAutoFit/>
          </a:bodyPr>
          <a:lstStyle/>
          <a:p>
            <a:pPr algn="l">
              <a:lnSpc>
                <a:spcPct val="133000"/>
              </a:lnSpc>
            </a:pPr>
            <a:r>
              <a:rPr sz="1300" b="0" i="0">
                <a:solidFill>
                  <a:srgbClr val="4A5568"/>
                </a:solidFill>
                <a:latin typeface="IBM Plex Sans"/>
              </a:rPr>
              <a:t>Targeted revision requires conflict detection. Infeasible budget requires the minimum-cost floor. Live providers require keys, else mock fixtures.</a:t>
            </a:r>
          </a:p>
        </p:txBody>
      </p:sp>
      <p:sp>
        <p:nvSpPr>
          <p:cNvPr id="12" name="Rounded Rectangle 11"/>
          <p:cNvSpPr/>
          <p:nvPr/>
        </p:nvSpPr>
        <p:spPr>
          <a:xfrm>
            <a:off x="5842000" y="3944441"/>
            <a:ext cx="5537200" cy="1097161"/>
          </a:xfrm>
          <a:prstGeom prst="roundRect">
            <a:avLst>
              <a:gd name="adj" fmla="val 926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26150" y="4128591"/>
            <a:ext cx="5219700" cy="215900"/>
          </a:xfrm>
          <a:prstGeom prst="rect">
            <a:avLst/>
          </a:prstGeom>
          <a:noFill/>
        </p:spPr>
        <p:txBody>
          <a:bodyPr wrap="square" lIns="0" tIns="0" rIns="0" bIns="0" anchor="t">
            <a:spAutoFit/>
          </a:bodyPr>
          <a:lstStyle/>
          <a:p>
            <a:pPr algn="l"/>
            <a:r>
              <a:rPr sz="1500" b="1" i="0">
                <a:solidFill>
                  <a:srgbClr val="14213D"/>
                </a:solidFill>
                <a:latin typeface="IBM Plex Sans"/>
              </a:rPr>
              <a:t>Non-functional</a:t>
            </a:r>
          </a:p>
        </p:txBody>
      </p:sp>
      <p:sp>
        <p:nvSpPr>
          <p:cNvPr id="14" name="TextBox 13"/>
          <p:cNvSpPr txBox="1"/>
          <p:nvPr/>
        </p:nvSpPr>
        <p:spPr>
          <a:xfrm>
            <a:off x="6026150" y="4395291"/>
            <a:ext cx="5219700" cy="462161"/>
          </a:xfrm>
          <a:prstGeom prst="rect">
            <a:avLst/>
          </a:prstGeom>
          <a:noFill/>
        </p:spPr>
        <p:txBody>
          <a:bodyPr wrap="square" lIns="0" tIns="0" rIns="0" bIns="0" anchor="t">
            <a:spAutoFit/>
          </a:bodyPr>
          <a:lstStyle/>
          <a:p>
            <a:pPr algn="l">
              <a:lnSpc>
                <a:spcPct val="133000"/>
              </a:lnSpc>
            </a:pPr>
            <a:r>
              <a:rPr sz="1300" b="0" i="0">
                <a:solidFill>
                  <a:srgbClr val="4A5568"/>
                </a:solidFill>
                <a:latin typeface="IBM Plex Sans"/>
              </a:rPr>
              <a:t>Schema checks at every boundary, money in integer cents, a provenance label on every section.</a:t>
            </a:r>
          </a:p>
        </p:txBody>
      </p:sp>
      <p:sp>
        <p:nvSpPr>
          <p:cNvPr id="15" name="TextBox 14"/>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B · USE CASES</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Ten use cases, one traveller, three external systems</a:t>
            </a:r>
          </a:p>
        </p:txBody>
      </p:sp>
      <p:sp>
        <p:nvSpPr>
          <p:cNvPr id="4" name="Rounded Rectangle 3"/>
          <p:cNvSpPr/>
          <p:nvPr/>
        </p:nvSpPr>
        <p:spPr>
          <a:xfrm>
            <a:off x="812800" y="1530350"/>
            <a:ext cx="3381177" cy="4064000"/>
          </a:xfrm>
          <a:prstGeom prst="roundRect">
            <a:avLst>
              <a:gd name="adj" fmla="val 3004"/>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verall use case diagram with the Traveler, ten use cases and the Maps, Hotel and Flight Search, and Weather systems"/>
          <p:cNvPicPr>
            <a:picLocks noChangeAspect="1"/>
          </p:cNvPicPr>
          <p:nvPr/>
        </p:nvPicPr>
        <p:blipFill>
          <a:blip r:embed="rId3"/>
          <a:stretch>
            <a:fillRect/>
          </a:stretch>
        </p:blipFill>
        <p:spPr>
          <a:xfrm>
            <a:off x="813844" y="1530350"/>
            <a:ext cx="3379088" cy="4064000"/>
          </a:xfrm>
          <a:prstGeom prst="rect">
            <a:avLst/>
          </a:prstGeom>
        </p:spPr>
      </p:pic>
      <p:graphicFrame>
        <p:nvGraphicFramePr>
          <p:cNvPr id="6" name="Table 5"/>
          <p:cNvGraphicFramePr>
            <a:graphicFrameLocks noGrp="1"/>
          </p:cNvGraphicFramePr>
          <p:nvPr/>
        </p:nvGraphicFramePr>
        <p:xfrm>
          <a:off x="4397177" y="1530350"/>
          <a:ext cx="6975673" cy="4305296"/>
        </p:xfrm>
        <a:graphic>
          <a:graphicData uri="http://schemas.openxmlformats.org/drawingml/2006/table">
            <a:tbl>
              <a:tblPr/>
              <a:tblGrid>
                <a:gridCol w="4324846">
                  <a:extLst>
                    <a:ext uri="{9D8B030D-6E8A-4147-A177-3AD203B41FA5}">
                      <a16:colId xmlns:a16="http://schemas.microsoft.com/office/drawing/2014/main" val="20000"/>
                    </a:ext>
                  </a:extLst>
                </a:gridCol>
                <a:gridCol w="2650827">
                  <a:extLst>
                    <a:ext uri="{9D8B030D-6E8A-4147-A177-3AD203B41FA5}">
                      <a16:colId xmlns:a16="http://schemas.microsoft.com/office/drawing/2014/main" val="20001"/>
                    </a:ext>
                  </a:extLst>
                </a:gridCol>
              </a:tblGrid>
              <a:tr h="538162">
                <a:tc>
                  <a:txBody>
                    <a:bodyPr/>
                    <a:lstStyle/>
                    <a:p>
                      <a:r>
                        <a:rPr sz="1250" b="1">
                          <a:solidFill>
                            <a:srgbClr val="14213D"/>
                          </a:solidFill>
                          <a:latin typeface="IBM Plex Sans"/>
                        </a:rPr>
                        <a:t>Use case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Owner, relation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extLst>
                  <a:ext uri="{0D108BD9-81ED-4DB2-BD59-A6C34878D82A}">
                    <a16:rowId xmlns:a16="http://schemas.microsoft.com/office/drawing/2014/main" val="10000"/>
                  </a:ext>
                </a:extLst>
              </a:tr>
              <a:tr h="538162">
                <a:tc>
                  <a:txBody>
                    <a:bodyPr/>
                    <a:lstStyle/>
                    <a:p>
                      <a:r>
                        <a:rPr sz="1250" b="0">
                          <a:solidFill>
                            <a:srgbClr val="14213D"/>
                          </a:solidFill>
                          <a:latin typeface="IBM Plex Sans"/>
                        </a:rPr>
                        <a:t>Generate Itinerary</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 «include» 3</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1"/>
                  </a:ext>
                </a:extLst>
              </a:tr>
              <a:tr h="538162">
                <a:tc>
                  <a:txBody>
                    <a:bodyPr/>
                    <a:lstStyle/>
                    <a:p>
                      <a:r>
                        <a:rPr sz="1250" b="0">
                          <a:solidFill>
                            <a:srgbClr val="14213D"/>
                          </a:solidFill>
                          <a:latin typeface="IBM Plex Sans"/>
                        </a:rPr>
                        <a:t>Arrange Transportation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B, Maps API</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extLst>
                  <a:ext uri="{0D108BD9-81ED-4DB2-BD59-A6C34878D82A}">
                    <a16:rowId xmlns:a16="http://schemas.microsoft.com/office/drawing/2014/main" val="10002"/>
                  </a:ext>
                </a:extLst>
              </a:tr>
              <a:tr h="538162">
                <a:tc>
                  <a:txBody>
                    <a:bodyPr/>
                    <a:lstStyle/>
                    <a:p>
                      <a:r>
                        <a:rPr sz="1250" b="0">
                          <a:solidFill>
                            <a:srgbClr val="14213D"/>
                          </a:solidFill>
                          <a:latin typeface="IBM Plex Sans"/>
                        </a:rPr>
                        <a:t>Arrange Accommodation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C, Hotel search</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3"/>
                  </a:ext>
                </a:extLst>
              </a:tr>
              <a:tr h="538162">
                <a:tc>
                  <a:txBody>
                    <a:bodyPr/>
                    <a:lstStyle/>
                    <a:p>
                      <a:r>
                        <a:rPr sz="1250" b="0">
                          <a:solidFill>
                            <a:srgbClr val="14213D"/>
                          </a:solidFill>
                          <a:latin typeface="IBM Plex Sans"/>
                        </a:rPr>
                        <a:t>Manage Budget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C, «extend» Edit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extLst>
                  <a:ext uri="{0D108BD9-81ED-4DB2-BD59-A6C34878D82A}">
                    <a16:rowId xmlns:a16="http://schemas.microsoft.com/office/drawing/2014/main" val="10004"/>
                  </a:ext>
                </a:extLst>
              </a:tr>
              <a:tr h="538162">
                <a:tc>
                  <a:txBody>
                    <a:bodyPr/>
                    <a:lstStyle/>
                    <a:p>
                      <a:r>
                        <a:rPr sz="1250" b="0">
                          <a:solidFill>
                            <a:srgbClr val="14213D"/>
                          </a:solidFill>
                          <a:latin typeface="IBM Plex Sans"/>
                        </a:rPr>
                        <a:t>Weather clothing advice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D, Weather API</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5"/>
                  </a:ext>
                </a:extLst>
              </a:tr>
              <a:tr h="538162">
                <a:tc>
                  <a:txBody>
                    <a:bodyPr/>
                    <a:lstStyle/>
                    <a:p>
                      <a:r>
                        <a:rPr sz="1250" b="0">
                          <a:solidFill>
                            <a:srgbClr val="14213D"/>
                          </a:solidFill>
                          <a:latin typeface="IBM Plex Sans"/>
                        </a:rPr>
                        <a:t>Food recommendation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D</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extLst>
                  <a:ext uri="{0D108BD9-81ED-4DB2-BD59-A6C34878D82A}">
                    <a16:rowId xmlns:a16="http://schemas.microsoft.com/office/drawing/2014/main" val="10006"/>
                  </a:ext>
                </a:extLst>
              </a:tr>
              <a:tr h="538162">
                <a:tc>
                  <a:txBody>
                    <a:bodyPr/>
                    <a:lstStyle/>
                    <a:p>
                      <a:r>
                        <a:rPr sz="1250" b="0">
                          <a:solidFill>
                            <a:srgbClr val="14213D"/>
                          </a:solidFill>
                          <a:latin typeface="IBM Plex Sans"/>
                        </a:rPr>
                        <a:t>Set Preferences, Submit Requirement, Edit, View</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7"/>
                  </a:ext>
                </a:extLst>
              </a:tr>
            </a:tbl>
          </a:graphicData>
        </a:graphic>
      </p:graphicFrame>
      <p:sp>
        <p:nvSpPr>
          <p:cNvPr id="7" name="TextBox 6"/>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B · INDIVIDUAL BEHAVIOUR MODELS</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[B's use case]: activity, sequence and state machine</a:t>
            </a:r>
          </a:p>
        </p:txBody>
      </p:sp>
      <p:sp>
        <p:nvSpPr>
          <p:cNvPr id="4" name="Rounded Rectangle 3"/>
          <p:cNvSpPr/>
          <p:nvPr/>
        </p:nvSpPr>
        <p:spPr>
          <a:xfrm>
            <a:off x="812800"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9296" y="3584575"/>
            <a:ext cx="1404441" cy="203200"/>
          </a:xfrm>
          <a:prstGeom prst="rect">
            <a:avLst/>
          </a:prstGeom>
          <a:noFill/>
        </p:spPr>
        <p:txBody>
          <a:bodyPr wrap="square" lIns="0" tIns="0" rIns="0" bIns="0" anchor="t">
            <a:spAutoFit/>
          </a:bodyPr>
          <a:lstStyle/>
          <a:p>
            <a:pPr algn="l"/>
            <a:r>
              <a:rPr sz="1400" b="0" i="0">
                <a:solidFill>
                  <a:srgbClr val="5A6478"/>
                </a:solidFill>
                <a:latin typeface="IBM Plex Sans"/>
              </a:rPr>
              <a:t>[Activity diagram]</a:t>
            </a:r>
          </a:p>
        </p:txBody>
      </p:sp>
      <p:sp>
        <p:nvSpPr>
          <p:cNvPr id="6" name="Rounded Rectangle 5"/>
          <p:cNvSpPr/>
          <p:nvPr/>
        </p:nvSpPr>
        <p:spPr>
          <a:xfrm>
            <a:off x="4402634"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00266" y="3584575"/>
            <a:ext cx="1642170" cy="203200"/>
          </a:xfrm>
          <a:prstGeom prst="rect">
            <a:avLst/>
          </a:prstGeom>
          <a:noFill/>
        </p:spPr>
        <p:txBody>
          <a:bodyPr wrap="square" lIns="0" tIns="0" rIns="0" bIns="0" anchor="t">
            <a:spAutoFit/>
          </a:bodyPr>
          <a:lstStyle/>
          <a:p>
            <a:pPr algn="l"/>
            <a:r>
              <a:rPr sz="1400" b="0" i="0">
                <a:solidFill>
                  <a:srgbClr val="5A6478"/>
                </a:solidFill>
                <a:latin typeface="IBM Plex Sans"/>
              </a:rPr>
              <a:t>[Sequence diagram]</a:t>
            </a:r>
          </a:p>
        </p:txBody>
      </p:sp>
      <p:sp>
        <p:nvSpPr>
          <p:cNvPr id="8" name="Rounded Rectangle 7"/>
          <p:cNvSpPr/>
          <p:nvPr/>
        </p:nvSpPr>
        <p:spPr>
          <a:xfrm>
            <a:off x="7992467"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067998" y="3584575"/>
            <a:ext cx="1286272" cy="203200"/>
          </a:xfrm>
          <a:prstGeom prst="rect">
            <a:avLst/>
          </a:prstGeom>
          <a:noFill/>
        </p:spPr>
        <p:txBody>
          <a:bodyPr wrap="square" lIns="0" tIns="0" rIns="0" bIns="0" anchor="t">
            <a:spAutoFit/>
          </a:bodyPr>
          <a:lstStyle/>
          <a:p>
            <a:pPr algn="l"/>
            <a:r>
              <a:rPr sz="1400" b="0" i="0">
                <a:solidFill>
                  <a:srgbClr val="5A6478"/>
                </a:solidFill>
                <a:latin typeface="IBM Plex Sans"/>
              </a:rPr>
              <a:t>[State machine]</a:t>
            </a:r>
          </a:p>
        </p:txBody>
      </p:sp>
      <p:sp>
        <p:nvSpPr>
          <p:cNvPr id="10" name="TextBox 9"/>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C · ACCOMMODATION AND BUDGET</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From one ad hoc requirement to two use cases</a:t>
            </a:r>
          </a:p>
        </p:txBody>
      </p:sp>
      <p:sp>
        <p:nvSpPr>
          <p:cNvPr id="4" name="Rounded Rectangle 3"/>
          <p:cNvSpPr/>
          <p:nvPr/>
        </p:nvSpPr>
        <p:spPr>
          <a:xfrm>
            <a:off x="812800" y="1530350"/>
            <a:ext cx="10566400" cy="1117600"/>
          </a:xfrm>
          <a:prstGeom prst="roundRect">
            <a:avLst>
              <a:gd name="adj" fmla="val 909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66800" y="1733550"/>
            <a:ext cx="10109200" cy="533400"/>
          </a:xfrm>
          <a:prstGeom prst="rect">
            <a:avLst/>
          </a:prstGeom>
          <a:noFill/>
        </p:spPr>
        <p:txBody>
          <a:bodyPr wrap="square" lIns="0" tIns="0" rIns="0" bIns="0" anchor="t">
            <a:spAutoFit/>
          </a:bodyPr>
          <a:lstStyle/>
          <a:p>
            <a:pPr algn="l">
              <a:lnSpc>
                <a:spcPct val="133000"/>
              </a:lnSpc>
            </a:pPr>
            <a:r>
              <a:rPr sz="1500" b="0" i="1">
                <a:solidFill>
                  <a:srgbClr val="F7F6F1"/>
                </a:solidFill>
                <a:latin typeface="IBM Plex Sans"/>
              </a:rPr>
              <a:t>"Flights get paid first, so the hotel has to fit in whatever money is left. If the trip ends up over budget, swap the hotel for a cheaper one that still meets my rules. If no hotel can ever fit, tell me the minimum I'd need."</a:t>
            </a:r>
          </a:p>
        </p:txBody>
      </p:sp>
      <p:sp>
        <p:nvSpPr>
          <p:cNvPr id="6" name="TextBox 5"/>
          <p:cNvSpPr txBox="1"/>
          <p:nvPr/>
        </p:nvSpPr>
        <p:spPr>
          <a:xfrm>
            <a:off x="1066800" y="2266950"/>
            <a:ext cx="10109200" cy="177800"/>
          </a:xfrm>
          <a:prstGeom prst="rect">
            <a:avLst/>
          </a:prstGeom>
          <a:noFill/>
        </p:spPr>
        <p:txBody>
          <a:bodyPr wrap="square" lIns="0" tIns="0" rIns="0" bIns="0" anchor="t">
            <a:spAutoFit/>
          </a:bodyPr>
          <a:lstStyle/>
          <a:p>
            <a:pPr algn="l"/>
            <a:r>
              <a:rPr sz="1200" b="0" i="0">
                <a:solidFill>
                  <a:srgbClr val="F2A65A"/>
                </a:solidFill>
                <a:latin typeface="IBM Plex Sans"/>
              </a:rPr>
              <a:t>AH-C1, in the traveller's words</a:t>
            </a:r>
          </a:p>
        </p:txBody>
      </p:sp>
      <p:sp>
        <p:nvSpPr>
          <p:cNvPr id="7" name="Rounded Rectangle 6"/>
          <p:cNvSpPr/>
          <p:nvPr/>
        </p:nvSpPr>
        <p:spPr>
          <a:xfrm>
            <a:off x="812800" y="2800350"/>
            <a:ext cx="5181600" cy="1205111"/>
          </a:xfrm>
          <a:prstGeom prst="roundRect">
            <a:avLst>
              <a:gd name="adj" fmla="val 843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2350" y="3009900"/>
            <a:ext cx="4813300" cy="247650"/>
          </a:xfrm>
          <a:prstGeom prst="rect">
            <a:avLst/>
          </a:prstGeom>
          <a:noFill/>
        </p:spPr>
        <p:txBody>
          <a:bodyPr wrap="square" lIns="0" tIns="0" rIns="0" bIns="0" anchor="t">
            <a:spAutoFit/>
          </a:bodyPr>
          <a:lstStyle/>
          <a:p>
            <a:pPr algn="l"/>
            <a:r>
              <a:rPr sz="1700" b="1" i="0">
                <a:solidFill>
                  <a:srgbClr val="14213D"/>
                </a:solidFill>
                <a:latin typeface="IBM Plex Sans"/>
              </a:rPr>
              <a:t>UC-C1 Arrange Accommodation</a:t>
            </a:r>
          </a:p>
        </p:txBody>
      </p:sp>
      <p:sp>
        <p:nvSpPr>
          <p:cNvPr id="9" name="TextBox 8"/>
          <p:cNvSpPr txBox="1"/>
          <p:nvPr/>
        </p:nvSpPr>
        <p:spPr>
          <a:xfrm>
            <a:off x="1022350" y="3333750"/>
            <a:ext cx="4813300" cy="462161"/>
          </a:xfrm>
          <a:prstGeom prst="rect">
            <a:avLst/>
          </a:prstGeom>
          <a:noFill/>
        </p:spPr>
        <p:txBody>
          <a:bodyPr wrap="square" lIns="0" tIns="0" rIns="0" bIns="0" anchor="t">
            <a:spAutoFit/>
          </a:bodyPr>
          <a:lstStyle/>
          <a:p>
            <a:pPr algn="l">
              <a:lnSpc>
                <a:spcPct val="133000"/>
              </a:lnSpc>
            </a:pPr>
            <a:r>
              <a:rPr sz="1300" b="0" i="0">
                <a:solidFill>
                  <a:srgbClr val="4A5568"/>
                </a:solidFill>
                <a:latin typeface="IBM Plex Sans"/>
              </a:rPr>
              <a:t>Rooms from party size, filter by rating and cancellation, the LLM picks one candidate id, code validates and prices it in cents.</a:t>
            </a:r>
          </a:p>
        </p:txBody>
      </p:sp>
      <p:sp>
        <p:nvSpPr>
          <p:cNvPr id="10" name="Rounded Rectangle 9"/>
          <p:cNvSpPr/>
          <p:nvPr/>
        </p:nvSpPr>
        <p:spPr>
          <a:xfrm>
            <a:off x="6197600" y="2800350"/>
            <a:ext cx="5181600" cy="1205111"/>
          </a:xfrm>
          <a:prstGeom prst="roundRect">
            <a:avLst>
              <a:gd name="adj" fmla="val 843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7150" y="3009900"/>
            <a:ext cx="4813300" cy="247650"/>
          </a:xfrm>
          <a:prstGeom prst="rect">
            <a:avLst/>
          </a:prstGeom>
          <a:noFill/>
        </p:spPr>
        <p:txBody>
          <a:bodyPr wrap="square" lIns="0" tIns="0" rIns="0" bIns="0" anchor="t">
            <a:spAutoFit/>
          </a:bodyPr>
          <a:lstStyle/>
          <a:p>
            <a:pPr algn="l"/>
            <a:r>
              <a:rPr sz="1700" b="1" i="0">
                <a:solidFill>
                  <a:srgbClr val="14213D"/>
                </a:solidFill>
                <a:latin typeface="IBM Plex Sans"/>
              </a:rPr>
              <a:t>UC-C2 Manage Budget</a:t>
            </a:r>
          </a:p>
        </p:txBody>
      </p:sp>
      <p:sp>
        <p:nvSpPr>
          <p:cNvPr id="12" name="TextBox 11"/>
          <p:cNvSpPr txBox="1"/>
          <p:nvPr/>
        </p:nvSpPr>
        <p:spPr>
          <a:xfrm>
            <a:off x="6407150" y="3333750"/>
            <a:ext cx="4813300" cy="462161"/>
          </a:xfrm>
          <a:prstGeom prst="rect">
            <a:avLst/>
          </a:prstGeom>
          <a:noFill/>
        </p:spPr>
        <p:txBody>
          <a:bodyPr wrap="square" lIns="0" tIns="0" rIns="0" bIns="0" anchor="t">
            <a:spAutoFit/>
          </a:bodyPr>
          <a:lstStyle/>
          <a:p>
            <a:pPr algn="l">
              <a:lnSpc>
                <a:spcPct val="133000"/>
              </a:lnSpc>
            </a:pPr>
            <a:r>
              <a:rPr sz="1300" b="0" i="0">
                <a:solidFill>
                  <a:srgbClr val="4A5568"/>
                </a:solidFill>
                <a:latin typeface="IBM Plex Sans"/>
              </a:rPr>
              <a:t>Roll up costs, spread an overrun over what each section can still cut, or report the minimum budget when nothing can fit.</a:t>
            </a:r>
          </a:p>
        </p:txBody>
      </p:sp>
      <p:sp>
        <p:nvSpPr>
          <p:cNvPr id="13" name="TextBox 12"/>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C · COMPLEX STRUCTURE</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Object diagram: a Tokyo trip that is AUD 640 over budget</a:t>
            </a:r>
          </a:p>
        </p:txBody>
      </p:sp>
      <p:sp>
        <p:nvSpPr>
          <p:cNvPr id="4" name="Rounded Rectangle 3"/>
          <p:cNvSpPr/>
          <p:nvPr/>
        </p:nvSpPr>
        <p:spPr>
          <a:xfrm>
            <a:off x="812800" y="1530350"/>
            <a:ext cx="10566400" cy="3048000"/>
          </a:xfrm>
          <a:prstGeom prst="roundRect">
            <a:avLst>
              <a:gd name="adj" fmla="val 3333"/>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Object diagram of the planning board after round 1 of the Tokyo tight-budget scenario: brief, proposals, stay candidates and the revision request"/>
          <p:cNvPicPr>
            <a:picLocks noChangeAspect="1"/>
          </p:cNvPicPr>
          <p:nvPr/>
        </p:nvPicPr>
        <p:blipFill>
          <a:blip r:embed="rId3"/>
          <a:stretch>
            <a:fillRect/>
          </a:stretch>
        </p:blipFill>
        <p:spPr>
          <a:xfrm>
            <a:off x="3328197" y="1530350"/>
            <a:ext cx="5535605" cy="3048000"/>
          </a:xfrm>
          <a:prstGeom prst="rect">
            <a:avLst/>
          </a:prstGeom>
        </p:spPr>
      </p:pic>
      <p:sp>
        <p:nvSpPr>
          <p:cNvPr id="6" name="TextBox 5"/>
          <p:cNvSpPr txBox="1"/>
          <p:nvPr/>
        </p:nvSpPr>
        <p:spPr>
          <a:xfrm>
            <a:off x="812800" y="4730750"/>
            <a:ext cx="10617200" cy="497681"/>
          </a:xfrm>
          <a:prstGeom prst="rect">
            <a:avLst/>
          </a:prstGeom>
          <a:noFill/>
        </p:spPr>
        <p:txBody>
          <a:bodyPr wrap="square" lIns="0" tIns="0" rIns="0" bIns="0" anchor="t">
            <a:spAutoFit/>
          </a:bodyPr>
          <a:lstStyle/>
          <a:p>
            <a:pPr algn="l">
              <a:lnSpc>
                <a:spcPct val="133000"/>
              </a:lnSpc>
            </a:pPr>
            <a:r>
              <a:rPr sz="1400" b="0" i="0">
                <a:solidFill>
                  <a:srgbClr val="4A5568"/>
                </a:solidFill>
                <a:latin typeface="IBM Plex Sans"/>
              </a:rPr>
              <a:t>Budget AUD 2,300, total AUD 2,940. The overrun is spread by room to cut, so accommodation is asked to save </a:t>
            </a:r>
            <a:r>
              <a:rPr sz="1400" b="1" i="0">
                <a:solidFill>
                  <a:srgbClr val="14213D"/>
                </a:solidFill>
                <a:latin typeface="IBM Plex Sans"/>
              </a:rPr>
              <a:t>AUD 379.26</a:t>
            </a:r>
            <a:r>
              <a:rPr sz="1400" b="0" i="0">
                <a:solidFill>
                  <a:srgbClr val="4A5568"/>
                </a:solidFill>
                <a:latin typeface="IBM Plex Sans"/>
              </a:rPr>
              <a:t> and moves from </a:t>
            </a:r>
            <a:r>
              <a:rPr sz="1400" b="0" i="1">
                <a:solidFill>
                  <a:srgbClr val="4A5568"/>
                </a:solidFill>
                <a:latin typeface="IBM Plex Sans"/>
              </a:rPr>
              <a:t>standard</a:t>
            </a:r>
            <a:r>
              <a:rPr sz="1400" b="0" i="0">
                <a:solidFill>
                  <a:srgbClr val="4A5568"/>
                </a:solidFill>
                <a:latin typeface="IBM Plex Sans"/>
              </a:rPr>
              <a:t> (AUD 1,520) to </a:t>
            </a:r>
            <a:r>
              <a:rPr sz="1400" b="0" i="1">
                <a:solidFill>
                  <a:srgbClr val="4A5568"/>
                </a:solidFill>
                <a:latin typeface="IBM Plex Sans"/>
              </a:rPr>
              <a:t>saver</a:t>
            </a:r>
            <a:r>
              <a:rPr sz="1400" b="0" i="0">
                <a:solidFill>
                  <a:srgbClr val="4A5568"/>
                </a:solidFill>
                <a:latin typeface="IBM Plex Sans"/>
              </a:rPr>
              <a:t> (AUD 880).</a:t>
            </a:r>
          </a:p>
        </p:txBody>
      </p:sp>
      <p:sp>
        <p:nvSpPr>
          <p:cNvPr id="7" name="TextBox 6"/>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C · COMPLEX STRUCTURE</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Collaboration and structured class</a:t>
            </a:r>
          </a:p>
        </p:txBody>
      </p:sp>
      <p:sp>
        <p:nvSpPr>
          <p:cNvPr id="4" name="Rounded Rectangle 3"/>
          <p:cNvSpPr/>
          <p:nvPr/>
        </p:nvSpPr>
        <p:spPr>
          <a:xfrm>
            <a:off x="812800" y="1530350"/>
            <a:ext cx="10566400" cy="1397000"/>
          </a:xfrm>
          <a:prstGeom prst="roundRect">
            <a:avLst>
              <a:gd name="adj" fmla="val 7272"/>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llaboration Negotiate Trip Plan with the roles coordinator, board, firstStage, dependent, judge, reviser and evidence"/>
          <p:cNvPicPr>
            <a:picLocks noChangeAspect="1"/>
          </p:cNvPicPr>
          <p:nvPr/>
        </p:nvPicPr>
        <p:blipFill>
          <a:blip r:embed="rId3"/>
          <a:stretch>
            <a:fillRect/>
          </a:stretch>
        </p:blipFill>
        <p:spPr>
          <a:xfrm>
            <a:off x="2130217" y="1530350"/>
            <a:ext cx="7931565" cy="1397000"/>
          </a:xfrm>
          <a:prstGeom prst="rect">
            <a:avLst/>
          </a:prstGeom>
        </p:spPr>
      </p:pic>
      <p:sp>
        <p:nvSpPr>
          <p:cNvPr id="6" name="Rounded Rectangle 5"/>
          <p:cNvSpPr/>
          <p:nvPr/>
        </p:nvSpPr>
        <p:spPr>
          <a:xfrm>
            <a:off x="812800" y="3079750"/>
            <a:ext cx="10566400" cy="2667000"/>
          </a:xfrm>
          <a:prstGeom prst="roundRect">
            <a:avLst>
              <a:gd name="adj" fmla="val 3809"/>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tructured class TripPlanningWorkflow with its parts, provided ports and required ports"/>
          <p:cNvPicPr>
            <a:picLocks noChangeAspect="1"/>
          </p:cNvPicPr>
          <p:nvPr/>
        </p:nvPicPr>
        <p:blipFill>
          <a:blip r:embed="rId4"/>
          <a:stretch>
            <a:fillRect/>
          </a:stretch>
        </p:blipFill>
        <p:spPr>
          <a:xfrm>
            <a:off x="3576245" y="3079750"/>
            <a:ext cx="5039510" cy="2667000"/>
          </a:xfrm>
          <a:prstGeom prst="rect">
            <a:avLst/>
          </a:prstGeom>
        </p:spPr>
      </p:pic>
      <p:sp>
        <p:nvSpPr>
          <p:cNvPr id="8" name="TextBox 7"/>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C · ACTIVITY DIAGRAM (UC-C1)</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The LLM chooses once; code checks before any price</a:t>
            </a:r>
          </a:p>
        </p:txBody>
      </p:sp>
      <p:sp>
        <p:nvSpPr>
          <p:cNvPr id="4" name="Rounded Rectangle 3"/>
          <p:cNvSpPr/>
          <p:nvPr/>
        </p:nvSpPr>
        <p:spPr>
          <a:xfrm>
            <a:off x="812800" y="1530350"/>
            <a:ext cx="4826000" cy="4064000"/>
          </a:xfrm>
          <a:prstGeom prst="roundRect">
            <a:avLst>
              <a:gd name="adj" fmla="val 250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ctivity diagram for Arrange Accommodation with swimlanes Orchestrator, Accommodation agent, Booking port and LLM"/>
          <p:cNvPicPr>
            <a:picLocks noChangeAspect="1"/>
          </p:cNvPicPr>
          <p:nvPr/>
        </p:nvPicPr>
        <p:blipFill>
          <a:blip r:embed="rId3"/>
          <a:stretch>
            <a:fillRect/>
          </a:stretch>
        </p:blipFill>
        <p:spPr>
          <a:xfrm>
            <a:off x="2219012" y="1530350"/>
            <a:ext cx="2013575" cy="4064000"/>
          </a:xfrm>
          <a:prstGeom prst="rect">
            <a:avLst/>
          </a:prstGeom>
        </p:spPr>
      </p:pic>
      <p:sp>
        <p:nvSpPr>
          <p:cNvPr id="6" name="TextBox 5"/>
          <p:cNvSpPr txBox="1"/>
          <p:nvPr/>
        </p:nvSpPr>
        <p:spPr>
          <a:xfrm>
            <a:off x="5842000" y="1530350"/>
            <a:ext cx="5588000" cy="49768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Four swimlanes:</a:t>
            </a:r>
            <a:r>
              <a:rPr sz="1400" b="0" i="0">
                <a:solidFill>
                  <a:srgbClr val="14213D"/>
                </a:solidFill>
                <a:latin typeface="IBM Plex Sans"/>
              </a:rPr>
              <a:t> orchestrator, accommodation agent, booking port, LLM.</a:t>
            </a:r>
          </a:p>
        </p:txBody>
      </p:sp>
      <p:sp>
        <p:nvSpPr>
          <p:cNvPr id="7" name="TextBox 6"/>
          <p:cNvSpPr txBox="1"/>
          <p:nvPr/>
        </p:nvSpPr>
        <p:spPr>
          <a:xfrm>
            <a:off x="5842000" y="2155031"/>
            <a:ext cx="5588000" cy="24884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LLM step:</a:t>
            </a:r>
            <a:r>
              <a:rPr sz="1400" b="0" i="0">
                <a:solidFill>
                  <a:srgbClr val="14213D"/>
                </a:solidFill>
                <a:latin typeface="IBM Plex Sans"/>
              </a:rPr>
              <a:t> choose one candidate id per stay.</a:t>
            </a:r>
          </a:p>
        </p:txBody>
      </p:sp>
      <p:sp>
        <p:nvSpPr>
          <p:cNvPr id="8" name="TextBox 7"/>
          <p:cNvSpPr txBox="1"/>
          <p:nvPr/>
        </p:nvSpPr>
        <p:spPr>
          <a:xfrm>
            <a:off x="5842000" y="2530872"/>
            <a:ext cx="5588000" cy="49768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Guards:</a:t>
            </a:r>
            <a:r>
              <a:rPr sz="1400" b="0" i="0">
                <a:solidFill>
                  <a:srgbClr val="14213D"/>
                </a:solidFill>
                <a:latin typeface="IBM Plex Sans"/>
              </a:rPr>
              <a:t> unknown id or off-schema output falls back to a deterministic pick; a booked stay skips the search.</a:t>
            </a:r>
          </a:p>
        </p:txBody>
      </p:sp>
      <p:sp>
        <p:nvSpPr>
          <p:cNvPr id="9" name="TextBox 8"/>
          <p:cNvSpPr txBox="1"/>
          <p:nvPr/>
        </p:nvSpPr>
        <p:spPr>
          <a:xfrm>
            <a:off x="5842000" y="3155553"/>
            <a:ext cx="5588000" cy="49768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Output:</a:t>
            </a:r>
            <a:r>
              <a:rPr sz="1400" b="0" i="0">
                <a:solidFill>
                  <a:srgbClr val="14213D"/>
                </a:solidFill>
                <a:latin typeface="IBM Plex Sans"/>
              </a:rPr>
              <a:t> stays priced in cents, plus the cheapest eligible total as the floor.</a:t>
            </a:r>
          </a:p>
        </p:txBody>
      </p:sp>
      <p:sp>
        <p:nvSpPr>
          <p:cNvPr id="10" name="TextBox 9"/>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C · SEQUENCE DIAGRAM (UC-C2)</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Budget overrun and a targeted revision</a:t>
            </a:r>
          </a:p>
        </p:txBody>
      </p:sp>
      <p:sp>
        <p:nvSpPr>
          <p:cNvPr id="4" name="Rounded Rectangle 3"/>
          <p:cNvSpPr/>
          <p:nvPr/>
        </p:nvSpPr>
        <p:spPr>
          <a:xfrm>
            <a:off x="812800" y="1530350"/>
            <a:ext cx="6985000" cy="4064000"/>
          </a:xfrm>
          <a:prstGeom prst="roundRect">
            <a:avLst>
              <a:gd name="adj" fmla="val 250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Sequence diagram: round 1 over budget, a targeted revision request to accommodation, and round 2 kept because the plan score improved"/>
          <p:cNvPicPr>
            <a:picLocks noChangeAspect="1"/>
          </p:cNvPicPr>
          <p:nvPr/>
        </p:nvPicPr>
        <p:blipFill>
          <a:blip r:embed="rId3"/>
          <a:stretch>
            <a:fillRect/>
          </a:stretch>
        </p:blipFill>
        <p:spPr>
          <a:xfrm>
            <a:off x="1965541" y="1530350"/>
            <a:ext cx="4679518" cy="4064000"/>
          </a:xfrm>
          <a:prstGeom prst="rect">
            <a:avLst/>
          </a:prstGeom>
        </p:spPr>
      </p:pic>
      <p:sp>
        <p:nvSpPr>
          <p:cNvPr id="6" name="TextBox 5"/>
          <p:cNvSpPr txBox="1"/>
          <p:nvPr/>
        </p:nvSpPr>
        <p:spPr>
          <a:xfrm>
            <a:off x="8001000" y="1530350"/>
            <a:ext cx="3429000" cy="24884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Round 1:</a:t>
            </a:r>
            <a:r>
              <a:rPr sz="1400" b="0" i="0">
                <a:solidFill>
                  <a:srgbClr val="14213D"/>
                </a:solidFill>
                <a:latin typeface="IBM Plex Sans"/>
              </a:rPr>
              <a:t> total over budget.</a:t>
            </a:r>
          </a:p>
        </p:txBody>
      </p:sp>
      <p:sp>
        <p:nvSpPr>
          <p:cNvPr id="7" name="TextBox 6"/>
          <p:cNvSpPr txBox="1"/>
          <p:nvPr/>
        </p:nvSpPr>
        <p:spPr>
          <a:xfrm>
            <a:off x="8001000" y="1906191"/>
            <a:ext cx="3429000" cy="49768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detectConflicts:</a:t>
            </a:r>
            <a:r>
              <a:rPr sz="1400" b="0" i="0">
                <a:solidFill>
                  <a:srgbClr val="14213D"/>
                </a:solidFill>
                <a:latin typeface="IBM Plex Sans"/>
              </a:rPr>
              <a:t> a revision request with a target saving.</a:t>
            </a:r>
          </a:p>
        </p:txBody>
      </p:sp>
      <p:sp>
        <p:nvSpPr>
          <p:cNvPr id="8" name="TextBox 7"/>
          <p:cNvSpPr txBox="1"/>
          <p:nvPr/>
        </p:nvSpPr>
        <p:spPr>
          <a:xfrm>
            <a:off x="8001000" y="2530872"/>
            <a:ext cx="3429000" cy="49768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Round 2:</a:t>
            </a:r>
            <a:r>
              <a:rPr sz="1400" b="0" i="0">
                <a:solidFill>
                  <a:srgbClr val="14213D"/>
                </a:solidFill>
                <a:latin typeface="IBM Plex Sans"/>
              </a:rPr>
              <a:t> only the targeted agents revise; kept if the score improves.</a:t>
            </a:r>
          </a:p>
        </p:txBody>
      </p:sp>
      <p:sp>
        <p:nvSpPr>
          <p:cNvPr id="9" name="TextBox 8"/>
          <p:cNvSpPr txBox="1"/>
          <p:nvPr/>
        </p:nvSpPr>
        <p:spPr>
          <a:xfrm>
            <a:off x="8001000" y="3155553"/>
            <a:ext cx="3429000" cy="49768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Infeasible:</a:t>
            </a:r>
            <a:r>
              <a:rPr sz="1400" b="0" i="0">
                <a:solidFill>
                  <a:srgbClr val="14213D"/>
                </a:solidFill>
                <a:latin typeface="IBM Plex Sans"/>
              </a:rPr>
              <a:t> one conflict naming the minimum budget.</a:t>
            </a:r>
          </a:p>
        </p:txBody>
      </p:sp>
      <p:sp>
        <p:nvSpPr>
          <p:cNvPr id="10" name="TextBox 9"/>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C · STATE MACHINE</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The accommodation section within one planning turn</a:t>
            </a:r>
          </a:p>
        </p:txBody>
      </p:sp>
      <p:sp>
        <p:nvSpPr>
          <p:cNvPr id="4" name="Rounded Rectangle 3"/>
          <p:cNvSpPr/>
          <p:nvPr/>
        </p:nvSpPr>
        <p:spPr>
          <a:xfrm>
            <a:off x="812800" y="1530350"/>
            <a:ext cx="4715768" cy="4064000"/>
          </a:xfrm>
          <a:prstGeom prst="roundRect">
            <a:avLst>
              <a:gd name="adj" fmla="val 250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State machine: WaitingForTransport, Planning with Searching, Choosing and Priced, Kept, UnderReview, Revising, Draft, NeedsYou and Failed"/>
          <p:cNvPicPr>
            <a:picLocks noChangeAspect="1"/>
          </p:cNvPicPr>
          <p:nvPr/>
        </p:nvPicPr>
        <p:blipFill>
          <a:blip r:embed="rId3"/>
          <a:stretch>
            <a:fillRect/>
          </a:stretch>
        </p:blipFill>
        <p:spPr>
          <a:xfrm>
            <a:off x="812800" y="1531267"/>
            <a:ext cx="4715768" cy="4062167"/>
          </a:xfrm>
          <a:prstGeom prst="rect">
            <a:avLst/>
          </a:prstGeom>
        </p:spPr>
      </p:pic>
      <p:graphicFrame>
        <p:nvGraphicFramePr>
          <p:cNvPr id="6" name="Table 5"/>
          <p:cNvGraphicFramePr>
            <a:graphicFrameLocks noGrp="1"/>
          </p:cNvGraphicFramePr>
          <p:nvPr/>
        </p:nvGraphicFramePr>
        <p:xfrm>
          <a:off x="5731768" y="1530350"/>
          <a:ext cx="5641082" cy="4305301"/>
        </p:xfrm>
        <a:graphic>
          <a:graphicData uri="http://schemas.openxmlformats.org/drawingml/2006/table">
            <a:tbl>
              <a:tblPr/>
              <a:tblGrid>
                <a:gridCol w="3102570">
                  <a:extLst>
                    <a:ext uri="{9D8B030D-6E8A-4147-A177-3AD203B41FA5}">
                      <a16:colId xmlns:a16="http://schemas.microsoft.com/office/drawing/2014/main" val="20000"/>
                    </a:ext>
                  </a:extLst>
                </a:gridCol>
                <a:gridCol w="2538512">
                  <a:extLst>
                    <a:ext uri="{9D8B030D-6E8A-4147-A177-3AD203B41FA5}">
                      <a16:colId xmlns:a16="http://schemas.microsoft.com/office/drawing/2014/main" val="20001"/>
                    </a:ext>
                  </a:extLst>
                </a:gridCol>
              </a:tblGrid>
              <a:tr h="767358">
                <a:tc>
                  <a:txBody>
                    <a:bodyPr/>
                    <a:lstStyle/>
                    <a:p>
                      <a:r>
                        <a:rPr sz="1250" b="1">
                          <a:solidFill>
                            <a:srgbClr val="14213D"/>
                          </a:solidFill>
                          <a:latin typeface="IBM Plex Sans"/>
                        </a:rPr>
                        <a:t>Internal state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Shown as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extLst>
                  <a:ext uri="{0D108BD9-81ED-4DB2-BD59-A6C34878D82A}">
                    <a16:rowId xmlns:a16="http://schemas.microsoft.com/office/drawing/2014/main" val="10000"/>
                  </a:ext>
                </a:extLst>
              </a:tr>
              <a:tr h="1235770">
                <a:tc>
                  <a:txBody>
                    <a:bodyPr/>
                    <a:lstStyle/>
                    <a:p>
                      <a:r>
                        <a:rPr sz="1250" b="0">
                          <a:solidFill>
                            <a:srgbClr val="14213D"/>
                          </a:solidFill>
                          <a:latin typeface="IBM Plex Sans"/>
                        </a:rPr>
                        <a:t>Waiting, Planning, Kept, UnderReview, Revising</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planning</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1"/>
                  </a:ext>
                </a:extLst>
              </a:tr>
              <a:tr h="767358">
                <a:tc>
                  <a:txBody>
                    <a:bodyPr/>
                    <a:lstStyle/>
                    <a:p>
                      <a:r>
                        <a:rPr sz="1250" b="0">
                          <a:solidFill>
                            <a:srgbClr val="14213D"/>
                          </a:solidFill>
                          <a:latin typeface="IBM Plex Sans"/>
                        </a:rPr>
                        <a:t>Draft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draft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extLst>
                  <a:ext uri="{0D108BD9-81ED-4DB2-BD59-A6C34878D82A}">
                    <a16:rowId xmlns:a16="http://schemas.microsoft.com/office/drawing/2014/main" val="10002"/>
                  </a:ext>
                </a:extLst>
              </a:tr>
              <a:tr h="767358">
                <a:tc>
                  <a:txBody>
                    <a:bodyPr/>
                    <a:lstStyle/>
                    <a:p>
                      <a:r>
                        <a:rPr sz="1250" b="0">
                          <a:solidFill>
                            <a:srgbClr val="14213D"/>
                          </a:solidFill>
                          <a:latin typeface="IBM Plex Sans"/>
                        </a:rPr>
                        <a:t>NeedsYou</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needs_you</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3"/>
                  </a:ext>
                </a:extLst>
              </a:tr>
              <a:tr h="767457">
                <a:tc>
                  <a:txBody>
                    <a:bodyPr/>
                    <a:lstStyle/>
                    <a:p>
                      <a:r>
                        <a:rPr sz="1250" b="0">
                          <a:solidFill>
                            <a:srgbClr val="14213D"/>
                          </a:solidFill>
                          <a:latin typeface="IBM Plex Sans"/>
                        </a:rPr>
                        <a:t>Failed</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run stops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D · ELEMENTARY STRUCTURE</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Six class diagrams drawn from the code</a:t>
            </a:r>
          </a:p>
        </p:txBody>
      </p:sp>
      <p:sp>
        <p:nvSpPr>
          <p:cNvPr id="4" name="Rounded Rectangle 3"/>
          <p:cNvSpPr/>
          <p:nvPr/>
        </p:nvSpPr>
        <p:spPr>
          <a:xfrm>
            <a:off x="812800" y="1530350"/>
            <a:ext cx="10566400" cy="2984500"/>
          </a:xfrm>
          <a:prstGeom prst="roundRect">
            <a:avLst>
              <a:gd name="adj" fmla="val 3404"/>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ass diagram 1, the structural spine from the web workspace through the chat coordinator and workflow to specialists, tools and stores"/>
          <p:cNvPicPr>
            <a:picLocks noChangeAspect="1"/>
          </p:cNvPicPr>
          <p:nvPr/>
        </p:nvPicPr>
        <p:blipFill>
          <a:blip r:embed="rId3"/>
          <a:stretch>
            <a:fillRect/>
          </a:stretch>
        </p:blipFill>
        <p:spPr>
          <a:xfrm>
            <a:off x="2779284" y="1530350"/>
            <a:ext cx="6633432" cy="2984500"/>
          </a:xfrm>
          <a:prstGeom prst="rect">
            <a:avLst/>
          </a:prstGeom>
        </p:spPr>
      </p:pic>
      <p:sp>
        <p:nvSpPr>
          <p:cNvPr id="6" name="Rounded Rectangle 5"/>
          <p:cNvSpPr/>
          <p:nvPr/>
        </p:nvSpPr>
        <p:spPr>
          <a:xfrm>
            <a:off x="812800" y="4667250"/>
            <a:ext cx="1634034" cy="660400"/>
          </a:xfrm>
          <a:prstGeom prst="roundRect">
            <a:avLst>
              <a:gd name="adj" fmla="val 1153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52400" tIns="0" rIns="152400" bIns="0" rtlCol="0" anchor="ctr"/>
          <a:lstStyle/>
          <a:p>
            <a:pPr algn="l"/>
            <a:r>
              <a:rPr sz="1300" b="1" i="0">
                <a:solidFill>
                  <a:srgbClr val="14213D"/>
                </a:solidFill>
                <a:latin typeface="IBM Plex Sans"/>
              </a:rPr>
              <a:t>1</a:t>
            </a:r>
            <a:r>
              <a:rPr sz="1300" b="0" i="0">
                <a:solidFill>
                  <a:srgbClr val="14213D"/>
                </a:solidFill>
                <a:latin typeface="IBM Plex Sans"/>
              </a:rPr>
              <a:t> Structural spine</a:t>
            </a:r>
          </a:p>
        </p:txBody>
      </p:sp>
      <p:sp>
        <p:nvSpPr>
          <p:cNvPr id="7" name="Rounded Rectangle 6"/>
          <p:cNvSpPr/>
          <p:nvPr/>
        </p:nvSpPr>
        <p:spPr>
          <a:xfrm>
            <a:off x="2599234" y="4667250"/>
            <a:ext cx="1634034" cy="660400"/>
          </a:xfrm>
          <a:prstGeom prst="roundRect">
            <a:avLst>
              <a:gd name="adj" fmla="val 1153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52400" tIns="0" rIns="152400" bIns="0" rtlCol="0" anchor="ctr"/>
          <a:lstStyle/>
          <a:p>
            <a:pPr algn="l"/>
            <a:r>
              <a:rPr sz="1300" b="1" i="0">
                <a:solidFill>
                  <a:srgbClr val="14213D"/>
                </a:solidFill>
                <a:latin typeface="IBM Plex Sans"/>
              </a:rPr>
              <a:t>2</a:t>
            </a:r>
            <a:r>
              <a:rPr sz="1300" b="0" i="0">
                <a:solidFill>
                  <a:srgbClr val="14213D"/>
                </a:solidFill>
                <a:latin typeface="IBM Plex Sans"/>
              </a:rPr>
              <a:t> Domain contracts</a:t>
            </a:r>
          </a:p>
        </p:txBody>
      </p:sp>
      <p:sp>
        <p:nvSpPr>
          <p:cNvPr id="8" name="Rounded Rectangle 7"/>
          <p:cNvSpPr/>
          <p:nvPr/>
        </p:nvSpPr>
        <p:spPr>
          <a:xfrm>
            <a:off x="4385667" y="4667250"/>
            <a:ext cx="1634034" cy="660400"/>
          </a:xfrm>
          <a:prstGeom prst="roundRect">
            <a:avLst>
              <a:gd name="adj" fmla="val 1153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52400" tIns="0" rIns="152400" bIns="0" rtlCol="0" anchor="ctr"/>
          <a:lstStyle/>
          <a:p>
            <a:pPr algn="l"/>
            <a:r>
              <a:rPr sz="1300" b="1" i="0">
                <a:solidFill>
                  <a:srgbClr val="14213D"/>
                </a:solidFill>
                <a:latin typeface="IBM Plex Sans"/>
              </a:rPr>
              <a:t>3</a:t>
            </a:r>
            <a:r>
              <a:rPr sz="1300" b="0" i="0">
                <a:solidFill>
                  <a:srgbClr val="14213D"/>
                </a:solidFill>
                <a:latin typeface="IBM Plex Sans"/>
              </a:rPr>
              <a:t> Specialists</a:t>
            </a:r>
          </a:p>
        </p:txBody>
      </p:sp>
      <p:sp>
        <p:nvSpPr>
          <p:cNvPr id="9" name="Rounded Rectangle 8"/>
          <p:cNvSpPr/>
          <p:nvPr/>
        </p:nvSpPr>
        <p:spPr>
          <a:xfrm>
            <a:off x="6172101" y="4667250"/>
            <a:ext cx="1634034" cy="660400"/>
          </a:xfrm>
          <a:prstGeom prst="roundRect">
            <a:avLst>
              <a:gd name="adj" fmla="val 1153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52400" tIns="0" rIns="152400" bIns="0" rtlCol="0" anchor="ctr"/>
          <a:lstStyle/>
          <a:p>
            <a:pPr algn="l"/>
            <a:r>
              <a:rPr sz="1300" b="1" i="0">
                <a:solidFill>
                  <a:srgbClr val="14213D"/>
                </a:solidFill>
                <a:latin typeface="IBM Plex Sans"/>
              </a:rPr>
              <a:t>4</a:t>
            </a:r>
            <a:r>
              <a:rPr sz="1300" b="0" i="0">
                <a:solidFill>
                  <a:srgbClr val="14213D"/>
                </a:solidFill>
                <a:latin typeface="IBM Plex Sans"/>
              </a:rPr>
              <a:t> Ports and adapters</a:t>
            </a:r>
          </a:p>
        </p:txBody>
      </p:sp>
      <p:sp>
        <p:nvSpPr>
          <p:cNvPr id="10" name="Rounded Rectangle 9"/>
          <p:cNvSpPr/>
          <p:nvPr/>
        </p:nvSpPr>
        <p:spPr>
          <a:xfrm>
            <a:off x="7958534" y="4667250"/>
            <a:ext cx="1634034" cy="660400"/>
          </a:xfrm>
          <a:prstGeom prst="roundRect">
            <a:avLst>
              <a:gd name="adj" fmla="val 1153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52400" tIns="0" rIns="152400" bIns="0" rtlCol="0" anchor="ctr"/>
          <a:lstStyle/>
          <a:p>
            <a:pPr algn="l"/>
            <a:r>
              <a:rPr sz="1300" b="1" i="0">
                <a:solidFill>
                  <a:srgbClr val="14213D"/>
                </a:solidFill>
                <a:latin typeface="IBM Plex Sans"/>
              </a:rPr>
              <a:t>5</a:t>
            </a:r>
            <a:r>
              <a:rPr sz="1300" b="0" i="0">
                <a:solidFill>
                  <a:srgbClr val="14213D"/>
                </a:solidFill>
                <a:latin typeface="IBM Plex Sans"/>
              </a:rPr>
              <a:t> Use case trace</a:t>
            </a:r>
          </a:p>
        </p:txBody>
      </p:sp>
      <p:sp>
        <p:nvSpPr>
          <p:cNvPr id="11" name="Rounded Rectangle 10"/>
          <p:cNvSpPr/>
          <p:nvPr/>
        </p:nvSpPr>
        <p:spPr>
          <a:xfrm>
            <a:off x="9744968" y="4667250"/>
            <a:ext cx="1634034" cy="660400"/>
          </a:xfrm>
          <a:prstGeom prst="roundRect">
            <a:avLst>
              <a:gd name="adj" fmla="val 1153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52400" tIns="0" rIns="152400" bIns="0" rtlCol="0" anchor="ctr"/>
          <a:lstStyle/>
          <a:p>
            <a:pPr algn="l"/>
            <a:r>
              <a:rPr sz="1300" b="1" i="0">
                <a:solidFill>
                  <a:srgbClr val="14213D"/>
                </a:solidFill>
                <a:latin typeface="IBM Plex Sans"/>
              </a:rPr>
              <a:t>6</a:t>
            </a:r>
            <a:r>
              <a:rPr sz="1300" b="0" i="0">
                <a:solidFill>
                  <a:srgbClr val="14213D"/>
                </a:solidFill>
                <a:latin typeface="IBM Plex Sans"/>
              </a:rPr>
              <a:t> Generalisation</a:t>
            </a:r>
          </a:p>
        </p:txBody>
      </p:sp>
      <p:sp>
        <p:nvSpPr>
          <p:cNvPr id="12" name="TextBox 11"/>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D · ELEMENTARY STRUCTURE</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One Specialist interface, five realisations</a:t>
            </a:r>
          </a:p>
        </p:txBody>
      </p:sp>
      <p:sp>
        <p:nvSpPr>
          <p:cNvPr id="4" name="Rounded Rectangle 3"/>
          <p:cNvSpPr/>
          <p:nvPr/>
        </p:nvSpPr>
        <p:spPr>
          <a:xfrm>
            <a:off x="812800" y="1530350"/>
            <a:ext cx="10566400" cy="2794000"/>
          </a:xfrm>
          <a:prstGeom prst="roundRect">
            <a:avLst>
              <a:gd name="adj" fmla="val 3636"/>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ass diagram 3: the Specialist interface realised by five agents, aggregated by the registry and called by the orchestrator graph"/>
          <p:cNvPicPr>
            <a:picLocks noChangeAspect="1"/>
          </p:cNvPicPr>
          <p:nvPr/>
        </p:nvPicPr>
        <p:blipFill>
          <a:blip r:embed="rId3"/>
          <a:stretch>
            <a:fillRect/>
          </a:stretch>
        </p:blipFill>
        <p:spPr>
          <a:xfrm>
            <a:off x="2922182" y="1530350"/>
            <a:ext cx="6347635" cy="2794000"/>
          </a:xfrm>
          <a:prstGeom prst="rect">
            <a:avLst/>
          </a:prstGeom>
        </p:spPr>
      </p:pic>
      <p:graphicFrame>
        <p:nvGraphicFramePr>
          <p:cNvPr id="6" name="Table 5"/>
          <p:cNvGraphicFramePr>
            <a:graphicFrameLocks noGrp="1"/>
          </p:cNvGraphicFramePr>
          <p:nvPr/>
        </p:nvGraphicFramePr>
        <p:xfrm>
          <a:off x="812800" y="4476750"/>
          <a:ext cx="10560050" cy="904875"/>
        </p:xfrm>
        <a:graphic>
          <a:graphicData uri="http://schemas.openxmlformats.org/drawingml/2006/table">
            <a:tbl>
              <a:tblPr/>
              <a:tblGrid>
                <a:gridCol w="3167955">
                  <a:extLst>
                    <a:ext uri="{9D8B030D-6E8A-4147-A177-3AD203B41FA5}">
                      <a16:colId xmlns:a16="http://schemas.microsoft.com/office/drawing/2014/main" val="20000"/>
                    </a:ext>
                  </a:extLst>
                </a:gridCol>
                <a:gridCol w="2323207">
                  <a:extLst>
                    <a:ext uri="{9D8B030D-6E8A-4147-A177-3AD203B41FA5}">
                      <a16:colId xmlns:a16="http://schemas.microsoft.com/office/drawing/2014/main" val="20001"/>
                    </a:ext>
                  </a:extLst>
                </a:gridCol>
                <a:gridCol w="5068888">
                  <a:extLst>
                    <a:ext uri="{9D8B030D-6E8A-4147-A177-3AD203B41FA5}">
                      <a16:colId xmlns:a16="http://schemas.microsoft.com/office/drawing/2014/main" val="20002"/>
                    </a:ext>
                  </a:extLst>
                </a:gridCol>
              </a:tblGrid>
              <a:tr h="301625">
                <a:tc>
                  <a:txBody>
                    <a:bodyPr/>
                    <a:lstStyle/>
                    <a:p>
                      <a:r>
                        <a:rPr sz="1250" b="1">
                          <a:solidFill>
                            <a:srgbClr val="14213D"/>
                          </a:solidFill>
                          <a:latin typeface="IBM Plex Sans"/>
                        </a:rPr>
                        <a:t>Relationship</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Kind</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Why</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extLst>
                  <a:ext uri="{0D108BD9-81ED-4DB2-BD59-A6C34878D82A}">
                    <a16:rowId xmlns:a16="http://schemas.microsoft.com/office/drawing/2014/main" val="10000"/>
                  </a:ext>
                </a:extLst>
              </a:tr>
              <a:tr h="301625">
                <a:tc>
                  <a:txBody>
                    <a:bodyPr/>
                    <a:lstStyle/>
                    <a:p>
                      <a:r>
                        <a:rPr sz="1250" b="0">
                          <a:solidFill>
                            <a:srgbClr val="14213D"/>
                          </a:solidFill>
                          <a:latin typeface="IBM Plex Sans"/>
                        </a:rPr>
                        <a:t>Registry ◇ Specialist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aggregation 1 → 5</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agents live on their own; the registry only lists them</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1"/>
                  </a:ext>
                </a:extLst>
              </a:tr>
              <a:tr h="301625">
                <a:tc>
                  <a:txBody>
                    <a:bodyPr/>
                    <a:lstStyle/>
                    <a:p>
                      <a:r>
                        <a:rPr sz="1250" b="0">
                          <a:solidFill>
                            <a:srgbClr val="14213D"/>
                          </a:solidFill>
                          <a:latin typeface="IBM Plex Sans"/>
                        </a:rPr>
                        <a:t>TripPlan ◆ TripSection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composition 1 → 0..*</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a section cannot outlive its plan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D · DESIGN RATIONALE</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What we chose, and what we discarded</a:t>
            </a:r>
          </a:p>
        </p:txBody>
      </p:sp>
      <p:graphicFrame>
        <p:nvGraphicFramePr>
          <p:cNvPr id="4" name="Table 3"/>
          <p:cNvGraphicFramePr>
            <a:graphicFrameLocks noGrp="1"/>
          </p:cNvGraphicFramePr>
          <p:nvPr/>
        </p:nvGraphicFramePr>
        <p:xfrm>
          <a:off x="812800" y="1530350"/>
          <a:ext cx="10560051" cy="2111375"/>
        </p:xfrm>
        <a:graphic>
          <a:graphicData uri="http://schemas.openxmlformats.org/drawingml/2006/table">
            <a:tbl>
              <a:tblPr/>
              <a:tblGrid>
                <a:gridCol w="2534345">
                  <a:extLst>
                    <a:ext uri="{9D8B030D-6E8A-4147-A177-3AD203B41FA5}">
                      <a16:colId xmlns:a16="http://schemas.microsoft.com/office/drawing/2014/main" val="20000"/>
                    </a:ext>
                  </a:extLst>
                </a:gridCol>
                <a:gridCol w="3590330">
                  <a:extLst>
                    <a:ext uri="{9D8B030D-6E8A-4147-A177-3AD203B41FA5}">
                      <a16:colId xmlns:a16="http://schemas.microsoft.com/office/drawing/2014/main" val="20001"/>
                    </a:ext>
                  </a:extLst>
                </a:gridCol>
                <a:gridCol w="4435376">
                  <a:extLst>
                    <a:ext uri="{9D8B030D-6E8A-4147-A177-3AD203B41FA5}">
                      <a16:colId xmlns:a16="http://schemas.microsoft.com/office/drawing/2014/main" val="20002"/>
                    </a:ext>
                  </a:extLst>
                </a:gridCol>
              </a:tblGrid>
              <a:tr h="301625">
                <a:tc>
                  <a:txBody>
                    <a:bodyPr/>
                    <a:lstStyle/>
                    <a:p>
                      <a:r>
                        <a:rPr sz="1250" b="1">
                          <a:solidFill>
                            <a:srgbClr val="14213D"/>
                          </a:solidFill>
                          <a:latin typeface="IBM Plex Sans"/>
                        </a:rPr>
                        <a:t>Decision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Chosen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tc>
                  <a:txBody>
                    <a:bodyPr/>
                    <a:lstStyle/>
                    <a:p>
                      <a:r>
                        <a:rPr sz="1250" b="1">
                          <a:solidFill>
                            <a:srgbClr val="14213D"/>
                          </a:solidFill>
                          <a:latin typeface="IBM Plex Sans"/>
                        </a:rPr>
                        <a:t>Discarded, and why</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3E8EF"/>
                    </a:solidFill>
                  </a:tcPr>
                </a:tc>
                <a:extLst>
                  <a:ext uri="{0D108BD9-81ED-4DB2-BD59-A6C34878D82A}">
                    <a16:rowId xmlns:a16="http://schemas.microsoft.com/office/drawing/2014/main" val="10000"/>
                  </a:ext>
                </a:extLst>
              </a:tr>
              <a:tr h="301625">
                <a:tc>
                  <a:txBody>
                    <a:bodyPr/>
                    <a:lstStyle/>
                    <a:p>
                      <a:r>
                        <a:rPr sz="1250" b="0">
                          <a:solidFill>
                            <a:srgbClr val="14213D"/>
                          </a:solidFill>
                          <a:latin typeface="IBM Plex Sans"/>
                        </a:rPr>
                        <a:t>Who drives the loop</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Deterministic LangGraph</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 model-driven loop: limits and costs must be testable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1"/>
                  </a:ext>
                </a:extLst>
              </a:tr>
              <a:tr h="301625">
                <a:tc>
                  <a:txBody>
                    <a:bodyPr/>
                    <a:lstStyle/>
                    <a:p>
                      <a:r>
                        <a:rPr sz="1250" b="0">
                          <a:solidFill>
                            <a:srgbClr val="14213D"/>
                          </a:solidFill>
                          <a:latin typeface="IBM Plex Sans"/>
                        </a:rPr>
                        <a:t>Collaboration</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Staged board with budget shares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Free agent-to-agent chat: control flow in model output</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extLst>
                  <a:ext uri="{0D108BD9-81ED-4DB2-BD59-A6C34878D82A}">
                    <a16:rowId xmlns:a16="http://schemas.microsoft.com/office/drawing/2014/main" val="10002"/>
                  </a:ext>
                </a:extLst>
              </a:tr>
              <a:tr h="301625">
                <a:tc>
                  <a:txBody>
                    <a:bodyPr/>
                    <a:lstStyle/>
                    <a:p>
                      <a:r>
                        <a:rPr sz="1250" b="0">
                          <a:solidFill>
                            <a:srgbClr val="14213D"/>
                          </a:solidFill>
                          <a:latin typeface="IBM Plex Sans"/>
                        </a:rPr>
                        <a:t>Human in the loop</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Traveller edits; sections show needs_you</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Approval checkpoints: confirming applied nothing</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3"/>
                  </a:ext>
                </a:extLst>
              </a:tr>
              <a:tr h="301625">
                <a:tc>
                  <a:txBody>
                    <a:bodyPr/>
                    <a:lstStyle/>
                    <a:p>
                      <a:r>
                        <a:rPr sz="1250" b="0">
                          <a:solidFill>
                            <a:srgbClr val="14213D"/>
                          </a:solidFill>
                          <a:latin typeface="IBM Plex Sans"/>
                        </a:rPr>
                        <a:t>LLM provider</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DeepSeek</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MiniMax: pages took 37–81 s against 15–23 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extLst>
                  <a:ext uri="{0D108BD9-81ED-4DB2-BD59-A6C34878D82A}">
                    <a16:rowId xmlns:a16="http://schemas.microsoft.com/office/drawing/2014/main" val="10004"/>
                  </a:ext>
                </a:extLst>
              </a:tr>
              <a:tr h="301625">
                <a:tc>
                  <a:txBody>
                    <a:bodyPr/>
                    <a:lstStyle/>
                    <a:p>
                      <a:r>
                        <a:rPr sz="1250" b="0">
                          <a:solidFill>
                            <a:srgbClr val="14213D"/>
                          </a:solidFill>
                          <a:latin typeface="IBM Plex Sans"/>
                        </a:rPr>
                        <a:t>Prices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Tools only, with provenance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tc>
                  <a:txBody>
                    <a:bodyPr/>
                    <a:lstStyle/>
                    <a:p>
                      <a:r>
                        <a:rPr sz="1250" b="0">
                          <a:solidFill>
                            <a:srgbClr val="14213D"/>
                          </a:solidFill>
                          <a:latin typeface="IBM Plex Sans"/>
                        </a:rPr>
                        <a:t>Model estimates: it invents hotels and fares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F7F6F1"/>
                    </a:solidFill>
                  </a:tcPr>
                </a:tc>
                <a:extLst>
                  <a:ext uri="{0D108BD9-81ED-4DB2-BD59-A6C34878D82A}">
                    <a16:rowId xmlns:a16="http://schemas.microsoft.com/office/drawing/2014/main" val="10005"/>
                  </a:ext>
                </a:extLst>
              </a:tr>
              <a:tr h="301625">
                <a:tc>
                  <a:txBody>
                    <a:bodyPr/>
                    <a:lstStyle/>
                    <a:p>
                      <a:r>
                        <a:rPr sz="1250" b="0">
                          <a:solidFill>
                            <a:srgbClr val="14213D"/>
                          </a:solidFill>
                          <a:latin typeface="IBM Plex Sans"/>
                        </a:rPr>
                        <a:t>Server state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Redis REST store</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tc>
                  <a:txBody>
                    <a:bodyPr/>
                    <a:lstStyle/>
                    <a:p>
                      <a:r>
                        <a:rPr sz="1250" b="0">
                          <a:solidFill>
                            <a:srgbClr val="14213D"/>
                          </a:solidFill>
                          <a:latin typeface="IBM Plex Sans"/>
                        </a:rPr>
                        <a:t>Process memory: lost on cold starts</a:t>
                      </a:r>
                    </a:p>
                  </a:txBody>
                  <a:tcPr marL="95250" marR="95250" marT="47625" marB="47625">
                    <a:lnL w="6350">
                      <a:solidFill>
                        <a:srgbClr val="C9D1DD"/>
                      </a:solidFill>
                    </a:lnL>
                    <a:lnR w="6350">
                      <a:solidFill>
                        <a:srgbClr val="C9D1DD"/>
                      </a:solidFill>
                    </a:lnR>
                    <a:lnT w="6350">
                      <a:solidFill>
                        <a:srgbClr val="C9D1DD"/>
                      </a:solidFill>
                    </a:lnT>
                    <a:lnB w="6350">
                      <a:solidFill>
                        <a:srgbClr val="C9D1DD"/>
                      </a:solidFill>
                    </a:lnB>
                    <a:solidFill>
                      <a:srgbClr val="EEF1F5"/>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D · INDIVIDUAL BEHAVIOUR MODELS</a:t>
            </a:r>
          </a:p>
        </p:txBody>
      </p:sp>
      <p:sp>
        <p:nvSpPr>
          <p:cNvPr id="3" name="TextBox 2"/>
          <p:cNvSpPr txBox="1"/>
          <p:nvPr/>
        </p:nvSpPr>
        <p:spPr>
          <a:xfrm>
            <a:off x="812800" y="939800"/>
            <a:ext cx="10617200" cy="478977"/>
          </a:xfrm>
          <a:prstGeom prst="rect">
            <a:avLst/>
          </a:prstGeom>
          <a:noFill/>
        </p:spPr>
        <p:txBody>
          <a:bodyPr wrap="square" lIns="0" tIns="0" rIns="0" bIns="0" anchor="t">
            <a:spAutoFit/>
          </a:bodyPr>
          <a:lstStyle/>
          <a:p>
            <a:pPr algn="l">
              <a:lnSpc>
                <a:spcPct val="109250"/>
              </a:lnSpc>
            </a:pPr>
            <a:r>
              <a:rPr lang="en-US" sz="3000" b="1" i="0">
                <a:solidFill>
                  <a:srgbClr val="14213D"/>
                </a:solidFill>
                <a:latin typeface="Rubik"/>
              </a:rPr>
              <a:t>UC-D1: weather and dietary guidance</a:t>
            </a:r>
            <a:endParaRPr sz="3000" b="1" i="0">
              <a:solidFill>
                <a:srgbClr val="14213D"/>
              </a:solidFill>
              <a:latin typeface="Rubik"/>
            </a:endParaRPr>
          </a:p>
        </p:txBody>
      </p:sp>
      <p:sp>
        <p:nvSpPr>
          <p:cNvPr id="4" name="Rounded Rectangle 3"/>
          <p:cNvSpPr/>
          <p:nvPr/>
        </p:nvSpPr>
        <p:spPr>
          <a:xfrm>
            <a:off x="812800"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402634"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992467"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pic>
        <p:nvPicPr>
          <p:cNvPr id="12" name="D activity model" descr="Activity · evidence to LLM to validation">
            <a:extLst>
              <a:ext uri="{FF2B5EF4-FFF2-40B4-BE49-F238E27FC236}">
                <a16:creationId xmlns:a16="http://schemas.microsoft.com/office/drawing/2014/main" id="{223A48C1-00DA-899E-98A9-E301C8A0A736}"/>
              </a:ext>
            </a:extLst>
          </p:cNvPr>
          <p:cNvPicPr>
            <a:picLocks noChangeAspect="1"/>
          </p:cNvPicPr>
          <p:nvPr/>
        </p:nvPicPr>
        <p:blipFill>
          <a:blip r:embed="rId3"/>
          <a:stretch>
            <a:fillRect/>
          </a:stretch>
        </p:blipFill>
        <p:spPr>
          <a:xfrm>
            <a:off x="1768128" y="1682750"/>
            <a:ext cx="1475979" cy="3448050"/>
          </a:xfrm>
          <a:prstGeom prst="rect">
            <a:avLst/>
          </a:prstGeom>
        </p:spPr>
      </p:pic>
      <p:sp>
        <p:nvSpPr>
          <p:cNvPr id="5" name="TextBox 4"/>
          <p:cNvSpPr txBox="1"/>
          <p:nvPr/>
        </p:nvSpPr>
        <p:spPr>
          <a:xfrm>
            <a:off x="914399" y="5461000"/>
            <a:ext cx="3183434" cy="138499"/>
          </a:xfrm>
          <a:prstGeom prst="rect">
            <a:avLst/>
          </a:prstGeom>
          <a:noFill/>
        </p:spPr>
        <p:txBody>
          <a:bodyPr wrap="square" lIns="0" tIns="0" rIns="0" bIns="0" anchor="t">
            <a:spAutoFit/>
          </a:bodyPr>
          <a:lstStyle/>
          <a:p>
            <a:pPr algn="ctr"/>
            <a:r>
              <a:rPr lang="en-US" sz="900" b="0" i="0">
                <a:solidFill>
                  <a:srgbClr val="5A6478"/>
                </a:solidFill>
                <a:latin typeface="IBM Plex Sans"/>
              </a:rPr>
              <a:t>Activity · evidence to LLM to validation</a:t>
            </a:r>
            <a:endParaRPr sz="900" b="0" i="0">
              <a:solidFill>
                <a:srgbClr val="5A6478"/>
              </a:solidFill>
              <a:latin typeface="IBM Plex Sans"/>
            </a:endParaRPr>
          </a:p>
        </p:txBody>
      </p:sp>
      <p:pic>
        <p:nvPicPr>
          <p:cNvPr id="14" name="D sequence model" descr="Sequence · parallel guide and dining">
            <a:extLst>
              <a:ext uri="{FF2B5EF4-FFF2-40B4-BE49-F238E27FC236}">
                <a16:creationId xmlns:a16="http://schemas.microsoft.com/office/drawing/2014/main" id="{F5336A86-BCDE-512B-A105-63A69ECB88A8}"/>
              </a:ext>
            </a:extLst>
          </p:cNvPr>
          <p:cNvPicPr>
            <a:picLocks noChangeAspect="1"/>
          </p:cNvPicPr>
          <p:nvPr/>
        </p:nvPicPr>
        <p:blipFill>
          <a:blip r:embed="rId4"/>
          <a:stretch>
            <a:fillRect/>
          </a:stretch>
        </p:blipFill>
        <p:spPr>
          <a:xfrm>
            <a:off x="4597464" y="1682750"/>
            <a:ext cx="2996975" cy="3448050"/>
          </a:xfrm>
          <a:prstGeom prst="rect">
            <a:avLst/>
          </a:prstGeom>
        </p:spPr>
      </p:pic>
      <p:sp>
        <p:nvSpPr>
          <p:cNvPr id="7" name="TextBox 6"/>
          <p:cNvSpPr txBox="1"/>
          <p:nvPr/>
        </p:nvSpPr>
        <p:spPr>
          <a:xfrm>
            <a:off x="4504234" y="5461000"/>
            <a:ext cx="3183434" cy="138499"/>
          </a:xfrm>
          <a:prstGeom prst="rect">
            <a:avLst/>
          </a:prstGeom>
          <a:noFill/>
        </p:spPr>
        <p:txBody>
          <a:bodyPr wrap="square" lIns="0" tIns="0" rIns="0" bIns="0" anchor="t">
            <a:spAutoFit/>
          </a:bodyPr>
          <a:lstStyle/>
          <a:p>
            <a:pPr algn="ctr"/>
            <a:r>
              <a:rPr lang="en-US" sz="900" b="0" i="0">
                <a:solidFill>
                  <a:srgbClr val="5A6478"/>
                </a:solidFill>
                <a:latin typeface="IBM Plex Sans"/>
              </a:rPr>
              <a:t>Sequence · parallel guide and dining</a:t>
            </a:r>
            <a:endParaRPr sz="900" b="0" i="0">
              <a:solidFill>
                <a:srgbClr val="5A6478"/>
              </a:solidFill>
              <a:latin typeface="IBM Plex Sans"/>
            </a:endParaRPr>
          </a:p>
        </p:txBody>
      </p:sp>
      <p:pic>
        <p:nvPicPr>
          <p:cNvPr id="16" name="D state model" descr="States · ready, fallback, failure">
            <a:extLst>
              <a:ext uri="{FF2B5EF4-FFF2-40B4-BE49-F238E27FC236}">
                <a16:creationId xmlns:a16="http://schemas.microsoft.com/office/drawing/2014/main" id="{1533364A-48F9-1670-65FD-A4C783A34C64}"/>
              </a:ext>
            </a:extLst>
          </p:cNvPr>
          <p:cNvPicPr>
            <a:picLocks noChangeAspect="1"/>
          </p:cNvPicPr>
          <p:nvPr/>
        </p:nvPicPr>
        <p:blipFill>
          <a:blip r:embed="rId5"/>
          <a:stretch>
            <a:fillRect/>
          </a:stretch>
        </p:blipFill>
        <p:spPr>
          <a:xfrm>
            <a:off x="8401583" y="1682750"/>
            <a:ext cx="2568403" cy="3448050"/>
          </a:xfrm>
          <a:prstGeom prst="rect">
            <a:avLst/>
          </a:prstGeom>
        </p:spPr>
      </p:pic>
      <p:sp>
        <p:nvSpPr>
          <p:cNvPr id="9" name="TextBox 8"/>
          <p:cNvSpPr txBox="1"/>
          <p:nvPr/>
        </p:nvSpPr>
        <p:spPr>
          <a:xfrm>
            <a:off x="8094067" y="5461000"/>
            <a:ext cx="3183434" cy="138499"/>
          </a:xfrm>
          <a:prstGeom prst="rect">
            <a:avLst/>
          </a:prstGeom>
          <a:noFill/>
        </p:spPr>
        <p:txBody>
          <a:bodyPr wrap="square" lIns="0" tIns="0" rIns="0" bIns="0" anchor="t">
            <a:spAutoFit/>
          </a:bodyPr>
          <a:lstStyle/>
          <a:p>
            <a:pPr algn="ctr"/>
            <a:r>
              <a:rPr lang="en-GB" sz="900" b="0" i="0">
                <a:solidFill>
                  <a:srgbClr val="5A6478"/>
                </a:solidFill>
                <a:latin typeface="IBM Plex Sans"/>
              </a:rPr>
              <a:t>States · ready, fallback, failure</a:t>
            </a:r>
            <a:endParaRPr sz="900" b="0" i="0">
              <a:solidFill>
                <a:srgbClr val="5A6478"/>
              </a:solidFill>
              <a:latin typeface="IBM Plex San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E · PACKAGE DIAGRAM</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Dependencies point inward to the shared contracts</a:t>
            </a:r>
          </a:p>
        </p:txBody>
      </p:sp>
      <p:sp>
        <p:nvSpPr>
          <p:cNvPr id="4" name="Rounded Rectangle 3"/>
          <p:cNvSpPr/>
          <p:nvPr/>
        </p:nvSpPr>
        <p:spPr>
          <a:xfrm>
            <a:off x="812800" y="1530350"/>
            <a:ext cx="4699000" cy="4064000"/>
          </a:xfrm>
          <a:prstGeom prst="roundRect">
            <a:avLst>
              <a:gd name="adj" fmla="val 250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ackage diagram: web, orchestrator, agents, tools and services packages, all importing the shared contracts package"/>
          <p:cNvPicPr>
            <a:picLocks noChangeAspect="1"/>
          </p:cNvPicPr>
          <p:nvPr/>
        </p:nvPicPr>
        <p:blipFill>
          <a:blip r:embed="rId3"/>
          <a:stretch>
            <a:fillRect/>
          </a:stretch>
        </p:blipFill>
        <p:spPr>
          <a:xfrm>
            <a:off x="1387796" y="1530350"/>
            <a:ext cx="3549008" cy="4064000"/>
          </a:xfrm>
          <a:prstGeom prst="rect">
            <a:avLst/>
          </a:prstGeom>
        </p:spPr>
      </p:pic>
      <p:sp>
        <p:nvSpPr>
          <p:cNvPr id="6" name="TextBox 5"/>
          <p:cNvSpPr txBox="1"/>
          <p:nvPr/>
        </p:nvSpPr>
        <p:spPr>
          <a:xfrm>
            <a:off x="5715000" y="1530350"/>
            <a:ext cx="5715000" cy="24884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Six packages</a:t>
            </a:r>
            <a:r>
              <a:rPr sz="1400" b="0" i="0">
                <a:solidFill>
                  <a:srgbClr val="14213D"/>
                </a:solidFill>
                <a:latin typeface="IBM Plex Sans"/>
              </a:rPr>
              <a:t> in one monorepo, each with an owner.</a:t>
            </a:r>
          </a:p>
        </p:txBody>
      </p:sp>
      <p:sp>
        <p:nvSpPr>
          <p:cNvPr id="7" name="TextBox 6"/>
          <p:cNvSpPr txBox="1"/>
          <p:nvPr/>
        </p:nvSpPr>
        <p:spPr>
          <a:xfrm>
            <a:off x="5715000" y="1906191"/>
            <a:ext cx="5715000" cy="24884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shared</a:t>
            </a:r>
            <a:r>
              <a:rPr sz="1400" b="0" i="0">
                <a:solidFill>
                  <a:srgbClr val="14213D"/>
                </a:solidFill>
                <a:latin typeface="IBM Plex Sans"/>
              </a:rPr>
              <a:t> holds the Zod contracts and ports and depends on nothing.</a:t>
            </a:r>
          </a:p>
        </p:txBody>
      </p:sp>
      <p:sp>
        <p:nvSpPr>
          <p:cNvPr id="8" name="TextBox 7"/>
          <p:cNvSpPr txBox="1"/>
          <p:nvPr/>
        </p:nvSpPr>
        <p:spPr>
          <a:xfrm>
            <a:off x="5715000" y="2282031"/>
            <a:ext cx="5715000" cy="49768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No package imports the web app,</a:t>
            </a:r>
            <a:r>
              <a:rPr sz="1400" b="0" i="0">
                <a:solidFill>
                  <a:srgbClr val="14213D"/>
                </a:solidFill>
                <a:latin typeface="IBM Plex Sans"/>
              </a:rPr>
              <a:t> so the planner runs and is tested without a browser.</a:t>
            </a:r>
          </a:p>
        </p:txBody>
      </p:sp>
      <p:sp>
        <p:nvSpPr>
          <p:cNvPr id="9" name="TextBox 8"/>
          <p:cNvSpPr txBox="1"/>
          <p:nvPr/>
        </p:nvSpPr>
        <p:spPr>
          <a:xfrm>
            <a:off x="5715000" y="2906712"/>
            <a:ext cx="5715000" cy="24884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Future work</a:t>
            </a:r>
            <a:r>
              <a:rPr sz="1400" b="0" i="0">
                <a:solidFill>
                  <a:srgbClr val="14213D"/>
                </a:solidFill>
                <a:latin typeface="IBM Plex Sans"/>
              </a:rPr>
              <a:t> plugs in at interfaces: a new specialist, provider or store.</a:t>
            </a:r>
          </a:p>
        </p:txBody>
      </p:sp>
      <p:sp>
        <p:nvSpPr>
          <p:cNvPr id="10" name="TextBox 9"/>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E · DEPLOYMENT</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One serverless app, optional cloud services</a:t>
            </a:r>
          </a:p>
        </p:txBody>
      </p:sp>
      <p:sp>
        <p:nvSpPr>
          <p:cNvPr id="4" name="Rounded Rectangle 3"/>
          <p:cNvSpPr/>
          <p:nvPr/>
        </p:nvSpPr>
        <p:spPr>
          <a:xfrm>
            <a:off x="812800" y="1530350"/>
            <a:ext cx="4699000" cy="4064000"/>
          </a:xfrm>
          <a:prstGeom prst="roundRect">
            <a:avLst>
              <a:gd name="adj" fmla="val 2500"/>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eployment diagram: browser with local storage, Next.js on Vercel serverless, Redis REST, Neon Postgres, Clerk, DeepSeek and data providers"/>
          <p:cNvPicPr>
            <a:picLocks noChangeAspect="1"/>
          </p:cNvPicPr>
          <p:nvPr/>
        </p:nvPicPr>
        <p:blipFill>
          <a:blip r:embed="rId3"/>
          <a:stretch>
            <a:fillRect/>
          </a:stretch>
        </p:blipFill>
        <p:spPr>
          <a:xfrm>
            <a:off x="1042487" y="1530350"/>
            <a:ext cx="4239627" cy="4064000"/>
          </a:xfrm>
          <a:prstGeom prst="rect">
            <a:avLst/>
          </a:prstGeom>
        </p:spPr>
      </p:pic>
      <p:sp>
        <p:nvSpPr>
          <p:cNvPr id="6" name="TextBox 5"/>
          <p:cNvSpPr txBox="1"/>
          <p:nvPr/>
        </p:nvSpPr>
        <p:spPr>
          <a:xfrm>
            <a:off x="5715000" y="1530350"/>
            <a:ext cx="5715000" cy="49768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Browser:</a:t>
            </a:r>
            <a:r>
              <a:rPr sz="1400" b="0" i="0">
                <a:solidFill>
                  <a:srgbClr val="14213D"/>
                </a:solidFill>
                <a:latin typeface="IBM Plex Sans"/>
              </a:rPr>
              <a:t> chats and trips in local storage; progress streams as NDJSON.</a:t>
            </a:r>
          </a:p>
        </p:txBody>
      </p:sp>
      <p:sp>
        <p:nvSpPr>
          <p:cNvPr id="7" name="TextBox 6"/>
          <p:cNvSpPr txBox="1"/>
          <p:nvPr/>
        </p:nvSpPr>
        <p:spPr>
          <a:xfrm>
            <a:off x="5715000" y="2155031"/>
            <a:ext cx="5715000" cy="24884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Server:</a:t>
            </a:r>
            <a:r>
              <a:rPr sz="1400" b="0" i="0">
                <a:solidFill>
                  <a:srgbClr val="14213D"/>
                </a:solidFill>
                <a:latin typeface="IBM Plex Sans"/>
              </a:rPr>
              <a:t> Next.js API routes and the orchestrator.</a:t>
            </a:r>
          </a:p>
        </p:txBody>
      </p:sp>
      <p:sp>
        <p:nvSpPr>
          <p:cNvPr id="8" name="TextBox 7"/>
          <p:cNvSpPr txBox="1"/>
          <p:nvPr/>
        </p:nvSpPr>
        <p:spPr>
          <a:xfrm>
            <a:off x="5715000" y="2530872"/>
            <a:ext cx="5715000" cy="24884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Optional:</a:t>
            </a:r>
            <a:r>
              <a:rPr sz="1400" b="0" i="0">
                <a:solidFill>
                  <a:srgbClr val="14213D"/>
                </a:solidFill>
                <a:latin typeface="IBM Plex Sans"/>
              </a:rPr>
              <a:t> Redis REST memory, Postgres account sync, Clerk sign-in.</a:t>
            </a:r>
          </a:p>
        </p:txBody>
      </p:sp>
      <p:sp>
        <p:nvSpPr>
          <p:cNvPr id="9" name="TextBox 8"/>
          <p:cNvSpPr txBox="1"/>
          <p:nvPr/>
        </p:nvSpPr>
        <p:spPr>
          <a:xfrm>
            <a:off x="5715000" y="2906712"/>
            <a:ext cx="5715000" cy="24884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No keys?</a:t>
            </a:r>
            <a:r>
              <a:rPr sz="1400" b="0" i="0">
                <a:solidFill>
                  <a:srgbClr val="14213D"/>
                </a:solidFill>
                <a:latin typeface="IBM Plex Sans"/>
              </a:rPr>
              <a:t> The same build runs offline on mock data.</a:t>
            </a:r>
          </a:p>
        </p:txBody>
      </p:sp>
      <p:sp>
        <p:nvSpPr>
          <p:cNvPr id="10" name="TextBox 9"/>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E · CHANGE ASSESSMENT AND ACCEPTANCE</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How a change gets in</a:t>
            </a:r>
          </a:p>
        </p:txBody>
      </p:sp>
      <p:sp>
        <p:nvSpPr>
          <p:cNvPr id="4" name="Rounded Rectangle 3"/>
          <p:cNvSpPr/>
          <p:nvPr/>
        </p:nvSpPr>
        <p:spPr>
          <a:xfrm>
            <a:off x="812800" y="1530350"/>
            <a:ext cx="5181600" cy="1737122"/>
          </a:xfrm>
          <a:prstGeom prst="roundRect">
            <a:avLst>
              <a:gd name="adj" fmla="val 5848"/>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22350" y="1739900"/>
            <a:ext cx="4813300" cy="247650"/>
          </a:xfrm>
          <a:prstGeom prst="rect">
            <a:avLst/>
          </a:prstGeom>
          <a:noFill/>
        </p:spPr>
        <p:txBody>
          <a:bodyPr wrap="square" lIns="0" tIns="0" rIns="0" bIns="0" anchor="t">
            <a:spAutoFit/>
          </a:bodyPr>
          <a:lstStyle/>
          <a:p>
            <a:pPr algn="l"/>
            <a:r>
              <a:rPr sz="1700" b="1" i="0">
                <a:solidFill>
                  <a:srgbClr val="14213D"/>
                </a:solidFill>
                <a:latin typeface="IBM Plex Sans"/>
              </a:rPr>
              <a:t>Assess</a:t>
            </a:r>
          </a:p>
        </p:txBody>
      </p:sp>
      <p:sp>
        <p:nvSpPr>
          <p:cNvPr id="6" name="TextBox 5"/>
          <p:cNvSpPr txBox="1"/>
          <p:nvPr/>
        </p:nvSpPr>
        <p:spPr>
          <a:xfrm>
            <a:off x="1022350" y="2063750"/>
            <a:ext cx="4813300" cy="994172"/>
          </a:xfrm>
          <a:prstGeom prst="rect">
            <a:avLst/>
          </a:prstGeom>
          <a:noFill/>
        </p:spPr>
        <p:txBody>
          <a:bodyPr wrap="square" lIns="0" tIns="0" rIns="0" bIns="0" anchor="t">
            <a:spAutoFit/>
          </a:bodyPr>
          <a:lstStyle/>
          <a:p>
            <a:pPr marL="228600" indent="-177800">
              <a:spcAft>
                <a:spcPts val="675"/>
              </a:spcAft>
              <a:buChar char="•"/>
            </a:pPr>
            <a:r>
              <a:rPr sz="1350" b="0" i="0">
                <a:solidFill>
                  <a:srgbClr val="4A5568"/>
                </a:solidFill>
                <a:latin typeface="IBM Plex Sans"/>
              </a:rPr>
              <a:t>Trace it to a requirement and use case</a:t>
            </a:r>
          </a:p>
          <a:p>
            <a:pPr marL="228600" indent="-177800">
              <a:spcAft>
                <a:spcPts val="675"/>
              </a:spcAft>
              <a:buChar char="•"/>
            </a:pPr>
            <a:r>
              <a:rPr sz="1350" b="0" i="0">
                <a:solidFill>
                  <a:srgbClr val="4A5568"/>
                </a:solidFill>
                <a:latin typeface="IBM Plex Sans"/>
              </a:rPr>
              <a:t>Shared contract touched? Write a decision note and tell every owner</a:t>
            </a:r>
          </a:p>
          <a:p>
            <a:pPr marL="228600" indent="-177800">
              <a:spcAft>
                <a:spcPts val="675"/>
              </a:spcAft>
              <a:buChar char="•"/>
            </a:pPr>
            <a:r>
              <a:rPr sz="1350" b="0" i="0">
                <a:solidFill>
                  <a:srgbClr val="4A5568"/>
                </a:solidFill>
                <a:latin typeface="IBM Plex Sans"/>
              </a:rPr>
              <a:t>Reversing a decision? Supersede it in writing</a:t>
            </a:r>
          </a:p>
        </p:txBody>
      </p:sp>
      <p:sp>
        <p:nvSpPr>
          <p:cNvPr id="7" name="Rounded Rectangle 6"/>
          <p:cNvSpPr/>
          <p:nvPr/>
        </p:nvSpPr>
        <p:spPr>
          <a:xfrm>
            <a:off x="6197600" y="1530350"/>
            <a:ext cx="5181600" cy="1737122"/>
          </a:xfrm>
          <a:prstGeom prst="roundRect">
            <a:avLst>
              <a:gd name="adj" fmla="val 5848"/>
            </a:avLst>
          </a:prstGeom>
          <a:solidFill>
            <a:srgbClr val="FFFFFF"/>
          </a:solidFill>
          <a:ln w="6350">
            <a:solidFill>
              <a:srgbClr val="DD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7150" y="1739900"/>
            <a:ext cx="4813300" cy="247650"/>
          </a:xfrm>
          <a:prstGeom prst="rect">
            <a:avLst/>
          </a:prstGeom>
          <a:noFill/>
        </p:spPr>
        <p:txBody>
          <a:bodyPr wrap="square" lIns="0" tIns="0" rIns="0" bIns="0" anchor="t">
            <a:spAutoFit/>
          </a:bodyPr>
          <a:lstStyle/>
          <a:p>
            <a:pPr algn="l"/>
            <a:r>
              <a:rPr sz="1700" b="1" i="0">
                <a:solidFill>
                  <a:srgbClr val="14213D"/>
                </a:solidFill>
                <a:latin typeface="IBM Plex Sans"/>
              </a:rPr>
              <a:t>Accept</a:t>
            </a:r>
          </a:p>
        </p:txBody>
      </p:sp>
      <p:sp>
        <p:nvSpPr>
          <p:cNvPr id="9" name="TextBox 8"/>
          <p:cNvSpPr txBox="1"/>
          <p:nvPr/>
        </p:nvSpPr>
        <p:spPr>
          <a:xfrm>
            <a:off x="6407150" y="2063750"/>
            <a:ext cx="4813300" cy="994172"/>
          </a:xfrm>
          <a:prstGeom prst="rect">
            <a:avLst/>
          </a:prstGeom>
          <a:noFill/>
        </p:spPr>
        <p:txBody>
          <a:bodyPr wrap="square" lIns="0" tIns="0" rIns="0" bIns="0" anchor="t">
            <a:spAutoFit/>
          </a:bodyPr>
          <a:lstStyle/>
          <a:p>
            <a:pPr marL="228600" indent="-177800">
              <a:spcAft>
                <a:spcPts val="675"/>
              </a:spcAft>
              <a:buChar char="•"/>
            </a:pPr>
            <a:r>
              <a:rPr sz="1350" b="0" i="0">
                <a:solidFill>
                  <a:srgbClr val="4A5568"/>
                </a:solidFill>
                <a:latin typeface="IBM Plex Sans"/>
              </a:rPr>
              <a:t>CI green: types, lint, tests, build, docs</a:t>
            </a:r>
          </a:p>
          <a:p>
            <a:pPr marL="228600" indent="-177800">
              <a:spcAft>
                <a:spcPts val="675"/>
              </a:spcAft>
              <a:buChar char="•"/>
            </a:pPr>
            <a:r>
              <a:rPr sz="1350" b="0" i="0">
                <a:solidFill>
                  <a:srgbClr val="4A5568"/>
                </a:solidFill>
                <a:latin typeface="IBM Plex Sans"/>
              </a:rPr>
              <a:t>End-to-end test leaves a repeatable artifact</a:t>
            </a:r>
          </a:p>
          <a:p>
            <a:pPr marL="228600" indent="-177800">
              <a:spcAft>
                <a:spcPts val="675"/>
              </a:spcAft>
              <a:buChar char="•"/>
            </a:pPr>
            <a:r>
              <a:rPr sz="1350" b="0" i="0">
                <a:solidFill>
                  <a:srgbClr val="4A5568"/>
                </a:solidFill>
                <a:latin typeface="IBM Plex Sans"/>
              </a:rPr>
              <a:t>Use case postconditions still hold</a:t>
            </a:r>
          </a:p>
          <a:p>
            <a:pPr marL="228600" indent="-177800">
              <a:spcAft>
                <a:spcPts val="675"/>
              </a:spcAft>
              <a:buChar char="•"/>
            </a:pPr>
            <a:r>
              <a:rPr sz="1350" b="0" i="0">
                <a:solidFill>
                  <a:srgbClr val="4A5568"/>
                </a:solidFill>
                <a:latin typeface="IBM Plex Sans"/>
              </a:rPr>
              <a:t>Docs and models updated in the same pull request</a:t>
            </a:r>
          </a:p>
        </p:txBody>
      </p:sp>
      <p:sp>
        <p:nvSpPr>
          <p:cNvPr id="10" name="TextBox 9"/>
          <p:cNvSpPr txBox="1"/>
          <p:nvPr/>
        </p:nvSpPr>
        <p:spPr>
          <a:xfrm>
            <a:off x="812800" y="3419872"/>
            <a:ext cx="10617200" cy="497681"/>
          </a:xfrm>
          <a:prstGeom prst="rect">
            <a:avLst/>
          </a:prstGeom>
          <a:noFill/>
        </p:spPr>
        <p:txBody>
          <a:bodyPr wrap="square" lIns="0" tIns="0" rIns="0" bIns="0" anchor="t">
            <a:spAutoFit/>
          </a:bodyPr>
          <a:lstStyle/>
          <a:p>
            <a:pPr algn="l">
              <a:lnSpc>
                <a:spcPct val="133000"/>
              </a:lnSpc>
            </a:pPr>
            <a:r>
              <a:rPr sz="1400" b="1" i="0">
                <a:solidFill>
                  <a:srgbClr val="14213D"/>
                </a:solidFill>
                <a:latin typeface="IBM Plex Sans"/>
              </a:rPr>
              <a:t>Key assumptions:</a:t>
            </a:r>
            <a:r>
              <a:rPr sz="1400" b="0" i="0">
                <a:solidFill>
                  <a:srgbClr val="4A5568"/>
                </a:solidFill>
                <a:latin typeface="IBM Plex Sans"/>
              </a:rPr>
              <a:t> one traveller per trip, AUD everywhere, estimates not bookings, flights paid first, models and providers can fail at any time.</a:t>
            </a:r>
          </a:p>
        </p:txBody>
      </p:sp>
      <p:sp>
        <p:nvSpPr>
          <p:cNvPr id="11" name="TextBox 10"/>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812800" y="609600"/>
            <a:ext cx="10617200" cy="177800"/>
          </a:xfrm>
          <a:prstGeom prst="rect">
            <a:avLst/>
          </a:prstGeom>
          <a:noFill/>
        </p:spPr>
        <p:txBody>
          <a:bodyPr wrap="square" lIns="0" tIns="0" rIns="0" bIns="0" anchor="t">
            <a:spAutoFit/>
          </a:bodyPr>
          <a:lstStyle/>
          <a:p>
            <a:pPr algn="l"/>
            <a:r>
              <a:rPr sz="1200" b="0" i="0" spc="100">
                <a:solidFill>
                  <a:srgbClr val="C2571A"/>
                </a:solidFill>
                <a:latin typeface="IBM Plex Sans"/>
              </a:rPr>
              <a:t>MEMBER E · INDIVIDUAL BEHAVIOUR MODELS</a:t>
            </a:r>
          </a:p>
        </p:txBody>
      </p:sp>
      <p:sp>
        <p:nvSpPr>
          <p:cNvPr id="3" name="TextBox 2"/>
          <p:cNvSpPr txBox="1"/>
          <p:nvPr/>
        </p:nvSpPr>
        <p:spPr>
          <a:xfrm>
            <a:off x="812800" y="939800"/>
            <a:ext cx="10617200" cy="438150"/>
          </a:xfrm>
          <a:prstGeom prst="rect">
            <a:avLst/>
          </a:prstGeom>
          <a:noFill/>
        </p:spPr>
        <p:txBody>
          <a:bodyPr wrap="square" lIns="0" tIns="0" rIns="0" bIns="0" anchor="t">
            <a:spAutoFit/>
          </a:bodyPr>
          <a:lstStyle/>
          <a:p>
            <a:pPr algn="l">
              <a:lnSpc>
                <a:spcPct val="109250"/>
              </a:lnSpc>
            </a:pPr>
            <a:r>
              <a:rPr sz="3000" b="1" i="0">
                <a:solidFill>
                  <a:srgbClr val="14213D"/>
                </a:solidFill>
                <a:latin typeface="Rubik"/>
              </a:rPr>
              <a:t>[E's use case]: activity, sequence and state machine</a:t>
            </a:r>
          </a:p>
        </p:txBody>
      </p:sp>
      <p:sp>
        <p:nvSpPr>
          <p:cNvPr id="4" name="Rounded Rectangle 3"/>
          <p:cNvSpPr/>
          <p:nvPr/>
        </p:nvSpPr>
        <p:spPr>
          <a:xfrm>
            <a:off x="812800"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9296" y="3584575"/>
            <a:ext cx="1404441" cy="203200"/>
          </a:xfrm>
          <a:prstGeom prst="rect">
            <a:avLst/>
          </a:prstGeom>
          <a:noFill/>
        </p:spPr>
        <p:txBody>
          <a:bodyPr wrap="square" lIns="0" tIns="0" rIns="0" bIns="0" anchor="t">
            <a:spAutoFit/>
          </a:bodyPr>
          <a:lstStyle/>
          <a:p>
            <a:pPr algn="l"/>
            <a:r>
              <a:rPr sz="1400" b="0" i="0">
                <a:solidFill>
                  <a:srgbClr val="5A6478"/>
                </a:solidFill>
                <a:latin typeface="IBM Plex Sans"/>
              </a:rPr>
              <a:t>[Activity diagram]</a:t>
            </a:r>
          </a:p>
        </p:txBody>
      </p:sp>
      <p:sp>
        <p:nvSpPr>
          <p:cNvPr id="6" name="Rounded Rectangle 5"/>
          <p:cNvSpPr/>
          <p:nvPr/>
        </p:nvSpPr>
        <p:spPr>
          <a:xfrm>
            <a:off x="4402634"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00266" y="3584575"/>
            <a:ext cx="1642170" cy="203200"/>
          </a:xfrm>
          <a:prstGeom prst="rect">
            <a:avLst/>
          </a:prstGeom>
          <a:noFill/>
        </p:spPr>
        <p:txBody>
          <a:bodyPr wrap="square" lIns="0" tIns="0" rIns="0" bIns="0" anchor="t">
            <a:spAutoFit/>
          </a:bodyPr>
          <a:lstStyle/>
          <a:p>
            <a:pPr algn="l"/>
            <a:r>
              <a:rPr sz="1400" b="0" i="0">
                <a:solidFill>
                  <a:srgbClr val="5A6478"/>
                </a:solidFill>
                <a:latin typeface="IBM Plex Sans"/>
              </a:rPr>
              <a:t>[Sequence diagram]</a:t>
            </a:r>
          </a:p>
        </p:txBody>
      </p:sp>
      <p:sp>
        <p:nvSpPr>
          <p:cNvPr id="8" name="Rounded Rectangle 7"/>
          <p:cNvSpPr/>
          <p:nvPr/>
        </p:nvSpPr>
        <p:spPr>
          <a:xfrm>
            <a:off x="7992467" y="1530350"/>
            <a:ext cx="3386634" cy="4311650"/>
          </a:xfrm>
          <a:prstGeom prst="roundRect">
            <a:avLst>
              <a:gd name="adj" fmla="val 3000"/>
            </a:avLst>
          </a:prstGeom>
          <a:solidFill>
            <a:srgbClr val="FFFFFF"/>
          </a:solidFill>
          <a:ln w="12700">
            <a:solidFill>
              <a:srgbClr val="B8C2D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067998" y="3584575"/>
            <a:ext cx="1286272" cy="203200"/>
          </a:xfrm>
          <a:prstGeom prst="rect">
            <a:avLst/>
          </a:prstGeom>
          <a:noFill/>
        </p:spPr>
        <p:txBody>
          <a:bodyPr wrap="square" lIns="0" tIns="0" rIns="0" bIns="0" anchor="t">
            <a:spAutoFit/>
          </a:bodyPr>
          <a:lstStyle/>
          <a:p>
            <a:pPr algn="l"/>
            <a:r>
              <a:rPr sz="1400" b="0" i="0">
                <a:solidFill>
                  <a:srgbClr val="5A6478"/>
                </a:solidFill>
                <a:latin typeface="IBM Plex Sans"/>
              </a:rPr>
              <a:t>[State machine]</a:t>
            </a:r>
          </a:p>
        </p:txBody>
      </p:sp>
      <p:sp>
        <p:nvSpPr>
          <p:cNvPr id="10" name="TextBox 9"/>
          <p:cNvSpPr txBox="1"/>
          <p:nvPr/>
        </p:nvSpPr>
        <p:spPr>
          <a:xfrm>
            <a:off x="812800" y="6273800"/>
            <a:ext cx="10617200" cy="177800"/>
          </a:xfrm>
          <a:prstGeom prst="rect">
            <a:avLst/>
          </a:prstGeom>
          <a:noFill/>
        </p:spPr>
        <p:txBody>
          <a:bodyPr wrap="square" lIns="0" tIns="0" rIns="0" bIns="0" anchor="t">
            <a:spAutoFit/>
          </a:bodyPr>
          <a:lstStyle/>
          <a:p>
            <a:pPr algn="l"/>
            <a:r>
              <a:rPr sz="1200" b="0" i="0">
                <a:solidFill>
                  <a:srgbClr val="5A6478"/>
                </a:solidFill>
                <a:latin typeface="IBM Plex Sans"/>
              </a:rPr>
              <a:t>AI Trip Planner · ELEC5620 Stage 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4213D"/>
        </a:solidFill>
        <a:effectLst/>
      </p:bgPr>
    </p:bg>
    <p:spTree>
      <p:nvGrpSpPr>
        <p:cNvPr id="1" name=""/>
        <p:cNvGrpSpPr/>
        <p:nvPr/>
      </p:nvGrpSpPr>
      <p:grpSpPr>
        <a:xfrm>
          <a:off x="0" y="0"/>
          <a:ext cx="0" cy="0"/>
          <a:chOff x="0" y="0"/>
          <a:chExt cx="0" cy="0"/>
        </a:xfrm>
      </p:grpSpPr>
      <p:sp>
        <p:nvSpPr>
          <p:cNvPr id="2" name="TextBox 1"/>
          <p:cNvSpPr txBox="1"/>
          <p:nvPr/>
        </p:nvSpPr>
        <p:spPr>
          <a:xfrm>
            <a:off x="812800" y="2176760"/>
            <a:ext cx="10617200" cy="203200"/>
          </a:xfrm>
          <a:prstGeom prst="rect">
            <a:avLst/>
          </a:prstGeom>
          <a:noFill/>
        </p:spPr>
        <p:txBody>
          <a:bodyPr wrap="square" lIns="0" tIns="0" rIns="0" bIns="0" anchor="t">
            <a:spAutoFit/>
          </a:bodyPr>
          <a:lstStyle/>
          <a:p>
            <a:pPr algn="l"/>
            <a:r>
              <a:rPr sz="1400" b="0" i="0" spc="150">
                <a:solidFill>
                  <a:srgbClr val="F2A65A"/>
                </a:solidFill>
                <a:latin typeface="IBM Plex Sans"/>
              </a:rPr>
              <a:t>SUMMARY</a:t>
            </a:r>
          </a:p>
        </p:txBody>
      </p:sp>
      <p:sp>
        <p:nvSpPr>
          <p:cNvPr id="3" name="TextBox 2"/>
          <p:cNvSpPr txBox="1"/>
          <p:nvPr/>
        </p:nvSpPr>
        <p:spPr>
          <a:xfrm>
            <a:off x="812800" y="2633960"/>
            <a:ext cx="10617200" cy="1051520"/>
          </a:xfrm>
          <a:prstGeom prst="rect">
            <a:avLst/>
          </a:prstGeom>
          <a:noFill/>
        </p:spPr>
        <p:txBody>
          <a:bodyPr wrap="square" lIns="0" tIns="0" rIns="0" bIns="0" anchor="t">
            <a:spAutoFit/>
          </a:bodyPr>
          <a:lstStyle/>
          <a:p>
            <a:pPr algn="l">
              <a:lnSpc>
                <a:spcPct val="109250"/>
              </a:lnSpc>
            </a:pPr>
            <a:r>
              <a:rPr sz="3600" b="1" i="0">
                <a:solidFill>
                  <a:srgbClr val="F7F6F1"/>
                </a:solidFill>
                <a:latin typeface="Rubik"/>
              </a:rPr>
              <a:t>Models choose. Code decides. The traveller stays in control.</a:t>
            </a:r>
          </a:p>
        </p:txBody>
      </p:sp>
      <p:sp>
        <p:nvSpPr>
          <p:cNvPr id="4" name="TextBox 3"/>
          <p:cNvSpPr txBox="1"/>
          <p:nvPr/>
        </p:nvSpPr>
        <p:spPr>
          <a:xfrm>
            <a:off x="812800" y="3939480"/>
            <a:ext cx="10617200" cy="284460"/>
          </a:xfrm>
          <a:prstGeom prst="rect">
            <a:avLst/>
          </a:prstGeom>
          <a:noFill/>
        </p:spPr>
        <p:txBody>
          <a:bodyPr wrap="square" lIns="0" tIns="0" rIns="0" bIns="0" anchor="t">
            <a:spAutoFit/>
          </a:bodyPr>
          <a:lstStyle/>
          <a:p>
            <a:pPr algn="l">
              <a:lnSpc>
                <a:spcPct val="133000"/>
              </a:lnSpc>
            </a:pPr>
            <a:r>
              <a:rPr sz="1600" b="0" i="0">
                <a:solidFill>
                  <a:srgbClr val="C9D3E3"/>
                </a:solidFill>
                <a:latin typeface="IBM Plex Sans"/>
              </a:rPr>
              <a:t>Stage 2: verify live providers end to end, extend the Agent Lab, and track the work in Jira.</a:t>
            </a:r>
          </a:p>
        </p:txBody>
      </p:sp>
      <p:sp>
        <p:nvSpPr>
          <p:cNvPr id="5" name="TextBox 4"/>
          <p:cNvSpPr txBox="1"/>
          <p:nvPr/>
        </p:nvSpPr>
        <p:spPr>
          <a:xfrm>
            <a:off x="812800" y="4477941"/>
            <a:ext cx="10617200" cy="203200"/>
          </a:xfrm>
          <a:prstGeom prst="rect">
            <a:avLst/>
          </a:prstGeom>
          <a:noFill/>
        </p:spPr>
        <p:txBody>
          <a:bodyPr wrap="square" lIns="0" tIns="0" rIns="0" bIns="0" anchor="t">
            <a:spAutoFit/>
          </a:bodyPr>
          <a:lstStyle/>
          <a:p>
            <a:pPr algn="l"/>
            <a:r>
              <a:rPr sz="1400" b="0" i="0">
                <a:solidFill>
                  <a:srgbClr val="C9D3E3"/>
                </a:solidFill>
                <a:latin typeface="IBM Plex Sans"/>
              </a:rPr>
              <a:t>github.com/Lilstanie/AI_TRIP_PLANNER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2750</Words>
  <Application>Microsoft Office PowerPoint</Application>
  <PresentationFormat>寬螢幕</PresentationFormat>
  <Paragraphs>273</Paragraphs>
  <Slides>24</Slides>
  <Notes>24</Notes>
  <HiddenSlides>0</HiddenSlides>
  <MMClips>0</MMClips>
  <ScaleCrop>false</ScaleCrop>
  <HeadingPairs>
    <vt:vector size="6" baseType="variant">
      <vt:variant>
        <vt:lpstr>使用字型</vt:lpstr>
      </vt:variant>
      <vt:variant>
        <vt:i4>4</vt:i4>
      </vt:variant>
      <vt:variant>
        <vt:lpstr>佈景主題</vt:lpstr>
      </vt:variant>
      <vt:variant>
        <vt:i4>1</vt:i4>
      </vt:variant>
      <vt:variant>
        <vt:lpstr>投影片標題</vt:lpstr>
      </vt:variant>
      <vt:variant>
        <vt:i4>24</vt:i4>
      </vt:variant>
    </vt:vector>
  </HeadingPairs>
  <TitlesOfParts>
    <vt:vector size="29" baseType="lpstr">
      <vt:lpstr>Rubik</vt:lpstr>
      <vt:lpstr>Arial</vt:lpstr>
      <vt:lpstr>Calibri</vt:lpstr>
      <vt:lpstr>IBM Plex Sans</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ELEC5620 Stage 1: AI Trip Planner</dc:title>
  <dc:subject/>
  <dc:creator/>
  <cp:keywords/>
  <dc:description>generated using python-pptx</dc:description>
  <cp:lastModifiedBy>嘉航 邊</cp:lastModifiedBy>
  <cp:revision>2</cp:revision>
  <dcterms:created xsi:type="dcterms:W3CDTF">2013-01-27T09:14:16Z</dcterms:created>
  <dcterms:modified xsi:type="dcterms:W3CDTF">2026-10-03T15:17:01Z</dcterms:modified>
  <cp:category/>
</cp:coreProperties>
</file>