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Hi, I'm Ziqi He, member A. We are Group 14 from the Monday 10 to 12 class, and this is AI Trip Planner, a one-person AI travel agency. Each of us will present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I'm Tingsong Jin, member B. 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I'm Yi Qiao, member C. I own accommodation and budget. My ad hoc requirement: the hotel must fit the money left after flights, a budget overrun should swap to a cheaper hotel that still meets my rules, and an impossible budget should name the minimum. That gave my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collaboration shows roles, not classes: my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In my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sequence diagram shows an overrun: my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state machine follows the accommodation section through one turn, and maps its internal states onto the three statuses the traveller sees. Over to 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I'm Jiahang Bian, member D. 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I'm Weihao Wang, member E. 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9.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4.png"/><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cxnSp>
        <p:nvCxnSpPr>
          <p:cNvPr id="2" name="Connector 1"/>
          <p:cNvCxnSpPr/>
          <p:nvPr/>
        </p:nvCxnSpPr>
        <p:spPr>
          <a:xfrm flipV="1">
            <a:off x="8138160" y="777240"/>
            <a:ext cx="1234440" cy="36576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372600" y="777240"/>
            <a:ext cx="1188720" cy="6858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9692640" y="1463040"/>
            <a:ext cx="868680" cy="86868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0" y="2331720"/>
            <a:ext cx="1325880" cy="4572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7936992" y="941832"/>
            <a:ext cx="402336" cy="402336"/>
          </a:xfrm>
          <a:prstGeom prst="ellipse">
            <a:avLst/>
          </a:prstGeom>
          <a:solidFill>
            <a:srgbClr val="1F7A8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A</a:t>
            </a:r>
          </a:p>
        </p:txBody>
      </p:sp>
      <p:sp>
        <p:nvSpPr>
          <p:cNvPr id="7" name="Oval 6"/>
          <p:cNvSpPr/>
          <p:nvPr/>
        </p:nvSpPr>
        <p:spPr>
          <a:xfrm>
            <a:off x="9171432" y="576072"/>
            <a:ext cx="402336" cy="402336"/>
          </a:xfrm>
          <a:prstGeom prst="ellipse">
            <a:avLst/>
          </a:prstGeom>
          <a:solidFill>
            <a:srgbClr val="6B4F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8" name="Oval 7"/>
          <p:cNvSpPr/>
          <p:nvPr/>
        </p:nvSpPr>
        <p:spPr>
          <a:xfrm>
            <a:off x="10360152" y="1261872"/>
            <a:ext cx="402336" cy="402336"/>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C</a:t>
            </a:r>
          </a:p>
        </p:txBody>
      </p:sp>
      <p:sp>
        <p:nvSpPr>
          <p:cNvPr id="9" name="Oval 8"/>
          <p:cNvSpPr/>
          <p:nvPr/>
        </p:nvSpPr>
        <p:spPr>
          <a:xfrm>
            <a:off x="9491472" y="2130551"/>
            <a:ext cx="402336" cy="402336"/>
          </a:xfrm>
          <a:prstGeom prst="ellipse">
            <a:avLst/>
          </a:prstGeom>
          <a:solidFill>
            <a:srgbClr val="2E7D4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D</a:t>
            </a:r>
          </a:p>
        </p:txBody>
      </p:sp>
      <p:sp>
        <p:nvSpPr>
          <p:cNvPr id="10" name="Oval 9"/>
          <p:cNvSpPr/>
          <p:nvPr/>
        </p:nvSpPr>
        <p:spPr>
          <a:xfrm>
            <a:off x="10817352" y="2587751"/>
            <a:ext cx="402336" cy="402336"/>
          </a:xfrm>
          <a:prstGeom prst="ellipse">
            <a:avLst/>
          </a:prstGeom>
          <a:solidFill>
            <a:srgbClr val="2F5DA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E</a:t>
            </a:r>
          </a:p>
        </p:txBody>
      </p:sp>
      <p:sp>
        <p:nvSpPr>
          <p:cNvPr id="11" name="TextBox 10"/>
          <p:cNvSpPr txBox="1"/>
          <p:nvPr/>
        </p:nvSpPr>
        <p:spPr>
          <a:xfrm>
            <a:off x="822960" y="1600200"/>
            <a:ext cx="73152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ELEC5620  ·  STAGE 1  ·  MON 10-12 GROUP 14</a:t>
            </a:r>
          </a:p>
        </p:txBody>
      </p:sp>
      <p:sp>
        <p:nvSpPr>
          <p:cNvPr id="12" name="TextBox 11"/>
          <p:cNvSpPr txBox="1"/>
          <p:nvPr/>
        </p:nvSpPr>
        <p:spPr>
          <a:xfrm>
            <a:off x="822960" y="2011680"/>
            <a:ext cx="8229600" cy="1005840"/>
          </a:xfrm>
          <a:prstGeom prst="rect">
            <a:avLst/>
          </a:prstGeom>
          <a:noFill/>
        </p:spPr>
        <p:txBody>
          <a:bodyPr wrap="square" lIns="0" rIns="0" tIns="0" bIns="0" anchor="t">
            <a:spAutoFit/>
          </a:bodyPr>
          <a:lstStyle/>
          <a:p>
            <a:pPr algn="l">
              <a:lnSpc>
                <a:spcPct val="115000"/>
              </a:lnSpc>
              <a:spcAft>
                <a:spcPts val="0"/>
              </a:spcAft>
            </a:pPr>
            <a:r>
              <a:rPr sz="6000" b="1" i="0">
                <a:solidFill>
                  <a:srgbClr val="FFFFFF"/>
                </a:solidFill>
                <a:latin typeface="Georgia"/>
              </a:rPr>
              <a:t>AI Trip Planner</a:t>
            </a:r>
          </a:p>
        </p:txBody>
      </p:sp>
      <p:sp>
        <p:nvSpPr>
          <p:cNvPr id="13" name="Rectangle 12"/>
          <p:cNvSpPr/>
          <p:nvPr/>
        </p:nvSpPr>
        <p:spPr>
          <a:xfrm>
            <a:off x="841248" y="3127248"/>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383280"/>
            <a:ext cx="7863840" cy="731520"/>
          </a:xfrm>
          <a:prstGeom prst="rect">
            <a:avLst/>
          </a:prstGeom>
          <a:noFill/>
        </p:spPr>
        <p:txBody>
          <a:bodyPr wrap="square" lIns="0" rIns="0" tIns="0" bIns="0" anchor="t">
            <a:spAutoFit/>
          </a:bodyPr>
          <a:lstStyle/>
          <a:p>
            <a:pPr algn="l">
              <a:lnSpc>
                <a:spcPct val="115000"/>
              </a:lnSpc>
              <a:spcAft>
                <a:spcPts val="0"/>
              </a:spcAft>
            </a:pPr>
            <a:r>
              <a:rPr sz="1800" b="0" i="0">
                <a:solidFill>
                  <a:srgbClr val="C9D3E3"/>
                </a:solidFill>
                <a:latin typeface="Arial"/>
              </a:rPr>
              <a:t>A one-person AI travel agency: seven AI roles plan a trip together, one human runs the company.</a:t>
            </a:r>
          </a:p>
        </p:txBody>
      </p:sp>
      <p:sp>
        <p:nvSpPr>
          <p:cNvPr id="15" name="Rounded Rectangle 14"/>
          <p:cNvSpPr/>
          <p:nvPr/>
        </p:nvSpPr>
        <p:spPr>
          <a:xfrm>
            <a:off x="822960"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4617720"/>
            <a:ext cx="2032345" cy="64008"/>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05840" y="4846320"/>
            <a:ext cx="329184" cy="329184"/>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8" name="TextBox 17"/>
          <p:cNvSpPr txBox="1"/>
          <p:nvPr/>
        </p:nvSpPr>
        <p:spPr>
          <a:xfrm>
            <a:off x="1426464"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Ziqi He</a:t>
            </a:r>
          </a:p>
        </p:txBody>
      </p:sp>
      <p:sp>
        <p:nvSpPr>
          <p:cNvPr id="19" name="TextBox 18"/>
          <p:cNvSpPr txBox="1"/>
          <p:nvPr/>
        </p:nvSpPr>
        <p:spPr>
          <a:xfrm>
            <a:off x="1005840"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Orchestrator</a:t>
            </a:r>
          </a:p>
        </p:txBody>
      </p:sp>
      <p:sp>
        <p:nvSpPr>
          <p:cNvPr id="20" name="Rounded Rectangle 19"/>
          <p:cNvSpPr/>
          <p:nvPr/>
        </p:nvSpPr>
        <p:spPr>
          <a:xfrm>
            <a:off x="3019897"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019897" y="4617720"/>
            <a:ext cx="2032345"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02777" y="4846320"/>
            <a:ext cx="329184" cy="329184"/>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23" name="TextBox 22"/>
          <p:cNvSpPr txBox="1"/>
          <p:nvPr/>
        </p:nvSpPr>
        <p:spPr>
          <a:xfrm>
            <a:off x="3623401"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Tingsong Jin</a:t>
            </a:r>
          </a:p>
        </p:txBody>
      </p:sp>
      <p:sp>
        <p:nvSpPr>
          <p:cNvPr id="24" name="TextBox 23"/>
          <p:cNvSpPr txBox="1"/>
          <p:nvPr/>
        </p:nvSpPr>
        <p:spPr>
          <a:xfrm>
            <a:off x="3202777"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Itinerary and transport</a:t>
            </a:r>
          </a:p>
        </p:txBody>
      </p:sp>
      <p:sp>
        <p:nvSpPr>
          <p:cNvPr id="25" name="Rounded Rectangle 24"/>
          <p:cNvSpPr/>
          <p:nvPr/>
        </p:nvSpPr>
        <p:spPr>
          <a:xfrm>
            <a:off x="5216834"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216834" y="4617720"/>
            <a:ext cx="2032345"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99714" y="4846320"/>
            <a:ext cx="329184" cy="329184"/>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28" name="TextBox 27"/>
          <p:cNvSpPr txBox="1"/>
          <p:nvPr/>
        </p:nvSpPr>
        <p:spPr>
          <a:xfrm>
            <a:off x="5820338"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Yi Qiao</a:t>
            </a:r>
          </a:p>
        </p:txBody>
      </p:sp>
      <p:sp>
        <p:nvSpPr>
          <p:cNvPr id="29" name="TextBox 28"/>
          <p:cNvSpPr txBox="1"/>
          <p:nvPr/>
        </p:nvSpPr>
        <p:spPr>
          <a:xfrm>
            <a:off x="5399714"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Accommodation and budget</a:t>
            </a:r>
          </a:p>
        </p:txBody>
      </p:sp>
      <p:sp>
        <p:nvSpPr>
          <p:cNvPr id="30" name="Rounded Rectangle 29"/>
          <p:cNvSpPr/>
          <p:nvPr/>
        </p:nvSpPr>
        <p:spPr>
          <a:xfrm>
            <a:off x="7413772"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13772" y="4617720"/>
            <a:ext cx="2032345"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596652" y="4846320"/>
            <a:ext cx="329184" cy="329184"/>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33" name="TextBox 32"/>
          <p:cNvSpPr txBox="1"/>
          <p:nvPr/>
        </p:nvSpPr>
        <p:spPr>
          <a:xfrm>
            <a:off x="8017276"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Jiahang Bian</a:t>
            </a:r>
          </a:p>
        </p:txBody>
      </p:sp>
      <p:sp>
        <p:nvSpPr>
          <p:cNvPr id="34" name="TextBox 33"/>
          <p:cNvSpPr txBox="1"/>
          <p:nvPr/>
        </p:nvSpPr>
        <p:spPr>
          <a:xfrm>
            <a:off x="7596652"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Destination and dining</a:t>
            </a:r>
          </a:p>
        </p:txBody>
      </p:sp>
      <p:sp>
        <p:nvSpPr>
          <p:cNvPr id="35" name="Rounded Rectangle 34"/>
          <p:cNvSpPr/>
          <p:nvPr/>
        </p:nvSpPr>
        <p:spPr>
          <a:xfrm>
            <a:off x="9610709"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610709" y="4617720"/>
            <a:ext cx="2032345" cy="64008"/>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793589" y="4846320"/>
            <a:ext cx="329184" cy="329184"/>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
        <p:nvSpPr>
          <p:cNvPr id="38" name="TextBox 37"/>
          <p:cNvSpPr txBox="1"/>
          <p:nvPr/>
        </p:nvSpPr>
        <p:spPr>
          <a:xfrm>
            <a:off x="10214213"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Weihao Wang</a:t>
            </a:r>
          </a:p>
        </p:txBody>
      </p:sp>
      <p:sp>
        <p:nvSpPr>
          <p:cNvPr id="39" name="TextBox 38"/>
          <p:cNvSpPr txBox="1"/>
          <p:nvPr/>
        </p:nvSpPr>
        <p:spPr>
          <a:xfrm>
            <a:off x="9793589"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THE PROBLEM</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Every travel choice constrains the others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02 / 24</a:t>
            </a:r>
          </a:p>
        </p:txBody>
      </p:sp>
      <p:sp>
        <p:nvSpPr>
          <p:cNvPr id="14" name="Rounded Rectangle 13"/>
          <p:cNvSpPr/>
          <p:nvPr/>
        </p:nvSpPr>
        <p:spPr>
          <a:xfrm>
            <a:off x="548640"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14400"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ayers-14213D.png"/>
          <p:cNvPicPr>
            <a:picLocks noChangeAspect="1"/>
          </p:cNvPicPr>
          <p:nvPr/>
        </p:nvPicPr>
        <p:blipFill>
          <a:blip r:embed="rId3"/>
          <a:stretch>
            <a:fillRect/>
          </a:stretch>
        </p:blipFill>
        <p:spPr>
          <a:xfrm>
            <a:off x="1097280" y="2212848"/>
            <a:ext cx="457200" cy="457200"/>
          </a:xfrm>
          <a:prstGeom prst="rect">
            <a:avLst/>
          </a:prstGeom>
        </p:spPr>
      </p:pic>
      <p:sp>
        <p:nvSpPr>
          <p:cNvPr id="17" name="TextBox 16"/>
          <p:cNvSpPr txBox="1"/>
          <p:nvPr/>
        </p:nvSpPr>
        <p:spPr>
          <a:xfrm>
            <a:off x="914400"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Too many sites</a:t>
            </a:r>
          </a:p>
        </p:txBody>
      </p:sp>
      <p:sp>
        <p:nvSpPr>
          <p:cNvPr id="18" name="TextBox 17"/>
          <p:cNvSpPr txBox="1"/>
          <p:nvPr/>
        </p:nvSpPr>
        <p:spPr>
          <a:xfrm>
            <a:off x="914400"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Flights, hotels, maps, food blogs and a budget spreadsheet, each on its own.</a:t>
            </a:r>
          </a:p>
        </p:txBody>
      </p:sp>
      <p:sp>
        <p:nvSpPr>
          <p:cNvPr id="19" name="Rounded Rectangle 18"/>
          <p:cNvSpPr/>
          <p:nvPr/>
        </p:nvSpPr>
        <p:spPr>
          <a:xfrm>
            <a:off x="4322978"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688738"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ot-14213D.png"/>
          <p:cNvPicPr>
            <a:picLocks noChangeAspect="1"/>
          </p:cNvPicPr>
          <p:nvPr/>
        </p:nvPicPr>
        <p:blipFill>
          <a:blip r:embed="rId4"/>
          <a:stretch>
            <a:fillRect/>
          </a:stretch>
        </p:blipFill>
        <p:spPr>
          <a:xfrm>
            <a:off x="4871618" y="2212848"/>
            <a:ext cx="457200" cy="457200"/>
          </a:xfrm>
          <a:prstGeom prst="rect">
            <a:avLst/>
          </a:prstGeom>
        </p:spPr>
      </p:pic>
      <p:sp>
        <p:nvSpPr>
          <p:cNvPr id="22" name="TextBox 21"/>
          <p:cNvSpPr txBox="1"/>
          <p:nvPr/>
        </p:nvSpPr>
        <p:spPr>
          <a:xfrm>
            <a:off x="4688738"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Chatbots invent facts</a:t>
            </a:r>
          </a:p>
        </p:txBody>
      </p:sp>
      <p:sp>
        <p:nvSpPr>
          <p:cNvPr id="23" name="TextBox 22"/>
          <p:cNvSpPr txBox="1"/>
          <p:nvPr/>
        </p:nvSpPr>
        <p:spPr>
          <a:xfrm>
            <a:off x="4688738"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One model writes a nice itinerary with made-up prices, and never checks that the parts fit.</a:t>
            </a:r>
          </a:p>
        </p:txBody>
      </p:sp>
      <p:sp>
        <p:nvSpPr>
          <p:cNvPr id="24" name="Rounded Rectangle 23"/>
          <p:cNvSpPr/>
          <p:nvPr/>
        </p:nvSpPr>
        <p:spPr>
          <a:xfrm>
            <a:off x="8097316" y="1664208"/>
            <a:ext cx="3545738" cy="4206240"/>
          </a:xfrm>
          <a:prstGeom prst="roundRect">
            <a:avLst>
              <a:gd name="adj" fmla="val 309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63076" y="2029968"/>
            <a:ext cx="822960" cy="82296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sparkles-FFFFFF.png"/>
          <p:cNvPicPr>
            <a:picLocks noChangeAspect="1"/>
          </p:cNvPicPr>
          <p:nvPr/>
        </p:nvPicPr>
        <p:blipFill>
          <a:blip r:embed="rId5"/>
          <a:stretch>
            <a:fillRect/>
          </a:stretch>
        </p:blipFill>
        <p:spPr>
          <a:xfrm>
            <a:off x="8645956" y="2212848"/>
            <a:ext cx="457200" cy="457200"/>
          </a:xfrm>
          <a:prstGeom prst="rect">
            <a:avLst/>
          </a:prstGeom>
        </p:spPr>
      </p:pic>
      <p:sp>
        <p:nvSpPr>
          <p:cNvPr id="27" name="TextBox 26"/>
          <p:cNvSpPr txBox="1"/>
          <p:nvPr/>
        </p:nvSpPr>
        <p:spPr>
          <a:xfrm>
            <a:off x="8463076"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FFFFFF"/>
                </a:solidFill>
                <a:latin typeface="Georgia"/>
              </a:rPr>
              <a:t>Our answer</a:t>
            </a:r>
          </a:p>
        </p:txBody>
      </p:sp>
      <p:sp>
        <p:nvSpPr>
          <p:cNvPr id="28" name="TextBox 27"/>
          <p:cNvSpPr txBox="1"/>
          <p:nvPr/>
        </p:nvSpPr>
        <p:spPr>
          <a:xfrm>
            <a:off x="8463076"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C9D3E3"/>
                </a:solidFill>
                <a:latin typeface="Arial"/>
              </a:rPr>
              <a:t>Specialist agents plan together on real data, and code checks their work.</a:t>
            </a:r>
          </a:p>
        </p:txBody>
      </p:sp>
      <p:sp>
        <p:nvSpPr>
          <p:cNvPr id="29" name="TextBox 28"/>
          <p:cNvSpPr txBox="1"/>
          <p:nvPr/>
        </p:nvSpPr>
        <p:spPr>
          <a:xfrm>
            <a:off x="8463076" y="5276088"/>
            <a:ext cx="2814218"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AI Trip 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USERS AND AI ROLES</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Two humans, seven AI roles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03 / 24</a:t>
            </a:r>
          </a:p>
        </p:txBody>
      </p:sp>
      <p:sp>
        <p:nvSpPr>
          <p:cNvPr id="14" name="TextBox 13"/>
          <p:cNvSpPr txBox="1"/>
          <p:nvPr/>
        </p:nvSpPr>
        <p:spPr>
          <a:xfrm>
            <a:off x="5486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HUMANS</a:t>
            </a:r>
          </a:p>
        </p:txBody>
      </p:sp>
      <p:sp>
        <p:nvSpPr>
          <p:cNvPr id="15" name="Rounded Rectangle 14"/>
          <p:cNvSpPr/>
          <p:nvPr/>
        </p:nvSpPr>
        <p:spPr>
          <a:xfrm>
            <a:off x="548640" y="184708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22959" y="212140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14213D.png"/>
          <p:cNvPicPr>
            <a:picLocks noChangeAspect="1"/>
          </p:cNvPicPr>
          <p:nvPr/>
        </p:nvPicPr>
        <p:blipFill>
          <a:blip r:embed="rId3"/>
          <a:stretch>
            <a:fillRect/>
          </a:stretch>
        </p:blipFill>
        <p:spPr>
          <a:xfrm>
            <a:off x="941832" y="2240280"/>
            <a:ext cx="329184" cy="329184"/>
          </a:xfrm>
          <a:prstGeom prst="rect">
            <a:avLst/>
          </a:prstGeom>
        </p:spPr>
      </p:pic>
      <p:sp>
        <p:nvSpPr>
          <p:cNvPr id="18" name="TextBox 17"/>
          <p:cNvSpPr txBox="1"/>
          <p:nvPr/>
        </p:nvSpPr>
        <p:spPr>
          <a:xfrm>
            <a:off x="822959" y="280720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Traveller</a:t>
            </a:r>
          </a:p>
        </p:txBody>
      </p:sp>
      <p:sp>
        <p:nvSpPr>
          <p:cNvPr id="19" name="TextBox 18"/>
          <p:cNvSpPr txBox="1"/>
          <p:nvPr/>
        </p:nvSpPr>
        <p:spPr>
          <a:xfrm>
            <a:off x="822959" y="317296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Describes the trip, reads and edits the plan</a:t>
            </a:r>
          </a:p>
        </p:txBody>
      </p:sp>
      <p:sp>
        <p:nvSpPr>
          <p:cNvPr id="20" name="Rounded Rectangle 19"/>
          <p:cNvSpPr/>
          <p:nvPr/>
        </p:nvSpPr>
        <p:spPr>
          <a:xfrm>
            <a:off x="548640" y="399592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2959" y="42702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briefcase-14213D.png"/>
          <p:cNvPicPr>
            <a:picLocks noChangeAspect="1"/>
          </p:cNvPicPr>
          <p:nvPr/>
        </p:nvPicPr>
        <p:blipFill>
          <a:blip r:embed="rId4"/>
          <a:stretch>
            <a:fillRect/>
          </a:stretch>
        </p:blipFill>
        <p:spPr>
          <a:xfrm>
            <a:off x="941832" y="4389120"/>
            <a:ext cx="329184" cy="329184"/>
          </a:xfrm>
          <a:prstGeom prst="rect">
            <a:avLst/>
          </a:prstGeom>
        </p:spPr>
      </p:pic>
      <p:sp>
        <p:nvSpPr>
          <p:cNvPr id="23" name="TextBox 22"/>
          <p:cNvSpPr txBox="1"/>
          <p:nvPr/>
        </p:nvSpPr>
        <p:spPr>
          <a:xfrm>
            <a:off x="822959" y="495604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Founder / operator</a:t>
            </a:r>
          </a:p>
        </p:txBody>
      </p:sp>
      <p:sp>
        <p:nvSpPr>
          <p:cNvPr id="24" name="TextBox 23"/>
          <p:cNvSpPr txBox="1"/>
          <p:nvPr/>
        </p:nvSpPr>
        <p:spPr>
          <a:xfrm>
            <a:off x="822959" y="532180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Runs the agency: models, providers, quotas, Agent Lab</a:t>
            </a:r>
          </a:p>
        </p:txBody>
      </p:sp>
      <p:sp>
        <p:nvSpPr>
          <p:cNvPr id="25" name="TextBox 24"/>
          <p:cNvSpPr txBox="1"/>
          <p:nvPr/>
        </p:nvSpPr>
        <p:spPr>
          <a:xfrm>
            <a:off x="3566160"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AI ROLES</a:t>
            </a:r>
          </a:p>
        </p:txBody>
      </p:sp>
      <p:sp>
        <p:nvSpPr>
          <p:cNvPr id="26" name="Rounded Rectangle 25"/>
          <p:cNvSpPr/>
          <p:nvPr/>
        </p:nvSpPr>
        <p:spPr>
          <a:xfrm>
            <a:off x="3566160" y="1847088"/>
            <a:ext cx="8076895" cy="841248"/>
          </a:xfrm>
          <a:prstGeom prst="roundRect">
            <a:avLst>
              <a:gd name="adj" fmla="val 1304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messages-square-FFFFFF.png"/>
          <p:cNvPicPr>
            <a:picLocks noChangeAspect="1"/>
          </p:cNvPicPr>
          <p:nvPr/>
        </p:nvPicPr>
        <p:blipFill>
          <a:blip r:embed="rId5"/>
          <a:stretch>
            <a:fillRect/>
          </a:stretch>
        </p:blipFill>
        <p:spPr>
          <a:xfrm>
            <a:off x="3840480" y="2093976"/>
            <a:ext cx="347472" cy="347472"/>
          </a:xfrm>
          <a:prstGeom prst="rect">
            <a:avLst/>
          </a:prstGeom>
        </p:spPr>
      </p:pic>
      <p:sp>
        <p:nvSpPr>
          <p:cNvPr id="28" name="TextBox 27"/>
          <p:cNvSpPr txBox="1"/>
          <p:nvPr/>
        </p:nvSpPr>
        <p:spPr>
          <a:xfrm>
            <a:off x="4389120" y="1956816"/>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FFFFFF"/>
                </a:solidFill>
                <a:latin typeface="Arial"/>
              </a:rPr>
              <a:t>Travel Coordinator</a:t>
            </a:r>
          </a:p>
        </p:txBody>
      </p:sp>
      <p:sp>
        <p:nvSpPr>
          <p:cNvPr id="29" name="TextBox 28"/>
          <p:cNvSpPr txBox="1"/>
          <p:nvPr/>
        </p:nvSpPr>
        <p:spPr>
          <a:xfrm>
            <a:off x="7040879" y="1956816"/>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C9D3E3"/>
                </a:solidFill>
                <a:latin typeface="Arial"/>
              </a:rPr>
              <a:t>Chats with the traveller, builds the TripBrief, asks for missing facts</a:t>
            </a:r>
          </a:p>
        </p:txBody>
      </p:sp>
      <p:sp>
        <p:nvSpPr>
          <p:cNvPr id="30" name="Rounded Rectangle 29"/>
          <p:cNvSpPr/>
          <p:nvPr/>
        </p:nvSpPr>
        <p:spPr>
          <a:xfrm>
            <a:off x="3566160" y="2871216"/>
            <a:ext cx="8076895" cy="841248"/>
          </a:xfrm>
          <a:prstGeom prst="roundRect">
            <a:avLst>
              <a:gd name="adj" fmla="val 130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workflow-14213D.png"/>
          <p:cNvPicPr>
            <a:picLocks noChangeAspect="1"/>
          </p:cNvPicPr>
          <p:nvPr/>
        </p:nvPicPr>
        <p:blipFill>
          <a:blip r:embed="rId6"/>
          <a:stretch>
            <a:fillRect/>
          </a:stretch>
        </p:blipFill>
        <p:spPr>
          <a:xfrm>
            <a:off x="3840480" y="3118104"/>
            <a:ext cx="347472" cy="347472"/>
          </a:xfrm>
          <a:prstGeom prst="rect">
            <a:avLst/>
          </a:prstGeom>
        </p:spPr>
      </p:pic>
      <p:sp>
        <p:nvSpPr>
          <p:cNvPr id="32" name="TextBox 31"/>
          <p:cNvSpPr txBox="1"/>
          <p:nvPr/>
        </p:nvSpPr>
        <p:spPr>
          <a:xfrm>
            <a:off x="4389120" y="2980944"/>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14213D"/>
                </a:solidFill>
                <a:latin typeface="Arial"/>
              </a:rPr>
              <a:t>Planning Supervisor</a:t>
            </a:r>
          </a:p>
        </p:txBody>
      </p:sp>
      <p:sp>
        <p:nvSpPr>
          <p:cNvPr id="33" name="TextBox 32"/>
          <p:cNvSpPr txBox="1"/>
          <p:nvPr/>
        </p:nvSpPr>
        <p:spPr>
          <a:xfrm>
            <a:off x="7040879" y="2980944"/>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Picks which specialists each step needs</a:t>
            </a:r>
          </a:p>
        </p:txBody>
      </p:sp>
      <p:sp>
        <p:nvSpPr>
          <p:cNvPr id="34" name="TextBox 33"/>
          <p:cNvSpPr txBox="1"/>
          <p:nvPr/>
        </p:nvSpPr>
        <p:spPr>
          <a:xfrm>
            <a:off x="3566160" y="395020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FIVE SPECIALISTS</a:t>
            </a:r>
          </a:p>
        </p:txBody>
      </p:sp>
      <p:sp>
        <p:nvSpPr>
          <p:cNvPr id="35" name="Rounded Rectangle 34"/>
          <p:cNvSpPr/>
          <p:nvPr/>
        </p:nvSpPr>
        <p:spPr>
          <a:xfrm>
            <a:off x="3566160"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566160"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calendar-days-14213D.png"/>
          <p:cNvPicPr>
            <a:picLocks noChangeAspect="1"/>
          </p:cNvPicPr>
          <p:nvPr/>
        </p:nvPicPr>
        <p:blipFill>
          <a:blip r:embed="rId7"/>
          <a:stretch>
            <a:fillRect/>
          </a:stretch>
        </p:blipFill>
        <p:spPr>
          <a:xfrm>
            <a:off x="3749039" y="4535424"/>
            <a:ext cx="384048" cy="384048"/>
          </a:xfrm>
          <a:prstGeom prst="rect">
            <a:avLst/>
          </a:prstGeom>
        </p:spPr>
      </p:pic>
      <p:sp>
        <p:nvSpPr>
          <p:cNvPr id="38" name="TextBox 37"/>
          <p:cNvSpPr txBox="1"/>
          <p:nvPr/>
        </p:nvSpPr>
        <p:spPr>
          <a:xfrm>
            <a:off x="3749039"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Itinerary</a:t>
            </a:r>
          </a:p>
        </p:txBody>
      </p:sp>
      <p:sp>
        <p:nvSpPr>
          <p:cNvPr id="39" name="TextBox 38"/>
          <p:cNvSpPr txBox="1"/>
          <p:nvPr/>
        </p:nvSpPr>
        <p:spPr>
          <a:xfrm>
            <a:off x="3749039"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Day plan, route checks</a:t>
            </a:r>
          </a:p>
        </p:txBody>
      </p:sp>
      <p:sp>
        <p:nvSpPr>
          <p:cNvPr id="40" name="Rounded Rectangle 39"/>
          <p:cNvSpPr/>
          <p:nvPr/>
        </p:nvSpPr>
        <p:spPr>
          <a:xfrm>
            <a:off x="5207142"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5207142"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plane-14213D.png"/>
          <p:cNvPicPr>
            <a:picLocks noChangeAspect="1"/>
          </p:cNvPicPr>
          <p:nvPr/>
        </p:nvPicPr>
        <p:blipFill>
          <a:blip r:embed="rId8"/>
          <a:stretch>
            <a:fillRect/>
          </a:stretch>
        </p:blipFill>
        <p:spPr>
          <a:xfrm>
            <a:off x="5390022" y="4535424"/>
            <a:ext cx="384048" cy="384048"/>
          </a:xfrm>
          <a:prstGeom prst="rect">
            <a:avLst/>
          </a:prstGeom>
        </p:spPr>
      </p:pic>
      <p:sp>
        <p:nvSpPr>
          <p:cNvPr id="43" name="TextBox 42"/>
          <p:cNvSpPr txBox="1"/>
          <p:nvPr/>
        </p:nvSpPr>
        <p:spPr>
          <a:xfrm>
            <a:off x="5390022"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Transport</a:t>
            </a:r>
          </a:p>
        </p:txBody>
      </p:sp>
      <p:sp>
        <p:nvSpPr>
          <p:cNvPr id="44" name="TextBox 43"/>
          <p:cNvSpPr txBox="1"/>
          <p:nvPr/>
        </p:nvSpPr>
        <p:spPr>
          <a:xfrm>
            <a:off x="5390022"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Flights, rail, local routes</a:t>
            </a:r>
          </a:p>
        </p:txBody>
      </p:sp>
      <p:sp>
        <p:nvSpPr>
          <p:cNvPr id="45" name="Rounded Rectangle 44"/>
          <p:cNvSpPr/>
          <p:nvPr/>
        </p:nvSpPr>
        <p:spPr>
          <a:xfrm>
            <a:off x="6848124"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848124" y="4297680"/>
            <a:ext cx="1512966"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bed-double-14213D.png"/>
          <p:cNvPicPr>
            <a:picLocks noChangeAspect="1"/>
          </p:cNvPicPr>
          <p:nvPr/>
        </p:nvPicPr>
        <p:blipFill>
          <a:blip r:embed="rId9"/>
          <a:stretch>
            <a:fillRect/>
          </a:stretch>
        </p:blipFill>
        <p:spPr>
          <a:xfrm>
            <a:off x="7031004" y="4535424"/>
            <a:ext cx="384048" cy="384048"/>
          </a:xfrm>
          <a:prstGeom prst="rect">
            <a:avLst/>
          </a:prstGeom>
        </p:spPr>
      </p:pic>
      <p:sp>
        <p:nvSpPr>
          <p:cNvPr id="48" name="TextBox 47"/>
          <p:cNvSpPr txBox="1"/>
          <p:nvPr/>
        </p:nvSpPr>
        <p:spPr>
          <a:xfrm>
            <a:off x="7031004"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Accommodation</a:t>
            </a:r>
          </a:p>
        </p:txBody>
      </p:sp>
      <p:sp>
        <p:nvSpPr>
          <p:cNvPr id="49" name="TextBox 48"/>
          <p:cNvSpPr txBox="1"/>
          <p:nvPr/>
        </p:nvSpPr>
        <p:spPr>
          <a:xfrm>
            <a:off x="7031004"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Stays, room allocation</a:t>
            </a:r>
          </a:p>
        </p:txBody>
      </p:sp>
      <p:sp>
        <p:nvSpPr>
          <p:cNvPr id="50" name="Rounded Rectangle 49"/>
          <p:cNvSpPr/>
          <p:nvPr/>
        </p:nvSpPr>
        <p:spPr>
          <a:xfrm>
            <a:off x="8489106"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8489106"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compass-14213D.png"/>
          <p:cNvPicPr>
            <a:picLocks noChangeAspect="1"/>
          </p:cNvPicPr>
          <p:nvPr/>
        </p:nvPicPr>
        <p:blipFill>
          <a:blip r:embed="rId10"/>
          <a:stretch>
            <a:fillRect/>
          </a:stretch>
        </p:blipFill>
        <p:spPr>
          <a:xfrm>
            <a:off x="8671986" y="4535424"/>
            <a:ext cx="384048" cy="384048"/>
          </a:xfrm>
          <a:prstGeom prst="rect">
            <a:avLst/>
          </a:prstGeom>
        </p:spPr>
      </p:pic>
      <p:sp>
        <p:nvSpPr>
          <p:cNvPr id="53" name="TextBox 52"/>
          <p:cNvSpPr txBox="1"/>
          <p:nvPr/>
        </p:nvSpPr>
        <p:spPr>
          <a:xfrm>
            <a:off x="8671986"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Destination</a:t>
            </a:r>
          </a:p>
        </p:txBody>
      </p:sp>
      <p:sp>
        <p:nvSpPr>
          <p:cNvPr id="54" name="TextBox 53"/>
          <p:cNvSpPr txBox="1"/>
          <p:nvPr/>
        </p:nvSpPr>
        <p:spPr>
          <a:xfrm>
            <a:off x="8671986"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Sights, customs, packing</a:t>
            </a:r>
          </a:p>
        </p:txBody>
      </p:sp>
      <p:sp>
        <p:nvSpPr>
          <p:cNvPr id="55" name="Rounded Rectangle 54"/>
          <p:cNvSpPr/>
          <p:nvPr/>
        </p:nvSpPr>
        <p:spPr>
          <a:xfrm>
            <a:off x="10130088"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0130088"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utensils-14213D.png"/>
          <p:cNvPicPr>
            <a:picLocks noChangeAspect="1"/>
          </p:cNvPicPr>
          <p:nvPr/>
        </p:nvPicPr>
        <p:blipFill>
          <a:blip r:embed="rId11"/>
          <a:stretch>
            <a:fillRect/>
          </a:stretch>
        </p:blipFill>
        <p:spPr>
          <a:xfrm>
            <a:off x="10312968" y="4535424"/>
            <a:ext cx="384048" cy="384048"/>
          </a:xfrm>
          <a:prstGeom prst="rect">
            <a:avLst/>
          </a:prstGeom>
        </p:spPr>
      </p:pic>
      <p:sp>
        <p:nvSpPr>
          <p:cNvPr id="58" name="TextBox 57"/>
          <p:cNvSpPr txBox="1"/>
          <p:nvPr/>
        </p:nvSpPr>
        <p:spPr>
          <a:xfrm>
            <a:off x="10312968"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Dining</a:t>
            </a:r>
          </a:p>
        </p:txBody>
      </p:sp>
      <p:sp>
        <p:nvSpPr>
          <p:cNvPr id="59" name="TextBox 58"/>
          <p:cNvSpPr txBox="1"/>
          <p:nvPr/>
        </p:nvSpPr>
        <p:spPr>
          <a:xfrm>
            <a:off x="10312968"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Venues, dietary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ARCHITECTURE</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graph drives the agents, not the other way round</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04 / 24</a:t>
            </a:r>
          </a:p>
        </p:txBody>
      </p:sp>
      <p:sp>
        <p:nvSpPr>
          <p:cNvPr id="14" name="TextBox 13"/>
          <p:cNvSpPr txBox="1"/>
          <p:nvPr/>
        </p:nvSpPr>
        <p:spPr>
          <a:xfrm>
            <a:off x="548640" y="1481328"/>
            <a:ext cx="736092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LANGGRAPH WORKFLOW</a:t>
            </a:r>
          </a:p>
        </p:txBody>
      </p:sp>
      <p:sp>
        <p:nvSpPr>
          <p:cNvPr id="15" name="Rounded Rectangle 14"/>
          <p:cNvSpPr/>
          <p:nvPr/>
        </p:nvSpPr>
        <p:spPr>
          <a:xfrm>
            <a:off x="548640" y="1801368"/>
            <a:ext cx="7360920" cy="1600200"/>
          </a:xfrm>
          <a:prstGeom prst="roundRect">
            <a:avLst>
              <a:gd name="adj" fmla="val 685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workflow.png"/>
          <p:cNvPicPr>
            <a:picLocks noChangeAspect="1"/>
          </p:cNvPicPr>
          <p:nvPr/>
        </p:nvPicPr>
        <p:blipFill>
          <a:blip r:embed="rId3"/>
          <a:stretch>
            <a:fillRect/>
          </a:stretch>
        </p:blipFill>
        <p:spPr>
          <a:xfrm>
            <a:off x="676656" y="2217465"/>
            <a:ext cx="7104888" cy="768004"/>
          </a:xfrm>
          <a:prstGeom prst="rect">
            <a:avLst/>
          </a:prstGeom>
        </p:spPr>
      </p:pic>
      <p:sp>
        <p:nvSpPr>
          <p:cNvPr id="17" name="Oval 16"/>
          <p:cNvSpPr/>
          <p:nvPr/>
        </p:nvSpPr>
        <p:spPr>
          <a:xfrm>
            <a:off x="1711802"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8" name="Oval 17"/>
          <p:cNvSpPr/>
          <p:nvPr/>
        </p:nvSpPr>
        <p:spPr>
          <a:xfrm>
            <a:off x="2919633"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9" name="Oval 18"/>
          <p:cNvSpPr/>
          <p:nvPr/>
        </p:nvSpPr>
        <p:spPr>
          <a:xfrm>
            <a:off x="5086624" y="209566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0" name="Oval 19"/>
          <p:cNvSpPr/>
          <p:nvPr/>
        </p:nvSpPr>
        <p:spPr>
          <a:xfrm>
            <a:off x="640080" y="36850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1024127" y="367588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Plan in stages</a:t>
            </a:r>
          </a:p>
          <a:p>
            <a:pPr algn="l">
              <a:lnSpc>
                <a:spcPct val="115000"/>
              </a:lnSpc>
              <a:spcAft>
                <a:spcPts val="200"/>
              </a:spcAft>
            </a:pPr>
            <a:r>
              <a:rPr sz="1300" b="0" i="0">
                <a:solidFill>
                  <a:srgbClr val="2A3550"/>
                </a:solidFill>
                <a:latin typeface="Arial"/>
              </a:rPr>
              <a:t>Transport, then accommodation, then itinerary and dining, all on one shared board.</a:t>
            </a:r>
          </a:p>
        </p:txBody>
      </p:sp>
      <p:sp>
        <p:nvSpPr>
          <p:cNvPr id="22" name="Oval 21"/>
          <p:cNvSpPr/>
          <p:nvPr/>
        </p:nvSpPr>
        <p:spPr>
          <a:xfrm>
            <a:off x="640080" y="45079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1024127" y="4498848"/>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Code finds conflicts</a:t>
            </a:r>
          </a:p>
          <a:p>
            <a:pPr algn="l">
              <a:lnSpc>
                <a:spcPct val="115000"/>
              </a:lnSpc>
              <a:spcAft>
                <a:spcPts val="200"/>
              </a:spcAft>
            </a:pPr>
            <a:r>
              <a:rPr sz="1300" b="0" i="0">
                <a:solidFill>
                  <a:srgbClr val="2A3550"/>
                </a:solidFill>
                <a:latin typeface="Arial"/>
              </a:rPr>
              <a:t>Budget, time and route conflicts are detected in code, not by a model.</a:t>
            </a:r>
          </a:p>
        </p:txBody>
      </p:sp>
      <p:sp>
        <p:nvSpPr>
          <p:cNvPr id="24" name="Oval 23"/>
          <p:cNvSpPr/>
          <p:nvPr/>
        </p:nvSpPr>
        <p:spPr>
          <a:xfrm>
            <a:off x="640080" y="533095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1024127" y="532180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Targeted revision</a:t>
            </a:r>
          </a:p>
          <a:p>
            <a:pPr algn="l">
              <a:lnSpc>
                <a:spcPct val="115000"/>
              </a:lnSpc>
              <a:spcAft>
                <a:spcPts val="200"/>
              </a:spcAft>
            </a:pPr>
            <a:r>
              <a:rPr sz="1300" b="0" i="0">
                <a:solidFill>
                  <a:srgbClr val="2A3550"/>
                </a:solidFill>
                <a:latin typeface="Arial"/>
              </a:rPr>
              <a:t>Only the agents involved revise, at most three rounds, kept only if the plan improves.</a:t>
            </a:r>
          </a:p>
        </p:txBody>
      </p:sp>
      <p:sp>
        <p:nvSpPr>
          <p:cNvPr id="26" name="TextBox 25"/>
          <p:cNvSpPr txBox="1"/>
          <p:nvPr/>
        </p:nvSpPr>
        <p:spPr>
          <a:xfrm>
            <a:off x="818388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REQUEST PATH</a:t>
            </a:r>
          </a:p>
        </p:txBody>
      </p:sp>
      <p:sp>
        <p:nvSpPr>
          <p:cNvPr id="27" name="Rounded Rectangle 26"/>
          <p:cNvSpPr/>
          <p:nvPr/>
        </p:nvSpPr>
        <p:spPr>
          <a:xfrm>
            <a:off x="8183880" y="1801368"/>
            <a:ext cx="3459175" cy="4434840"/>
          </a:xfrm>
          <a:prstGeom prst="roundRect">
            <a:avLst>
              <a:gd name="adj" fmla="val 317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architecture.png"/>
          <p:cNvPicPr>
            <a:picLocks noChangeAspect="1"/>
          </p:cNvPicPr>
          <p:nvPr/>
        </p:nvPicPr>
        <p:blipFill>
          <a:blip r:embed="rId4"/>
          <a:stretch>
            <a:fillRect/>
          </a:stretch>
        </p:blipFill>
        <p:spPr>
          <a:xfrm>
            <a:off x="8409998" y="1929384"/>
            <a:ext cx="3006938" cy="417880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INDIVIDUAL BEHAVIOUR MODELS</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[A's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05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1F7A8C"/>
                </a:solidFill>
                <a:latin typeface="Arial"/>
              </a:rPr>
              <a:t>Ad hoc requirement  </a:t>
            </a:r>
            <a:r>
              <a:rPr sz="1300" b="0" i="1">
                <a:solidFill>
                  <a:srgbClr val="5A6478"/>
                </a:solidFill>
                <a:latin typeface="Arial"/>
              </a:rPr>
              <a:t>[AH-A1, one line in the traveller's words]</a:t>
            </a:r>
            <a:r>
              <a:rPr sz="1300" b="1" i="0">
                <a:solidFill>
                  <a:srgbClr val="1F7A8C"/>
                </a:solidFill>
                <a:latin typeface="Arial"/>
              </a:rPr>
              <a:t>      Use case  </a:t>
            </a:r>
            <a:r>
              <a:rPr sz="1300" b="0" i="1">
                <a:solidFill>
                  <a:srgbClr val="5A6478"/>
                </a:solidFill>
                <a:latin typeface="Arial"/>
              </a:rPr>
              <a:t>[UC-Ax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REQUIREMENT CLASSIFICATION</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Each member owns two core features and one optional</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06 / 24</a:t>
            </a:r>
          </a:p>
        </p:txBody>
      </p:sp>
      <p:sp>
        <p:nvSpPr>
          <p:cNvPr id="14" name="TextBox 13"/>
          <p:cNvSpPr txBox="1"/>
          <p:nvPr/>
        </p:nvSpPr>
        <p:spPr>
          <a:xfrm>
            <a:off x="30632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1</a:t>
            </a:r>
          </a:p>
        </p:txBody>
      </p:sp>
      <p:sp>
        <p:nvSpPr>
          <p:cNvPr id="15" name="TextBox 14"/>
          <p:cNvSpPr txBox="1"/>
          <p:nvPr/>
        </p:nvSpPr>
        <p:spPr>
          <a:xfrm>
            <a:off x="617220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2</a:t>
            </a:r>
          </a:p>
        </p:txBody>
      </p:sp>
      <p:sp>
        <p:nvSpPr>
          <p:cNvPr id="16" name="TextBox 15"/>
          <p:cNvSpPr txBox="1"/>
          <p:nvPr/>
        </p:nvSpPr>
        <p:spPr>
          <a:xfrm>
            <a:off x="928116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OPTIONAL</a:t>
            </a:r>
          </a:p>
        </p:txBody>
      </p:sp>
      <p:sp>
        <p:nvSpPr>
          <p:cNvPr id="17" name="Rounded Rectangle 16"/>
          <p:cNvSpPr/>
          <p:nvPr/>
        </p:nvSpPr>
        <p:spPr>
          <a:xfrm>
            <a:off x="548640" y="182880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3232" y="1956816"/>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9" name="TextBox 18"/>
          <p:cNvSpPr txBox="1"/>
          <p:nvPr/>
        </p:nvSpPr>
        <p:spPr>
          <a:xfrm>
            <a:off x="1115568" y="182880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Ziqi He</a:t>
            </a:r>
          </a:p>
        </p:txBody>
      </p:sp>
      <p:sp>
        <p:nvSpPr>
          <p:cNvPr id="20" name="TextBox 19"/>
          <p:cNvSpPr txBox="1"/>
          <p:nvPr/>
        </p:nvSpPr>
        <p:spPr>
          <a:xfrm>
            <a:off x="306324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Brief extraction and clarifying questions</a:t>
            </a:r>
          </a:p>
        </p:txBody>
      </p:sp>
      <p:sp>
        <p:nvSpPr>
          <p:cNvPr id="21" name="TextBox 20"/>
          <p:cNvSpPr txBox="1"/>
          <p:nvPr/>
        </p:nvSpPr>
        <p:spPr>
          <a:xfrm>
            <a:off x="617220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Orchestration, conflicts, targeted revision</a:t>
            </a:r>
          </a:p>
        </p:txBody>
      </p:sp>
      <p:sp>
        <p:nvSpPr>
          <p:cNvPr id="22" name="Rounded Rectangle 21"/>
          <p:cNvSpPr/>
          <p:nvPr/>
        </p:nvSpPr>
        <p:spPr>
          <a:xfrm>
            <a:off x="9281160" y="196596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Agent Lab and Failure Lab</a:t>
            </a:r>
          </a:p>
        </p:txBody>
      </p:sp>
      <p:sp>
        <p:nvSpPr>
          <p:cNvPr id="23" name="Rounded Rectangle 22"/>
          <p:cNvSpPr/>
          <p:nvPr/>
        </p:nvSpPr>
        <p:spPr>
          <a:xfrm>
            <a:off x="548640" y="246888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13232" y="2596896"/>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25" name="TextBox 24"/>
          <p:cNvSpPr txBox="1"/>
          <p:nvPr/>
        </p:nvSpPr>
        <p:spPr>
          <a:xfrm>
            <a:off x="1115568" y="246888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Tingsong Jin</a:t>
            </a:r>
          </a:p>
        </p:txBody>
      </p:sp>
      <p:sp>
        <p:nvSpPr>
          <p:cNvPr id="26" name="TextBox 25"/>
          <p:cNvSpPr txBox="1"/>
          <p:nvPr/>
        </p:nvSpPr>
        <p:spPr>
          <a:xfrm>
            <a:off x="306324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Itinerary with route feasibility</a:t>
            </a:r>
          </a:p>
        </p:txBody>
      </p:sp>
      <p:sp>
        <p:nvSpPr>
          <p:cNvPr id="27" name="TextBox 26"/>
          <p:cNvSpPr txBox="1"/>
          <p:nvPr/>
        </p:nvSpPr>
        <p:spPr>
          <a:xfrm>
            <a:off x="617220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Flights, rail and local transport</a:t>
            </a:r>
          </a:p>
        </p:txBody>
      </p:sp>
      <p:sp>
        <p:nvSpPr>
          <p:cNvPr id="28" name="Rounded Rectangle 27"/>
          <p:cNvSpPr/>
          <p:nvPr/>
        </p:nvSpPr>
        <p:spPr>
          <a:xfrm>
            <a:off x="9281160" y="260604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Traveller-chosen leg mode</a:t>
            </a:r>
          </a:p>
        </p:txBody>
      </p:sp>
      <p:sp>
        <p:nvSpPr>
          <p:cNvPr id="29" name="Rounded Rectangle 28"/>
          <p:cNvSpPr/>
          <p:nvPr/>
        </p:nvSpPr>
        <p:spPr>
          <a:xfrm>
            <a:off x="548640" y="310896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323697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31" name="TextBox 30"/>
          <p:cNvSpPr txBox="1"/>
          <p:nvPr/>
        </p:nvSpPr>
        <p:spPr>
          <a:xfrm>
            <a:off x="1115568" y="310896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Yi Qiao</a:t>
            </a:r>
          </a:p>
        </p:txBody>
      </p:sp>
      <p:sp>
        <p:nvSpPr>
          <p:cNvPr id="32" name="TextBox 31"/>
          <p:cNvSpPr txBox="1"/>
          <p:nvPr/>
        </p:nvSpPr>
        <p:spPr>
          <a:xfrm>
            <a:off x="306324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Accommodation, individual or group</a:t>
            </a:r>
          </a:p>
        </p:txBody>
      </p:sp>
      <p:sp>
        <p:nvSpPr>
          <p:cNvPr id="33" name="TextBox 32"/>
          <p:cNvSpPr txBox="1"/>
          <p:nvPr/>
        </p:nvSpPr>
        <p:spPr>
          <a:xfrm>
            <a:off x="617220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Budget management</a:t>
            </a:r>
          </a:p>
        </p:txBody>
      </p:sp>
      <p:sp>
        <p:nvSpPr>
          <p:cNvPr id="34" name="Rounded Rectangle 33"/>
          <p:cNvSpPr/>
          <p:nvPr/>
        </p:nvSpPr>
        <p:spPr>
          <a:xfrm>
            <a:off x="9281160" y="324612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Keep a booked stay</a:t>
            </a:r>
          </a:p>
        </p:txBody>
      </p:sp>
      <p:sp>
        <p:nvSpPr>
          <p:cNvPr id="35" name="Rounded Rectangle 34"/>
          <p:cNvSpPr/>
          <p:nvPr/>
        </p:nvSpPr>
        <p:spPr>
          <a:xfrm>
            <a:off x="548640" y="3749039"/>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13232" y="3877055"/>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7" name="TextBox 36"/>
          <p:cNvSpPr txBox="1"/>
          <p:nvPr/>
        </p:nvSpPr>
        <p:spPr>
          <a:xfrm>
            <a:off x="1115568" y="3749039"/>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Jiahang Bian</a:t>
            </a:r>
          </a:p>
        </p:txBody>
      </p:sp>
      <p:sp>
        <p:nvSpPr>
          <p:cNvPr id="38" name="TextBox 37"/>
          <p:cNvSpPr txBox="1"/>
          <p:nvPr/>
        </p:nvSpPr>
        <p:spPr>
          <a:xfrm>
            <a:off x="306324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Destination guide</a:t>
            </a:r>
          </a:p>
        </p:txBody>
      </p:sp>
      <p:sp>
        <p:nvSpPr>
          <p:cNvPr id="39" name="TextBox 38"/>
          <p:cNvSpPr txBox="1"/>
          <p:nvPr/>
        </p:nvSpPr>
        <p:spPr>
          <a:xfrm>
            <a:off x="617220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Dining with dietary needs</a:t>
            </a:r>
          </a:p>
        </p:txBody>
      </p:sp>
      <p:sp>
        <p:nvSpPr>
          <p:cNvPr id="40" name="Rounded Rectangle 39"/>
          <p:cNvSpPr/>
          <p:nvPr/>
        </p:nvSpPr>
        <p:spPr>
          <a:xfrm>
            <a:off x="9281160" y="388620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Weather-based packing</a:t>
            </a:r>
          </a:p>
        </p:txBody>
      </p:sp>
      <p:sp>
        <p:nvSpPr>
          <p:cNvPr id="41" name="Rounded Rectangle 40"/>
          <p:cNvSpPr/>
          <p:nvPr/>
        </p:nvSpPr>
        <p:spPr>
          <a:xfrm>
            <a:off x="548640" y="438912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13232" y="4517136"/>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43" name="TextBox 42"/>
          <p:cNvSpPr txBox="1"/>
          <p:nvPr/>
        </p:nvSpPr>
        <p:spPr>
          <a:xfrm>
            <a:off x="1115568" y="438912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Weihao Wang</a:t>
            </a:r>
          </a:p>
        </p:txBody>
      </p:sp>
      <p:sp>
        <p:nvSpPr>
          <p:cNvPr id="44" name="TextBox 43"/>
          <p:cNvSpPr txBox="1"/>
          <p:nvPr/>
        </p:nvSpPr>
        <p:spPr>
          <a:xfrm>
            <a:off x="306324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Chat, timeline and map editing</a:t>
            </a:r>
          </a:p>
        </p:txBody>
      </p:sp>
      <p:sp>
        <p:nvSpPr>
          <p:cNvPr id="45" name="TextBox 44"/>
          <p:cNvSpPr txBox="1"/>
          <p:nvPr/>
        </p:nvSpPr>
        <p:spPr>
          <a:xfrm>
            <a:off x="617220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Preferences and memory</a:t>
            </a:r>
          </a:p>
        </p:txBody>
      </p:sp>
      <p:sp>
        <p:nvSpPr>
          <p:cNvPr id="46" name="Rounded Rectangle 45"/>
          <p:cNvSpPr/>
          <p:nvPr/>
        </p:nvSpPr>
        <p:spPr>
          <a:xfrm>
            <a:off x="9281160" y="452628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Accounts and cloud sync</a:t>
            </a:r>
          </a:p>
        </p:txBody>
      </p:sp>
      <p:sp>
        <p:nvSpPr>
          <p:cNvPr id="47" name="Rounded Rectangle 46"/>
          <p:cNvSpPr/>
          <p:nvPr/>
        </p:nvSpPr>
        <p:spPr>
          <a:xfrm>
            <a:off x="548640" y="5184648"/>
            <a:ext cx="11094415" cy="1005840"/>
          </a:xfrm>
          <a:prstGeom prst="roundRect">
            <a:avLst>
              <a:gd name="adj" fmla="val 10909"/>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scale-F2A65A.png"/>
          <p:cNvPicPr>
            <a:picLocks noChangeAspect="1"/>
          </p:cNvPicPr>
          <p:nvPr/>
        </p:nvPicPr>
        <p:blipFill>
          <a:blip r:embed="rId3"/>
          <a:stretch>
            <a:fillRect/>
          </a:stretch>
        </p:blipFill>
        <p:spPr>
          <a:xfrm>
            <a:off x="868680" y="5477256"/>
            <a:ext cx="420624" cy="420624"/>
          </a:xfrm>
          <a:prstGeom prst="rect">
            <a:avLst/>
          </a:prstGeom>
        </p:spPr>
      </p:pic>
      <p:sp>
        <p:nvSpPr>
          <p:cNvPr id="49" name="TextBox 48"/>
          <p:cNvSpPr txBox="1"/>
          <p:nvPr/>
        </p:nvSpPr>
        <p:spPr>
          <a:xfrm>
            <a:off x="1554480" y="5276088"/>
            <a:ext cx="2926080" cy="822960"/>
          </a:xfrm>
          <a:prstGeom prst="rect">
            <a:avLst/>
          </a:prstGeom>
          <a:noFill/>
        </p:spPr>
        <p:txBody>
          <a:bodyPr wrap="square" lIns="0" rIns="0" tIns="0" bIns="0" anchor="ctr">
            <a:spAutoFit/>
          </a:bodyPr>
          <a:lstStyle/>
          <a:p>
            <a:pPr algn="l">
              <a:lnSpc>
                <a:spcPct val="115000"/>
              </a:lnSpc>
              <a:spcAft>
                <a:spcPts val="0"/>
              </a:spcAft>
            </a:pPr>
            <a:r>
              <a:rPr sz="2000" b="1" i="0">
                <a:solidFill>
                  <a:srgbClr val="FFFFFF"/>
                </a:solidFill>
                <a:latin typeface="Georgia"/>
              </a:rPr>
              <a:t>Models choose,
code decides.</a:t>
            </a:r>
          </a:p>
        </p:txBody>
      </p:sp>
      <p:sp>
        <p:nvSpPr>
          <p:cNvPr id="50" name="TextBox 49"/>
          <p:cNvSpPr txBox="1"/>
          <p:nvPr/>
        </p:nvSpPr>
        <p:spPr>
          <a:xfrm>
            <a:off x="4572000" y="5276088"/>
            <a:ext cx="6796735" cy="822960"/>
          </a:xfrm>
          <a:prstGeom prst="rect">
            <a:avLst/>
          </a:prstGeom>
          <a:noFill/>
        </p:spPr>
        <p:txBody>
          <a:bodyPr wrap="square" lIns="0" rIns="0" tIns="0" bIns="0" anchor="ctr">
            <a:spAutoFit/>
          </a:bodyPr>
          <a:lstStyle/>
          <a:p>
            <a:pPr algn="l">
              <a:lnSpc>
                <a:spcPct val="115000"/>
              </a:lnSpc>
              <a:spcAft>
                <a:spcPts val="0"/>
              </a:spcAft>
            </a:pPr>
            <a:r>
              <a:rPr sz="1400" b="0" i="0">
                <a:solidFill>
                  <a:srgbClr val="C9D3E3"/>
                </a:solidFill>
                <a:latin typeface="Arial"/>
              </a:rPr>
              <a:t>Agreed scope: a single-user planner with AUD estimates; no booking or payment. No invented prices, no relaxed preferences.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FEATURE MODEL</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Seven feature groups with their constraints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07 / 24</a:t>
            </a:r>
          </a:p>
        </p:txBody>
      </p:sp>
      <p:sp>
        <p:nvSpPr>
          <p:cNvPr id="14" name="Rounded Rectangle 13"/>
          <p:cNvSpPr/>
          <p:nvPr/>
        </p:nvSpPr>
        <p:spPr>
          <a:xfrm>
            <a:off x="548640"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essages-square-C2571A.png"/>
          <p:cNvPicPr>
            <a:picLocks noChangeAspect="1"/>
          </p:cNvPicPr>
          <p:nvPr/>
        </p:nvPicPr>
        <p:blipFill>
          <a:blip r:embed="rId3"/>
          <a:stretch>
            <a:fillRect/>
          </a:stretch>
        </p:blipFill>
        <p:spPr>
          <a:xfrm>
            <a:off x="749808" y="1664208"/>
            <a:ext cx="292608" cy="292608"/>
          </a:xfrm>
          <a:prstGeom prst="rect">
            <a:avLst/>
          </a:prstGeom>
        </p:spPr>
      </p:pic>
      <p:sp>
        <p:nvSpPr>
          <p:cNvPr id="16" name="TextBox 15"/>
          <p:cNvSpPr txBox="1"/>
          <p:nvPr/>
        </p:nvSpPr>
        <p:spPr>
          <a:xfrm>
            <a:off x="1152144"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Conversation</a:t>
            </a:r>
          </a:p>
        </p:txBody>
      </p:sp>
      <p:sp>
        <p:nvSpPr>
          <p:cNvPr id="17" name="TextBox 16"/>
          <p:cNvSpPr txBox="1"/>
          <p:nvPr/>
        </p:nvSpPr>
        <p:spPr>
          <a:xfrm>
            <a:off x="749808"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Chat intake</a:t>
            </a:r>
          </a:p>
          <a:p>
            <a:pPr algn="l">
              <a:lnSpc>
                <a:spcPct val="112000"/>
              </a:lnSpc>
              <a:spcAft>
                <a:spcPts val="100"/>
              </a:spcAft>
            </a:pPr>
            <a:r>
              <a:rPr sz="1150" b="0" i="0">
                <a:solidFill>
                  <a:srgbClr val="2A3550"/>
                </a:solidFill>
                <a:latin typeface="Arial"/>
              </a:rPr>
              <a:t>● Brief extraction</a:t>
            </a:r>
          </a:p>
          <a:p>
            <a:pPr algn="l">
              <a:lnSpc>
                <a:spcPct val="112000"/>
              </a:lnSpc>
              <a:spcAft>
                <a:spcPts val="100"/>
              </a:spcAft>
            </a:pPr>
            <a:r>
              <a:rPr sz="1150" b="0" i="0">
                <a:solidFill>
                  <a:srgbClr val="2A3550"/>
                </a:solidFill>
                <a:latin typeface="Arial"/>
              </a:rPr>
              <a:t>   ⊕ LLM | rule parser</a:t>
            </a:r>
          </a:p>
          <a:p>
            <a:pPr algn="l">
              <a:lnSpc>
                <a:spcPct val="112000"/>
              </a:lnSpc>
              <a:spcAft>
                <a:spcPts val="100"/>
              </a:spcAft>
            </a:pPr>
            <a:r>
              <a:rPr sz="1150" b="0" i="0">
                <a:solidFill>
                  <a:srgbClr val="2A3550"/>
                </a:solidFill>
                <a:latin typeface="Arial"/>
              </a:rPr>
              <a:t>● Clarifying questions</a:t>
            </a:r>
          </a:p>
          <a:p>
            <a:pPr algn="l">
              <a:lnSpc>
                <a:spcPct val="112000"/>
              </a:lnSpc>
              <a:spcAft>
                <a:spcPts val="100"/>
              </a:spcAft>
            </a:pPr>
            <a:r>
              <a:rPr sz="1150" b="0" i="0">
                <a:solidFill>
                  <a:srgbClr val="2A3550"/>
                </a:solidFill>
                <a:latin typeface="Arial"/>
              </a:rPr>
              <a:t>○ Attachments</a:t>
            </a:r>
          </a:p>
        </p:txBody>
      </p:sp>
      <p:sp>
        <p:nvSpPr>
          <p:cNvPr id="18" name="Rounded Rectangle 17"/>
          <p:cNvSpPr/>
          <p:nvPr/>
        </p:nvSpPr>
        <p:spPr>
          <a:xfrm>
            <a:off x="3363391"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workflow-C2571A.png"/>
          <p:cNvPicPr>
            <a:picLocks noChangeAspect="1"/>
          </p:cNvPicPr>
          <p:nvPr/>
        </p:nvPicPr>
        <p:blipFill>
          <a:blip r:embed="rId4"/>
          <a:stretch>
            <a:fillRect/>
          </a:stretch>
        </p:blipFill>
        <p:spPr>
          <a:xfrm>
            <a:off x="3564559" y="1664208"/>
            <a:ext cx="292608" cy="292608"/>
          </a:xfrm>
          <a:prstGeom prst="rect">
            <a:avLst/>
          </a:prstGeom>
        </p:spPr>
      </p:pic>
      <p:sp>
        <p:nvSpPr>
          <p:cNvPr id="20" name="TextBox 19"/>
          <p:cNvSpPr txBox="1"/>
          <p:nvPr/>
        </p:nvSpPr>
        <p:spPr>
          <a:xfrm>
            <a:off x="3966895"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Multi-agent planning</a:t>
            </a:r>
          </a:p>
        </p:txBody>
      </p:sp>
      <p:sp>
        <p:nvSpPr>
          <p:cNvPr id="21" name="TextBox 20"/>
          <p:cNvSpPr txBox="1"/>
          <p:nvPr/>
        </p:nvSpPr>
        <p:spPr>
          <a:xfrm>
            <a:off x="3564559"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Supervisor delegation</a:t>
            </a:r>
          </a:p>
          <a:p>
            <a:pPr algn="l">
              <a:lnSpc>
                <a:spcPct val="112000"/>
              </a:lnSpc>
              <a:spcAft>
                <a:spcPts val="100"/>
              </a:spcAft>
            </a:pPr>
            <a:r>
              <a:rPr sz="1150" b="0" i="0">
                <a:solidFill>
                  <a:srgbClr val="2A3550"/>
                </a:solidFill>
                <a:latin typeface="Arial"/>
              </a:rPr>
              <a:t>● Staged planning board</a:t>
            </a:r>
          </a:p>
          <a:p>
            <a:pPr algn="l">
              <a:lnSpc>
                <a:spcPct val="112000"/>
              </a:lnSpc>
              <a:spcAft>
                <a:spcPts val="100"/>
              </a:spcAft>
            </a:pPr>
            <a:r>
              <a:rPr sz="1150" b="0" i="0">
                <a:solidFill>
                  <a:srgbClr val="2A3550"/>
                </a:solidFill>
                <a:latin typeface="Arial"/>
              </a:rPr>
              <a:t>● Conflict detection</a:t>
            </a:r>
          </a:p>
          <a:p>
            <a:pPr algn="l">
              <a:lnSpc>
                <a:spcPct val="112000"/>
              </a:lnSpc>
              <a:spcAft>
                <a:spcPts val="100"/>
              </a:spcAft>
            </a:pPr>
            <a:r>
              <a:rPr sz="1150" b="0" i="0">
                <a:solidFill>
                  <a:srgbClr val="2A3550"/>
                </a:solidFill>
                <a:latin typeface="Arial"/>
              </a:rPr>
              <a:t>   ⊗ budget, time, geography, infeasible</a:t>
            </a:r>
          </a:p>
          <a:p>
            <a:pPr algn="l">
              <a:lnSpc>
                <a:spcPct val="112000"/>
              </a:lnSpc>
              <a:spcAft>
                <a:spcPts val="100"/>
              </a:spcAft>
            </a:pPr>
            <a:r>
              <a:rPr sz="1150" b="0" i="0">
                <a:solidFill>
                  <a:srgbClr val="2A3550"/>
                </a:solidFill>
                <a:latin typeface="Arial"/>
              </a:rPr>
              <a:t>● Targeted revision ≤ 3</a:t>
            </a:r>
          </a:p>
        </p:txBody>
      </p:sp>
      <p:sp>
        <p:nvSpPr>
          <p:cNvPr id="22" name="Rounded Rectangle 21"/>
          <p:cNvSpPr/>
          <p:nvPr/>
        </p:nvSpPr>
        <p:spPr>
          <a:xfrm>
            <a:off x="6178143"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boxes-C2571A.png"/>
          <p:cNvPicPr>
            <a:picLocks noChangeAspect="1"/>
          </p:cNvPicPr>
          <p:nvPr/>
        </p:nvPicPr>
        <p:blipFill>
          <a:blip r:embed="rId5"/>
          <a:stretch>
            <a:fillRect/>
          </a:stretch>
        </p:blipFill>
        <p:spPr>
          <a:xfrm>
            <a:off x="6379311" y="1664208"/>
            <a:ext cx="292608" cy="292608"/>
          </a:xfrm>
          <a:prstGeom prst="rect">
            <a:avLst/>
          </a:prstGeom>
        </p:spPr>
      </p:pic>
      <p:sp>
        <p:nvSpPr>
          <p:cNvPr id="24" name="TextBox 23"/>
          <p:cNvSpPr txBox="1"/>
          <p:nvPr/>
        </p:nvSpPr>
        <p:spPr>
          <a:xfrm>
            <a:off x="6781647"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roles</a:t>
            </a:r>
          </a:p>
        </p:txBody>
      </p:sp>
      <p:sp>
        <p:nvSpPr>
          <p:cNvPr id="25" name="TextBox 24"/>
          <p:cNvSpPr txBox="1"/>
          <p:nvPr/>
        </p:nvSpPr>
        <p:spPr>
          <a:xfrm>
            <a:off x="6379311"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Itinerary  ● Dining</a:t>
            </a:r>
          </a:p>
          <a:p>
            <a:pPr algn="l">
              <a:lnSpc>
                <a:spcPct val="112000"/>
              </a:lnSpc>
              <a:spcAft>
                <a:spcPts val="100"/>
              </a:spcAft>
            </a:pPr>
            <a:r>
              <a:rPr sz="1150" b="0" i="0">
                <a:solidFill>
                  <a:srgbClr val="2A3550"/>
                </a:solidFill>
                <a:latin typeface="Arial"/>
              </a:rPr>
              <a:t>● Transport</a:t>
            </a:r>
          </a:p>
          <a:p>
            <a:pPr algn="l">
              <a:lnSpc>
                <a:spcPct val="112000"/>
              </a:lnSpc>
              <a:spcAft>
                <a:spcPts val="100"/>
              </a:spcAft>
            </a:pPr>
            <a:r>
              <a:rPr sz="1150" b="0" i="0">
                <a:solidFill>
                  <a:srgbClr val="2A3550"/>
                </a:solidFill>
                <a:latin typeface="Arial"/>
              </a:rPr>
              <a:t>   ○ Traveller arranges flights</a:t>
            </a:r>
          </a:p>
          <a:p>
            <a:pPr algn="l">
              <a:lnSpc>
                <a:spcPct val="112000"/>
              </a:lnSpc>
              <a:spcAft>
                <a:spcPts val="100"/>
              </a:spcAft>
            </a:pPr>
            <a:r>
              <a:rPr sz="1150" b="0" i="0">
                <a:solidFill>
                  <a:srgbClr val="2A3550"/>
                </a:solidFill>
                <a:latin typeface="Arial"/>
              </a:rPr>
              <a:t>● Accommodation</a:t>
            </a:r>
          </a:p>
          <a:p>
            <a:pPr algn="l">
              <a:lnSpc>
                <a:spcPct val="112000"/>
              </a:lnSpc>
              <a:spcAft>
                <a:spcPts val="100"/>
              </a:spcAft>
            </a:pPr>
            <a:r>
              <a:rPr sz="1150" b="0" i="0">
                <a:solidFill>
                  <a:srgbClr val="2A3550"/>
                </a:solidFill>
                <a:latin typeface="Arial"/>
              </a:rPr>
              <a:t>   ⊕ shared | individual  ○ booked</a:t>
            </a:r>
          </a:p>
          <a:p>
            <a:pPr algn="l">
              <a:lnSpc>
                <a:spcPct val="112000"/>
              </a:lnSpc>
              <a:spcAft>
                <a:spcPts val="100"/>
              </a:spcAft>
            </a:pPr>
            <a:r>
              <a:rPr sz="1150" b="0" i="0">
                <a:solidFill>
                  <a:srgbClr val="2A3550"/>
                </a:solidFill>
                <a:latin typeface="Arial"/>
              </a:rPr>
              <a:t>● Destination  ○ packing</a:t>
            </a:r>
          </a:p>
        </p:txBody>
      </p:sp>
      <p:sp>
        <p:nvSpPr>
          <p:cNvPr id="26" name="Rounded Rectangle 25"/>
          <p:cNvSpPr/>
          <p:nvPr/>
        </p:nvSpPr>
        <p:spPr>
          <a:xfrm>
            <a:off x="8992895"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wallet-C2571A.png"/>
          <p:cNvPicPr>
            <a:picLocks noChangeAspect="1"/>
          </p:cNvPicPr>
          <p:nvPr/>
        </p:nvPicPr>
        <p:blipFill>
          <a:blip r:embed="rId6"/>
          <a:stretch>
            <a:fillRect/>
          </a:stretch>
        </p:blipFill>
        <p:spPr>
          <a:xfrm>
            <a:off x="9194063" y="1664208"/>
            <a:ext cx="292608" cy="292608"/>
          </a:xfrm>
          <a:prstGeom prst="rect">
            <a:avLst/>
          </a:prstGeom>
        </p:spPr>
      </p:pic>
      <p:sp>
        <p:nvSpPr>
          <p:cNvPr id="28" name="TextBox 27"/>
          <p:cNvSpPr txBox="1"/>
          <p:nvPr/>
        </p:nvSpPr>
        <p:spPr>
          <a:xfrm>
            <a:off x="9596399"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Budget</a:t>
            </a:r>
          </a:p>
        </p:txBody>
      </p:sp>
      <p:sp>
        <p:nvSpPr>
          <p:cNvPr id="29" name="TextBox 28"/>
          <p:cNvSpPr txBox="1"/>
          <p:nvPr/>
        </p:nvSpPr>
        <p:spPr>
          <a:xfrm>
            <a:off x="9194063"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Cost roll-up in AUD</a:t>
            </a:r>
          </a:p>
          <a:p>
            <a:pPr algn="l">
              <a:lnSpc>
                <a:spcPct val="112000"/>
              </a:lnSpc>
              <a:spcAft>
                <a:spcPts val="100"/>
              </a:spcAft>
            </a:pPr>
            <a:r>
              <a:rPr sz="1150" b="0" i="0">
                <a:solidFill>
                  <a:srgbClr val="2A3550"/>
                </a:solidFill>
                <a:latin typeface="Arial"/>
              </a:rPr>
              <a:t>● Stage allocation</a:t>
            </a:r>
          </a:p>
          <a:p>
            <a:pPr algn="l">
              <a:lnSpc>
                <a:spcPct val="112000"/>
              </a:lnSpc>
              <a:spcAft>
                <a:spcPts val="100"/>
              </a:spcAft>
            </a:pPr>
            <a:r>
              <a:rPr sz="1150" b="0" i="0">
                <a:solidFill>
                  <a:srgbClr val="2A3550"/>
                </a:solidFill>
                <a:latin typeface="Arial"/>
              </a:rPr>
              <a:t>● Minimum-cost floor</a:t>
            </a:r>
          </a:p>
        </p:txBody>
      </p:sp>
      <p:sp>
        <p:nvSpPr>
          <p:cNvPr id="30" name="Rounded Rectangle 29"/>
          <p:cNvSpPr/>
          <p:nvPr/>
        </p:nvSpPr>
        <p:spPr>
          <a:xfrm>
            <a:off x="548640"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shield-check-C2571A.png"/>
          <p:cNvPicPr>
            <a:picLocks noChangeAspect="1"/>
          </p:cNvPicPr>
          <p:nvPr/>
        </p:nvPicPr>
        <p:blipFill>
          <a:blip r:embed="rId7"/>
          <a:stretch>
            <a:fillRect/>
          </a:stretch>
        </p:blipFill>
        <p:spPr>
          <a:xfrm>
            <a:off x="749808" y="3703320"/>
            <a:ext cx="292608" cy="292608"/>
          </a:xfrm>
          <a:prstGeom prst="rect">
            <a:avLst/>
          </a:prstGeom>
        </p:spPr>
      </p:pic>
      <p:sp>
        <p:nvSpPr>
          <p:cNvPr id="32" name="TextBox 31"/>
          <p:cNvSpPr txBox="1"/>
          <p:nvPr/>
        </p:nvSpPr>
        <p:spPr>
          <a:xfrm>
            <a:off x="1152144"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Evidence &amp; tools</a:t>
            </a:r>
          </a:p>
        </p:txBody>
      </p:sp>
      <p:sp>
        <p:nvSpPr>
          <p:cNvPr id="33" name="TextBox 32"/>
          <p:cNvSpPr txBox="1"/>
          <p:nvPr/>
        </p:nvSpPr>
        <p:spPr>
          <a:xfrm>
            <a:off x="749808"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Live providers | mock fixtures</a:t>
            </a:r>
          </a:p>
          <a:p>
            <a:pPr algn="l">
              <a:lnSpc>
                <a:spcPct val="112000"/>
              </a:lnSpc>
              <a:spcAft>
                <a:spcPts val="100"/>
              </a:spcAft>
            </a:pPr>
            <a:r>
              <a:rPr sz="1150" b="0" i="0">
                <a:solidFill>
                  <a:srgbClr val="2A3550"/>
                </a:solidFill>
                <a:latin typeface="Arial"/>
              </a:rPr>
              <a:t>● Provenance labels</a:t>
            </a:r>
          </a:p>
        </p:txBody>
      </p:sp>
      <p:sp>
        <p:nvSpPr>
          <p:cNvPr id="34" name="Rounded Rectangle 33"/>
          <p:cNvSpPr/>
          <p:nvPr/>
        </p:nvSpPr>
        <p:spPr>
          <a:xfrm>
            <a:off x="3363391"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monitor-C2571A.png"/>
          <p:cNvPicPr>
            <a:picLocks noChangeAspect="1"/>
          </p:cNvPicPr>
          <p:nvPr/>
        </p:nvPicPr>
        <p:blipFill>
          <a:blip r:embed="rId8"/>
          <a:stretch>
            <a:fillRect/>
          </a:stretch>
        </p:blipFill>
        <p:spPr>
          <a:xfrm>
            <a:off x="3564559" y="3703320"/>
            <a:ext cx="292608" cy="292608"/>
          </a:xfrm>
          <a:prstGeom prst="rect">
            <a:avLst/>
          </a:prstGeom>
        </p:spPr>
      </p:pic>
      <p:sp>
        <p:nvSpPr>
          <p:cNvPr id="36" name="TextBox 35"/>
          <p:cNvSpPr txBox="1"/>
          <p:nvPr/>
        </p:nvSpPr>
        <p:spPr>
          <a:xfrm>
            <a:off x="3966895"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Workspace</a:t>
            </a:r>
          </a:p>
        </p:txBody>
      </p:sp>
      <p:sp>
        <p:nvSpPr>
          <p:cNvPr id="37" name="TextBox 36"/>
          <p:cNvSpPr txBox="1"/>
          <p:nvPr/>
        </p:nvSpPr>
        <p:spPr>
          <a:xfrm>
            <a:off x="3564559"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Timeline | map</a:t>
            </a:r>
          </a:p>
          <a:p>
            <a:pPr algn="l">
              <a:lnSpc>
                <a:spcPct val="112000"/>
              </a:lnSpc>
              <a:spcAft>
                <a:spcPts val="100"/>
              </a:spcAft>
            </a:pPr>
            <a:r>
              <a:rPr sz="1150" b="0" i="0">
                <a:solidFill>
                  <a:srgbClr val="2A3550"/>
                </a:solidFill>
                <a:latin typeface="Arial"/>
              </a:rPr>
              <a:t>● Plan editing</a:t>
            </a:r>
          </a:p>
          <a:p>
            <a:pPr algn="l">
              <a:lnSpc>
                <a:spcPct val="112000"/>
              </a:lnSpc>
              <a:spcAft>
                <a:spcPts val="100"/>
              </a:spcAft>
            </a:pPr>
            <a:r>
              <a:rPr sz="1150" b="0" i="0">
                <a:solidFill>
                  <a:srgbClr val="2A3550"/>
                </a:solidFill>
                <a:latin typeface="Arial"/>
              </a:rPr>
              <a:t>● Preferences &amp; filters</a:t>
            </a:r>
          </a:p>
          <a:p>
            <a:pPr algn="l">
              <a:lnSpc>
                <a:spcPct val="112000"/>
              </a:lnSpc>
              <a:spcAft>
                <a:spcPts val="100"/>
              </a:spcAft>
            </a:pPr>
            <a:r>
              <a:rPr sz="1150" b="0" i="0">
                <a:solidFill>
                  <a:srgbClr val="2A3550"/>
                </a:solidFill>
                <a:latin typeface="Arial"/>
              </a:rPr>
              <a:t>○ Accounts &amp; cloud sync</a:t>
            </a:r>
          </a:p>
          <a:p>
            <a:pPr algn="l">
              <a:lnSpc>
                <a:spcPct val="112000"/>
              </a:lnSpc>
              <a:spcAft>
                <a:spcPts val="100"/>
              </a:spcAft>
            </a:pPr>
            <a:r>
              <a:rPr sz="1150" b="0" i="0">
                <a:solidFill>
                  <a:srgbClr val="2A3550"/>
                </a:solidFill>
                <a:latin typeface="Arial"/>
              </a:rPr>
              <a:t>○ Agent Lab</a:t>
            </a:r>
          </a:p>
        </p:txBody>
      </p:sp>
      <p:sp>
        <p:nvSpPr>
          <p:cNvPr id="38" name="Rounded Rectangle 37"/>
          <p:cNvSpPr/>
          <p:nvPr/>
        </p:nvSpPr>
        <p:spPr>
          <a:xfrm>
            <a:off x="6178143"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cpu-C2571A.png"/>
          <p:cNvPicPr>
            <a:picLocks noChangeAspect="1"/>
          </p:cNvPicPr>
          <p:nvPr/>
        </p:nvPicPr>
        <p:blipFill>
          <a:blip r:embed="rId9"/>
          <a:stretch>
            <a:fillRect/>
          </a:stretch>
        </p:blipFill>
        <p:spPr>
          <a:xfrm>
            <a:off x="6379311" y="3703320"/>
            <a:ext cx="292608" cy="292608"/>
          </a:xfrm>
          <a:prstGeom prst="rect">
            <a:avLst/>
          </a:prstGeom>
        </p:spPr>
      </p:pic>
      <p:sp>
        <p:nvSpPr>
          <p:cNvPr id="40" name="TextBox 39"/>
          <p:cNvSpPr txBox="1"/>
          <p:nvPr/>
        </p:nvSpPr>
        <p:spPr>
          <a:xfrm>
            <a:off x="6781647"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Memory</a:t>
            </a:r>
          </a:p>
        </p:txBody>
      </p:sp>
      <p:sp>
        <p:nvSpPr>
          <p:cNvPr id="41" name="TextBox 40"/>
          <p:cNvSpPr txBox="1"/>
          <p:nvPr/>
        </p:nvSpPr>
        <p:spPr>
          <a:xfrm>
            <a:off x="6379311"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Session chat history</a:t>
            </a:r>
          </a:p>
          <a:p>
            <a:pPr algn="l">
              <a:lnSpc>
                <a:spcPct val="112000"/>
              </a:lnSpc>
              <a:spcAft>
                <a:spcPts val="100"/>
              </a:spcAft>
            </a:pPr>
            <a:r>
              <a:rPr sz="1150" b="0" i="0">
                <a:solidFill>
                  <a:srgbClr val="2A3550"/>
                </a:solidFill>
                <a:latin typeface="Arial"/>
              </a:rPr>
              <a:t>● Long-term preferences</a:t>
            </a:r>
          </a:p>
          <a:p>
            <a:pPr algn="l">
              <a:lnSpc>
                <a:spcPct val="112000"/>
              </a:lnSpc>
              <a:spcAft>
                <a:spcPts val="100"/>
              </a:spcAft>
            </a:pPr>
            <a:r>
              <a:rPr sz="1150" b="0" i="0">
                <a:solidFill>
                  <a:srgbClr val="2A3550"/>
                </a:solidFill>
                <a:latin typeface="Arial"/>
              </a:rPr>
              <a:t>⊕ Redis REST | in-process</a:t>
            </a:r>
          </a:p>
        </p:txBody>
      </p:sp>
      <p:sp>
        <p:nvSpPr>
          <p:cNvPr id="42" name="Rounded Rectangle 41"/>
          <p:cNvSpPr/>
          <p:nvPr/>
        </p:nvSpPr>
        <p:spPr>
          <a:xfrm>
            <a:off x="8992895" y="3520440"/>
            <a:ext cx="2650159" cy="1874519"/>
          </a:xfrm>
          <a:prstGeom prst="roundRect">
            <a:avLst>
              <a:gd name="adj" fmla="val 58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221495" y="3703320"/>
            <a:ext cx="2238679" cy="1600199"/>
          </a:xfrm>
          <a:prstGeom prst="rect">
            <a:avLst/>
          </a:prstGeom>
          <a:noFill/>
        </p:spPr>
        <p:txBody>
          <a:bodyPr wrap="square" lIns="0" rIns="0" tIns="0" bIns="0" anchor="t">
            <a:spAutoFit/>
          </a:bodyPr>
          <a:lstStyle/>
          <a:p>
            <a:pPr algn="l">
              <a:lnSpc>
                <a:spcPct val="110000"/>
              </a:lnSpc>
              <a:spcAft>
                <a:spcPts val="200"/>
              </a:spcAft>
            </a:pPr>
            <a:r>
              <a:rPr sz="1050" b="1" i="0">
                <a:solidFill>
                  <a:srgbClr val="F2A65A"/>
                </a:solidFill>
                <a:latin typeface="Arial"/>
              </a:rPr>
              <a:t>Notation</a:t>
            </a:r>
          </a:p>
          <a:p>
            <a:pPr algn="l">
              <a:lnSpc>
                <a:spcPct val="110000"/>
              </a:lnSpc>
              <a:spcAft>
                <a:spcPts val="200"/>
              </a:spcAft>
            </a:pPr>
            <a:r>
              <a:rPr sz="1050" b="0" i="0">
                <a:solidFill>
                  <a:srgbClr val="DDE3EE"/>
                </a:solidFill>
                <a:latin typeface="Arial"/>
              </a:rPr>
              <a:t>● mandatory   ○ optional</a:t>
            </a:r>
          </a:p>
          <a:p>
            <a:pPr algn="l">
              <a:lnSpc>
                <a:spcPct val="110000"/>
              </a:lnSpc>
              <a:spcAft>
                <a:spcPts val="200"/>
              </a:spcAft>
            </a:pPr>
            <a:r>
              <a:rPr sz="1050" b="0" i="0">
                <a:solidFill>
                  <a:srgbClr val="DDE3EE"/>
                </a:solidFill>
                <a:latin typeface="Arial"/>
              </a:rPr>
              <a:t>⊕ exactly one   ⊗ one or more</a:t>
            </a:r>
          </a:p>
          <a:p>
            <a:pPr algn="l">
              <a:lnSpc>
                <a:spcPct val="110000"/>
              </a:lnSpc>
              <a:spcAft>
                <a:spcPts val="200"/>
              </a:spcAft>
            </a:pPr>
            <a:r>
              <a:rPr sz="1050" b="1" i="0">
                <a:solidFill>
                  <a:srgbClr val="F2A65A"/>
                </a:solidFill>
                <a:latin typeface="Arial"/>
              </a:rPr>
              <a:t>Constraints</a:t>
            </a:r>
          </a:p>
          <a:p>
            <a:pPr algn="l">
              <a:lnSpc>
                <a:spcPct val="110000"/>
              </a:lnSpc>
              <a:spcAft>
                <a:spcPts val="200"/>
              </a:spcAft>
            </a:pPr>
            <a:r>
              <a:rPr sz="1050" b="0" i="0">
                <a:solidFill>
                  <a:srgbClr val="DDE3EE"/>
                </a:solidFill>
                <a:latin typeface="Arial"/>
              </a:rPr>
              <a:t>Revision requires conflict detection; infeasible budget requires the floor; live providers require keys.</a:t>
            </a:r>
          </a:p>
        </p:txBody>
      </p:sp>
      <p:sp>
        <p:nvSpPr>
          <p:cNvPr id="44" name="TextBox 43"/>
          <p:cNvSpPr txBox="1"/>
          <p:nvPr/>
        </p:nvSpPr>
        <p:spPr>
          <a:xfrm>
            <a:off x="548640" y="5943600"/>
            <a:ext cx="11094415" cy="274320"/>
          </a:xfrm>
          <a:prstGeom prst="rect">
            <a:avLst/>
          </a:prstGeom>
          <a:noFill/>
        </p:spPr>
        <p:txBody>
          <a:bodyPr wrap="square" lIns="0" rIns="0" tIns="0" bIns="0" anchor="t">
            <a:spAutoFit/>
          </a:bodyPr>
          <a:lstStyle/>
          <a:p>
            <a:pPr algn="l">
              <a:lnSpc>
                <a:spcPct val="115000"/>
              </a:lnSpc>
              <a:spcAft>
                <a:spcPts val="0"/>
              </a:spcAft>
            </a:pPr>
            <a:r>
              <a:rPr sz="1200" b="1" i="0">
                <a:solidFill>
                  <a:srgbClr val="C2571A"/>
                </a:solidFill>
                <a:latin typeface="Arial"/>
              </a:rPr>
              <a:t>Non-functional:  </a:t>
            </a:r>
            <a:r>
              <a:rPr sz="1200" b="0" i="0">
                <a:solidFill>
                  <a:srgbClr val="2A3550"/>
                </a:solidFill>
                <a:latin typeface="Arial"/>
              </a:rPr>
              <a:t>schema checks at every boundary · money in integer cents · a provenance label on every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USE CASES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Ten use cases, one traveller, three external systems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08 / 24</a:t>
            </a:r>
          </a:p>
        </p:txBody>
      </p:sp>
      <p:sp>
        <p:nvSpPr>
          <p:cNvPr id="14" name="Rounded Rectangle 13"/>
          <p:cNvSpPr/>
          <p:nvPr/>
        </p:nvSpPr>
        <p:spPr>
          <a:xfrm>
            <a:off x="548640" y="1481328"/>
            <a:ext cx="3931920" cy="4754880"/>
          </a:xfrm>
          <a:prstGeom prst="roundRect">
            <a:avLst>
              <a:gd name="adj" fmla="val 279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use-case.png"/>
          <p:cNvPicPr>
            <a:picLocks noChangeAspect="1"/>
          </p:cNvPicPr>
          <p:nvPr/>
        </p:nvPicPr>
        <p:blipFill>
          <a:blip r:embed="rId3"/>
          <a:stretch>
            <a:fillRect/>
          </a:stretch>
        </p:blipFill>
        <p:spPr>
          <a:xfrm>
            <a:off x="715060" y="1609344"/>
            <a:ext cx="3599078" cy="4498848"/>
          </a:xfrm>
          <a:prstGeom prst="rect">
            <a:avLst/>
          </a:prstGeom>
        </p:spPr>
      </p:pic>
      <p:sp>
        <p:nvSpPr>
          <p:cNvPr id="16" name="TextBox 15"/>
          <p:cNvSpPr txBox="1"/>
          <p:nvPr/>
        </p:nvSpPr>
        <p:spPr>
          <a:xfrm>
            <a:off x="4754879"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WHO OWNS WHICH USE CASE</a:t>
            </a:r>
          </a:p>
        </p:txBody>
      </p:sp>
      <p:sp>
        <p:nvSpPr>
          <p:cNvPr id="17" name="Rounded Rectangle 16"/>
          <p:cNvSpPr/>
          <p:nvPr/>
        </p:nvSpPr>
        <p:spPr>
          <a:xfrm>
            <a:off x="4754879" y="184708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901183" y="1965960"/>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9" name="TextBox 18"/>
          <p:cNvSpPr txBox="1"/>
          <p:nvPr/>
        </p:nvSpPr>
        <p:spPr>
          <a:xfrm>
            <a:off x="5321807" y="184708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Generate Itinerary</a:t>
            </a:r>
          </a:p>
        </p:txBody>
      </p:sp>
      <p:sp>
        <p:nvSpPr>
          <p:cNvPr id="20" name="TextBox 19"/>
          <p:cNvSpPr txBox="1"/>
          <p:nvPr/>
        </p:nvSpPr>
        <p:spPr>
          <a:xfrm>
            <a:off x="9326880" y="1847088"/>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«include» three use cases</a:t>
            </a:r>
          </a:p>
        </p:txBody>
      </p:sp>
      <p:sp>
        <p:nvSpPr>
          <p:cNvPr id="21" name="Rounded Rectangle 20"/>
          <p:cNvSpPr/>
          <p:nvPr/>
        </p:nvSpPr>
        <p:spPr>
          <a:xfrm>
            <a:off x="4754879" y="246888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901183" y="2587752"/>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23" name="TextBox 22"/>
          <p:cNvSpPr txBox="1"/>
          <p:nvPr/>
        </p:nvSpPr>
        <p:spPr>
          <a:xfrm>
            <a:off x="5321807" y="246888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Transportation</a:t>
            </a:r>
          </a:p>
        </p:txBody>
      </p:sp>
      <p:sp>
        <p:nvSpPr>
          <p:cNvPr id="24" name="TextBox 23"/>
          <p:cNvSpPr txBox="1"/>
          <p:nvPr/>
        </p:nvSpPr>
        <p:spPr>
          <a:xfrm>
            <a:off x="9326880" y="2468880"/>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Maps / Routes API</a:t>
            </a:r>
          </a:p>
        </p:txBody>
      </p:sp>
      <p:sp>
        <p:nvSpPr>
          <p:cNvPr id="25" name="Rounded Rectangle 24"/>
          <p:cNvSpPr/>
          <p:nvPr/>
        </p:nvSpPr>
        <p:spPr>
          <a:xfrm>
            <a:off x="4754879" y="3090672"/>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901183" y="3209544"/>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7" name="TextBox 26"/>
          <p:cNvSpPr txBox="1"/>
          <p:nvPr/>
        </p:nvSpPr>
        <p:spPr>
          <a:xfrm>
            <a:off x="5321807" y="3090672"/>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Accommodation</a:t>
            </a:r>
          </a:p>
        </p:txBody>
      </p:sp>
      <p:sp>
        <p:nvSpPr>
          <p:cNvPr id="28" name="TextBox 27"/>
          <p:cNvSpPr txBox="1"/>
          <p:nvPr/>
        </p:nvSpPr>
        <p:spPr>
          <a:xfrm>
            <a:off x="9326880" y="3090672"/>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Hotel search</a:t>
            </a:r>
          </a:p>
        </p:txBody>
      </p:sp>
      <p:sp>
        <p:nvSpPr>
          <p:cNvPr id="29" name="Rounded Rectangle 28"/>
          <p:cNvSpPr/>
          <p:nvPr/>
        </p:nvSpPr>
        <p:spPr>
          <a:xfrm>
            <a:off x="4754879" y="3712464"/>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4901183" y="383133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31" name="TextBox 30"/>
          <p:cNvSpPr txBox="1"/>
          <p:nvPr/>
        </p:nvSpPr>
        <p:spPr>
          <a:xfrm>
            <a:off x="5321807" y="3712464"/>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Manage Budget</a:t>
            </a:r>
          </a:p>
        </p:txBody>
      </p:sp>
      <p:sp>
        <p:nvSpPr>
          <p:cNvPr id="32" name="TextBox 31"/>
          <p:cNvSpPr txBox="1"/>
          <p:nvPr/>
        </p:nvSpPr>
        <p:spPr>
          <a:xfrm>
            <a:off x="9326880" y="3712464"/>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«extend» Edit Itinerary</a:t>
            </a:r>
          </a:p>
        </p:txBody>
      </p:sp>
      <p:sp>
        <p:nvSpPr>
          <p:cNvPr id="33" name="Rounded Rectangle 32"/>
          <p:cNvSpPr/>
          <p:nvPr/>
        </p:nvSpPr>
        <p:spPr>
          <a:xfrm>
            <a:off x="4754879" y="4334256"/>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4901183" y="4453128"/>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5" name="TextBox 34"/>
          <p:cNvSpPr txBox="1"/>
          <p:nvPr/>
        </p:nvSpPr>
        <p:spPr>
          <a:xfrm>
            <a:off x="5321807" y="4334256"/>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Weather clothing advice</a:t>
            </a:r>
          </a:p>
        </p:txBody>
      </p:sp>
      <p:sp>
        <p:nvSpPr>
          <p:cNvPr id="36" name="TextBox 35"/>
          <p:cNvSpPr txBox="1"/>
          <p:nvPr/>
        </p:nvSpPr>
        <p:spPr>
          <a:xfrm>
            <a:off x="9326880" y="4334256"/>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Weather API</a:t>
            </a:r>
          </a:p>
        </p:txBody>
      </p:sp>
      <p:sp>
        <p:nvSpPr>
          <p:cNvPr id="37" name="Rounded Rectangle 36"/>
          <p:cNvSpPr/>
          <p:nvPr/>
        </p:nvSpPr>
        <p:spPr>
          <a:xfrm>
            <a:off x="4754879" y="495604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01183" y="5074920"/>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9" name="TextBox 38"/>
          <p:cNvSpPr txBox="1"/>
          <p:nvPr/>
        </p:nvSpPr>
        <p:spPr>
          <a:xfrm>
            <a:off x="5321807" y="495604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Food recommendation</a:t>
            </a:r>
          </a:p>
        </p:txBody>
      </p:sp>
      <p:sp>
        <p:nvSpPr>
          <p:cNvPr id="40" name="Rounded Rectangle 39"/>
          <p:cNvSpPr/>
          <p:nvPr/>
        </p:nvSpPr>
        <p:spPr>
          <a:xfrm>
            <a:off x="4754879" y="557784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4901183" y="5696712"/>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42" name="TextBox 41"/>
          <p:cNvSpPr txBox="1"/>
          <p:nvPr/>
        </p:nvSpPr>
        <p:spPr>
          <a:xfrm>
            <a:off x="5321807" y="557784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Set Preferences · Submit Requirement · Edit ·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09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6B4FA0"/>
                </a:solidFill>
                <a:latin typeface="Arial"/>
              </a:rPr>
              <a:t>Ad hoc requirement  </a:t>
            </a:r>
            <a:r>
              <a:rPr sz="1300" b="0" i="1">
                <a:solidFill>
                  <a:srgbClr val="5A6478"/>
                </a:solidFill>
                <a:latin typeface="Arial"/>
              </a:rPr>
              <a:t>[AH-B1, one line in the traveller's words]</a:t>
            </a:r>
            <a:r>
              <a:rPr sz="1300" b="1" i="0">
                <a:solidFill>
                  <a:srgbClr val="6B4FA0"/>
                </a:solidFill>
                <a:latin typeface="Arial"/>
              </a:rPr>
              <a:t>      Use case  </a:t>
            </a:r>
            <a:r>
              <a:rPr sz="1300" b="0" i="1">
                <a:solidFill>
                  <a:srgbClr val="5A6478"/>
                </a:solidFill>
                <a:latin typeface="Arial"/>
              </a:rPr>
              <a:t>[UC-Bx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ACCOMMODATION AND BUDGET</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From one ad hoc requirement to two use cases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10 / 24</a:t>
            </a:r>
          </a:p>
        </p:txBody>
      </p:sp>
      <p:sp>
        <p:nvSpPr>
          <p:cNvPr id="14" name="Rounded Rectangle 13"/>
          <p:cNvSpPr/>
          <p:nvPr/>
        </p:nvSpPr>
        <p:spPr>
          <a:xfrm>
            <a:off x="548640" y="1481328"/>
            <a:ext cx="11094415" cy="1783080"/>
          </a:xfrm>
          <a:prstGeom prst="roundRect">
            <a:avLst>
              <a:gd name="adj" fmla="val 61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quote-F2A65A.png"/>
          <p:cNvPicPr>
            <a:picLocks noChangeAspect="1"/>
          </p:cNvPicPr>
          <p:nvPr/>
        </p:nvPicPr>
        <p:blipFill>
          <a:blip r:embed="rId3"/>
          <a:stretch>
            <a:fillRect/>
          </a:stretch>
        </p:blipFill>
        <p:spPr>
          <a:xfrm>
            <a:off x="868680" y="1755648"/>
            <a:ext cx="502920" cy="502920"/>
          </a:xfrm>
          <a:prstGeom prst="rect">
            <a:avLst/>
          </a:prstGeom>
        </p:spPr>
      </p:pic>
      <p:sp>
        <p:nvSpPr>
          <p:cNvPr id="16" name="TextBox 15"/>
          <p:cNvSpPr txBox="1"/>
          <p:nvPr/>
        </p:nvSpPr>
        <p:spPr>
          <a:xfrm>
            <a:off x="1645919" y="1709928"/>
            <a:ext cx="9631375" cy="1188720"/>
          </a:xfrm>
          <a:prstGeom prst="rect">
            <a:avLst/>
          </a:prstGeom>
          <a:noFill/>
        </p:spPr>
        <p:txBody>
          <a:bodyPr wrap="square" lIns="0" rIns="0" tIns="0" bIns="0" anchor="t">
            <a:spAutoFit/>
          </a:bodyPr>
          <a:lstStyle/>
          <a:p>
            <a:pPr algn="l">
              <a:lnSpc>
                <a:spcPct val="120000"/>
              </a:lnSpc>
              <a:spcAft>
                <a:spcPts val="0"/>
              </a:spcAft>
            </a:pPr>
            <a:r>
              <a:rPr sz="1650" b="0" i="1">
                <a:solidFill>
                  <a:srgbClr val="FFFFFF"/>
                </a:solidFill>
                <a:latin typeface="Georgia"/>
              </a:rPr>
              <a:t>Flights get paid first, so the hotel has to fit in whatever money is left. If the trip ends up over budget, swap the hotel for a cheaper one that still meets my rules. If no hotel can ever fit, tell me the minimum I'd need.</a:t>
            </a:r>
          </a:p>
        </p:txBody>
      </p:sp>
      <p:sp>
        <p:nvSpPr>
          <p:cNvPr id="17" name="TextBox 16"/>
          <p:cNvSpPr txBox="1"/>
          <p:nvPr/>
        </p:nvSpPr>
        <p:spPr>
          <a:xfrm>
            <a:off x="1645919" y="2898648"/>
            <a:ext cx="54864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AH-C1, in the traveller's words</a:t>
            </a:r>
          </a:p>
        </p:txBody>
      </p:sp>
      <p:sp>
        <p:nvSpPr>
          <p:cNvPr id="18" name="Rounded Rectangle 17"/>
          <p:cNvSpPr/>
          <p:nvPr/>
        </p:nvSpPr>
        <p:spPr>
          <a:xfrm>
            <a:off x="548640"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48640"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68680"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ed-double-C2571A.png"/>
          <p:cNvPicPr>
            <a:picLocks noChangeAspect="1"/>
          </p:cNvPicPr>
          <p:nvPr/>
        </p:nvPicPr>
        <p:blipFill>
          <a:blip r:embed="rId4"/>
          <a:stretch>
            <a:fillRect/>
          </a:stretch>
        </p:blipFill>
        <p:spPr>
          <a:xfrm>
            <a:off x="987552" y="3931920"/>
            <a:ext cx="329184" cy="329184"/>
          </a:xfrm>
          <a:prstGeom prst="rect">
            <a:avLst/>
          </a:prstGeom>
        </p:spPr>
      </p:pic>
      <p:sp>
        <p:nvSpPr>
          <p:cNvPr id="22" name="TextBox 21"/>
          <p:cNvSpPr txBox="1"/>
          <p:nvPr/>
        </p:nvSpPr>
        <p:spPr>
          <a:xfrm>
            <a:off x="1600200"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UC-C1  Arrange Accommodation</a:t>
            </a:r>
          </a:p>
        </p:txBody>
      </p:sp>
      <p:pic>
        <p:nvPicPr>
          <p:cNvPr id="23" name="Picture 22" descr="check-C2571A.png"/>
          <p:cNvPicPr>
            <a:picLocks noChangeAspect="1"/>
          </p:cNvPicPr>
          <p:nvPr/>
        </p:nvPicPr>
        <p:blipFill>
          <a:blip r:embed="rId5"/>
          <a:stretch>
            <a:fillRect/>
          </a:stretch>
        </p:blipFill>
        <p:spPr>
          <a:xfrm>
            <a:off x="914400" y="4581144"/>
            <a:ext cx="219456" cy="219456"/>
          </a:xfrm>
          <a:prstGeom prst="rect">
            <a:avLst/>
          </a:prstGeom>
        </p:spPr>
      </p:pic>
      <p:sp>
        <p:nvSpPr>
          <p:cNvPr id="24" name="TextBox 23"/>
          <p:cNvSpPr txBox="1"/>
          <p:nvPr/>
        </p:nvSpPr>
        <p:spPr>
          <a:xfrm>
            <a:off x="1280160"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party size</a:t>
            </a:r>
          </a:p>
        </p:txBody>
      </p:sp>
      <p:pic>
        <p:nvPicPr>
          <p:cNvPr id="25" name="Picture 24" descr="check-C2571A.png"/>
          <p:cNvPicPr>
            <a:picLocks noChangeAspect="1"/>
          </p:cNvPicPr>
          <p:nvPr/>
        </p:nvPicPr>
        <p:blipFill>
          <a:blip r:embed="rId5"/>
          <a:stretch>
            <a:fillRect/>
          </a:stretch>
        </p:blipFill>
        <p:spPr>
          <a:xfrm>
            <a:off x="914400" y="4992624"/>
            <a:ext cx="219456" cy="219456"/>
          </a:xfrm>
          <a:prstGeom prst="rect">
            <a:avLst/>
          </a:prstGeom>
        </p:spPr>
      </p:pic>
      <p:sp>
        <p:nvSpPr>
          <p:cNvPr id="26" name="TextBox 25"/>
          <p:cNvSpPr txBox="1"/>
          <p:nvPr/>
        </p:nvSpPr>
        <p:spPr>
          <a:xfrm>
            <a:off x="1280160"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Filter by rating and free cancellation</a:t>
            </a:r>
          </a:p>
        </p:txBody>
      </p:sp>
      <p:pic>
        <p:nvPicPr>
          <p:cNvPr id="27" name="Picture 26" descr="check-C2571A.png"/>
          <p:cNvPicPr>
            <a:picLocks noChangeAspect="1"/>
          </p:cNvPicPr>
          <p:nvPr/>
        </p:nvPicPr>
        <p:blipFill>
          <a:blip r:embed="rId5"/>
          <a:stretch>
            <a:fillRect/>
          </a:stretch>
        </p:blipFill>
        <p:spPr>
          <a:xfrm>
            <a:off x="914400" y="5404104"/>
            <a:ext cx="219456" cy="219456"/>
          </a:xfrm>
          <a:prstGeom prst="rect">
            <a:avLst/>
          </a:prstGeom>
        </p:spPr>
      </p:pic>
      <p:sp>
        <p:nvSpPr>
          <p:cNvPr id="28" name="TextBox 27"/>
          <p:cNvSpPr txBox="1"/>
          <p:nvPr/>
        </p:nvSpPr>
        <p:spPr>
          <a:xfrm>
            <a:off x="1280160"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LLM picks one candidate id</a:t>
            </a:r>
          </a:p>
        </p:txBody>
      </p:sp>
      <p:pic>
        <p:nvPicPr>
          <p:cNvPr id="29" name="Picture 28" descr="check-C2571A.png"/>
          <p:cNvPicPr>
            <a:picLocks noChangeAspect="1"/>
          </p:cNvPicPr>
          <p:nvPr/>
        </p:nvPicPr>
        <p:blipFill>
          <a:blip r:embed="rId5"/>
          <a:stretch>
            <a:fillRect/>
          </a:stretch>
        </p:blipFill>
        <p:spPr>
          <a:xfrm>
            <a:off x="914400" y="5815584"/>
            <a:ext cx="219456" cy="219456"/>
          </a:xfrm>
          <a:prstGeom prst="rect">
            <a:avLst/>
          </a:prstGeom>
        </p:spPr>
      </p:pic>
      <p:sp>
        <p:nvSpPr>
          <p:cNvPr id="30" name="TextBox 29"/>
          <p:cNvSpPr txBox="1"/>
          <p:nvPr/>
        </p:nvSpPr>
        <p:spPr>
          <a:xfrm>
            <a:off x="1280160"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Code validates and prices it in cents</a:t>
            </a:r>
          </a:p>
        </p:txBody>
      </p:sp>
      <p:sp>
        <p:nvSpPr>
          <p:cNvPr id="31" name="Rounded Rectangle 30"/>
          <p:cNvSpPr/>
          <p:nvPr/>
        </p:nvSpPr>
        <p:spPr>
          <a:xfrm>
            <a:off x="6233007"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233007"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553047"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wallet-C2571A.png"/>
          <p:cNvPicPr>
            <a:picLocks noChangeAspect="1"/>
          </p:cNvPicPr>
          <p:nvPr/>
        </p:nvPicPr>
        <p:blipFill>
          <a:blip r:embed="rId6"/>
          <a:stretch>
            <a:fillRect/>
          </a:stretch>
        </p:blipFill>
        <p:spPr>
          <a:xfrm>
            <a:off x="6671919" y="3931920"/>
            <a:ext cx="329184" cy="329184"/>
          </a:xfrm>
          <a:prstGeom prst="rect">
            <a:avLst/>
          </a:prstGeom>
        </p:spPr>
      </p:pic>
      <p:sp>
        <p:nvSpPr>
          <p:cNvPr id="35" name="TextBox 34"/>
          <p:cNvSpPr txBox="1"/>
          <p:nvPr/>
        </p:nvSpPr>
        <p:spPr>
          <a:xfrm>
            <a:off x="7284567"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UC-C2  Manage Budget</a:t>
            </a:r>
          </a:p>
        </p:txBody>
      </p:sp>
      <p:pic>
        <p:nvPicPr>
          <p:cNvPr id="36" name="Picture 35" descr="check-C2571A.png"/>
          <p:cNvPicPr>
            <a:picLocks noChangeAspect="1"/>
          </p:cNvPicPr>
          <p:nvPr/>
        </p:nvPicPr>
        <p:blipFill>
          <a:blip r:embed="rId5"/>
          <a:stretch>
            <a:fillRect/>
          </a:stretch>
        </p:blipFill>
        <p:spPr>
          <a:xfrm>
            <a:off x="6598767" y="4581144"/>
            <a:ext cx="219456" cy="219456"/>
          </a:xfrm>
          <a:prstGeom prst="rect">
            <a:avLst/>
          </a:prstGeom>
        </p:spPr>
      </p:pic>
      <p:sp>
        <p:nvSpPr>
          <p:cNvPr id="37" name="TextBox 36"/>
          <p:cNvSpPr txBox="1"/>
          <p:nvPr/>
        </p:nvSpPr>
        <p:spPr>
          <a:xfrm>
            <a:off x="6964527"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Roll up costs in AUD</a:t>
            </a:r>
          </a:p>
        </p:txBody>
      </p:sp>
      <p:pic>
        <p:nvPicPr>
          <p:cNvPr id="38" name="Picture 37" descr="check-C2571A.png"/>
          <p:cNvPicPr>
            <a:picLocks noChangeAspect="1"/>
          </p:cNvPicPr>
          <p:nvPr/>
        </p:nvPicPr>
        <p:blipFill>
          <a:blip r:embed="rId5"/>
          <a:stretch>
            <a:fillRect/>
          </a:stretch>
        </p:blipFill>
        <p:spPr>
          <a:xfrm>
            <a:off x="6598767" y="4992624"/>
            <a:ext cx="219456" cy="219456"/>
          </a:xfrm>
          <a:prstGeom prst="rect">
            <a:avLst/>
          </a:prstGeom>
        </p:spPr>
      </p:pic>
      <p:sp>
        <p:nvSpPr>
          <p:cNvPr id="39" name="TextBox 38"/>
          <p:cNvSpPr txBox="1"/>
          <p:nvPr/>
        </p:nvSpPr>
        <p:spPr>
          <a:xfrm>
            <a:off x="6964527"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Spread an overrun over what each section can still cut</a:t>
            </a:r>
          </a:p>
        </p:txBody>
      </p:sp>
      <p:pic>
        <p:nvPicPr>
          <p:cNvPr id="40" name="Picture 39" descr="check-C2571A.png"/>
          <p:cNvPicPr>
            <a:picLocks noChangeAspect="1"/>
          </p:cNvPicPr>
          <p:nvPr/>
        </p:nvPicPr>
        <p:blipFill>
          <a:blip r:embed="rId5"/>
          <a:stretch>
            <a:fillRect/>
          </a:stretch>
        </p:blipFill>
        <p:spPr>
          <a:xfrm>
            <a:off x="6598767" y="5404104"/>
            <a:ext cx="219456" cy="219456"/>
          </a:xfrm>
          <a:prstGeom prst="rect">
            <a:avLst/>
          </a:prstGeom>
        </p:spPr>
      </p:pic>
      <p:sp>
        <p:nvSpPr>
          <p:cNvPr id="41" name="TextBox 40"/>
          <p:cNvSpPr txBox="1"/>
          <p:nvPr/>
        </p:nvSpPr>
        <p:spPr>
          <a:xfrm>
            <a:off x="6964527"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Revise only the sections asked to save</a:t>
            </a:r>
          </a:p>
        </p:txBody>
      </p:sp>
      <p:pic>
        <p:nvPicPr>
          <p:cNvPr id="42" name="Picture 41" descr="check-C2571A.png"/>
          <p:cNvPicPr>
            <a:picLocks noChangeAspect="1"/>
          </p:cNvPicPr>
          <p:nvPr/>
        </p:nvPicPr>
        <p:blipFill>
          <a:blip r:embed="rId5"/>
          <a:stretch>
            <a:fillRect/>
          </a:stretch>
        </p:blipFill>
        <p:spPr>
          <a:xfrm>
            <a:off x="6598767" y="5815584"/>
            <a:ext cx="219456" cy="219456"/>
          </a:xfrm>
          <a:prstGeom prst="rect">
            <a:avLst/>
          </a:prstGeom>
        </p:spPr>
      </p:pic>
      <p:sp>
        <p:nvSpPr>
          <p:cNvPr id="43" name="TextBox 42"/>
          <p:cNvSpPr txBox="1"/>
          <p:nvPr/>
        </p:nvSpPr>
        <p:spPr>
          <a:xfrm>
            <a:off x="6964527"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Report the minimum budget when nothing fits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Object diagram: a Tokyo trip that is AUD 640 over budget</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11 / 24</a:t>
            </a:r>
          </a:p>
        </p:txBody>
      </p:sp>
      <p:sp>
        <p:nvSpPr>
          <p:cNvPr id="14" name="Rounded Rectangle 13"/>
          <p:cNvSpPr/>
          <p:nvPr/>
        </p:nvSpPr>
        <p:spPr>
          <a:xfrm>
            <a:off x="548640" y="1481328"/>
            <a:ext cx="11094415" cy="3383280"/>
          </a:xfrm>
          <a:prstGeom prst="roundRect">
            <a:avLst>
              <a:gd name="adj" fmla="val 32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object.png"/>
          <p:cNvPicPr>
            <a:picLocks noChangeAspect="1"/>
          </p:cNvPicPr>
          <p:nvPr/>
        </p:nvPicPr>
        <p:blipFill>
          <a:blip r:embed="rId3"/>
          <a:stretch>
            <a:fillRect/>
          </a:stretch>
        </p:blipFill>
        <p:spPr>
          <a:xfrm>
            <a:off x="1735143" y="1609344"/>
            <a:ext cx="8721408" cy="3127248"/>
          </a:xfrm>
          <a:prstGeom prst="rect">
            <a:avLst/>
          </a:prstGeom>
        </p:spPr>
      </p:pic>
      <p:sp>
        <p:nvSpPr>
          <p:cNvPr id="16" name="Oval 15"/>
          <p:cNvSpPr/>
          <p:nvPr/>
        </p:nvSpPr>
        <p:spPr>
          <a:xfrm>
            <a:off x="4127191" y="347362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1632868" y="319217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9316429" y="1534728"/>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Rounded Rectangle 18"/>
          <p:cNvSpPr/>
          <p:nvPr/>
        </p:nvSpPr>
        <p:spPr>
          <a:xfrm>
            <a:off x="548640"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49808"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1115568"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Budget vs total</a:t>
            </a:r>
          </a:p>
        </p:txBody>
      </p:sp>
      <p:sp>
        <p:nvSpPr>
          <p:cNvPr id="22" name="TextBox 21"/>
          <p:cNvSpPr txBox="1"/>
          <p:nvPr/>
        </p:nvSpPr>
        <p:spPr>
          <a:xfrm>
            <a:off x="749808"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2,300 vs 2,940</a:t>
            </a:r>
          </a:p>
        </p:txBody>
      </p:sp>
      <p:sp>
        <p:nvSpPr>
          <p:cNvPr id="23" name="TextBox 22"/>
          <p:cNvSpPr txBox="1"/>
          <p:nvPr/>
        </p:nvSpPr>
        <p:spPr>
          <a:xfrm>
            <a:off x="749808"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 by AUD 640</a:t>
            </a:r>
          </a:p>
        </p:txBody>
      </p:sp>
      <p:sp>
        <p:nvSpPr>
          <p:cNvPr id="24" name="Rounded Rectangle 23"/>
          <p:cNvSpPr/>
          <p:nvPr/>
        </p:nvSpPr>
        <p:spPr>
          <a:xfrm>
            <a:off x="4307738"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08906"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6" name="TextBox 25"/>
          <p:cNvSpPr txBox="1"/>
          <p:nvPr/>
        </p:nvSpPr>
        <p:spPr>
          <a:xfrm>
            <a:off x="4874666"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Accommodation asked to save</a:t>
            </a:r>
          </a:p>
        </p:txBody>
      </p:sp>
      <p:sp>
        <p:nvSpPr>
          <p:cNvPr id="27" name="TextBox 26"/>
          <p:cNvSpPr txBox="1"/>
          <p:nvPr/>
        </p:nvSpPr>
        <p:spPr>
          <a:xfrm>
            <a:off x="4508906"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379.26</a:t>
            </a:r>
          </a:p>
        </p:txBody>
      </p:sp>
      <p:sp>
        <p:nvSpPr>
          <p:cNvPr id="28" name="TextBox 27"/>
          <p:cNvSpPr txBox="1"/>
          <p:nvPr/>
        </p:nvSpPr>
        <p:spPr>
          <a:xfrm>
            <a:off x="4508906"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overrun spread by room to cut</a:t>
            </a:r>
          </a:p>
        </p:txBody>
      </p:sp>
      <p:sp>
        <p:nvSpPr>
          <p:cNvPr id="29" name="Rounded Rectangle 28"/>
          <p:cNvSpPr/>
          <p:nvPr/>
        </p:nvSpPr>
        <p:spPr>
          <a:xfrm>
            <a:off x="8066836"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31" name="TextBox 30"/>
          <p:cNvSpPr txBox="1"/>
          <p:nvPr/>
        </p:nvSpPr>
        <p:spPr>
          <a:xfrm>
            <a:off x="8633764"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Hotel moves</a:t>
            </a:r>
          </a:p>
        </p:txBody>
      </p:sp>
      <p:sp>
        <p:nvSpPr>
          <p:cNvPr id="32" name="TextBox 31"/>
          <p:cNvSpPr txBox="1"/>
          <p:nvPr/>
        </p:nvSpPr>
        <p:spPr>
          <a:xfrm>
            <a:off x="8268004"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standard → saver</a:t>
            </a:r>
          </a:p>
        </p:txBody>
      </p:sp>
      <p:sp>
        <p:nvSpPr>
          <p:cNvPr id="33" name="TextBox 32"/>
          <p:cNvSpPr txBox="1"/>
          <p:nvPr/>
        </p:nvSpPr>
        <p:spPr>
          <a:xfrm>
            <a:off x="8268004"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AUD 1,520 → AUD 880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Collaboration and structured class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12 / 24</a:t>
            </a:r>
          </a:p>
        </p:txBody>
      </p:sp>
      <p:sp>
        <p:nvSpPr>
          <p:cNvPr id="14" name="TextBox 13"/>
          <p:cNvSpPr txBox="1"/>
          <p:nvPr/>
        </p:nvSpPr>
        <p:spPr>
          <a:xfrm>
            <a:off x="548640" y="148132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COLLABORATION  ·  NEGOTIATE TRIP PLAN</a:t>
            </a:r>
          </a:p>
        </p:txBody>
      </p:sp>
      <p:sp>
        <p:nvSpPr>
          <p:cNvPr id="15" name="Rounded Rectangle 14"/>
          <p:cNvSpPr/>
          <p:nvPr/>
        </p:nvSpPr>
        <p:spPr>
          <a:xfrm>
            <a:off x="548640" y="1801368"/>
            <a:ext cx="7863840" cy="1828800"/>
          </a:xfrm>
          <a:prstGeom prst="roundRect">
            <a:avLst>
              <a:gd name="adj" fmla="val 6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llaboration.png"/>
          <p:cNvPicPr>
            <a:picLocks noChangeAspect="1"/>
          </p:cNvPicPr>
          <p:nvPr/>
        </p:nvPicPr>
        <p:blipFill>
          <a:blip r:embed="rId3"/>
          <a:stretch>
            <a:fillRect/>
          </a:stretch>
        </p:blipFill>
        <p:spPr>
          <a:xfrm>
            <a:off x="855079" y="1929384"/>
            <a:ext cx="7250961" cy="1572768"/>
          </a:xfrm>
          <a:prstGeom prst="rect">
            <a:avLst/>
          </a:prstGeom>
        </p:spPr>
      </p:pic>
      <p:sp>
        <p:nvSpPr>
          <p:cNvPr id="17" name="Oval 16"/>
          <p:cNvSpPr/>
          <p:nvPr/>
        </p:nvSpPr>
        <p:spPr>
          <a:xfrm>
            <a:off x="3292010" y="242133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8" name="TextBox 17"/>
          <p:cNvSpPr txBox="1"/>
          <p:nvPr/>
        </p:nvSpPr>
        <p:spPr>
          <a:xfrm>
            <a:off x="548640" y="385876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STRUCTURED CLASS  ·  TRIPPLANNINGWORKFLOW</a:t>
            </a:r>
          </a:p>
        </p:txBody>
      </p:sp>
      <p:sp>
        <p:nvSpPr>
          <p:cNvPr id="19" name="Rounded Rectangle 18"/>
          <p:cNvSpPr/>
          <p:nvPr/>
        </p:nvSpPr>
        <p:spPr>
          <a:xfrm>
            <a:off x="548640" y="4178808"/>
            <a:ext cx="7863840" cy="2057400"/>
          </a:xfrm>
          <a:prstGeom prst="roundRect">
            <a:avLst>
              <a:gd name="adj" fmla="val 533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tructured-class.png"/>
          <p:cNvPicPr>
            <a:picLocks noChangeAspect="1"/>
          </p:cNvPicPr>
          <p:nvPr/>
        </p:nvPicPr>
        <p:blipFill>
          <a:blip r:embed="rId4"/>
          <a:stretch>
            <a:fillRect/>
          </a:stretch>
        </p:blipFill>
        <p:spPr>
          <a:xfrm>
            <a:off x="2020954" y="4306824"/>
            <a:ext cx="4919210" cy="1801368"/>
          </a:xfrm>
          <a:prstGeom prst="rect">
            <a:avLst/>
          </a:prstGeom>
        </p:spPr>
      </p:pic>
      <p:sp>
        <p:nvSpPr>
          <p:cNvPr id="21" name="Oval 20"/>
          <p:cNvSpPr/>
          <p:nvPr/>
        </p:nvSpPr>
        <p:spPr>
          <a:xfrm>
            <a:off x="4195823" y="44758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Oval 21"/>
          <p:cNvSpPr/>
          <p:nvPr/>
        </p:nvSpPr>
        <p:spPr>
          <a:xfrm>
            <a:off x="5991335" y="420569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3" name="Oval 22"/>
          <p:cNvSpPr/>
          <p:nvPr/>
        </p:nvSpPr>
        <p:spPr>
          <a:xfrm>
            <a:off x="868680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4" name="TextBox 23"/>
          <p:cNvSpPr txBox="1"/>
          <p:nvPr/>
        </p:nvSpPr>
        <p:spPr>
          <a:xfrm>
            <a:off x="9070848" y="157276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Roles, not classes</a:t>
            </a:r>
          </a:p>
          <a:p>
            <a:pPr algn="l">
              <a:lnSpc>
                <a:spcPct val="115000"/>
              </a:lnSpc>
              <a:spcAft>
                <a:spcPts val="200"/>
              </a:spcAft>
            </a:pPr>
            <a:r>
              <a:rPr sz="1300" b="0" i="0">
                <a:solidFill>
                  <a:srgbClr val="2A3550"/>
                </a:solidFill>
                <a:latin typeface="Arial"/>
              </a:rPr>
              <a:t>My budget code plays the judge: it turns proposals into targeted revision requests.</a:t>
            </a:r>
          </a:p>
        </p:txBody>
      </p:sp>
      <p:sp>
        <p:nvSpPr>
          <p:cNvPr id="25" name="Oval 24"/>
          <p:cNvSpPr/>
          <p:nvPr/>
        </p:nvSpPr>
        <p:spPr>
          <a:xfrm>
            <a:off x="8686800" y="309067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6" name="TextBox 25"/>
          <p:cNvSpPr txBox="1"/>
          <p:nvPr/>
        </p:nvSpPr>
        <p:spPr>
          <a:xfrm>
            <a:off x="9070848" y="308152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Parts with multiplicity</a:t>
            </a:r>
          </a:p>
          <a:p>
            <a:pPr algn="l">
              <a:lnSpc>
                <a:spcPct val="115000"/>
              </a:lnSpc>
              <a:spcAft>
                <a:spcPts val="200"/>
              </a:spcAft>
            </a:pPr>
            <a:r>
              <a:rPr sz="1300" b="0" i="0">
                <a:solidFill>
                  <a:srgbClr val="2A3550"/>
                </a:solidFill>
                <a:latin typeface="Arial"/>
              </a:rPr>
              <a:t>The policy and budget calculator are parts of the workflow, one of each.</a:t>
            </a:r>
          </a:p>
        </p:txBody>
      </p:sp>
      <p:sp>
        <p:nvSpPr>
          <p:cNvPr id="27" name="Oval 26"/>
          <p:cNvSpPr/>
          <p:nvPr/>
        </p:nvSpPr>
        <p:spPr>
          <a:xfrm>
            <a:off x="8686800" y="45994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8" name="TextBox 27"/>
          <p:cNvSpPr txBox="1"/>
          <p:nvPr/>
        </p:nvSpPr>
        <p:spPr>
          <a:xfrm>
            <a:off x="9070848" y="459028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Injected ports</a:t>
            </a:r>
          </a:p>
          <a:p>
            <a:pPr algn="l">
              <a:lnSpc>
                <a:spcPct val="115000"/>
              </a:lnSpc>
              <a:spcAft>
                <a:spcPts val="200"/>
              </a:spcAft>
            </a:pPr>
            <a:r>
              <a:rPr sz="1300" b="0" i="0">
                <a:solidFill>
                  <a:srgbClr val="2A3550"/>
                </a:solidFill>
                <a:latin typeface="Arial"/>
              </a:rPr>
              <a:t>Plan, progress, tools, memory and model enter only through ports, so tests swap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ACTIVITY DIAGRAM · UC-C1</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chooses once; code checks before any price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13 / 24</a:t>
            </a:r>
          </a:p>
        </p:txBody>
      </p:sp>
      <p:sp>
        <p:nvSpPr>
          <p:cNvPr id="14" name="Rounded Rectangle 13"/>
          <p:cNvSpPr/>
          <p:nvPr/>
        </p:nvSpPr>
        <p:spPr>
          <a:xfrm>
            <a:off x="548640" y="1481328"/>
            <a:ext cx="11094415" cy="3703320"/>
          </a:xfrm>
          <a:prstGeom prst="roundRect">
            <a:avLst>
              <a:gd name="adj" fmla="val 296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activity.png"/>
          <p:cNvPicPr>
            <a:picLocks noChangeAspect="1"/>
          </p:cNvPicPr>
          <p:nvPr/>
        </p:nvPicPr>
        <p:blipFill>
          <a:blip r:embed="rId3"/>
          <a:stretch>
            <a:fillRect/>
          </a:stretch>
        </p:blipFill>
        <p:spPr>
          <a:xfrm>
            <a:off x="838545" y="1609344"/>
            <a:ext cx="10514603" cy="3447287"/>
          </a:xfrm>
          <a:prstGeom prst="rect">
            <a:avLst/>
          </a:prstGeom>
        </p:spPr>
      </p:pic>
      <p:sp>
        <p:nvSpPr>
          <p:cNvPr id="16" name="Oval 15"/>
          <p:cNvSpPr/>
          <p:nvPr/>
        </p:nvSpPr>
        <p:spPr>
          <a:xfrm>
            <a:off x="9113068" y="388528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3960912" y="257531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2068284" y="1747967"/>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7746170" y="26097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0" name="Oval 19"/>
          <p:cNvSpPr/>
          <p:nvPr/>
        </p:nvSpPr>
        <p:spPr>
          <a:xfrm>
            <a:off x="548640"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932688"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LLM, once</a:t>
            </a:r>
          </a:p>
          <a:p>
            <a:pPr algn="l">
              <a:lnSpc>
                <a:spcPct val="115000"/>
              </a:lnSpc>
              <a:spcAft>
                <a:spcPts val="200"/>
              </a:spcAft>
            </a:pPr>
            <a:r>
              <a:rPr sz="1250" b="0" i="0">
                <a:solidFill>
                  <a:srgbClr val="2A3550"/>
                </a:solidFill>
                <a:latin typeface="Arial"/>
              </a:rPr>
              <a:t>Chooses one candidate id per stay.</a:t>
            </a:r>
          </a:p>
        </p:txBody>
      </p:sp>
      <p:sp>
        <p:nvSpPr>
          <p:cNvPr id="22" name="Oval 21"/>
          <p:cNvSpPr/>
          <p:nvPr/>
        </p:nvSpPr>
        <p:spPr>
          <a:xfrm>
            <a:off x="3367963"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3752011"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Guarded</a:t>
            </a:r>
          </a:p>
          <a:p>
            <a:pPr algn="l">
              <a:lnSpc>
                <a:spcPct val="115000"/>
              </a:lnSpc>
              <a:spcAft>
                <a:spcPts val="200"/>
              </a:spcAft>
            </a:pPr>
            <a:r>
              <a:rPr sz="1250" b="0" i="0">
                <a:solidFill>
                  <a:srgbClr val="2A3550"/>
                </a:solidFill>
                <a:latin typeface="Arial"/>
              </a:rPr>
              <a:t>Unknown id or off-schema output falls back to a deterministic pick.</a:t>
            </a:r>
          </a:p>
        </p:txBody>
      </p:sp>
      <p:sp>
        <p:nvSpPr>
          <p:cNvPr id="24" name="Oval 23"/>
          <p:cNvSpPr/>
          <p:nvPr/>
        </p:nvSpPr>
        <p:spPr>
          <a:xfrm>
            <a:off x="6187287"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6571335"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Booked stay</a:t>
            </a:r>
          </a:p>
          <a:p>
            <a:pPr algn="l">
              <a:lnSpc>
                <a:spcPct val="115000"/>
              </a:lnSpc>
              <a:spcAft>
                <a:spcPts val="200"/>
              </a:spcAft>
            </a:pPr>
            <a:r>
              <a:rPr sz="1250" b="0" i="0">
                <a:solidFill>
                  <a:srgbClr val="2A3550"/>
                </a:solidFill>
                <a:latin typeface="Arial"/>
              </a:rPr>
              <a:t>Skips the search entirely.</a:t>
            </a:r>
          </a:p>
        </p:txBody>
      </p:sp>
      <p:sp>
        <p:nvSpPr>
          <p:cNvPr id="26" name="Oval 25"/>
          <p:cNvSpPr/>
          <p:nvPr/>
        </p:nvSpPr>
        <p:spPr>
          <a:xfrm>
            <a:off x="9006611"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7" name="TextBox 26"/>
          <p:cNvSpPr txBox="1"/>
          <p:nvPr/>
        </p:nvSpPr>
        <p:spPr>
          <a:xfrm>
            <a:off x="9390659"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Priced in cents</a:t>
            </a:r>
          </a:p>
          <a:p>
            <a:pPr algn="l">
              <a:lnSpc>
                <a:spcPct val="115000"/>
              </a:lnSpc>
              <a:spcAft>
                <a:spcPts val="200"/>
              </a:spcAft>
            </a:pPr>
            <a:r>
              <a:rPr sz="1250" b="0" i="0">
                <a:solidFill>
                  <a:srgbClr val="2A3550"/>
                </a:solidFill>
                <a:latin typeface="Arial"/>
              </a:rPr>
              <a:t>Plus the cheapest eligible total as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SEQUENCE DIAGRAM · UC-C2</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Budget overrun and a targeted revision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14 / 24</a:t>
            </a:r>
          </a:p>
        </p:txBody>
      </p:sp>
      <p:sp>
        <p:nvSpPr>
          <p:cNvPr id="14" name="Rounded Rectangle 13"/>
          <p:cNvSpPr/>
          <p:nvPr/>
        </p:nvSpPr>
        <p:spPr>
          <a:xfrm>
            <a:off x="548640" y="1481328"/>
            <a:ext cx="7223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sequence.png"/>
          <p:cNvPicPr>
            <a:picLocks noChangeAspect="1"/>
          </p:cNvPicPr>
          <p:nvPr/>
        </p:nvPicPr>
        <p:blipFill>
          <a:blip r:embed="rId3"/>
          <a:stretch>
            <a:fillRect/>
          </a:stretch>
        </p:blipFill>
        <p:spPr>
          <a:xfrm>
            <a:off x="1223752" y="1609344"/>
            <a:ext cx="5873534" cy="4498848"/>
          </a:xfrm>
          <a:prstGeom prst="rect">
            <a:avLst/>
          </a:prstGeom>
        </p:spPr>
      </p:pic>
      <p:sp>
        <p:nvSpPr>
          <p:cNvPr id="16" name="Oval 15"/>
          <p:cNvSpPr/>
          <p:nvPr/>
        </p:nvSpPr>
        <p:spPr>
          <a:xfrm>
            <a:off x="6255303" y="333920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4610713" y="38565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4728184" y="426146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3024859" y="49362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0" name="Oval 19"/>
          <p:cNvSpPr/>
          <p:nvPr/>
        </p:nvSpPr>
        <p:spPr>
          <a:xfrm>
            <a:off x="8046719"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8430767" y="1572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1</a:t>
            </a:r>
          </a:p>
          <a:p>
            <a:pPr algn="l">
              <a:lnSpc>
                <a:spcPct val="115000"/>
              </a:lnSpc>
              <a:spcAft>
                <a:spcPts val="200"/>
              </a:spcAft>
            </a:pPr>
            <a:r>
              <a:rPr sz="1300" b="0" i="0">
                <a:solidFill>
                  <a:srgbClr val="2A3550"/>
                </a:solidFill>
                <a:latin typeface="Arial"/>
              </a:rPr>
              <a:t>The total is over budget.</a:t>
            </a:r>
          </a:p>
        </p:txBody>
      </p:sp>
      <p:sp>
        <p:nvSpPr>
          <p:cNvPr id="22" name="Oval 21"/>
          <p:cNvSpPr/>
          <p:nvPr/>
        </p:nvSpPr>
        <p:spPr>
          <a:xfrm>
            <a:off x="8046719" y="2724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8430767" y="2715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detectConflicts</a:t>
            </a:r>
          </a:p>
          <a:p>
            <a:pPr algn="l">
              <a:lnSpc>
                <a:spcPct val="115000"/>
              </a:lnSpc>
              <a:spcAft>
                <a:spcPts val="200"/>
              </a:spcAft>
            </a:pPr>
            <a:r>
              <a:rPr sz="1300" b="0" i="0">
                <a:solidFill>
                  <a:srgbClr val="2A3550"/>
                </a:solidFill>
                <a:latin typeface="Arial"/>
              </a:rPr>
              <a:t>Sends a revision request with a target saving.</a:t>
            </a:r>
          </a:p>
        </p:txBody>
      </p:sp>
      <p:sp>
        <p:nvSpPr>
          <p:cNvPr id="24" name="Oval 23"/>
          <p:cNvSpPr/>
          <p:nvPr/>
        </p:nvSpPr>
        <p:spPr>
          <a:xfrm>
            <a:off x="8046719" y="3867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8430767" y="3858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2</a:t>
            </a:r>
          </a:p>
          <a:p>
            <a:pPr algn="l">
              <a:lnSpc>
                <a:spcPct val="115000"/>
              </a:lnSpc>
              <a:spcAft>
                <a:spcPts val="200"/>
              </a:spcAft>
            </a:pPr>
            <a:r>
              <a:rPr sz="1300" b="0" i="0">
                <a:solidFill>
                  <a:srgbClr val="2A3550"/>
                </a:solidFill>
                <a:latin typeface="Arial"/>
              </a:rPr>
              <a:t>Only the targeted agents revise.</a:t>
            </a:r>
          </a:p>
        </p:txBody>
      </p:sp>
      <p:sp>
        <p:nvSpPr>
          <p:cNvPr id="26" name="Oval 25"/>
          <p:cNvSpPr/>
          <p:nvPr/>
        </p:nvSpPr>
        <p:spPr>
          <a:xfrm>
            <a:off x="8046719" y="5010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7" name="TextBox 26"/>
          <p:cNvSpPr txBox="1"/>
          <p:nvPr/>
        </p:nvSpPr>
        <p:spPr>
          <a:xfrm>
            <a:off x="8430767" y="5001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Kept only if better</a:t>
            </a:r>
          </a:p>
          <a:p>
            <a:pPr algn="l">
              <a:lnSpc>
                <a:spcPct val="115000"/>
              </a:lnSpc>
              <a:spcAft>
                <a:spcPts val="200"/>
              </a:spcAft>
            </a:pPr>
            <a:r>
              <a:rPr sz="1300" b="0" i="0">
                <a:solidFill>
                  <a:srgbClr val="2A3550"/>
                </a:solidFill>
                <a:latin typeface="Arial"/>
              </a:rPr>
              <a:t>Otherwise the previous proposals stay. Infeasible: one conflict naming the minimum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STATE MACHINE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accommodation section within one planning turn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15 / 24</a:t>
            </a:r>
          </a:p>
        </p:txBody>
      </p:sp>
      <p:sp>
        <p:nvSpPr>
          <p:cNvPr id="14" name="Rounded Rectangle 13"/>
          <p:cNvSpPr/>
          <p:nvPr/>
        </p:nvSpPr>
        <p:spPr>
          <a:xfrm>
            <a:off x="548640" y="1481328"/>
            <a:ext cx="4937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state.png"/>
          <p:cNvPicPr>
            <a:picLocks noChangeAspect="1"/>
          </p:cNvPicPr>
          <p:nvPr/>
        </p:nvPicPr>
        <p:blipFill>
          <a:blip r:embed="rId3"/>
          <a:stretch>
            <a:fillRect/>
          </a:stretch>
        </p:blipFill>
        <p:spPr>
          <a:xfrm>
            <a:off x="950727" y="1609344"/>
            <a:ext cx="4133584" cy="4498848"/>
          </a:xfrm>
          <a:prstGeom prst="rect">
            <a:avLst/>
          </a:prstGeom>
        </p:spPr>
      </p:pic>
      <p:sp>
        <p:nvSpPr>
          <p:cNvPr id="16" name="TextBox 15"/>
          <p:cNvSpPr txBox="1"/>
          <p:nvPr/>
        </p:nvSpPr>
        <p:spPr>
          <a:xfrm>
            <a:off x="580644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INTERNAL STATE</a:t>
            </a:r>
          </a:p>
        </p:txBody>
      </p:sp>
      <p:sp>
        <p:nvSpPr>
          <p:cNvPr id="17" name="TextBox 16"/>
          <p:cNvSpPr txBox="1"/>
          <p:nvPr/>
        </p:nvSpPr>
        <p:spPr>
          <a:xfrm>
            <a:off x="9539935" y="1481328"/>
            <a:ext cx="2103120" cy="274320"/>
          </a:xfrm>
          <a:prstGeom prst="rect">
            <a:avLst/>
          </a:prstGeom>
          <a:noFill/>
        </p:spPr>
        <p:txBody>
          <a:bodyPr wrap="square" lIns="0" rIns="0" tIns="0" bIns="0" anchor="t">
            <a:spAutoFit/>
          </a:bodyPr>
          <a:lstStyle/>
          <a:p>
            <a:pPr algn="r">
              <a:lnSpc>
                <a:spcPct val="115000"/>
              </a:lnSpc>
              <a:spcAft>
                <a:spcPts val="0"/>
              </a:spcAft>
            </a:pPr>
            <a:r>
              <a:rPr sz="1100" b="1" i="0">
                <a:solidFill>
                  <a:srgbClr val="5A6478"/>
                </a:solidFill>
                <a:latin typeface="Arial"/>
              </a:rPr>
              <a:t>TRAVELLER SEES</a:t>
            </a:r>
          </a:p>
        </p:txBody>
      </p:sp>
      <p:sp>
        <p:nvSpPr>
          <p:cNvPr id="18" name="Rounded Rectangle 17"/>
          <p:cNvSpPr/>
          <p:nvPr/>
        </p:nvSpPr>
        <p:spPr>
          <a:xfrm>
            <a:off x="5806440" y="1847088"/>
            <a:ext cx="5836615" cy="1417320"/>
          </a:xfrm>
          <a:prstGeom prst="roundRect">
            <a:avLst>
              <a:gd name="adj" fmla="val 774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035040" y="2075688"/>
            <a:ext cx="992124"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Waiting</a:t>
            </a:r>
          </a:p>
        </p:txBody>
      </p:sp>
      <p:sp>
        <p:nvSpPr>
          <p:cNvPr id="20" name="Rounded Rectangle 19"/>
          <p:cNvSpPr/>
          <p:nvPr/>
        </p:nvSpPr>
        <p:spPr>
          <a:xfrm>
            <a:off x="7136892" y="207568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Planning</a:t>
            </a:r>
          </a:p>
        </p:txBody>
      </p:sp>
      <p:sp>
        <p:nvSpPr>
          <p:cNvPr id="21" name="Rounded Rectangle 20"/>
          <p:cNvSpPr/>
          <p:nvPr/>
        </p:nvSpPr>
        <p:spPr>
          <a:xfrm>
            <a:off x="8334756" y="2075688"/>
            <a:ext cx="704088"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Kept</a:t>
            </a:r>
          </a:p>
        </p:txBody>
      </p:sp>
      <p:sp>
        <p:nvSpPr>
          <p:cNvPr id="22" name="Rounded Rectangle 21"/>
          <p:cNvSpPr/>
          <p:nvPr/>
        </p:nvSpPr>
        <p:spPr>
          <a:xfrm>
            <a:off x="6035040" y="2487168"/>
            <a:ext cx="137617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UnderReview</a:t>
            </a:r>
          </a:p>
        </p:txBody>
      </p:sp>
      <p:sp>
        <p:nvSpPr>
          <p:cNvPr id="23" name="Rounded Rectangle 22"/>
          <p:cNvSpPr/>
          <p:nvPr/>
        </p:nvSpPr>
        <p:spPr>
          <a:xfrm>
            <a:off x="7520940" y="248716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Revising</a:t>
            </a:r>
          </a:p>
        </p:txBody>
      </p:sp>
      <p:pic>
        <p:nvPicPr>
          <p:cNvPr id="24" name="Picture 23" descr="arrow-right-9AA5B8.png"/>
          <p:cNvPicPr>
            <a:picLocks noChangeAspect="1"/>
          </p:cNvPicPr>
          <p:nvPr/>
        </p:nvPicPr>
        <p:blipFill>
          <a:blip r:embed="rId4"/>
          <a:stretch>
            <a:fillRect/>
          </a:stretch>
        </p:blipFill>
        <p:spPr>
          <a:xfrm>
            <a:off x="9402775" y="2436876"/>
            <a:ext cx="237744" cy="237744"/>
          </a:xfrm>
          <a:prstGeom prst="rect">
            <a:avLst/>
          </a:prstGeom>
        </p:spPr>
      </p:pic>
      <p:sp>
        <p:nvSpPr>
          <p:cNvPr id="25" name="Rounded Rectangle 24"/>
          <p:cNvSpPr/>
          <p:nvPr/>
        </p:nvSpPr>
        <p:spPr>
          <a:xfrm>
            <a:off x="9859975" y="2382012"/>
            <a:ext cx="1554480" cy="347472"/>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14213D"/>
                </a:solidFill>
                <a:latin typeface="Arial"/>
              </a:rPr>
              <a:t>planning</a:t>
            </a:r>
          </a:p>
        </p:txBody>
      </p:sp>
      <p:sp>
        <p:nvSpPr>
          <p:cNvPr id="26" name="Rounded Rectangle 25"/>
          <p:cNvSpPr/>
          <p:nvPr/>
        </p:nvSpPr>
        <p:spPr>
          <a:xfrm>
            <a:off x="5806440" y="3447288"/>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035040" y="3675887"/>
            <a:ext cx="800100"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Draft</a:t>
            </a:r>
          </a:p>
        </p:txBody>
      </p:sp>
      <p:pic>
        <p:nvPicPr>
          <p:cNvPr id="28" name="Picture 27" descr="arrow-right-9AA5B8.png"/>
          <p:cNvPicPr>
            <a:picLocks noChangeAspect="1"/>
          </p:cNvPicPr>
          <p:nvPr/>
        </p:nvPicPr>
        <p:blipFill>
          <a:blip r:embed="rId4"/>
          <a:stretch>
            <a:fillRect/>
          </a:stretch>
        </p:blipFill>
        <p:spPr>
          <a:xfrm>
            <a:off x="9402775" y="3703320"/>
            <a:ext cx="237744" cy="237744"/>
          </a:xfrm>
          <a:prstGeom prst="rect">
            <a:avLst/>
          </a:prstGeom>
        </p:spPr>
      </p:pic>
      <p:sp>
        <p:nvSpPr>
          <p:cNvPr id="29" name="Rounded Rectangle 28"/>
          <p:cNvSpPr/>
          <p:nvPr/>
        </p:nvSpPr>
        <p:spPr>
          <a:xfrm>
            <a:off x="9859975" y="3648456"/>
            <a:ext cx="1554480" cy="347472"/>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2E7D4F"/>
                </a:solidFill>
                <a:latin typeface="Arial"/>
              </a:rPr>
              <a:t>draft</a:t>
            </a:r>
          </a:p>
        </p:txBody>
      </p:sp>
      <p:sp>
        <p:nvSpPr>
          <p:cNvPr id="30" name="Rounded Rectangle 29"/>
          <p:cNvSpPr/>
          <p:nvPr/>
        </p:nvSpPr>
        <p:spPr>
          <a:xfrm>
            <a:off x="5806440" y="4379976"/>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035040" y="4608576"/>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NeedsYou</a:t>
            </a:r>
          </a:p>
        </p:txBody>
      </p:sp>
      <p:pic>
        <p:nvPicPr>
          <p:cNvPr id="32" name="Picture 31" descr="arrow-right-9AA5B8.png"/>
          <p:cNvPicPr>
            <a:picLocks noChangeAspect="1"/>
          </p:cNvPicPr>
          <p:nvPr/>
        </p:nvPicPr>
        <p:blipFill>
          <a:blip r:embed="rId4"/>
          <a:stretch>
            <a:fillRect/>
          </a:stretch>
        </p:blipFill>
        <p:spPr>
          <a:xfrm>
            <a:off x="9402775" y="4636008"/>
            <a:ext cx="237744" cy="237744"/>
          </a:xfrm>
          <a:prstGeom prst="rect">
            <a:avLst/>
          </a:prstGeom>
        </p:spPr>
      </p:pic>
      <p:sp>
        <p:nvSpPr>
          <p:cNvPr id="33" name="Rounded Rectangle 32"/>
          <p:cNvSpPr/>
          <p:nvPr/>
        </p:nvSpPr>
        <p:spPr>
          <a:xfrm>
            <a:off x="9859975" y="4581144"/>
            <a:ext cx="1554480" cy="347472"/>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C2571A"/>
                </a:solidFill>
                <a:latin typeface="Arial"/>
              </a:rPr>
              <a:t>needs_you</a:t>
            </a:r>
          </a:p>
        </p:txBody>
      </p:sp>
      <p:sp>
        <p:nvSpPr>
          <p:cNvPr id="34" name="Rounded Rectangle 33"/>
          <p:cNvSpPr/>
          <p:nvPr/>
        </p:nvSpPr>
        <p:spPr>
          <a:xfrm>
            <a:off x="5806440" y="5312664"/>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035040" y="5541264"/>
            <a:ext cx="89611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Failed</a:t>
            </a:r>
          </a:p>
        </p:txBody>
      </p:sp>
      <p:pic>
        <p:nvPicPr>
          <p:cNvPr id="36" name="Picture 35" descr="arrow-right-9AA5B8.png"/>
          <p:cNvPicPr>
            <a:picLocks noChangeAspect="1"/>
          </p:cNvPicPr>
          <p:nvPr/>
        </p:nvPicPr>
        <p:blipFill>
          <a:blip r:embed="rId4"/>
          <a:stretch>
            <a:fillRect/>
          </a:stretch>
        </p:blipFill>
        <p:spPr>
          <a:xfrm>
            <a:off x="9402775" y="5568696"/>
            <a:ext cx="237744" cy="237744"/>
          </a:xfrm>
          <a:prstGeom prst="rect">
            <a:avLst/>
          </a:prstGeom>
        </p:spPr>
      </p:pic>
      <p:sp>
        <p:nvSpPr>
          <p:cNvPr id="37" name="Rounded Rectangle 36"/>
          <p:cNvSpPr/>
          <p:nvPr/>
        </p:nvSpPr>
        <p:spPr>
          <a:xfrm>
            <a:off x="9859975" y="5513832"/>
            <a:ext cx="1554480" cy="347472"/>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9B2C2C"/>
                </a:solidFill>
                <a:latin typeface="Arial"/>
              </a:rPr>
              <a:t>run stops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ELEMENTARY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Six class diagrams drawn from the code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16 / 24</a:t>
            </a:r>
          </a:p>
        </p:txBody>
      </p:sp>
      <p:sp>
        <p:nvSpPr>
          <p:cNvPr id="14" name="Rounded Rectangle 13"/>
          <p:cNvSpPr/>
          <p:nvPr/>
        </p:nvSpPr>
        <p:spPr>
          <a:xfrm>
            <a:off x="548640" y="1481328"/>
            <a:ext cx="11094415" cy="3794760"/>
          </a:xfrm>
          <a:prstGeom prst="roundRect">
            <a:avLst>
              <a:gd name="adj" fmla="val 289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ass-spine.png"/>
          <p:cNvPicPr>
            <a:picLocks noChangeAspect="1"/>
          </p:cNvPicPr>
          <p:nvPr/>
        </p:nvPicPr>
        <p:blipFill>
          <a:blip r:embed="rId3"/>
          <a:stretch>
            <a:fillRect/>
          </a:stretch>
        </p:blipFill>
        <p:spPr>
          <a:xfrm>
            <a:off x="2087579" y="1609344"/>
            <a:ext cx="8016535" cy="3538728"/>
          </a:xfrm>
          <a:prstGeom prst="rect">
            <a:avLst/>
          </a:prstGeom>
        </p:spPr>
      </p:pic>
      <p:sp>
        <p:nvSpPr>
          <p:cNvPr id="16" name="Rounded Rectangle 15"/>
          <p:cNvSpPr/>
          <p:nvPr/>
        </p:nvSpPr>
        <p:spPr>
          <a:xfrm>
            <a:off x="548640" y="5458968"/>
            <a:ext cx="1734769" cy="777240"/>
          </a:xfrm>
          <a:prstGeom prst="roundRect">
            <a:avLst>
              <a:gd name="adj" fmla="val 14117"/>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F2A65A"/>
                </a:solidFill>
                <a:latin typeface="Georgia"/>
              </a:rPr>
              <a:t>1</a:t>
            </a:r>
          </a:p>
        </p:txBody>
      </p:sp>
      <p:sp>
        <p:nvSpPr>
          <p:cNvPr id="18" name="TextBox 17"/>
          <p:cNvSpPr txBox="1"/>
          <p:nvPr/>
        </p:nvSpPr>
        <p:spPr>
          <a:xfrm>
            <a:off x="731520"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FFFFFF"/>
                </a:solidFill>
                <a:latin typeface="Arial"/>
              </a:rPr>
              <a:t>Structural spine</a:t>
            </a:r>
          </a:p>
        </p:txBody>
      </p:sp>
      <p:sp>
        <p:nvSpPr>
          <p:cNvPr id="19" name="Rounded Rectangle 18"/>
          <p:cNvSpPr/>
          <p:nvPr/>
        </p:nvSpPr>
        <p:spPr>
          <a:xfrm>
            <a:off x="2420569"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603449"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2</a:t>
            </a:r>
          </a:p>
        </p:txBody>
      </p:sp>
      <p:sp>
        <p:nvSpPr>
          <p:cNvPr id="21" name="TextBox 20"/>
          <p:cNvSpPr txBox="1"/>
          <p:nvPr/>
        </p:nvSpPr>
        <p:spPr>
          <a:xfrm>
            <a:off x="2603449"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Domain contracts</a:t>
            </a:r>
          </a:p>
        </p:txBody>
      </p:sp>
      <p:sp>
        <p:nvSpPr>
          <p:cNvPr id="22" name="Rounded Rectangle 21"/>
          <p:cNvSpPr/>
          <p:nvPr/>
        </p:nvSpPr>
        <p:spPr>
          <a:xfrm>
            <a:off x="4292498"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5378"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3</a:t>
            </a:r>
          </a:p>
        </p:txBody>
      </p:sp>
      <p:sp>
        <p:nvSpPr>
          <p:cNvPr id="24" name="TextBox 23"/>
          <p:cNvSpPr txBox="1"/>
          <p:nvPr/>
        </p:nvSpPr>
        <p:spPr>
          <a:xfrm>
            <a:off x="4475378"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Specialists</a:t>
            </a:r>
          </a:p>
        </p:txBody>
      </p:sp>
      <p:sp>
        <p:nvSpPr>
          <p:cNvPr id="25" name="Rounded Rectangle 24"/>
          <p:cNvSpPr/>
          <p:nvPr/>
        </p:nvSpPr>
        <p:spPr>
          <a:xfrm>
            <a:off x="6164427"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47307"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4</a:t>
            </a:r>
          </a:p>
        </p:txBody>
      </p:sp>
      <p:sp>
        <p:nvSpPr>
          <p:cNvPr id="27" name="TextBox 26"/>
          <p:cNvSpPr txBox="1"/>
          <p:nvPr/>
        </p:nvSpPr>
        <p:spPr>
          <a:xfrm>
            <a:off x="6347307"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Ports and adapters</a:t>
            </a:r>
          </a:p>
        </p:txBody>
      </p:sp>
      <p:sp>
        <p:nvSpPr>
          <p:cNvPr id="28" name="Rounded Rectangle 27"/>
          <p:cNvSpPr/>
          <p:nvPr/>
        </p:nvSpPr>
        <p:spPr>
          <a:xfrm>
            <a:off x="803635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1923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5</a:t>
            </a:r>
          </a:p>
        </p:txBody>
      </p:sp>
      <p:sp>
        <p:nvSpPr>
          <p:cNvPr id="30" name="TextBox 29"/>
          <p:cNvSpPr txBox="1"/>
          <p:nvPr/>
        </p:nvSpPr>
        <p:spPr>
          <a:xfrm>
            <a:off x="821923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Use case trace</a:t>
            </a:r>
          </a:p>
        </p:txBody>
      </p:sp>
      <p:sp>
        <p:nvSpPr>
          <p:cNvPr id="31" name="Rounded Rectangle 30"/>
          <p:cNvSpPr/>
          <p:nvPr/>
        </p:nvSpPr>
        <p:spPr>
          <a:xfrm>
            <a:off x="990828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09116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6</a:t>
            </a:r>
          </a:p>
        </p:txBody>
      </p:sp>
      <p:sp>
        <p:nvSpPr>
          <p:cNvPr id="33" name="TextBox 32"/>
          <p:cNvSpPr txBox="1"/>
          <p:nvPr/>
        </p:nvSpPr>
        <p:spPr>
          <a:xfrm>
            <a:off x="1009116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Generalisation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ELEMENTARY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Specialist interface, five realisations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17 / 24</a:t>
            </a:r>
          </a:p>
        </p:txBody>
      </p:sp>
      <p:sp>
        <p:nvSpPr>
          <p:cNvPr id="14" name="Rounded Rectangle 13"/>
          <p:cNvSpPr/>
          <p:nvPr/>
        </p:nvSpPr>
        <p:spPr>
          <a:xfrm>
            <a:off x="548640" y="1481328"/>
            <a:ext cx="11094415" cy="3108960"/>
          </a:xfrm>
          <a:prstGeom prst="roundRect">
            <a:avLst>
              <a:gd name="adj" fmla="val 352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ass-specialists.png"/>
          <p:cNvPicPr>
            <a:picLocks noChangeAspect="1"/>
          </p:cNvPicPr>
          <p:nvPr/>
        </p:nvPicPr>
        <p:blipFill>
          <a:blip r:embed="rId3"/>
          <a:stretch>
            <a:fillRect/>
          </a:stretch>
        </p:blipFill>
        <p:spPr>
          <a:xfrm>
            <a:off x="2783990" y="1609344"/>
            <a:ext cx="6623713" cy="2852928"/>
          </a:xfrm>
          <a:prstGeom prst="rect">
            <a:avLst/>
          </a:prstGeom>
        </p:spPr>
      </p:pic>
      <p:sp>
        <p:nvSpPr>
          <p:cNvPr id="16" name="Oval 15"/>
          <p:cNvSpPr/>
          <p:nvPr/>
        </p:nvSpPr>
        <p:spPr>
          <a:xfrm>
            <a:off x="5263197" y="28415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5461909" y="24849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Rounded Rectangle 17"/>
          <p:cNvSpPr/>
          <p:nvPr/>
        </p:nvSpPr>
        <p:spPr>
          <a:xfrm>
            <a:off x="548640"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49808"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0" name="TextBox 19"/>
          <p:cNvSpPr txBox="1"/>
          <p:nvPr/>
        </p:nvSpPr>
        <p:spPr>
          <a:xfrm>
            <a:off x="1115568"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interface</a:t>
            </a:r>
          </a:p>
        </p:txBody>
      </p:sp>
      <p:sp>
        <p:nvSpPr>
          <p:cNvPr id="21" name="Rounded Rectangle 20"/>
          <p:cNvSpPr/>
          <p:nvPr/>
        </p:nvSpPr>
        <p:spPr>
          <a:xfrm>
            <a:off x="749808" y="5340096"/>
            <a:ext cx="1415948"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realisation × 5</a:t>
            </a:r>
          </a:p>
        </p:txBody>
      </p:sp>
      <p:sp>
        <p:nvSpPr>
          <p:cNvPr id="22" name="TextBox 21"/>
          <p:cNvSpPr txBox="1"/>
          <p:nvPr/>
        </p:nvSpPr>
        <p:spPr>
          <a:xfrm>
            <a:off x="749808"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The graph loops over agents without knowing their models.</a:t>
            </a:r>
          </a:p>
        </p:txBody>
      </p:sp>
      <p:sp>
        <p:nvSpPr>
          <p:cNvPr id="23" name="Rounded Rectangle 22"/>
          <p:cNvSpPr/>
          <p:nvPr/>
        </p:nvSpPr>
        <p:spPr>
          <a:xfrm>
            <a:off x="4307738"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5" name="TextBox 24"/>
          <p:cNvSpPr txBox="1"/>
          <p:nvPr/>
        </p:nvSpPr>
        <p:spPr>
          <a:xfrm>
            <a:off x="4874666"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Registry ◇ Specialist</a:t>
            </a:r>
          </a:p>
        </p:txBody>
      </p:sp>
      <p:sp>
        <p:nvSpPr>
          <p:cNvPr id="26" name="Rounded Rectangle 25"/>
          <p:cNvSpPr/>
          <p:nvPr/>
        </p:nvSpPr>
        <p:spPr>
          <a:xfrm>
            <a:off x="4508906" y="5340096"/>
            <a:ext cx="1565727"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aggregation 1 → 5</a:t>
            </a:r>
          </a:p>
        </p:txBody>
      </p:sp>
      <p:sp>
        <p:nvSpPr>
          <p:cNvPr id="27" name="TextBox 26"/>
          <p:cNvSpPr txBox="1"/>
          <p:nvPr/>
        </p:nvSpPr>
        <p:spPr>
          <a:xfrm>
            <a:off x="4508906"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Agents live on their own; the registry only lists them.</a:t>
            </a:r>
          </a:p>
        </p:txBody>
      </p:sp>
      <p:sp>
        <p:nvSpPr>
          <p:cNvPr id="28" name="Rounded Rectangle 27"/>
          <p:cNvSpPr/>
          <p:nvPr/>
        </p:nvSpPr>
        <p:spPr>
          <a:xfrm>
            <a:off x="8066836"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68004"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TripPlan ◆ TripSection</a:t>
            </a:r>
          </a:p>
        </p:txBody>
      </p:sp>
      <p:sp>
        <p:nvSpPr>
          <p:cNvPr id="30" name="Rounded Rectangle 29"/>
          <p:cNvSpPr/>
          <p:nvPr/>
        </p:nvSpPr>
        <p:spPr>
          <a:xfrm>
            <a:off x="8268004" y="5340096"/>
            <a:ext cx="1790395"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composition 1 → 0..*</a:t>
            </a:r>
          </a:p>
        </p:txBody>
      </p:sp>
      <p:sp>
        <p:nvSpPr>
          <p:cNvPr id="31" name="TextBox 30"/>
          <p:cNvSpPr txBox="1"/>
          <p:nvPr/>
        </p:nvSpPr>
        <p:spPr>
          <a:xfrm>
            <a:off x="8268004"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section cannot outlive its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DESIGN RATIONALE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What we chose, and what we discarded</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18 / 24</a:t>
            </a:r>
          </a:p>
        </p:txBody>
      </p:sp>
      <p:sp>
        <p:nvSpPr>
          <p:cNvPr id="14" name="TextBox 13"/>
          <p:cNvSpPr txBox="1"/>
          <p:nvPr/>
        </p:nvSpPr>
        <p:spPr>
          <a:xfrm>
            <a:off x="73152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DECISION</a:t>
            </a:r>
          </a:p>
        </p:txBody>
      </p:sp>
      <p:sp>
        <p:nvSpPr>
          <p:cNvPr id="15" name="TextBox 14"/>
          <p:cNvSpPr txBox="1"/>
          <p:nvPr/>
        </p:nvSpPr>
        <p:spPr>
          <a:xfrm>
            <a:off x="35661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2E7D4F"/>
                </a:solidFill>
                <a:latin typeface="Arial"/>
              </a:rPr>
              <a:t>CHOSEN</a:t>
            </a:r>
          </a:p>
        </p:txBody>
      </p:sp>
      <p:sp>
        <p:nvSpPr>
          <p:cNvPr id="16" name="TextBox 15"/>
          <p:cNvSpPr txBox="1"/>
          <p:nvPr/>
        </p:nvSpPr>
        <p:spPr>
          <a:xfrm>
            <a:off x="74523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9B2C2C"/>
                </a:solidFill>
                <a:latin typeface="Arial"/>
              </a:rPr>
              <a:t>DISCARDED, AND WHY</a:t>
            </a:r>
          </a:p>
        </p:txBody>
      </p:sp>
      <p:sp>
        <p:nvSpPr>
          <p:cNvPr id="17" name="Rounded Rectangle 16"/>
          <p:cNvSpPr/>
          <p:nvPr/>
        </p:nvSpPr>
        <p:spPr>
          <a:xfrm>
            <a:off x="548640" y="182880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182880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Who drives the loop</a:t>
            </a:r>
          </a:p>
        </p:txBody>
      </p:sp>
      <p:sp>
        <p:nvSpPr>
          <p:cNvPr id="19" name="Rounded Rectangle 18"/>
          <p:cNvSpPr/>
          <p:nvPr/>
        </p:nvSpPr>
        <p:spPr>
          <a:xfrm>
            <a:off x="3136392" y="200253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2E7D4F.png"/>
          <p:cNvPicPr>
            <a:picLocks noChangeAspect="1"/>
          </p:cNvPicPr>
          <p:nvPr/>
        </p:nvPicPr>
        <p:blipFill>
          <a:blip r:embed="rId3"/>
          <a:stretch>
            <a:fillRect/>
          </a:stretch>
        </p:blipFill>
        <p:spPr>
          <a:xfrm>
            <a:off x="3182112" y="2048256"/>
            <a:ext cx="182880" cy="182880"/>
          </a:xfrm>
          <a:prstGeom prst="rect">
            <a:avLst/>
          </a:prstGeom>
        </p:spPr>
      </p:pic>
      <p:sp>
        <p:nvSpPr>
          <p:cNvPr id="21" name="TextBox 20"/>
          <p:cNvSpPr txBox="1"/>
          <p:nvPr/>
        </p:nvSpPr>
        <p:spPr>
          <a:xfrm>
            <a:off x="3566160" y="182880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Deterministic LangGraph</a:t>
            </a:r>
          </a:p>
        </p:txBody>
      </p:sp>
      <p:sp>
        <p:nvSpPr>
          <p:cNvPr id="22" name="Rounded Rectangle 21"/>
          <p:cNvSpPr/>
          <p:nvPr/>
        </p:nvSpPr>
        <p:spPr>
          <a:xfrm>
            <a:off x="7022592" y="200253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x-9B2C2C.png"/>
          <p:cNvPicPr>
            <a:picLocks noChangeAspect="1"/>
          </p:cNvPicPr>
          <p:nvPr/>
        </p:nvPicPr>
        <p:blipFill>
          <a:blip r:embed="rId4"/>
          <a:stretch>
            <a:fillRect/>
          </a:stretch>
        </p:blipFill>
        <p:spPr>
          <a:xfrm>
            <a:off x="7068312" y="2048256"/>
            <a:ext cx="182880" cy="182880"/>
          </a:xfrm>
          <a:prstGeom prst="rect">
            <a:avLst/>
          </a:prstGeom>
        </p:spPr>
      </p:pic>
      <p:sp>
        <p:nvSpPr>
          <p:cNvPr id="24" name="TextBox 23"/>
          <p:cNvSpPr txBox="1"/>
          <p:nvPr/>
        </p:nvSpPr>
        <p:spPr>
          <a:xfrm>
            <a:off x="7452360" y="182880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Model-driven loop</a:t>
            </a:r>
            <a:r>
              <a:rPr sz="1250" b="0" i="0">
                <a:solidFill>
                  <a:srgbClr val="5A6478"/>
                </a:solidFill>
                <a:latin typeface="Arial"/>
              </a:rPr>
              <a:t>  limits and costs must be testable</a:t>
            </a:r>
          </a:p>
        </p:txBody>
      </p:sp>
      <p:sp>
        <p:nvSpPr>
          <p:cNvPr id="25" name="Rounded Rectangle 24"/>
          <p:cNvSpPr/>
          <p:nvPr/>
        </p:nvSpPr>
        <p:spPr>
          <a:xfrm>
            <a:off x="548640" y="2551176"/>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2551176"/>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Collaboration</a:t>
            </a:r>
          </a:p>
        </p:txBody>
      </p:sp>
      <p:sp>
        <p:nvSpPr>
          <p:cNvPr id="27" name="Rounded Rectangle 26"/>
          <p:cNvSpPr/>
          <p:nvPr/>
        </p:nvSpPr>
        <p:spPr>
          <a:xfrm>
            <a:off x="3136392" y="2724912"/>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2E7D4F.png"/>
          <p:cNvPicPr>
            <a:picLocks noChangeAspect="1"/>
          </p:cNvPicPr>
          <p:nvPr/>
        </p:nvPicPr>
        <p:blipFill>
          <a:blip r:embed="rId3"/>
          <a:stretch>
            <a:fillRect/>
          </a:stretch>
        </p:blipFill>
        <p:spPr>
          <a:xfrm>
            <a:off x="3182112" y="2770632"/>
            <a:ext cx="182880" cy="182880"/>
          </a:xfrm>
          <a:prstGeom prst="rect">
            <a:avLst/>
          </a:prstGeom>
        </p:spPr>
      </p:pic>
      <p:sp>
        <p:nvSpPr>
          <p:cNvPr id="29" name="TextBox 28"/>
          <p:cNvSpPr txBox="1"/>
          <p:nvPr/>
        </p:nvSpPr>
        <p:spPr>
          <a:xfrm>
            <a:off x="3566160" y="2551176"/>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Staged board with budget shares</a:t>
            </a:r>
          </a:p>
        </p:txBody>
      </p:sp>
      <p:sp>
        <p:nvSpPr>
          <p:cNvPr id="30" name="Rounded Rectangle 29"/>
          <p:cNvSpPr/>
          <p:nvPr/>
        </p:nvSpPr>
        <p:spPr>
          <a:xfrm>
            <a:off x="7022592" y="2724912"/>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x-9B2C2C.png"/>
          <p:cNvPicPr>
            <a:picLocks noChangeAspect="1"/>
          </p:cNvPicPr>
          <p:nvPr/>
        </p:nvPicPr>
        <p:blipFill>
          <a:blip r:embed="rId4"/>
          <a:stretch>
            <a:fillRect/>
          </a:stretch>
        </p:blipFill>
        <p:spPr>
          <a:xfrm>
            <a:off x="7068312" y="2770632"/>
            <a:ext cx="182880" cy="182880"/>
          </a:xfrm>
          <a:prstGeom prst="rect">
            <a:avLst/>
          </a:prstGeom>
        </p:spPr>
      </p:pic>
      <p:sp>
        <p:nvSpPr>
          <p:cNvPr id="32" name="TextBox 31"/>
          <p:cNvSpPr txBox="1"/>
          <p:nvPr/>
        </p:nvSpPr>
        <p:spPr>
          <a:xfrm>
            <a:off x="7452360" y="2551176"/>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Free agent-to-agent chat</a:t>
            </a:r>
            <a:r>
              <a:rPr sz="1250" b="0" i="0">
                <a:solidFill>
                  <a:srgbClr val="5A6478"/>
                </a:solidFill>
                <a:latin typeface="Arial"/>
              </a:rPr>
              <a:t>  control flow would live in model output</a:t>
            </a:r>
          </a:p>
        </p:txBody>
      </p:sp>
      <p:sp>
        <p:nvSpPr>
          <p:cNvPr id="33" name="Rounded Rectangle 32"/>
          <p:cNvSpPr/>
          <p:nvPr/>
        </p:nvSpPr>
        <p:spPr>
          <a:xfrm>
            <a:off x="548640" y="3273552"/>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3273552"/>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Human in the loop</a:t>
            </a:r>
          </a:p>
        </p:txBody>
      </p:sp>
      <p:sp>
        <p:nvSpPr>
          <p:cNvPr id="35" name="Rounded Rectangle 34"/>
          <p:cNvSpPr/>
          <p:nvPr/>
        </p:nvSpPr>
        <p:spPr>
          <a:xfrm>
            <a:off x="3136392" y="3447288"/>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check-2E7D4F.png"/>
          <p:cNvPicPr>
            <a:picLocks noChangeAspect="1"/>
          </p:cNvPicPr>
          <p:nvPr/>
        </p:nvPicPr>
        <p:blipFill>
          <a:blip r:embed="rId3"/>
          <a:stretch>
            <a:fillRect/>
          </a:stretch>
        </p:blipFill>
        <p:spPr>
          <a:xfrm>
            <a:off x="3182112" y="3493008"/>
            <a:ext cx="182880" cy="182880"/>
          </a:xfrm>
          <a:prstGeom prst="rect">
            <a:avLst/>
          </a:prstGeom>
        </p:spPr>
      </p:pic>
      <p:sp>
        <p:nvSpPr>
          <p:cNvPr id="37" name="TextBox 36"/>
          <p:cNvSpPr txBox="1"/>
          <p:nvPr/>
        </p:nvSpPr>
        <p:spPr>
          <a:xfrm>
            <a:off x="3566160" y="3273552"/>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Traveller edits; sections show needs_you</a:t>
            </a:r>
          </a:p>
        </p:txBody>
      </p:sp>
      <p:sp>
        <p:nvSpPr>
          <p:cNvPr id="38" name="Rounded Rectangle 37"/>
          <p:cNvSpPr/>
          <p:nvPr/>
        </p:nvSpPr>
        <p:spPr>
          <a:xfrm>
            <a:off x="7022592" y="3447288"/>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x-9B2C2C.png"/>
          <p:cNvPicPr>
            <a:picLocks noChangeAspect="1"/>
          </p:cNvPicPr>
          <p:nvPr/>
        </p:nvPicPr>
        <p:blipFill>
          <a:blip r:embed="rId4"/>
          <a:stretch>
            <a:fillRect/>
          </a:stretch>
        </p:blipFill>
        <p:spPr>
          <a:xfrm>
            <a:off x="7068312" y="3493008"/>
            <a:ext cx="182880" cy="182880"/>
          </a:xfrm>
          <a:prstGeom prst="rect">
            <a:avLst/>
          </a:prstGeom>
        </p:spPr>
      </p:pic>
      <p:sp>
        <p:nvSpPr>
          <p:cNvPr id="40" name="TextBox 39"/>
          <p:cNvSpPr txBox="1"/>
          <p:nvPr/>
        </p:nvSpPr>
        <p:spPr>
          <a:xfrm>
            <a:off x="7452360" y="3273552"/>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Approval checkpoints</a:t>
            </a:r>
            <a:r>
              <a:rPr sz="1250" b="0" i="0">
                <a:solidFill>
                  <a:srgbClr val="5A6478"/>
                </a:solidFill>
                <a:latin typeface="Arial"/>
              </a:rPr>
              <a:t>  confirming applied nothing</a:t>
            </a:r>
          </a:p>
        </p:txBody>
      </p:sp>
      <p:sp>
        <p:nvSpPr>
          <p:cNvPr id="41" name="Rounded Rectangle 40"/>
          <p:cNvSpPr/>
          <p:nvPr/>
        </p:nvSpPr>
        <p:spPr>
          <a:xfrm>
            <a:off x="548640" y="3995928"/>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7240" y="3995928"/>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LLM provider</a:t>
            </a:r>
          </a:p>
        </p:txBody>
      </p:sp>
      <p:sp>
        <p:nvSpPr>
          <p:cNvPr id="43" name="Rounded Rectangle 42"/>
          <p:cNvSpPr/>
          <p:nvPr/>
        </p:nvSpPr>
        <p:spPr>
          <a:xfrm>
            <a:off x="3136392" y="4169664"/>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check-2E7D4F.png"/>
          <p:cNvPicPr>
            <a:picLocks noChangeAspect="1"/>
          </p:cNvPicPr>
          <p:nvPr/>
        </p:nvPicPr>
        <p:blipFill>
          <a:blip r:embed="rId3"/>
          <a:stretch>
            <a:fillRect/>
          </a:stretch>
        </p:blipFill>
        <p:spPr>
          <a:xfrm>
            <a:off x="3182112" y="4215384"/>
            <a:ext cx="182880" cy="182880"/>
          </a:xfrm>
          <a:prstGeom prst="rect">
            <a:avLst/>
          </a:prstGeom>
        </p:spPr>
      </p:pic>
      <p:sp>
        <p:nvSpPr>
          <p:cNvPr id="45" name="TextBox 44"/>
          <p:cNvSpPr txBox="1"/>
          <p:nvPr/>
        </p:nvSpPr>
        <p:spPr>
          <a:xfrm>
            <a:off x="3566160" y="3995928"/>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DeepSeek</a:t>
            </a:r>
          </a:p>
        </p:txBody>
      </p:sp>
      <p:sp>
        <p:nvSpPr>
          <p:cNvPr id="46" name="Rounded Rectangle 45"/>
          <p:cNvSpPr/>
          <p:nvPr/>
        </p:nvSpPr>
        <p:spPr>
          <a:xfrm>
            <a:off x="7022592" y="4169664"/>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x-9B2C2C.png"/>
          <p:cNvPicPr>
            <a:picLocks noChangeAspect="1"/>
          </p:cNvPicPr>
          <p:nvPr/>
        </p:nvPicPr>
        <p:blipFill>
          <a:blip r:embed="rId4"/>
          <a:stretch>
            <a:fillRect/>
          </a:stretch>
        </p:blipFill>
        <p:spPr>
          <a:xfrm>
            <a:off x="7068312" y="4215384"/>
            <a:ext cx="182880" cy="182880"/>
          </a:xfrm>
          <a:prstGeom prst="rect">
            <a:avLst/>
          </a:prstGeom>
        </p:spPr>
      </p:pic>
      <p:sp>
        <p:nvSpPr>
          <p:cNvPr id="48" name="TextBox 47"/>
          <p:cNvSpPr txBox="1"/>
          <p:nvPr/>
        </p:nvSpPr>
        <p:spPr>
          <a:xfrm>
            <a:off x="7452360" y="3995928"/>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MiniMax</a:t>
            </a:r>
            <a:r>
              <a:rPr sz="1250" b="0" i="0">
                <a:solidFill>
                  <a:srgbClr val="5A6478"/>
                </a:solidFill>
                <a:latin typeface="Arial"/>
              </a:rPr>
              <a:t>  pages took 37–81 s against 15–23 s</a:t>
            </a:r>
          </a:p>
        </p:txBody>
      </p:sp>
      <p:sp>
        <p:nvSpPr>
          <p:cNvPr id="49" name="Rounded Rectangle 48"/>
          <p:cNvSpPr/>
          <p:nvPr/>
        </p:nvSpPr>
        <p:spPr>
          <a:xfrm>
            <a:off x="548640" y="4718304"/>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77240" y="4718304"/>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Prices</a:t>
            </a:r>
          </a:p>
        </p:txBody>
      </p:sp>
      <p:sp>
        <p:nvSpPr>
          <p:cNvPr id="51" name="Rounded Rectangle 50"/>
          <p:cNvSpPr/>
          <p:nvPr/>
        </p:nvSpPr>
        <p:spPr>
          <a:xfrm>
            <a:off x="3136392" y="4892040"/>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check-2E7D4F.png"/>
          <p:cNvPicPr>
            <a:picLocks noChangeAspect="1"/>
          </p:cNvPicPr>
          <p:nvPr/>
        </p:nvPicPr>
        <p:blipFill>
          <a:blip r:embed="rId3"/>
          <a:stretch>
            <a:fillRect/>
          </a:stretch>
        </p:blipFill>
        <p:spPr>
          <a:xfrm>
            <a:off x="3182112" y="4937760"/>
            <a:ext cx="182880" cy="182880"/>
          </a:xfrm>
          <a:prstGeom prst="rect">
            <a:avLst/>
          </a:prstGeom>
        </p:spPr>
      </p:pic>
      <p:sp>
        <p:nvSpPr>
          <p:cNvPr id="53" name="TextBox 52"/>
          <p:cNvSpPr txBox="1"/>
          <p:nvPr/>
        </p:nvSpPr>
        <p:spPr>
          <a:xfrm>
            <a:off x="3566160" y="4718304"/>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Tools only, with provenance</a:t>
            </a:r>
          </a:p>
        </p:txBody>
      </p:sp>
      <p:sp>
        <p:nvSpPr>
          <p:cNvPr id="54" name="Rounded Rectangle 53"/>
          <p:cNvSpPr/>
          <p:nvPr/>
        </p:nvSpPr>
        <p:spPr>
          <a:xfrm>
            <a:off x="7022592" y="4892040"/>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Picture 54" descr="x-9B2C2C.png"/>
          <p:cNvPicPr>
            <a:picLocks noChangeAspect="1"/>
          </p:cNvPicPr>
          <p:nvPr/>
        </p:nvPicPr>
        <p:blipFill>
          <a:blip r:embed="rId4"/>
          <a:stretch>
            <a:fillRect/>
          </a:stretch>
        </p:blipFill>
        <p:spPr>
          <a:xfrm>
            <a:off x="7068312" y="4937760"/>
            <a:ext cx="182880" cy="182880"/>
          </a:xfrm>
          <a:prstGeom prst="rect">
            <a:avLst/>
          </a:prstGeom>
        </p:spPr>
      </p:pic>
      <p:sp>
        <p:nvSpPr>
          <p:cNvPr id="56" name="TextBox 55"/>
          <p:cNvSpPr txBox="1"/>
          <p:nvPr/>
        </p:nvSpPr>
        <p:spPr>
          <a:xfrm>
            <a:off x="7452360" y="4718304"/>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 estimates</a:t>
            </a:r>
            <a:r>
              <a:rPr sz="1250" b="0" i="0">
                <a:solidFill>
                  <a:srgbClr val="5A6478"/>
                </a:solidFill>
                <a:latin typeface="Arial"/>
              </a:rPr>
              <a:t>  it invents hotels and fares</a:t>
            </a:r>
          </a:p>
        </p:txBody>
      </p:sp>
      <p:sp>
        <p:nvSpPr>
          <p:cNvPr id="57" name="Rounded Rectangle 56"/>
          <p:cNvSpPr/>
          <p:nvPr/>
        </p:nvSpPr>
        <p:spPr>
          <a:xfrm>
            <a:off x="548640" y="544068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7240" y="544068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Server state</a:t>
            </a:r>
          </a:p>
        </p:txBody>
      </p:sp>
      <p:sp>
        <p:nvSpPr>
          <p:cNvPr id="59" name="Rounded Rectangle 58"/>
          <p:cNvSpPr/>
          <p:nvPr/>
        </p:nvSpPr>
        <p:spPr>
          <a:xfrm>
            <a:off x="3136392" y="561441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check-2E7D4F.png"/>
          <p:cNvPicPr>
            <a:picLocks noChangeAspect="1"/>
          </p:cNvPicPr>
          <p:nvPr/>
        </p:nvPicPr>
        <p:blipFill>
          <a:blip r:embed="rId3"/>
          <a:stretch>
            <a:fillRect/>
          </a:stretch>
        </p:blipFill>
        <p:spPr>
          <a:xfrm>
            <a:off x="3182112" y="5660136"/>
            <a:ext cx="182880" cy="182880"/>
          </a:xfrm>
          <a:prstGeom prst="rect">
            <a:avLst/>
          </a:prstGeom>
        </p:spPr>
      </p:pic>
      <p:sp>
        <p:nvSpPr>
          <p:cNvPr id="61" name="TextBox 60"/>
          <p:cNvSpPr txBox="1"/>
          <p:nvPr/>
        </p:nvSpPr>
        <p:spPr>
          <a:xfrm>
            <a:off x="3566160" y="544068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Redis REST store</a:t>
            </a:r>
          </a:p>
        </p:txBody>
      </p:sp>
      <p:sp>
        <p:nvSpPr>
          <p:cNvPr id="62" name="Rounded Rectangle 61"/>
          <p:cNvSpPr/>
          <p:nvPr/>
        </p:nvSpPr>
        <p:spPr>
          <a:xfrm>
            <a:off x="7022592" y="561441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Picture 62" descr="x-9B2C2C.png"/>
          <p:cNvPicPr>
            <a:picLocks noChangeAspect="1"/>
          </p:cNvPicPr>
          <p:nvPr/>
        </p:nvPicPr>
        <p:blipFill>
          <a:blip r:embed="rId4"/>
          <a:stretch>
            <a:fillRect/>
          </a:stretch>
        </p:blipFill>
        <p:spPr>
          <a:xfrm>
            <a:off x="7068312" y="5660136"/>
            <a:ext cx="182880" cy="182880"/>
          </a:xfrm>
          <a:prstGeom prst="rect">
            <a:avLst/>
          </a:prstGeom>
        </p:spPr>
      </p:pic>
      <p:sp>
        <p:nvSpPr>
          <p:cNvPr id="64" name="TextBox 63"/>
          <p:cNvSpPr txBox="1"/>
          <p:nvPr/>
        </p:nvSpPr>
        <p:spPr>
          <a:xfrm>
            <a:off x="7452360" y="544068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Process memory</a:t>
            </a:r>
            <a:r>
              <a:rPr sz="1250" b="0" i="0">
                <a:solidFill>
                  <a:srgbClr val="5A6478"/>
                </a:solidFill>
                <a:latin typeface="Arial"/>
              </a:rPr>
              <a:t>  lost on cold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19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2E7D4F"/>
                </a:solidFill>
                <a:latin typeface="Arial"/>
              </a:rPr>
              <a:t>Ad hoc requirement  </a:t>
            </a:r>
            <a:r>
              <a:rPr sz="1300" b="0" i="1">
                <a:solidFill>
                  <a:srgbClr val="5A6478"/>
                </a:solidFill>
                <a:latin typeface="Arial"/>
              </a:rPr>
              <a:t>[AH-D1, one line in the traveller's words]</a:t>
            </a:r>
            <a:r>
              <a:rPr sz="1300" b="1" i="0">
                <a:solidFill>
                  <a:srgbClr val="2E7D4F"/>
                </a:solidFill>
                <a:latin typeface="Arial"/>
              </a:rPr>
              <a:t>      Use case  </a:t>
            </a:r>
            <a:r>
              <a:rPr sz="1300" b="0" i="1">
                <a:solidFill>
                  <a:srgbClr val="5A6478"/>
                </a:solidFill>
                <a:latin typeface="Arial"/>
              </a:rPr>
              <a:t>[UC-Dx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E7D4F"/>
                </a:solidFill>
                <a:latin typeface="Arial"/>
              </a:rPr>
              <a:t>LLM step  </a:t>
            </a:r>
            <a:r>
              <a:rPr sz="1000" b="0" i="1">
                <a:solidFill>
                  <a:srgbClr val="5A6478"/>
                </a:solidFill>
                <a:latin typeface="Arial"/>
              </a:rPr>
              <a:t>[where it sits]  </a:t>
            </a:r>
            <a:r>
              <a:rPr sz="1000" b="1" i="0">
                <a:solidFill>
                  <a:srgbClr val="2E7D4F"/>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E7D4F"/>
                </a:solidFill>
                <a:latin typeface="Arial"/>
              </a:rPr>
              <a:t>LLM step  </a:t>
            </a:r>
            <a:r>
              <a:rPr sz="1000" b="0" i="1">
                <a:solidFill>
                  <a:srgbClr val="5A6478"/>
                </a:solidFill>
                <a:latin typeface="Arial"/>
              </a:rPr>
              <a:t>[where it sits]  </a:t>
            </a:r>
            <a:r>
              <a:rPr sz="1000" b="1" i="0">
                <a:solidFill>
                  <a:srgbClr val="2E7D4F"/>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E7D4F"/>
                </a:solidFill>
                <a:latin typeface="Arial"/>
              </a:rPr>
              <a:t>LLM step  </a:t>
            </a:r>
            <a:r>
              <a:rPr sz="1000" b="0" i="1">
                <a:solidFill>
                  <a:srgbClr val="5A6478"/>
                </a:solidFill>
                <a:latin typeface="Arial"/>
              </a:rPr>
              <a:t>[where it sits]  </a:t>
            </a:r>
            <a:r>
              <a:rPr sz="1000" b="1" i="0">
                <a:solidFill>
                  <a:srgbClr val="2E7D4F"/>
                </a:solidFill>
                <a:latin typeface="Arial"/>
              </a:rPr>
              <a:t>Code check  </a:t>
            </a:r>
            <a:r>
              <a:rPr sz="1000" b="0" i="1">
                <a:solidFill>
                  <a:srgbClr val="5A6478"/>
                </a:solidFill>
                <a:latin typeface="Arial"/>
              </a:rPr>
              <a:t>[what validates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PACKAGE DIAGRAM</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Dependencies point inward to the shared contracts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20 / 24</a:t>
            </a:r>
          </a:p>
        </p:txBody>
      </p:sp>
      <p:sp>
        <p:nvSpPr>
          <p:cNvPr id="14" name="Rounded Rectangle 13"/>
          <p:cNvSpPr/>
          <p:nvPr/>
        </p:nvSpPr>
        <p:spPr>
          <a:xfrm>
            <a:off x="548640" y="1481328"/>
            <a:ext cx="11094415" cy="3017520"/>
          </a:xfrm>
          <a:prstGeom prst="roundRect">
            <a:avLst>
              <a:gd name="adj" fmla="val 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package.png"/>
          <p:cNvPicPr>
            <a:picLocks noChangeAspect="1"/>
          </p:cNvPicPr>
          <p:nvPr/>
        </p:nvPicPr>
        <p:blipFill>
          <a:blip r:embed="rId3"/>
          <a:stretch>
            <a:fillRect/>
          </a:stretch>
        </p:blipFill>
        <p:spPr>
          <a:xfrm>
            <a:off x="706326" y="1609344"/>
            <a:ext cx="10779042" cy="2761487"/>
          </a:xfrm>
          <a:prstGeom prst="rect">
            <a:avLst/>
          </a:prstGeom>
        </p:spPr>
      </p:pic>
      <p:sp>
        <p:nvSpPr>
          <p:cNvPr id="16" name="Oval 15"/>
          <p:cNvSpPr/>
          <p:nvPr/>
        </p:nvSpPr>
        <p:spPr>
          <a:xfrm>
            <a:off x="10485885" y="277008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838642" y="293577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Rounded Rectangle 17"/>
          <p:cNvSpPr/>
          <p:nvPr/>
        </p:nvSpPr>
        <p:spPr>
          <a:xfrm>
            <a:off x="548640"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ackage-2F5DA8.png"/>
          <p:cNvPicPr>
            <a:picLocks noChangeAspect="1"/>
          </p:cNvPicPr>
          <p:nvPr/>
        </p:nvPicPr>
        <p:blipFill>
          <a:blip r:embed="rId4"/>
          <a:stretch>
            <a:fillRect/>
          </a:stretch>
        </p:blipFill>
        <p:spPr>
          <a:xfrm>
            <a:off x="777240" y="4864608"/>
            <a:ext cx="329184" cy="329184"/>
          </a:xfrm>
          <a:prstGeom prst="rect">
            <a:avLst/>
          </a:prstGeom>
        </p:spPr>
      </p:pic>
      <p:sp>
        <p:nvSpPr>
          <p:cNvPr id="20" name="TextBox 19"/>
          <p:cNvSpPr txBox="1"/>
          <p:nvPr/>
        </p:nvSpPr>
        <p:spPr>
          <a:xfrm>
            <a:off x="777240"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Six packages</a:t>
            </a:r>
          </a:p>
        </p:txBody>
      </p:sp>
      <p:sp>
        <p:nvSpPr>
          <p:cNvPr id="21" name="TextBox 20"/>
          <p:cNvSpPr txBox="1"/>
          <p:nvPr/>
        </p:nvSpPr>
        <p:spPr>
          <a:xfrm>
            <a:off x="777240"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One monorepo, each package with an owner.</a:t>
            </a:r>
          </a:p>
        </p:txBody>
      </p:sp>
      <p:sp>
        <p:nvSpPr>
          <p:cNvPr id="22" name="Rounded Rectangle 21"/>
          <p:cNvSpPr/>
          <p:nvPr/>
        </p:nvSpPr>
        <p:spPr>
          <a:xfrm>
            <a:off x="3367963"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target-2F5DA8.png"/>
          <p:cNvPicPr>
            <a:picLocks noChangeAspect="1"/>
          </p:cNvPicPr>
          <p:nvPr/>
        </p:nvPicPr>
        <p:blipFill>
          <a:blip r:embed="rId5"/>
          <a:stretch>
            <a:fillRect/>
          </a:stretch>
        </p:blipFill>
        <p:spPr>
          <a:xfrm>
            <a:off x="3596563" y="4864608"/>
            <a:ext cx="329184" cy="329184"/>
          </a:xfrm>
          <a:prstGeom prst="rect">
            <a:avLst/>
          </a:prstGeom>
        </p:spPr>
      </p:pic>
      <p:sp>
        <p:nvSpPr>
          <p:cNvPr id="24" name="Oval 23"/>
          <p:cNvSpPr/>
          <p:nvPr/>
        </p:nvSpPr>
        <p:spPr>
          <a:xfrm>
            <a:off x="5547207"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5" name="TextBox 24"/>
          <p:cNvSpPr txBox="1"/>
          <p:nvPr/>
        </p:nvSpPr>
        <p:spPr>
          <a:xfrm>
            <a:off x="3596563"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shared: no dependencies</a:t>
            </a:r>
          </a:p>
        </p:txBody>
      </p:sp>
      <p:sp>
        <p:nvSpPr>
          <p:cNvPr id="26" name="TextBox 25"/>
          <p:cNvSpPr txBox="1"/>
          <p:nvPr/>
        </p:nvSpPr>
        <p:spPr>
          <a:xfrm>
            <a:off x="3596563"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It holds the Zod contracts and ports.</a:t>
            </a:r>
          </a:p>
        </p:txBody>
      </p:sp>
      <p:sp>
        <p:nvSpPr>
          <p:cNvPr id="27" name="Rounded Rectangle 26"/>
          <p:cNvSpPr/>
          <p:nvPr/>
        </p:nvSpPr>
        <p:spPr>
          <a:xfrm>
            <a:off x="6187287"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monitor-2F5DA8.png"/>
          <p:cNvPicPr>
            <a:picLocks noChangeAspect="1"/>
          </p:cNvPicPr>
          <p:nvPr/>
        </p:nvPicPr>
        <p:blipFill>
          <a:blip r:embed="rId6"/>
          <a:stretch>
            <a:fillRect/>
          </a:stretch>
        </p:blipFill>
        <p:spPr>
          <a:xfrm>
            <a:off x="6415887" y="4864608"/>
            <a:ext cx="329184" cy="329184"/>
          </a:xfrm>
          <a:prstGeom prst="rect">
            <a:avLst/>
          </a:prstGeom>
        </p:spPr>
      </p:pic>
      <p:sp>
        <p:nvSpPr>
          <p:cNvPr id="29" name="Oval 28"/>
          <p:cNvSpPr/>
          <p:nvPr/>
        </p:nvSpPr>
        <p:spPr>
          <a:xfrm>
            <a:off x="8366531"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30" name="TextBox 29"/>
          <p:cNvSpPr txBox="1"/>
          <p:nvPr/>
        </p:nvSpPr>
        <p:spPr>
          <a:xfrm>
            <a:off x="6415887"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Nothing imports web</a:t>
            </a:r>
          </a:p>
        </p:txBody>
      </p:sp>
      <p:sp>
        <p:nvSpPr>
          <p:cNvPr id="31" name="TextBox 30"/>
          <p:cNvSpPr txBox="1"/>
          <p:nvPr/>
        </p:nvSpPr>
        <p:spPr>
          <a:xfrm>
            <a:off x="6415887"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So the planner runs and is tested without a browser.</a:t>
            </a:r>
          </a:p>
        </p:txBody>
      </p:sp>
      <p:sp>
        <p:nvSpPr>
          <p:cNvPr id="32" name="Rounded Rectangle 31"/>
          <p:cNvSpPr/>
          <p:nvPr/>
        </p:nvSpPr>
        <p:spPr>
          <a:xfrm>
            <a:off x="9006611"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boxes-2F5DA8.png"/>
          <p:cNvPicPr>
            <a:picLocks noChangeAspect="1"/>
          </p:cNvPicPr>
          <p:nvPr/>
        </p:nvPicPr>
        <p:blipFill>
          <a:blip r:embed="rId7"/>
          <a:stretch>
            <a:fillRect/>
          </a:stretch>
        </p:blipFill>
        <p:spPr>
          <a:xfrm>
            <a:off x="9235211" y="4864608"/>
            <a:ext cx="329184" cy="329184"/>
          </a:xfrm>
          <a:prstGeom prst="rect">
            <a:avLst/>
          </a:prstGeom>
        </p:spPr>
      </p:pic>
      <p:sp>
        <p:nvSpPr>
          <p:cNvPr id="34" name="TextBox 33"/>
          <p:cNvSpPr txBox="1"/>
          <p:nvPr/>
        </p:nvSpPr>
        <p:spPr>
          <a:xfrm>
            <a:off x="9235211"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Plug in at interfaces</a:t>
            </a:r>
          </a:p>
        </p:txBody>
      </p:sp>
      <p:sp>
        <p:nvSpPr>
          <p:cNvPr id="35" name="TextBox 34"/>
          <p:cNvSpPr txBox="1"/>
          <p:nvPr/>
        </p:nvSpPr>
        <p:spPr>
          <a:xfrm>
            <a:off x="9235211"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new specialist, provider or store.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DEPLOYMENT</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serverless app, optional cloud services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21 / 24</a:t>
            </a:r>
          </a:p>
        </p:txBody>
      </p:sp>
      <p:sp>
        <p:nvSpPr>
          <p:cNvPr id="14" name="Rounded Rectangle 13"/>
          <p:cNvSpPr/>
          <p:nvPr/>
        </p:nvSpPr>
        <p:spPr>
          <a:xfrm>
            <a:off x="548640" y="1481328"/>
            <a:ext cx="63093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deployment.png"/>
          <p:cNvPicPr>
            <a:picLocks noChangeAspect="1"/>
          </p:cNvPicPr>
          <p:nvPr/>
        </p:nvPicPr>
        <p:blipFill>
          <a:blip r:embed="rId3"/>
          <a:stretch>
            <a:fillRect/>
          </a:stretch>
        </p:blipFill>
        <p:spPr>
          <a:xfrm>
            <a:off x="879968" y="1609344"/>
            <a:ext cx="5646702" cy="4498848"/>
          </a:xfrm>
          <a:prstGeom prst="rect">
            <a:avLst/>
          </a:prstGeom>
        </p:spPr>
      </p:pic>
      <p:sp>
        <p:nvSpPr>
          <p:cNvPr id="16" name="Oval 15"/>
          <p:cNvSpPr/>
          <p:nvPr/>
        </p:nvSpPr>
        <p:spPr>
          <a:xfrm>
            <a:off x="912209" y="358664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3566160" y="304678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5429571" y="390156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713232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0" name="TextBox 19"/>
          <p:cNvSpPr txBox="1"/>
          <p:nvPr/>
        </p:nvSpPr>
        <p:spPr>
          <a:xfrm>
            <a:off x="7516368" y="157276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Browser</a:t>
            </a:r>
          </a:p>
          <a:p>
            <a:pPr algn="l">
              <a:lnSpc>
                <a:spcPct val="115000"/>
              </a:lnSpc>
              <a:spcAft>
                <a:spcPts val="200"/>
              </a:spcAft>
            </a:pPr>
            <a:r>
              <a:rPr sz="1350" b="0" i="0">
                <a:solidFill>
                  <a:srgbClr val="2A3550"/>
                </a:solidFill>
                <a:latin typeface="Arial"/>
              </a:rPr>
              <a:t>Chats and trips in local storage; progress streams as NDJSON.</a:t>
            </a:r>
          </a:p>
        </p:txBody>
      </p:sp>
      <p:sp>
        <p:nvSpPr>
          <p:cNvPr id="21" name="Oval 20"/>
          <p:cNvSpPr/>
          <p:nvPr/>
        </p:nvSpPr>
        <p:spPr>
          <a:xfrm>
            <a:off x="7132320" y="277063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2" name="TextBox 21"/>
          <p:cNvSpPr txBox="1"/>
          <p:nvPr/>
        </p:nvSpPr>
        <p:spPr>
          <a:xfrm>
            <a:off x="7516368" y="276148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Server</a:t>
            </a:r>
          </a:p>
          <a:p>
            <a:pPr algn="l">
              <a:lnSpc>
                <a:spcPct val="115000"/>
              </a:lnSpc>
              <a:spcAft>
                <a:spcPts val="200"/>
              </a:spcAft>
            </a:pPr>
            <a:r>
              <a:rPr sz="1350" b="0" i="0">
                <a:solidFill>
                  <a:srgbClr val="2A3550"/>
                </a:solidFill>
                <a:latin typeface="Arial"/>
              </a:rPr>
              <a:t>Next.js API routes and the orchestrator.</a:t>
            </a:r>
          </a:p>
        </p:txBody>
      </p:sp>
      <p:sp>
        <p:nvSpPr>
          <p:cNvPr id="23" name="Oval 22"/>
          <p:cNvSpPr/>
          <p:nvPr/>
        </p:nvSpPr>
        <p:spPr>
          <a:xfrm>
            <a:off x="7132320" y="395935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4" name="TextBox 23"/>
          <p:cNvSpPr txBox="1"/>
          <p:nvPr/>
        </p:nvSpPr>
        <p:spPr>
          <a:xfrm>
            <a:off x="7516368" y="395020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Optional</a:t>
            </a:r>
          </a:p>
          <a:p>
            <a:pPr algn="l">
              <a:lnSpc>
                <a:spcPct val="115000"/>
              </a:lnSpc>
              <a:spcAft>
                <a:spcPts val="200"/>
              </a:spcAft>
            </a:pPr>
            <a:r>
              <a:rPr sz="1350" b="0" i="0">
                <a:solidFill>
                  <a:srgbClr val="2A3550"/>
                </a:solidFill>
                <a:latin typeface="Arial"/>
              </a:rPr>
              <a:t>Redis REST memory, Postgres account sync, Clerk sign-in.</a:t>
            </a:r>
          </a:p>
        </p:txBody>
      </p:sp>
      <p:sp>
        <p:nvSpPr>
          <p:cNvPr id="25" name="Rounded Rectangle 24"/>
          <p:cNvSpPr/>
          <p:nvPr/>
        </p:nvSpPr>
        <p:spPr>
          <a:xfrm>
            <a:off x="7132320" y="5047488"/>
            <a:ext cx="4510735" cy="1051560"/>
          </a:xfrm>
          <a:prstGeom prst="roundRect">
            <a:avLst>
              <a:gd name="adj" fmla="val 1043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wifi-off-F2A65A.png"/>
          <p:cNvPicPr>
            <a:picLocks noChangeAspect="1"/>
          </p:cNvPicPr>
          <p:nvPr/>
        </p:nvPicPr>
        <p:blipFill>
          <a:blip r:embed="rId4"/>
          <a:stretch>
            <a:fillRect/>
          </a:stretch>
        </p:blipFill>
        <p:spPr>
          <a:xfrm>
            <a:off x="7360920" y="5394960"/>
            <a:ext cx="347472" cy="347472"/>
          </a:xfrm>
          <a:prstGeom prst="rect">
            <a:avLst/>
          </a:prstGeom>
        </p:spPr>
      </p:pic>
      <p:sp>
        <p:nvSpPr>
          <p:cNvPr id="27" name="TextBox 26"/>
          <p:cNvSpPr txBox="1"/>
          <p:nvPr/>
        </p:nvSpPr>
        <p:spPr>
          <a:xfrm>
            <a:off x="7909560" y="5138928"/>
            <a:ext cx="3596335" cy="868680"/>
          </a:xfrm>
          <a:prstGeom prst="rect">
            <a:avLst/>
          </a:prstGeom>
          <a:noFill/>
        </p:spPr>
        <p:txBody>
          <a:bodyPr wrap="square" lIns="0" rIns="0" tIns="0" bIns="0" anchor="ctr">
            <a:spAutoFit/>
          </a:bodyPr>
          <a:lstStyle/>
          <a:p>
            <a:pPr algn="l">
              <a:lnSpc>
                <a:spcPct val="115000"/>
              </a:lnSpc>
              <a:spcAft>
                <a:spcPts val="0"/>
              </a:spcAft>
            </a:pPr>
            <a:r>
              <a:rPr sz="1400" b="1" i="0">
                <a:solidFill>
                  <a:srgbClr val="F2A65A"/>
                </a:solidFill>
                <a:latin typeface="Arial"/>
              </a:rPr>
              <a:t>No keys?  </a:t>
            </a:r>
            <a:r>
              <a:rPr sz="1400" b="0" i="0">
                <a:solidFill>
                  <a:srgbClr val="FFFFFF"/>
                </a:solidFill>
                <a:latin typeface="Arial"/>
              </a:rPr>
              <a:t>The same build runs offline on mock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CHANGE ASSESSMENT AND ACCEPTANCE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How a change gets in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22 / 24</a:t>
            </a:r>
          </a:p>
        </p:txBody>
      </p:sp>
      <p:sp>
        <p:nvSpPr>
          <p:cNvPr id="14" name="Rounded Rectangle 13"/>
          <p:cNvSpPr/>
          <p:nvPr/>
        </p:nvSpPr>
        <p:spPr>
          <a:xfrm>
            <a:off x="548640"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68680"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it-pull-request-2F5DA8.png"/>
          <p:cNvPicPr>
            <a:picLocks noChangeAspect="1"/>
          </p:cNvPicPr>
          <p:nvPr/>
        </p:nvPicPr>
        <p:blipFill>
          <a:blip r:embed="rId3"/>
          <a:stretch>
            <a:fillRect/>
          </a:stretch>
        </p:blipFill>
        <p:spPr>
          <a:xfrm>
            <a:off x="987552" y="1874520"/>
            <a:ext cx="329184" cy="329184"/>
          </a:xfrm>
          <a:prstGeom prst="rect">
            <a:avLst/>
          </a:prstGeom>
        </p:spPr>
      </p:pic>
      <p:sp>
        <p:nvSpPr>
          <p:cNvPr id="18" name="TextBox 17"/>
          <p:cNvSpPr txBox="1"/>
          <p:nvPr/>
        </p:nvSpPr>
        <p:spPr>
          <a:xfrm>
            <a:off x="1600200"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Assess</a:t>
            </a:r>
          </a:p>
        </p:txBody>
      </p:sp>
      <p:pic>
        <p:nvPicPr>
          <p:cNvPr id="19" name="Picture 18" descr="check-2F5DA8.png"/>
          <p:cNvPicPr>
            <a:picLocks noChangeAspect="1"/>
          </p:cNvPicPr>
          <p:nvPr/>
        </p:nvPicPr>
        <p:blipFill>
          <a:blip r:embed="rId4"/>
          <a:stretch>
            <a:fillRect/>
          </a:stretch>
        </p:blipFill>
        <p:spPr>
          <a:xfrm>
            <a:off x="914400" y="2569464"/>
            <a:ext cx="219456" cy="219456"/>
          </a:xfrm>
          <a:prstGeom prst="rect">
            <a:avLst/>
          </a:prstGeom>
        </p:spPr>
      </p:pic>
      <p:sp>
        <p:nvSpPr>
          <p:cNvPr id="20" name="TextBox 19"/>
          <p:cNvSpPr txBox="1"/>
          <p:nvPr/>
        </p:nvSpPr>
        <p:spPr>
          <a:xfrm>
            <a:off x="1280160"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Trace it to a requirement and use case</a:t>
            </a:r>
          </a:p>
        </p:txBody>
      </p:sp>
      <p:pic>
        <p:nvPicPr>
          <p:cNvPr id="21" name="Picture 20" descr="check-2F5DA8.png"/>
          <p:cNvPicPr>
            <a:picLocks noChangeAspect="1"/>
          </p:cNvPicPr>
          <p:nvPr/>
        </p:nvPicPr>
        <p:blipFill>
          <a:blip r:embed="rId4"/>
          <a:stretch>
            <a:fillRect/>
          </a:stretch>
        </p:blipFill>
        <p:spPr>
          <a:xfrm>
            <a:off x="914400" y="3081528"/>
            <a:ext cx="219456" cy="219456"/>
          </a:xfrm>
          <a:prstGeom prst="rect">
            <a:avLst/>
          </a:prstGeom>
        </p:spPr>
      </p:pic>
      <p:sp>
        <p:nvSpPr>
          <p:cNvPr id="22" name="TextBox 21"/>
          <p:cNvSpPr txBox="1"/>
          <p:nvPr/>
        </p:nvSpPr>
        <p:spPr>
          <a:xfrm>
            <a:off x="1280160"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Shared contract touched? Write a decision note and tell every owner</a:t>
            </a:r>
          </a:p>
        </p:txBody>
      </p:sp>
      <p:pic>
        <p:nvPicPr>
          <p:cNvPr id="23" name="Picture 22" descr="check-2F5DA8.png"/>
          <p:cNvPicPr>
            <a:picLocks noChangeAspect="1"/>
          </p:cNvPicPr>
          <p:nvPr/>
        </p:nvPicPr>
        <p:blipFill>
          <a:blip r:embed="rId4"/>
          <a:stretch>
            <a:fillRect/>
          </a:stretch>
        </p:blipFill>
        <p:spPr>
          <a:xfrm>
            <a:off x="914400" y="3813048"/>
            <a:ext cx="219456" cy="219456"/>
          </a:xfrm>
          <a:prstGeom prst="rect">
            <a:avLst/>
          </a:prstGeom>
        </p:spPr>
      </p:pic>
      <p:sp>
        <p:nvSpPr>
          <p:cNvPr id="24" name="TextBox 23"/>
          <p:cNvSpPr txBox="1"/>
          <p:nvPr/>
        </p:nvSpPr>
        <p:spPr>
          <a:xfrm>
            <a:off x="1280160" y="377647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Reversing a decision? Supersede it in writing</a:t>
            </a:r>
          </a:p>
        </p:txBody>
      </p:sp>
      <p:sp>
        <p:nvSpPr>
          <p:cNvPr id="25" name="Rounded Rectangle 24"/>
          <p:cNvSpPr/>
          <p:nvPr/>
        </p:nvSpPr>
        <p:spPr>
          <a:xfrm>
            <a:off x="6233007"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233007"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553047"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lipboard-check-2F5DA8.png"/>
          <p:cNvPicPr>
            <a:picLocks noChangeAspect="1"/>
          </p:cNvPicPr>
          <p:nvPr/>
        </p:nvPicPr>
        <p:blipFill>
          <a:blip r:embed="rId5"/>
          <a:stretch>
            <a:fillRect/>
          </a:stretch>
        </p:blipFill>
        <p:spPr>
          <a:xfrm>
            <a:off x="6671919" y="1874520"/>
            <a:ext cx="329184" cy="329184"/>
          </a:xfrm>
          <a:prstGeom prst="rect">
            <a:avLst/>
          </a:prstGeom>
        </p:spPr>
      </p:pic>
      <p:sp>
        <p:nvSpPr>
          <p:cNvPr id="29" name="TextBox 28"/>
          <p:cNvSpPr txBox="1"/>
          <p:nvPr/>
        </p:nvSpPr>
        <p:spPr>
          <a:xfrm>
            <a:off x="7284567"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Accept</a:t>
            </a:r>
          </a:p>
        </p:txBody>
      </p:sp>
      <p:pic>
        <p:nvPicPr>
          <p:cNvPr id="30" name="Picture 29" descr="check-2F5DA8.png"/>
          <p:cNvPicPr>
            <a:picLocks noChangeAspect="1"/>
          </p:cNvPicPr>
          <p:nvPr/>
        </p:nvPicPr>
        <p:blipFill>
          <a:blip r:embed="rId4"/>
          <a:stretch>
            <a:fillRect/>
          </a:stretch>
        </p:blipFill>
        <p:spPr>
          <a:xfrm>
            <a:off x="6598767" y="2569464"/>
            <a:ext cx="219456" cy="219456"/>
          </a:xfrm>
          <a:prstGeom prst="rect">
            <a:avLst/>
          </a:prstGeom>
        </p:spPr>
      </p:pic>
      <p:sp>
        <p:nvSpPr>
          <p:cNvPr id="31" name="TextBox 30"/>
          <p:cNvSpPr txBox="1"/>
          <p:nvPr/>
        </p:nvSpPr>
        <p:spPr>
          <a:xfrm>
            <a:off x="6964527"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CI green: types, lint, tests, build, docs</a:t>
            </a:r>
          </a:p>
        </p:txBody>
      </p:sp>
      <p:pic>
        <p:nvPicPr>
          <p:cNvPr id="32" name="Picture 31" descr="check-2F5DA8.png"/>
          <p:cNvPicPr>
            <a:picLocks noChangeAspect="1"/>
          </p:cNvPicPr>
          <p:nvPr/>
        </p:nvPicPr>
        <p:blipFill>
          <a:blip r:embed="rId4"/>
          <a:stretch>
            <a:fillRect/>
          </a:stretch>
        </p:blipFill>
        <p:spPr>
          <a:xfrm>
            <a:off x="6598767" y="3081528"/>
            <a:ext cx="219456" cy="219456"/>
          </a:xfrm>
          <a:prstGeom prst="rect">
            <a:avLst/>
          </a:prstGeom>
        </p:spPr>
      </p:pic>
      <p:sp>
        <p:nvSpPr>
          <p:cNvPr id="33" name="TextBox 32"/>
          <p:cNvSpPr txBox="1"/>
          <p:nvPr/>
        </p:nvSpPr>
        <p:spPr>
          <a:xfrm>
            <a:off x="6964527"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End-to-end test leaves a repeatable artifact</a:t>
            </a:r>
          </a:p>
        </p:txBody>
      </p:sp>
      <p:pic>
        <p:nvPicPr>
          <p:cNvPr id="34" name="Picture 33" descr="check-2F5DA8.png"/>
          <p:cNvPicPr>
            <a:picLocks noChangeAspect="1"/>
          </p:cNvPicPr>
          <p:nvPr/>
        </p:nvPicPr>
        <p:blipFill>
          <a:blip r:embed="rId4"/>
          <a:stretch>
            <a:fillRect/>
          </a:stretch>
        </p:blipFill>
        <p:spPr>
          <a:xfrm>
            <a:off x="6598767" y="3593592"/>
            <a:ext cx="219456" cy="219456"/>
          </a:xfrm>
          <a:prstGeom prst="rect">
            <a:avLst/>
          </a:prstGeom>
        </p:spPr>
      </p:pic>
      <p:sp>
        <p:nvSpPr>
          <p:cNvPr id="35" name="TextBox 34"/>
          <p:cNvSpPr txBox="1"/>
          <p:nvPr/>
        </p:nvSpPr>
        <p:spPr>
          <a:xfrm>
            <a:off x="6964527" y="3557016"/>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Use case postconditions still hold</a:t>
            </a:r>
          </a:p>
        </p:txBody>
      </p:sp>
      <p:pic>
        <p:nvPicPr>
          <p:cNvPr id="36" name="Picture 35" descr="check-2F5DA8.png"/>
          <p:cNvPicPr>
            <a:picLocks noChangeAspect="1"/>
          </p:cNvPicPr>
          <p:nvPr/>
        </p:nvPicPr>
        <p:blipFill>
          <a:blip r:embed="rId4"/>
          <a:stretch>
            <a:fillRect/>
          </a:stretch>
        </p:blipFill>
        <p:spPr>
          <a:xfrm>
            <a:off x="6598767" y="4105656"/>
            <a:ext cx="219456" cy="219456"/>
          </a:xfrm>
          <a:prstGeom prst="rect">
            <a:avLst/>
          </a:prstGeom>
        </p:spPr>
      </p:pic>
      <p:sp>
        <p:nvSpPr>
          <p:cNvPr id="37" name="TextBox 36"/>
          <p:cNvSpPr txBox="1"/>
          <p:nvPr/>
        </p:nvSpPr>
        <p:spPr>
          <a:xfrm>
            <a:off x="6964527" y="4069080"/>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Docs and models updated in the same pull request</a:t>
            </a:r>
          </a:p>
        </p:txBody>
      </p:sp>
      <p:sp>
        <p:nvSpPr>
          <p:cNvPr id="38" name="Rounded Rectangle 37"/>
          <p:cNvSpPr/>
          <p:nvPr/>
        </p:nvSpPr>
        <p:spPr>
          <a:xfrm>
            <a:off x="548640" y="5047488"/>
            <a:ext cx="11094415" cy="1188720"/>
          </a:xfrm>
          <a:prstGeom prst="roundRect">
            <a:avLst>
              <a:gd name="adj" fmla="val 9230"/>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8680" y="5212079"/>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KEY ASSUMPTIONS</a:t>
            </a:r>
          </a:p>
        </p:txBody>
      </p:sp>
      <p:sp>
        <p:nvSpPr>
          <p:cNvPr id="40" name="Rounded Rectangle 39"/>
          <p:cNvSpPr/>
          <p:nvPr/>
        </p:nvSpPr>
        <p:spPr>
          <a:xfrm>
            <a:off x="868680" y="5614416"/>
            <a:ext cx="2097084"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One traveller per trip</a:t>
            </a:r>
          </a:p>
        </p:txBody>
      </p:sp>
      <p:sp>
        <p:nvSpPr>
          <p:cNvPr id="41" name="Rounded Rectangle 40"/>
          <p:cNvSpPr/>
          <p:nvPr/>
        </p:nvSpPr>
        <p:spPr>
          <a:xfrm>
            <a:off x="3075492" y="5614416"/>
            <a:ext cx="1440911"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AUD everywhere</a:t>
            </a:r>
          </a:p>
        </p:txBody>
      </p:sp>
      <p:sp>
        <p:nvSpPr>
          <p:cNvPr id="42" name="Rounded Rectangle 41"/>
          <p:cNvSpPr/>
          <p:nvPr/>
        </p:nvSpPr>
        <p:spPr>
          <a:xfrm>
            <a:off x="4626132" y="5614416"/>
            <a:ext cx="217910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Estimates, not bookings</a:t>
            </a:r>
          </a:p>
        </p:txBody>
      </p:sp>
      <p:sp>
        <p:nvSpPr>
          <p:cNvPr id="43" name="Rounded Rectangle 42"/>
          <p:cNvSpPr/>
          <p:nvPr/>
        </p:nvSpPr>
        <p:spPr>
          <a:xfrm>
            <a:off x="6914967" y="5614416"/>
            <a:ext cx="1768998"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Flights paid first</a:t>
            </a:r>
          </a:p>
        </p:txBody>
      </p:sp>
      <p:sp>
        <p:nvSpPr>
          <p:cNvPr id="44" name="Rounded Rectangle 43"/>
          <p:cNvSpPr/>
          <p:nvPr/>
        </p:nvSpPr>
        <p:spPr>
          <a:xfrm>
            <a:off x="8793693" y="5614416"/>
            <a:ext cx="267123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Models and providers can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23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2F5DA8"/>
                </a:solidFill>
                <a:latin typeface="Arial"/>
              </a:rPr>
              <a:t>Ad hoc requirement  </a:t>
            </a:r>
            <a:r>
              <a:rPr sz="1300" b="0" i="1">
                <a:solidFill>
                  <a:srgbClr val="5A6478"/>
                </a:solidFill>
                <a:latin typeface="Arial"/>
              </a:rPr>
              <a:t>[AH-E1, one line in the traveller's words]</a:t>
            </a:r>
            <a:r>
              <a:rPr sz="1300" b="1" i="0">
                <a:solidFill>
                  <a:srgbClr val="2F5DA8"/>
                </a:solidFill>
                <a:latin typeface="Arial"/>
              </a:rPr>
              <a:t>      Use case  </a:t>
            </a:r>
            <a:r>
              <a:rPr sz="1300" b="0" i="1">
                <a:solidFill>
                  <a:srgbClr val="5A6478"/>
                </a:solidFill>
                <a:latin typeface="Arial"/>
              </a:rPr>
              <a:t>[UC-Ex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188720"/>
            <a:ext cx="54864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SUMMARY</a:t>
            </a:r>
          </a:p>
        </p:txBody>
      </p:sp>
      <p:sp>
        <p:nvSpPr>
          <p:cNvPr id="3" name="TextBox 2"/>
          <p:cNvSpPr txBox="1"/>
          <p:nvPr/>
        </p:nvSpPr>
        <p:spPr>
          <a:xfrm>
            <a:off x="822960" y="169164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Models</a:t>
            </a:r>
            <a:r>
              <a:rPr sz="4800" b="1" i="0">
                <a:solidFill>
                  <a:srgbClr val="FFFFFF"/>
                </a:solidFill>
                <a:latin typeface="Georgia"/>
              </a:rPr>
              <a:t> choose.</a:t>
            </a:r>
          </a:p>
        </p:txBody>
      </p:sp>
      <p:sp>
        <p:nvSpPr>
          <p:cNvPr id="4" name="TextBox 3"/>
          <p:cNvSpPr txBox="1"/>
          <p:nvPr/>
        </p:nvSpPr>
        <p:spPr>
          <a:xfrm>
            <a:off x="822960" y="256032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Code</a:t>
            </a:r>
            <a:r>
              <a:rPr sz="4800" b="1" i="0">
                <a:solidFill>
                  <a:srgbClr val="FFFFFF"/>
                </a:solidFill>
                <a:latin typeface="Georgia"/>
              </a:rPr>
              <a:t> decides.</a:t>
            </a:r>
          </a:p>
        </p:txBody>
      </p:sp>
      <p:sp>
        <p:nvSpPr>
          <p:cNvPr id="5" name="TextBox 4"/>
          <p:cNvSpPr txBox="1"/>
          <p:nvPr/>
        </p:nvSpPr>
        <p:spPr>
          <a:xfrm>
            <a:off x="822960" y="342900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The traveller</a:t>
            </a:r>
            <a:r>
              <a:rPr sz="4800" b="1" i="0">
                <a:solidFill>
                  <a:srgbClr val="FFFFFF"/>
                </a:solidFill>
                <a:latin typeface="Georgia"/>
              </a:rPr>
              <a:t> stays in control.</a:t>
            </a:r>
          </a:p>
        </p:txBody>
      </p:sp>
      <p:sp>
        <p:nvSpPr>
          <p:cNvPr id="6" name="Rectangle 5"/>
          <p:cNvSpPr/>
          <p:nvPr/>
        </p:nvSpPr>
        <p:spPr>
          <a:xfrm>
            <a:off x="841248" y="4434840"/>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709160"/>
            <a:ext cx="10058400" cy="365760"/>
          </a:xfrm>
          <a:prstGeom prst="rect">
            <a:avLst/>
          </a:prstGeom>
          <a:noFill/>
        </p:spPr>
        <p:txBody>
          <a:bodyPr wrap="square" lIns="0" rIns="0" tIns="0" bIns="0" anchor="t">
            <a:spAutoFit/>
          </a:bodyPr>
          <a:lstStyle/>
          <a:p>
            <a:pPr algn="l">
              <a:lnSpc>
                <a:spcPct val="115000"/>
              </a:lnSpc>
              <a:spcAft>
                <a:spcPts val="0"/>
              </a:spcAft>
            </a:pPr>
            <a:r>
              <a:rPr sz="1700" b="0" i="0">
                <a:solidFill>
                  <a:srgbClr val="C9D3E3"/>
                </a:solidFill>
                <a:latin typeface="Arial"/>
              </a:rPr>
              <a:t>Stage 2: verify live providers end to end, extend the Agent Lab, and track the work in Jira.</a:t>
            </a:r>
          </a:p>
        </p:txBody>
      </p:sp>
      <p:sp>
        <p:nvSpPr>
          <p:cNvPr id="8" name="TextBox 7"/>
          <p:cNvSpPr txBox="1"/>
          <p:nvPr/>
        </p:nvSpPr>
        <p:spPr>
          <a:xfrm>
            <a:off x="822960" y="5257800"/>
            <a:ext cx="10058400" cy="365760"/>
          </a:xfrm>
          <a:prstGeom prst="rect">
            <a:avLst/>
          </a:prstGeom>
          <a:noFill/>
        </p:spPr>
        <p:txBody>
          <a:bodyPr wrap="square" lIns="0" rIns="0" tIns="0" bIns="0" anchor="t">
            <a:spAutoFit/>
          </a:bodyPr>
          <a:lstStyle/>
          <a:p>
            <a:pPr algn="l">
              <a:lnSpc>
                <a:spcPct val="115000"/>
              </a:lnSpc>
              <a:spcAft>
                <a:spcPts val="0"/>
              </a:spcAft>
            </a:pPr>
            <a:r>
              <a:rPr sz="1400" b="0" i="0">
                <a:solidFill>
                  <a:srgbClr val="8A93A6"/>
                </a:solidFill>
                <a:latin typeface="Arial"/>
              </a:rPr>
              <a:t>github.com/Lilstanie/AI_TRIP_PLANNER</a:t>
            </a:r>
          </a:p>
        </p:txBody>
      </p:sp>
      <p:sp>
        <p:nvSpPr>
          <p:cNvPr id="9" name="Oval 8"/>
          <p:cNvSpPr/>
          <p:nvPr/>
        </p:nvSpPr>
        <p:spPr>
          <a:xfrm>
            <a:off x="9357055" y="5989320"/>
            <a:ext cx="347472" cy="347472"/>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0" name="Oval 9"/>
          <p:cNvSpPr/>
          <p:nvPr/>
        </p:nvSpPr>
        <p:spPr>
          <a:xfrm>
            <a:off x="9814255" y="5989320"/>
            <a:ext cx="347472" cy="347472"/>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11" name="Oval 10"/>
          <p:cNvSpPr/>
          <p:nvPr/>
        </p:nvSpPr>
        <p:spPr>
          <a:xfrm>
            <a:off x="10271455" y="5989320"/>
            <a:ext cx="347472" cy="34747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12" name="Oval 11"/>
          <p:cNvSpPr/>
          <p:nvPr/>
        </p:nvSpPr>
        <p:spPr>
          <a:xfrm>
            <a:off x="10728655" y="5989320"/>
            <a:ext cx="347472" cy="347472"/>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13" name="Oval 12"/>
          <p:cNvSpPr/>
          <p:nvPr/>
        </p:nvSpPr>
        <p:spPr>
          <a:xfrm>
            <a:off x="11185855" y="5989320"/>
            <a:ext cx="347472" cy="347472"/>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