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Hi, I'm Ziqi He, member A. We are Group 14 from the Monday 10 to 12 class, and this is AI Trip Planner, a one-person AI travel agency. Each of us will present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Planning a trip means juggling many sites, and every choice constrains the others. A chatbot can write an itinerary, but it invents prices and never checks that the parts fit. So we built an agency where specialist agents plan together on real data, and code checks their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There are two humans: the traveller, our customer, and the founder who runs the agency and tests the agents in our Agent Lab. Then seven AI roles: a coordinator that talks to the traveller, a supervisor that assigns work, and five specialists, each with its own prompt and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Our key design choice: the LangGraph workflow drives the agents, not the other way round. Specialists plan in stages on a shared board, code detects budget, time and route conflicts, and only the agents involved revise, for at most three rounds. If a model fails, a validated fallback keeps planning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I'm Tingsong Jin, member B. We classified requirements into the agreed scope, mandatory capabilities and optional features. Each member owns two core features and one optional one, shown here. Every member also wrote an ad hoc requirement and broke it into functional, non-functional and constraint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The feature diagram groups the system into seven areas, with mandatory, optional and alternative features, such as shared or individual rooms. We added cross-tree constraints and attached non-functional requirements, like money in integer cents.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The use case diagram has one traveller and three external systems. Each member wrote at least one full specification, and our behaviour diagrams come from those.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B.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I'm Yi Qiao, member C. I own accommodation and budget. My ad hoc requirement: the hotel must fit the money left after flights, a budget overrun should swap to a cheaper hotel that still meets my rules, and an impossible budget should name the minimum. That gave my two use cases.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object diagram snapshots the planning board for a Tokyo trip that is 640 dollars over budget. The hotel prices are real fixture values; transport and dining are illustrative. Accommodation is asked to save 379 dollars, so it moves to the saver hotel.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collaboration shows roles, not classes: my budget code plays the judge that turns proposals into targeted revisions. The structured class shows the workflow's parts and its injected ports.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In my activity diagram the LLM appears once, choosing one candidate id. Around it everything is deterministic: invalid output falls back to a rule, a booked stay skips the search, and prices are in cents.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sequence diagram shows an overrun: my detectConflicts sends a revision only to the agents that can cut, and round two is kept only because the plan score improved.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C. The state machine follows the accommodation section through one turn, and maps its internal states onto the three statuses the traveller sees. Over to 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I'm Jiahang Bian, member D. Our class model has six diagrams drawn from the code. The spine runs from the workspace, through the coordinator and workflow, to specialists that reach tools and memory only through injected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Every agent realises one Specialist interface, so the graph loops over them without knowing their models. The registry aggregates agents, while a plan is composed of its sections.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We discarded a model-driven loop and free agent-to-agent chat, because limits and costs must be testable. We dropped approval checkpoints, since confirming applied nothing, and chose DeepSeek because it was about three times faster.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 I'm Jiahang Bian, member D. UC-D1 shows both specialists working from evidence: the guide uses map coordinates and weather data; dining uses restaurant candidates and confirmed dietary preferences. The LLM drafts guidance, while deterministic code validates its output and budget. Forecasts are distinguished from climate context, and unavailable weather is disclosed. Over to 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I'm Weihao Wang, member E. Six packages, each with an owner, all depend inward on the shared contracts, which depend on nothing. New specialists, providers or stores plug in behind existing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It deploys as one serverless Next.js app. Memory, account sync and sign-in are optional, and without keys the same build runs fully on mock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A change must trace to a requirement; a change to shared contracts needs a written decision. A pull request is accepted when CI passes, an end-to-end artifact exists, use case postconditions hold and the models are updated.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[About 25 seconds. Name your ad hoc requirement and use case, then point to where the LLM sits in each diagram and which code checks it. Replace the three placeholders with your diagrams.]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E. In short: models choose, code decides, and the traveller stays in control.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9.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7.png"/><Relationship Id="rId4" Type="http://schemas.openxmlformats.org/officeDocument/2006/relationships/image" Target="../media/image4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cxnSp>
        <p:nvCxnSpPr>
          <p:cNvPr id="2" name="Connector 1"/>
          <p:cNvCxnSpPr/>
          <p:nvPr/>
        </p:nvCxnSpPr>
        <p:spPr>
          <a:xfrm flipV="1">
            <a:off x="8138160" y="777240"/>
            <a:ext cx="1234440" cy="36576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372600" y="777240"/>
            <a:ext cx="1188720" cy="6858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9692640" y="1463040"/>
            <a:ext cx="868680" cy="86868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0" y="2331720"/>
            <a:ext cx="1325880" cy="4572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7936992" y="941832"/>
            <a:ext cx="402336" cy="402336"/>
          </a:xfrm>
          <a:prstGeom prst="ellipse">
            <a:avLst/>
          </a:prstGeom>
          <a:solidFill>
            <a:srgbClr val="1F7A8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A</a:t>
            </a:r>
          </a:p>
        </p:txBody>
      </p:sp>
      <p:sp>
        <p:nvSpPr>
          <p:cNvPr id="7" name="Oval 6"/>
          <p:cNvSpPr/>
          <p:nvPr/>
        </p:nvSpPr>
        <p:spPr>
          <a:xfrm>
            <a:off x="9171432" y="576072"/>
            <a:ext cx="402336" cy="402336"/>
          </a:xfrm>
          <a:prstGeom prst="ellipse">
            <a:avLst/>
          </a:prstGeom>
          <a:solidFill>
            <a:srgbClr val="6B4F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B</a:t>
            </a:r>
          </a:p>
        </p:txBody>
      </p:sp>
      <p:sp>
        <p:nvSpPr>
          <p:cNvPr id="8" name="Oval 7"/>
          <p:cNvSpPr/>
          <p:nvPr/>
        </p:nvSpPr>
        <p:spPr>
          <a:xfrm>
            <a:off x="10360152" y="1261872"/>
            <a:ext cx="402336" cy="402336"/>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C</a:t>
            </a:r>
          </a:p>
        </p:txBody>
      </p:sp>
      <p:sp>
        <p:nvSpPr>
          <p:cNvPr id="9" name="Oval 8"/>
          <p:cNvSpPr/>
          <p:nvPr/>
        </p:nvSpPr>
        <p:spPr>
          <a:xfrm>
            <a:off x="9491472" y="2130551"/>
            <a:ext cx="402336" cy="402336"/>
          </a:xfrm>
          <a:prstGeom prst="ellipse">
            <a:avLst/>
          </a:prstGeom>
          <a:solidFill>
            <a:srgbClr val="2E7D4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D</a:t>
            </a:r>
          </a:p>
        </p:txBody>
      </p:sp>
      <p:sp>
        <p:nvSpPr>
          <p:cNvPr id="10" name="Oval 9"/>
          <p:cNvSpPr/>
          <p:nvPr/>
        </p:nvSpPr>
        <p:spPr>
          <a:xfrm>
            <a:off x="10817352" y="2587751"/>
            <a:ext cx="402336" cy="402336"/>
          </a:xfrm>
          <a:prstGeom prst="ellipse">
            <a:avLst/>
          </a:prstGeom>
          <a:solidFill>
            <a:srgbClr val="2F5DA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E</a:t>
            </a:r>
          </a:p>
        </p:txBody>
      </p:sp>
      <p:sp>
        <p:nvSpPr>
          <p:cNvPr id="11" name="TextBox 10"/>
          <p:cNvSpPr txBox="1"/>
          <p:nvPr/>
        </p:nvSpPr>
        <p:spPr>
          <a:xfrm>
            <a:off x="822960" y="1600200"/>
            <a:ext cx="73152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ELEC5620  ·  STAGE 1  ·  MON 10-12 GROUP 14</a:t>
            </a:r>
          </a:p>
        </p:txBody>
      </p:sp>
      <p:sp>
        <p:nvSpPr>
          <p:cNvPr id="12" name="TextBox 11"/>
          <p:cNvSpPr txBox="1"/>
          <p:nvPr/>
        </p:nvSpPr>
        <p:spPr>
          <a:xfrm>
            <a:off x="822960" y="2011680"/>
            <a:ext cx="8229600" cy="1005840"/>
          </a:xfrm>
          <a:prstGeom prst="rect">
            <a:avLst/>
          </a:prstGeom>
          <a:noFill/>
        </p:spPr>
        <p:txBody>
          <a:bodyPr wrap="square" lIns="0" rIns="0" tIns="0" bIns="0" anchor="t">
            <a:spAutoFit/>
          </a:bodyPr>
          <a:lstStyle/>
          <a:p>
            <a:pPr algn="l">
              <a:lnSpc>
                <a:spcPct val="115000"/>
              </a:lnSpc>
              <a:spcAft>
                <a:spcPts val="0"/>
              </a:spcAft>
            </a:pPr>
            <a:r>
              <a:rPr sz="6000" b="1" i="0">
                <a:solidFill>
                  <a:srgbClr val="FFFFFF"/>
                </a:solidFill>
                <a:latin typeface="Georgia"/>
              </a:rPr>
              <a:t>AI Trip Planner</a:t>
            </a:r>
          </a:p>
        </p:txBody>
      </p:sp>
      <p:sp>
        <p:nvSpPr>
          <p:cNvPr id="13" name="Rectangle 12"/>
          <p:cNvSpPr/>
          <p:nvPr/>
        </p:nvSpPr>
        <p:spPr>
          <a:xfrm>
            <a:off x="841248" y="3127248"/>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3383280"/>
            <a:ext cx="7863840" cy="731520"/>
          </a:xfrm>
          <a:prstGeom prst="rect">
            <a:avLst/>
          </a:prstGeom>
          <a:noFill/>
        </p:spPr>
        <p:txBody>
          <a:bodyPr wrap="square" lIns="0" rIns="0" tIns="0" bIns="0" anchor="t">
            <a:spAutoFit/>
          </a:bodyPr>
          <a:lstStyle/>
          <a:p>
            <a:pPr algn="l">
              <a:lnSpc>
                <a:spcPct val="115000"/>
              </a:lnSpc>
              <a:spcAft>
                <a:spcPts val="0"/>
              </a:spcAft>
            </a:pPr>
            <a:r>
              <a:rPr sz="1800" b="0" i="0">
                <a:solidFill>
                  <a:srgbClr val="C9D3E3"/>
                </a:solidFill>
                <a:latin typeface="Arial"/>
              </a:rPr>
              <a:t>A one-person AI travel agency: seven AI roles plan a trip together, one human runs the company.</a:t>
            </a:r>
          </a:p>
        </p:txBody>
      </p:sp>
      <p:sp>
        <p:nvSpPr>
          <p:cNvPr id="15" name="Rounded Rectangle 14"/>
          <p:cNvSpPr/>
          <p:nvPr/>
        </p:nvSpPr>
        <p:spPr>
          <a:xfrm>
            <a:off x="822960"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22960" y="4617720"/>
            <a:ext cx="2032345" cy="64008"/>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05840" y="4846320"/>
            <a:ext cx="329184" cy="329184"/>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8" name="TextBox 17"/>
          <p:cNvSpPr txBox="1"/>
          <p:nvPr/>
        </p:nvSpPr>
        <p:spPr>
          <a:xfrm>
            <a:off x="1426464"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Ziqi He</a:t>
            </a:r>
          </a:p>
        </p:txBody>
      </p:sp>
      <p:sp>
        <p:nvSpPr>
          <p:cNvPr id="19" name="TextBox 18"/>
          <p:cNvSpPr txBox="1"/>
          <p:nvPr/>
        </p:nvSpPr>
        <p:spPr>
          <a:xfrm>
            <a:off x="1005840"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Orchestrator</a:t>
            </a:r>
          </a:p>
        </p:txBody>
      </p:sp>
      <p:sp>
        <p:nvSpPr>
          <p:cNvPr id="20" name="Rounded Rectangle 19"/>
          <p:cNvSpPr/>
          <p:nvPr/>
        </p:nvSpPr>
        <p:spPr>
          <a:xfrm>
            <a:off x="3019897"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019897" y="4617720"/>
            <a:ext cx="2032345"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202777" y="4846320"/>
            <a:ext cx="329184" cy="329184"/>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23" name="TextBox 22"/>
          <p:cNvSpPr txBox="1"/>
          <p:nvPr/>
        </p:nvSpPr>
        <p:spPr>
          <a:xfrm>
            <a:off x="3623401"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Tingsong Jin</a:t>
            </a:r>
          </a:p>
        </p:txBody>
      </p:sp>
      <p:sp>
        <p:nvSpPr>
          <p:cNvPr id="24" name="TextBox 23"/>
          <p:cNvSpPr txBox="1"/>
          <p:nvPr/>
        </p:nvSpPr>
        <p:spPr>
          <a:xfrm>
            <a:off x="3202777"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Itinerary and transport</a:t>
            </a:r>
          </a:p>
        </p:txBody>
      </p:sp>
      <p:sp>
        <p:nvSpPr>
          <p:cNvPr id="25" name="Rounded Rectangle 24"/>
          <p:cNvSpPr/>
          <p:nvPr/>
        </p:nvSpPr>
        <p:spPr>
          <a:xfrm>
            <a:off x="5216834"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216834" y="4617720"/>
            <a:ext cx="2032345"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399714" y="4846320"/>
            <a:ext cx="329184" cy="329184"/>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28" name="TextBox 27"/>
          <p:cNvSpPr txBox="1"/>
          <p:nvPr/>
        </p:nvSpPr>
        <p:spPr>
          <a:xfrm>
            <a:off x="5820338"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Yi Qiao</a:t>
            </a:r>
          </a:p>
        </p:txBody>
      </p:sp>
      <p:sp>
        <p:nvSpPr>
          <p:cNvPr id="29" name="TextBox 28"/>
          <p:cNvSpPr txBox="1"/>
          <p:nvPr/>
        </p:nvSpPr>
        <p:spPr>
          <a:xfrm>
            <a:off x="5399714"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Accommodation and budget</a:t>
            </a:r>
          </a:p>
        </p:txBody>
      </p:sp>
      <p:sp>
        <p:nvSpPr>
          <p:cNvPr id="30" name="Rounded Rectangle 29"/>
          <p:cNvSpPr/>
          <p:nvPr/>
        </p:nvSpPr>
        <p:spPr>
          <a:xfrm>
            <a:off x="7413772"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13772" y="4617720"/>
            <a:ext cx="2032345"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7596652" y="4846320"/>
            <a:ext cx="329184" cy="329184"/>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33" name="TextBox 32"/>
          <p:cNvSpPr txBox="1"/>
          <p:nvPr/>
        </p:nvSpPr>
        <p:spPr>
          <a:xfrm>
            <a:off x="8017276"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Jiahang Bian</a:t>
            </a:r>
          </a:p>
        </p:txBody>
      </p:sp>
      <p:sp>
        <p:nvSpPr>
          <p:cNvPr id="34" name="TextBox 33"/>
          <p:cNvSpPr txBox="1"/>
          <p:nvPr/>
        </p:nvSpPr>
        <p:spPr>
          <a:xfrm>
            <a:off x="7596652"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Destination and dining</a:t>
            </a:r>
          </a:p>
        </p:txBody>
      </p:sp>
      <p:sp>
        <p:nvSpPr>
          <p:cNvPr id="35" name="Rounded Rectangle 34"/>
          <p:cNvSpPr/>
          <p:nvPr/>
        </p:nvSpPr>
        <p:spPr>
          <a:xfrm>
            <a:off x="9610709"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610709" y="4617720"/>
            <a:ext cx="2032345" cy="64008"/>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9793589" y="4846320"/>
            <a:ext cx="329184" cy="329184"/>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
        <p:nvSpPr>
          <p:cNvPr id="38" name="TextBox 37"/>
          <p:cNvSpPr txBox="1"/>
          <p:nvPr/>
        </p:nvSpPr>
        <p:spPr>
          <a:xfrm>
            <a:off x="10214213"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Weihao Wang</a:t>
            </a:r>
          </a:p>
        </p:txBody>
      </p:sp>
      <p:sp>
        <p:nvSpPr>
          <p:cNvPr id="39" name="TextBox 38"/>
          <p:cNvSpPr txBox="1"/>
          <p:nvPr/>
        </p:nvSpPr>
        <p:spPr>
          <a:xfrm>
            <a:off x="9793589"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Workspace and memory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THE PROBLEM</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Every travel choice constrains the others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02 / 24</a:t>
            </a:r>
          </a:p>
        </p:txBody>
      </p:sp>
      <p:sp>
        <p:nvSpPr>
          <p:cNvPr id="14" name="Rounded Rectangle 13"/>
          <p:cNvSpPr/>
          <p:nvPr/>
        </p:nvSpPr>
        <p:spPr>
          <a:xfrm>
            <a:off x="548640"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14400"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layers-14213D.png"/>
          <p:cNvPicPr>
            <a:picLocks noChangeAspect="1"/>
          </p:cNvPicPr>
          <p:nvPr/>
        </p:nvPicPr>
        <p:blipFill>
          <a:blip r:embed="rId3"/>
          <a:stretch>
            <a:fillRect/>
          </a:stretch>
        </p:blipFill>
        <p:spPr>
          <a:xfrm>
            <a:off x="1097280" y="2212848"/>
            <a:ext cx="457200" cy="457200"/>
          </a:xfrm>
          <a:prstGeom prst="rect">
            <a:avLst/>
          </a:prstGeom>
        </p:spPr>
      </p:pic>
      <p:sp>
        <p:nvSpPr>
          <p:cNvPr id="17" name="TextBox 16"/>
          <p:cNvSpPr txBox="1"/>
          <p:nvPr/>
        </p:nvSpPr>
        <p:spPr>
          <a:xfrm>
            <a:off x="914400"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Too many sites</a:t>
            </a:r>
          </a:p>
        </p:txBody>
      </p:sp>
      <p:sp>
        <p:nvSpPr>
          <p:cNvPr id="18" name="TextBox 17"/>
          <p:cNvSpPr txBox="1"/>
          <p:nvPr/>
        </p:nvSpPr>
        <p:spPr>
          <a:xfrm>
            <a:off x="914400"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Flights, hotels, maps, food blogs and a budget spreadsheet, each on its own.</a:t>
            </a:r>
          </a:p>
        </p:txBody>
      </p:sp>
      <p:sp>
        <p:nvSpPr>
          <p:cNvPr id="19" name="Rounded Rectangle 18"/>
          <p:cNvSpPr/>
          <p:nvPr/>
        </p:nvSpPr>
        <p:spPr>
          <a:xfrm>
            <a:off x="4322978"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688738"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bot-14213D.png"/>
          <p:cNvPicPr>
            <a:picLocks noChangeAspect="1"/>
          </p:cNvPicPr>
          <p:nvPr/>
        </p:nvPicPr>
        <p:blipFill>
          <a:blip r:embed="rId4"/>
          <a:stretch>
            <a:fillRect/>
          </a:stretch>
        </p:blipFill>
        <p:spPr>
          <a:xfrm>
            <a:off x="4871618" y="2212848"/>
            <a:ext cx="457200" cy="457200"/>
          </a:xfrm>
          <a:prstGeom prst="rect">
            <a:avLst/>
          </a:prstGeom>
        </p:spPr>
      </p:pic>
      <p:sp>
        <p:nvSpPr>
          <p:cNvPr id="22" name="TextBox 21"/>
          <p:cNvSpPr txBox="1"/>
          <p:nvPr/>
        </p:nvSpPr>
        <p:spPr>
          <a:xfrm>
            <a:off x="4688738"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Chatbots invent facts</a:t>
            </a:r>
          </a:p>
        </p:txBody>
      </p:sp>
      <p:sp>
        <p:nvSpPr>
          <p:cNvPr id="23" name="TextBox 22"/>
          <p:cNvSpPr txBox="1"/>
          <p:nvPr/>
        </p:nvSpPr>
        <p:spPr>
          <a:xfrm>
            <a:off x="4688738"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One model writes a nice itinerary with made-up prices, and never checks that the parts fit.</a:t>
            </a:r>
          </a:p>
        </p:txBody>
      </p:sp>
      <p:sp>
        <p:nvSpPr>
          <p:cNvPr id="24" name="Rounded Rectangle 23"/>
          <p:cNvSpPr/>
          <p:nvPr/>
        </p:nvSpPr>
        <p:spPr>
          <a:xfrm>
            <a:off x="8097316" y="1664208"/>
            <a:ext cx="3545738" cy="4206240"/>
          </a:xfrm>
          <a:prstGeom prst="roundRect">
            <a:avLst>
              <a:gd name="adj" fmla="val 309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63076" y="2029968"/>
            <a:ext cx="822960" cy="82296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sparkles-FFFFFF.png"/>
          <p:cNvPicPr>
            <a:picLocks noChangeAspect="1"/>
          </p:cNvPicPr>
          <p:nvPr/>
        </p:nvPicPr>
        <p:blipFill>
          <a:blip r:embed="rId5"/>
          <a:stretch>
            <a:fillRect/>
          </a:stretch>
        </p:blipFill>
        <p:spPr>
          <a:xfrm>
            <a:off x="8645956" y="2212848"/>
            <a:ext cx="457200" cy="457200"/>
          </a:xfrm>
          <a:prstGeom prst="rect">
            <a:avLst/>
          </a:prstGeom>
        </p:spPr>
      </p:pic>
      <p:sp>
        <p:nvSpPr>
          <p:cNvPr id="27" name="TextBox 26"/>
          <p:cNvSpPr txBox="1"/>
          <p:nvPr/>
        </p:nvSpPr>
        <p:spPr>
          <a:xfrm>
            <a:off x="8463076"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FFFFFF"/>
                </a:solidFill>
                <a:latin typeface="Georgia"/>
              </a:rPr>
              <a:t>Our answer</a:t>
            </a:r>
          </a:p>
        </p:txBody>
      </p:sp>
      <p:sp>
        <p:nvSpPr>
          <p:cNvPr id="28" name="TextBox 27"/>
          <p:cNvSpPr txBox="1"/>
          <p:nvPr/>
        </p:nvSpPr>
        <p:spPr>
          <a:xfrm>
            <a:off x="8463076"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C9D3E3"/>
                </a:solidFill>
                <a:latin typeface="Arial"/>
              </a:rPr>
              <a:t>Specialist agents plan together on real data, and code checks their work.</a:t>
            </a:r>
          </a:p>
        </p:txBody>
      </p:sp>
      <p:sp>
        <p:nvSpPr>
          <p:cNvPr id="29" name="TextBox 28"/>
          <p:cNvSpPr txBox="1"/>
          <p:nvPr/>
        </p:nvSpPr>
        <p:spPr>
          <a:xfrm>
            <a:off x="8463076" y="5276088"/>
            <a:ext cx="2814218"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AI Trip Planner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USERS AND AI ROLES</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Two humans, seven AI roles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03 / 24</a:t>
            </a:r>
          </a:p>
        </p:txBody>
      </p:sp>
      <p:sp>
        <p:nvSpPr>
          <p:cNvPr id="14" name="TextBox 13"/>
          <p:cNvSpPr txBox="1"/>
          <p:nvPr/>
        </p:nvSpPr>
        <p:spPr>
          <a:xfrm>
            <a:off x="5486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HUMANS</a:t>
            </a:r>
          </a:p>
        </p:txBody>
      </p:sp>
      <p:sp>
        <p:nvSpPr>
          <p:cNvPr id="15" name="Rounded Rectangle 14"/>
          <p:cNvSpPr/>
          <p:nvPr/>
        </p:nvSpPr>
        <p:spPr>
          <a:xfrm>
            <a:off x="548640" y="184708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22959" y="212140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14213D.png"/>
          <p:cNvPicPr>
            <a:picLocks noChangeAspect="1"/>
          </p:cNvPicPr>
          <p:nvPr/>
        </p:nvPicPr>
        <p:blipFill>
          <a:blip r:embed="rId3"/>
          <a:stretch>
            <a:fillRect/>
          </a:stretch>
        </p:blipFill>
        <p:spPr>
          <a:xfrm>
            <a:off x="941832" y="2240280"/>
            <a:ext cx="329184" cy="329184"/>
          </a:xfrm>
          <a:prstGeom prst="rect">
            <a:avLst/>
          </a:prstGeom>
        </p:spPr>
      </p:pic>
      <p:sp>
        <p:nvSpPr>
          <p:cNvPr id="18" name="TextBox 17"/>
          <p:cNvSpPr txBox="1"/>
          <p:nvPr/>
        </p:nvSpPr>
        <p:spPr>
          <a:xfrm>
            <a:off x="822959" y="280720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Traveller</a:t>
            </a:r>
          </a:p>
        </p:txBody>
      </p:sp>
      <p:sp>
        <p:nvSpPr>
          <p:cNvPr id="19" name="TextBox 18"/>
          <p:cNvSpPr txBox="1"/>
          <p:nvPr/>
        </p:nvSpPr>
        <p:spPr>
          <a:xfrm>
            <a:off x="822959" y="317296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Describes the trip, reads and edits the plan</a:t>
            </a:r>
          </a:p>
        </p:txBody>
      </p:sp>
      <p:sp>
        <p:nvSpPr>
          <p:cNvPr id="20" name="Rounded Rectangle 19"/>
          <p:cNvSpPr/>
          <p:nvPr/>
        </p:nvSpPr>
        <p:spPr>
          <a:xfrm>
            <a:off x="548640" y="399592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22959" y="42702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briefcase-14213D.png"/>
          <p:cNvPicPr>
            <a:picLocks noChangeAspect="1"/>
          </p:cNvPicPr>
          <p:nvPr/>
        </p:nvPicPr>
        <p:blipFill>
          <a:blip r:embed="rId4"/>
          <a:stretch>
            <a:fillRect/>
          </a:stretch>
        </p:blipFill>
        <p:spPr>
          <a:xfrm>
            <a:off x="941832" y="4389120"/>
            <a:ext cx="329184" cy="329184"/>
          </a:xfrm>
          <a:prstGeom prst="rect">
            <a:avLst/>
          </a:prstGeom>
        </p:spPr>
      </p:pic>
      <p:sp>
        <p:nvSpPr>
          <p:cNvPr id="23" name="TextBox 22"/>
          <p:cNvSpPr txBox="1"/>
          <p:nvPr/>
        </p:nvSpPr>
        <p:spPr>
          <a:xfrm>
            <a:off x="822959" y="495604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Founder / operator</a:t>
            </a:r>
          </a:p>
        </p:txBody>
      </p:sp>
      <p:sp>
        <p:nvSpPr>
          <p:cNvPr id="24" name="TextBox 23"/>
          <p:cNvSpPr txBox="1"/>
          <p:nvPr/>
        </p:nvSpPr>
        <p:spPr>
          <a:xfrm>
            <a:off x="822959" y="532180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Runs the agency: models, providers, quotas, Agent Lab</a:t>
            </a:r>
          </a:p>
        </p:txBody>
      </p:sp>
      <p:sp>
        <p:nvSpPr>
          <p:cNvPr id="25" name="TextBox 24"/>
          <p:cNvSpPr txBox="1"/>
          <p:nvPr/>
        </p:nvSpPr>
        <p:spPr>
          <a:xfrm>
            <a:off x="3566160"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AI ROLES</a:t>
            </a:r>
          </a:p>
        </p:txBody>
      </p:sp>
      <p:sp>
        <p:nvSpPr>
          <p:cNvPr id="26" name="Rounded Rectangle 25"/>
          <p:cNvSpPr/>
          <p:nvPr/>
        </p:nvSpPr>
        <p:spPr>
          <a:xfrm>
            <a:off x="3566160" y="1847088"/>
            <a:ext cx="8076895" cy="841248"/>
          </a:xfrm>
          <a:prstGeom prst="roundRect">
            <a:avLst>
              <a:gd name="adj" fmla="val 1304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messages-square-FFFFFF.png"/>
          <p:cNvPicPr>
            <a:picLocks noChangeAspect="1"/>
          </p:cNvPicPr>
          <p:nvPr/>
        </p:nvPicPr>
        <p:blipFill>
          <a:blip r:embed="rId5"/>
          <a:stretch>
            <a:fillRect/>
          </a:stretch>
        </p:blipFill>
        <p:spPr>
          <a:xfrm>
            <a:off x="3840480" y="2093976"/>
            <a:ext cx="347472" cy="347472"/>
          </a:xfrm>
          <a:prstGeom prst="rect">
            <a:avLst/>
          </a:prstGeom>
        </p:spPr>
      </p:pic>
      <p:sp>
        <p:nvSpPr>
          <p:cNvPr id="28" name="TextBox 27"/>
          <p:cNvSpPr txBox="1"/>
          <p:nvPr/>
        </p:nvSpPr>
        <p:spPr>
          <a:xfrm>
            <a:off x="4389120" y="1956816"/>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FFFFFF"/>
                </a:solidFill>
                <a:latin typeface="Arial"/>
              </a:rPr>
              <a:t>Travel Coordinator</a:t>
            </a:r>
          </a:p>
        </p:txBody>
      </p:sp>
      <p:sp>
        <p:nvSpPr>
          <p:cNvPr id="29" name="TextBox 28"/>
          <p:cNvSpPr txBox="1"/>
          <p:nvPr/>
        </p:nvSpPr>
        <p:spPr>
          <a:xfrm>
            <a:off x="7040879" y="1956816"/>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C9D3E3"/>
                </a:solidFill>
                <a:latin typeface="Arial"/>
              </a:rPr>
              <a:t>Chats with the traveller, builds the TripBrief, asks for missing facts</a:t>
            </a:r>
          </a:p>
        </p:txBody>
      </p:sp>
      <p:sp>
        <p:nvSpPr>
          <p:cNvPr id="30" name="Rounded Rectangle 29"/>
          <p:cNvSpPr/>
          <p:nvPr/>
        </p:nvSpPr>
        <p:spPr>
          <a:xfrm>
            <a:off x="3566160" y="2871216"/>
            <a:ext cx="8076895" cy="841248"/>
          </a:xfrm>
          <a:prstGeom prst="roundRect">
            <a:avLst>
              <a:gd name="adj" fmla="val 130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workflow-14213D.png"/>
          <p:cNvPicPr>
            <a:picLocks noChangeAspect="1"/>
          </p:cNvPicPr>
          <p:nvPr/>
        </p:nvPicPr>
        <p:blipFill>
          <a:blip r:embed="rId6"/>
          <a:stretch>
            <a:fillRect/>
          </a:stretch>
        </p:blipFill>
        <p:spPr>
          <a:xfrm>
            <a:off x="3840480" y="3118104"/>
            <a:ext cx="347472" cy="347472"/>
          </a:xfrm>
          <a:prstGeom prst="rect">
            <a:avLst/>
          </a:prstGeom>
        </p:spPr>
      </p:pic>
      <p:sp>
        <p:nvSpPr>
          <p:cNvPr id="32" name="TextBox 31"/>
          <p:cNvSpPr txBox="1"/>
          <p:nvPr/>
        </p:nvSpPr>
        <p:spPr>
          <a:xfrm>
            <a:off x="4389120" y="2980944"/>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14213D"/>
                </a:solidFill>
                <a:latin typeface="Arial"/>
              </a:rPr>
              <a:t>Planning Supervisor</a:t>
            </a:r>
          </a:p>
        </p:txBody>
      </p:sp>
      <p:sp>
        <p:nvSpPr>
          <p:cNvPr id="33" name="TextBox 32"/>
          <p:cNvSpPr txBox="1"/>
          <p:nvPr/>
        </p:nvSpPr>
        <p:spPr>
          <a:xfrm>
            <a:off x="7040879" y="2980944"/>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Picks which specialists each step needs</a:t>
            </a:r>
          </a:p>
        </p:txBody>
      </p:sp>
      <p:sp>
        <p:nvSpPr>
          <p:cNvPr id="34" name="TextBox 33"/>
          <p:cNvSpPr txBox="1"/>
          <p:nvPr/>
        </p:nvSpPr>
        <p:spPr>
          <a:xfrm>
            <a:off x="3566160" y="395020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FIVE SPECIALISTS</a:t>
            </a:r>
          </a:p>
        </p:txBody>
      </p:sp>
      <p:sp>
        <p:nvSpPr>
          <p:cNvPr id="35" name="Rounded Rectangle 34"/>
          <p:cNvSpPr/>
          <p:nvPr/>
        </p:nvSpPr>
        <p:spPr>
          <a:xfrm>
            <a:off x="3566160"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566160"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calendar-days-14213D.png"/>
          <p:cNvPicPr>
            <a:picLocks noChangeAspect="1"/>
          </p:cNvPicPr>
          <p:nvPr/>
        </p:nvPicPr>
        <p:blipFill>
          <a:blip r:embed="rId7"/>
          <a:stretch>
            <a:fillRect/>
          </a:stretch>
        </p:blipFill>
        <p:spPr>
          <a:xfrm>
            <a:off x="3749039" y="4535424"/>
            <a:ext cx="384048" cy="384048"/>
          </a:xfrm>
          <a:prstGeom prst="rect">
            <a:avLst/>
          </a:prstGeom>
        </p:spPr>
      </p:pic>
      <p:sp>
        <p:nvSpPr>
          <p:cNvPr id="38" name="TextBox 37"/>
          <p:cNvSpPr txBox="1"/>
          <p:nvPr/>
        </p:nvSpPr>
        <p:spPr>
          <a:xfrm>
            <a:off x="3749039"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Itinerary</a:t>
            </a:r>
          </a:p>
        </p:txBody>
      </p:sp>
      <p:sp>
        <p:nvSpPr>
          <p:cNvPr id="39" name="TextBox 38"/>
          <p:cNvSpPr txBox="1"/>
          <p:nvPr/>
        </p:nvSpPr>
        <p:spPr>
          <a:xfrm>
            <a:off x="3749039"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Day plan, route checks</a:t>
            </a:r>
          </a:p>
        </p:txBody>
      </p:sp>
      <p:sp>
        <p:nvSpPr>
          <p:cNvPr id="40" name="Rounded Rectangle 39"/>
          <p:cNvSpPr/>
          <p:nvPr/>
        </p:nvSpPr>
        <p:spPr>
          <a:xfrm>
            <a:off x="5207142"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5207142"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plane-14213D.png"/>
          <p:cNvPicPr>
            <a:picLocks noChangeAspect="1"/>
          </p:cNvPicPr>
          <p:nvPr/>
        </p:nvPicPr>
        <p:blipFill>
          <a:blip r:embed="rId8"/>
          <a:stretch>
            <a:fillRect/>
          </a:stretch>
        </p:blipFill>
        <p:spPr>
          <a:xfrm>
            <a:off x="5390022" y="4535424"/>
            <a:ext cx="384048" cy="384048"/>
          </a:xfrm>
          <a:prstGeom prst="rect">
            <a:avLst/>
          </a:prstGeom>
        </p:spPr>
      </p:pic>
      <p:sp>
        <p:nvSpPr>
          <p:cNvPr id="43" name="TextBox 42"/>
          <p:cNvSpPr txBox="1"/>
          <p:nvPr/>
        </p:nvSpPr>
        <p:spPr>
          <a:xfrm>
            <a:off x="5390022"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Transport</a:t>
            </a:r>
          </a:p>
        </p:txBody>
      </p:sp>
      <p:sp>
        <p:nvSpPr>
          <p:cNvPr id="44" name="TextBox 43"/>
          <p:cNvSpPr txBox="1"/>
          <p:nvPr/>
        </p:nvSpPr>
        <p:spPr>
          <a:xfrm>
            <a:off x="5390022"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Flights, rail, local routes</a:t>
            </a:r>
          </a:p>
        </p:txBody>
      </p:sp>
      <p:sp>
        <p:nvSpPr>
          <p:cNvPr id="45" name="Rounded Rectangle 44"/>
          <p:cNvSpPr/>
          <p:nvPr/>
        </p:nvSpPr>
        <p:spPr>
          <a:xfrm>
            <a:off x="6848124"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6848124" y="4297680"/>
            <a:ext cx="1512966"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bed-double-14213D.png"/>
          <p:cNvPicPr>
            <a:picLocks noChangeAspect="1"/>
          </p:cNvPicPr>
          <p:nvPr/>
        </p:nvPicPr>
        <p:blipFill>
          <a:blip r:embed="rId9"/>
          <a:stretch>
            <a:fillRect/>
          </a:stretch>
        </p:blipFill>
        <p:spPr>
          <a:xfrm>
            <a:off x="7031004" y="4535424"/>
            <a:ext cx="384048" cy="384048"/>
          </a:xfrm>
          <a:prstGeom prst="rect">
            <a:avLst/>
          </a:prstGeom>
        </p:spPr>
      </p:pic>
      <p:sp>
        <p:nvSpPr>
          <p:cNvPr id="48" name="TextBox 47"/>
          <p:cNvSpPr txBox="1"/>
          <p:nvPr/>
        </p:nvSpPr>
        <p:spPr>
          <a:xfrm>
            <a:off x="7031004"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Accommodation</a:t>
            </a:r>
          </a:p>
        </p:txBody>
      </p:sp>
      <p:sp>
        <p:nvSpPr>
          <p:cNvPr id="49" name="TextBox 48"/>
          <p:cNvSpPr txBox="1"/>
          <p:nvPr/>
        </p:nvSpPr>
        <p:spPr>
          <a:xfrm>
            <a:off x="7031004"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Stays, room allocation</a:t>
            </a:r>
          </a:p>
        </p:txBody>
      </p:sp>
      <p:sp>
        <p:nvSpPr>
          <p:cNvPr id="50" name="Rounded Rectangle 49"/>
          <p:cNvSpPr/>
          <p:nvPr/>
        </p:nvSpPr>
        <p:spPr>
          <a:xfrm>
            <a:off x="8489106"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8489106"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compass-14213D.png"/>
          <p:cNvPicPr>
            <a:picLocks noChangeAspect="1"/>
          </p:cNvPicPr>
          <p:nvPr/>
        </p:nvPicPr>
        <p:blipFill>
          <a:blip r:embed="rId10"/>
          <a:stretch>
            <a:fillRect/>
          </a:stretch>
        </p:blipFill>
        <p:spPr>
          <a:xfrm>
            <a:off x="8671986" y="4535424"/>
            <a:ext cx="384048" cy="384048"/>
          </a:xfrm>
          <a:prstGeom prst="rect">
            <a:avLst/>
          </a:prstGeom>
        </p:spPr>
      </p:pic>
      <p:sp>
        <p:nvSpPr>
          <p:cNvPr id="53" name="TextBox 52"/>
          <p:cNvSpPr txBox="1"/>
          <p:nvPr/>
        </p:nvSpPr>
        <p:spPr>
          <a:xfrm>
            <a:off x="8671986"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Destination</a:t>
            </a:r>
          </a:p>
        </p:txBody>
      </p:sp>
      <p:sp>
        <p:nvSpPr>
          <p:cNvPr id="54" name="TextBox 53"/>
          <p:cNvSpPr txBox="1"/>
          <p:nvPr/>
        </p:nvSpPr>
        <p:spPr>
          <a:xfrm>
            <a:off x="8671986"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Sights, customs, packing</a:t>
            </a:r>
          </a:p>
        </p:txBody>
      </p:sp>
      <p:sp>
        <p:nvSpPr>
          <p:cNvPr id="55" name="Rounded Rectangle 54"/>
          <p:cNvSpPr/>
          <p:nvPr/>
        </p:nvSpPr>
        <p:spPr>
          <a:xfrm>
            <a:off x="10130088"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0130088"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utensils-14213D.png"/>
          <p:cNvPicPr>
            <a:picLocks noChangeAspect="1"/>
          </p:cNvPicPr>
          <p:nvPr/>
        </p:nvPicPr>
        <p:blipFill>
          <a:blip r:embed="rId11"/>
          <a:stretch>
            <a:fillRect/>
          </a:stretch>
        </p:blipFill>
        <p:spPr>
          <a:xfrm>
            <a:off x="10312968" y="4535424"/>
            <a:ext cx="384048" cy="384048"/>
          </a:xfrm>
          <a:prstGeom prst="rect">
            <a:avLst/>
          </a:prstGeom>
        </p:spPr>
      </p:pic>
      <p:sp>
        <p:nvSpPr>
          <p:cNvPr id="58" name="TextBox 57"/>
          <p:cNvSpPr txBox="1"/>
          <p:nvPr/>
        </p:nvSpPr>
        <p:spPr>
          <a:xfrm>
            <a:off x="10312968"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Dining</a:t>
            </a:r>
          </a:p>
        </p:txBody>
      </p:sp>
      <p:sp>
        <p:nvSpPr>
          <p:cNvPr id="59" name="TextBox 58"/>
          <p:cNvSpPr txBox="1"/>
          <p:nvPr/>
        </p:nvSpPr>
        <p:spPr>
          <a:xfrm>
            <a:off x="10312968"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Venues, dietary needs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ARCHITECTURE</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graph drives the agents, not the other way round</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04 / 24</a:t>
            </a:r>
          </a:p>
        </p:txBody>
      </p:sp>
      <p:sp>
        <p:nvSpPr>
          <p:cNvPr id="14" name="TextBox 13"/>
          <p:cNvSpPr txBox="1"/>
          <p:nvPr/>
        </p:nvSpPr>
        <p:spPr>
          <a:xfrm>
            <a:off x="548640" y="1481328"/>
            <a:ext cx="736092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LANGGRAPH WORKFLOW</a:t>
            </a:r>
          </a:p>
        </p:txBody>
      </p:sp>
      <p:sp>
        <p:nvSpPr>
          <p:cNvPr id="15" name="Rounded Rectangle 14"/>
          <p:cNvSpPr/>
          <p:nvPr/>
        </p:nvSpPr>
        <p:spPr>
          <a:xfrm>
            <a:off x="548640" y="1801368"/>
            <a:ext cx="7360920" cy="1600200"/>
          </a:xfrm>
          <a:prstGeom prst="roundRect">
            <a:avLst>
              <a:gd name="adj" fmla="val 685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workflow.png"/>
          <p:cNvPicPr>
            <a:picLocks noChangeAspect="1"/>
          </p:cNvPicPr>
          <p:nvPr/>
        </p:nvPicPr>
        <p:blipFill>
          <a:blip r:embed="rId3"/>
          <a:stretch>
            <a:fillRect/>
          </a:stretch>
        </p:blipFill>
        <p:spPr>
          <a:xfrm>
            <a:off x="676656" y="2217465"/>
            <a:ext cx="7104888" cy="768004"/>
          </a:xfrm>
          <a:prstGeom prst="rect">
            <a:avLst/>
          </a:prstGeom>
        </p:spPr>
      </p:pic>
      <p:sp>
        <p:nvSpPr>
          <p:cNvPr id="17" name="Oval 16"/>
          <p:cNvSpPr/>
          <p:nvPr/>
        </p:nvSpPr>
        <p:spPr>
          <a:xfrm>
            <a:off x="1711802"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8" name="Oval 17"/>
          <p:cNvSpPr/>
          <p:nvPr/>
        </p:nvSpPr>
        <p:spPr>
          <a:xfrm>
            <a:off x="2919633"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9" name="Oval 18"/>
          <p:cNvSpPr/>
          <p:nvPr/>
        </p:nvSpPr>
        <p:spPr>
          <a:xfrm>
            <a:off x="5086624" y="209566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0" name="Oval 19"/>
          <p:cNvSpPr/>
          <p:nvPr/>
        </p:nvSpPr>
        <p:spPr>
          <a:xfrm>
            <a:off x="640080" y="36850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1024127" y="367588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Plan in stages</a:t>
            </a:r>
          </a:p>
          <a:p>
            <a:pPr algn="l">
              <a:lnSpc>
                <a:spcPct val="115000"/>
              </a:lnSpc>
              <a:spcAft>
                <a:spcPts val="200"/>
              </a:spcAft>
            </a:pPr>
            <a:r>
              <a:rPr sz="1300" b="0" i="0">
                <a:solidFill>
                  <a:srgbClr val="2A3550"/>
                </a:solidFill>
                <a:latin typeface="Arial"/>
              </a:rPr>
              <a:t>Transport, then accommodation, then itinerary and dining, all on one shared board.</a:t>
            </a:r>
          </a:p>
        </p:txBody>
      </p:sp>
      <p:sp>
        <p:nvSpPr>
          <p:cNvPr id="22" name="Oval 21"/>
          <p:cNvSpPr/>
          <p:nvPr/>
        </p:nvSpPr>
        <p:spPr>
          <a:xfrm>
            <a:off x="640080" y="45079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1024127" y="4498848"/>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Code finds conflicts</a:t>
            </a:r>
          </a:p>
          <a:p>
            <a:pPr algn="l">
              <a:lnSpc>
                <a:spcPct val="115000"/>
              </a:lnSpc>
              <a:spcAft>
                <a:spcPts val="200"/>
              </a:spcAft>
            </a:pPr>
            <a:r>
              <a:rPr sz="1300" b="0" i="0">
                <a:solidFill>
                  <a:srgbClr val="2A3550"/>
                </a:solidFill>
                <a:latin typeface="Arial"/>
              </a:rPr>
              <a:t>Budget, time and route conflicts are detected in code, not by a model.</a:t>
            </a:r>
          </a:p>
        </p:txBody>
      </p:sp>
      <p:sp>
        <p:nvSpPr>
          <p:cNvPr id="24" name="Oval 23"/>
          <p:cNvSpPr/>
          <p:nvPr/>
        </p:nvSpPr>
        <p:spPr>
          <a:xfrm>
            <a:off x="640080" y="533095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1024127" y="532180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Targeted revision</a:t>
            </a:r>
          </a:p>
          <a:p>
            <a:pPr algn="l">
              <a:lnSpc>
                <a:spcPct val="115000"/>
              </a:lnSpc>
              <a:spcAft>
                <a:spcPts val="200"/>
              </a:spcAft>
            </a:pPr>
            <a:r>
              <a:rPr sz="1300" b="0" i="0">
                <a:solidFill>
                  <a:srgbClr val="2A3550"/>
                </a:solidFill>
                <a:latin typeface="Arial"/>
              </a:rPr>
              <a:t>Only the agents involved revise, at most three rounds, kept only if the plan improves.</a:t>
            </a:r>
          </a:p>
        </p:txBody>
      </p:sp>
      <p:sp>
        <p:nvSpPr>
          <p:cNvPr id="26" name="TextBox 25"/>
          <p:cNvSpPr txBox="1"/>
          <p:nvPr/>
        </p:nvSpPr>
        <p:spPr>
          <a:xfrm>
            <a:off x="818388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REQUEST PATH</a:t>
            </a:r>
          </a:p>
        </p:txBody>
      </p:sp>
      <p:sp>
        <p:nvSpPr>
          <p:cNvPr id="27" name="Rounded Rectangle 26"/>
          <p:cNvSpPr/>
          <p:nvPr/>
        </p:nvSpPr>
        <p:spPr>
          <a:xfrm>
            <a:off x="8183880" y="1801368"/>
            <a:ext cx="3459175" cy="4434840"/>
          </a:xfrm>
          <a:prstGeom prst="roundRect">
            <a:avLst>
              <a:gd name="adj" fmla="val 317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architecture.png"/>
          <p:cNvPicPr>
            <a:picLocks noChangeAspect="1"/>
          </p:cNvPicPr>
          <p:nvPr/>
        </p:nvPicPr>
        <p:blipFill>
          <a:blip r:embed="rId4"/>
          <a:stretch>
            <a:fillRect/>
          </a:stretch>
        </p:blipFill>
        <p:spPr>
          <a:xfrm>
            <a:off x="8409998" y="1929384"/>
            <a:ext cx="3006938" cy="417880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A · Ziqi He</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1F7A8C"/>
                </a:solidFill>
                <a:latin typeface="Arial"/>
              </a:rPr>
              <a:t>INDIVIDUAL BEHAVIOUR MODELS</a:t>
            </a:r>
          </a:p>
        </p:txBody>
      </p:sp>
      <p:sp>
        <p:nvSpPr>
          <p:cNvPr id="5" name="Oval 4"/>
          <p:cNvSpPr/>
          <p:nvPr/>
        </p:nvSpPr>
        <p:spPr>
          <a:xfrm>
            <a:off x="10051999" y="347472"/>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[A's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05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1F7A8C"/>
                </a:solidFill>
                <a:latin typeface="Arial"/>
              </a:rPr>
              <a:t>Ad hoc requirement  </a:t>
            </a:r>
            <a:r>
              <a:rPr sz="1300" b="0" i="1">
                <a:solidFill>
                  <a:srgbClr val="5A6478"/>
                </a:solidFill>
                <a:latin typeface="Arial"/>
              </a:rPr>
              <a:t>[AH-A1, one line in the traveller's words]</a:t>
            </a:r>
            <a:r>
              <a:rPr sz="1300" b="1" i="0">
                <a:solidFill>
                  <a:srgbClr val="1F7A8C"/>
                </a:solidFill>
                <a:latin typeface="Arial"/>
              </a:rPr>
              <a:t>      Use case  </a:t>
            </a:r>
            <a:r>
              <a:rPr sz="1300" b="0" i="1">
                <a:solidFill>
                  <a:srgbClr val="5A6478"/>
                </a:solidFill>
                <a:latin typeface="Arial"/>
              </a:rPr>
              <a:t>[UC-Ax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1F7A8C"/>
                </a:solidFill>
                <a:latin typeface="Arial"/>
              </a:rPr>
              <a:t>LLM step  </a:t>
            </a:r>
            <a:r>
              <a:rPr sz="1000" b="0" i="1">
                <a:solidFill>
                  <a:srgbClr val="5A6478"/>
                </a:solidFill>
                <a:latin typeface="Arial"/>
              </a:rPr>
              <a:t>[where it sits]  </a:t>
            </a:r>
            <a:r>
              <a:rPr sz="1000" b="1" i="0">
                <a:solidFill>
                  <a:srgbClr val="1F7A8C"/>
                </a:solidFill>
                <a:latin typeface="Arial"/>
              </a:rPr>
              <a:t>Code check  </a:t>
            </a:r>
            <a:r>
              <a:rPr sz="1000" b="0" i="1">
                <a:solidFill>
                  <a:srgbClr val="5A6478"/>
                </a:solidFill>
                <a:latin typeface="Arial"/>
              </a:rPr>
              <a:t>[what validates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REQUIREMENT CLASSIFICATION</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Each member owns two core features and one optional</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06 / 24</a:t>
            </a:r>
          </a:p>
        </p:txBody>
      </p:sp>
      <p:sp>
        <p:nvSpPr>
          <p:cNvPr id="14" name="TextBox 13"/>
          <p:cNvSpPr txBox="1"/>
          <p:nvPr/>
        </p:nvSpPr>
        <p:spPr>
          <a:xfrm>
            <a:off x="30632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1</a:t>
            </a:r>
          </a:p>
        </p:txBody>
      </p:sp>
      <p:sp>
        <p:nvSpPr>
          <p:cNvPr id="15" name="TextBox 14"/>
          <p:cNvSpPr txBox="1"/>
          <p:nvPr/>
        </p:nvSpPr>
        <p:spPr>
          <a:xfrm>
            <a:off x="617220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2</a:t>
            </a:r>
          </a:p>
        </p:txBody>
      </p:sp>
      <p:sp>
        <p:nvSpPr>
          <p:cNvPr id="16" name="TextBox 15"/>
          <p:cNvSpPr txBox="1"/>
          <p:nvPr/>
        </p:nvSpPr>
        <p:spPr>
          <a:xfrm>
            <a:off x="928116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OPTIONAL</a:t>
            </a:r>
          </a:p>
        </p:txBody>
      </p:sp>
      <p:sp>
        <p:nvSpPr>
          <p:cNvPr id="17" name="Rounded Rectangle 16"/>
          <p:cNvSpPr/>
          <p:nvPr/>
        </p:nvSpPr>
        <p:spPr>
          <a:xfrm>
            <a:off x="548640" y="182880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3232" y="1956816"/>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9" name="TextBox 18"/>
          <p:cNvSpPr txBox="1"/>
          <p:nvPr/>
        </p:nvSpPr>
        <p:spPr>
          <a:xfrm>
            <a:off x="1115568" y="182880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Ziqi He</a:t>
            </a:r>
          </a:p>
        </p:txBody>
      </p:sp>
      <p:sp>
        <p:nvSpPr>
          <p:cNvPr id="20" name="TextBox 19"/>
          <p:cNvSpPr txBox="1"/>
          <p:nvPr/>
        </p:nvSpPr>
        <p:spPr>
          <a:xfrm>
            <a:off x="306324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Brief extraction and clarifying questions</a:t>
            </a:r>
          </a:p>
        </p:txBody>
      </p:sp>
      <p:sp>
        <p:nvSpPr>
          <p:cNvPr id="21" name="TextBox 20"/>
          <p:cNvSpPr txBox="1"/>
          <p:nvPr/>
        </p:nvSpPr>
        <p:spPr>
          <a:xfrm>
            <a:off x="617220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Orchestration, conflicts, targeted revision</a:t>
            </a:r>
          </a:p>
        </p:txBody>
      </p:sp>
      <p:sp>
        <p:nvSpPr>
          <p:cNvPr id="22" name="Rounded Rectangle 21"/>
          <p:cNvSpPr/>
          <p:nvPr/>
        </p:nvSpPr>
        <p:spPr>
          <a:xfrm>
            <a:off x="9281160" y="196596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Agent Lab and Failure Lab</a:t>
            </a:r>
          </a:p>
        </p:txBody>
      </p:sp>
      <p:sp>
        <p:nvSpPr>
          <p:cNvPr id="23" name="Rounded Rectangle 22"/>
          <p:cNvSpPr/>
          <p:nvPr/>
        </p:nvSpPr>
        <p:spPr>
          <a:xfrm>
            <a:off x="548640" y="246888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13232" y="2596896"/>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25" name="TextBox 24"/>
          <p:cNvSpPr txBox="1"/>
          <p:nvPr/>
        </p:nvSpPr>
        <p:spPr>
          <a:xfrm>
            <a:off x="1115568" y="246888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Tingsong Jin</a:t>
            </a:r>
          </a:p>
        </p:txBody>
      </p:sp>
      <p:sp>
        <p:nvSpPr>
          <p:cNvPr id="26" name="TextBox 25"/>
          <p:cNvSpPr txBox="1"/>
          <p:nvPr/>
        </p:nvSpPr>
        <p:spPr>
          <a:xfrm>
            <a:off x="306324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Itinerary with route feasibility</a:t>
            </a:r>
          </a:p>
        </p:txBody>
      </p:sp>
      <p:sp>
        <p:nvSpPr>
          <p:cNvPr id="27" name="TextBox 26"/>
          <p:cNvSpPr txBox="1"/>
          <p:nvPr/>
        </p:nvSpPr>
        <p:spPr>
          <a:xfrm>
            <a:off x="617220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Flights, rail and local transport</a:t>
            </a:r>
          </a:p>
        </p:txBody>
      </p:sp>
      <p:sp>
        <p:nvSpPr>
          <p:cNvPr id="28" name="Rounded Rectangle 27"/>
          <p:cNvSpPr/>
          <p:nvPr/>
        </p:nvSpPr>
        <p:spPr>
          <a:xfrm>
            <a:off x="9281160" y="260604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Traveller-chosen leg mode</a:t>
            </a:r>
          </a:p>
        </p:txBody>
      </p:sp>
      <p:sp>
        <p:nvSpPr>
          <p:cNvPr id="29" name="Rounded Rectangle 28"/>
          <p:cNvSpPr/>
          <p:nvPr/>
        </p:nvSpPr>
        <p:spPr>
          <a:xfrm>
            <a:off x="548640" y="310896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13232" y="323697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31" name="TextBox 30"/>
          <p:cNvSpPr txBox="1"/>
          <p:nvPr/>
        </p:nvSpPr>
        <p:spPr>
          <a:xfrm>
            <a:off x="1115568" y="310896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Yi Qiao</a:t>
            </a:r>
          </a:p>
        </p:txBody>
      </p:sp>
      <p:sp>
        <p:nvSpPr>
          <p:cNvPr id="32" name="TextBox 31"/>
          <p:cNvSpPr txBox="1"/>
          <p:nvPr/>
        </p:nvSpPr>
        <p:spPr>
          <a:xfrm>
            <a:off x="306324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Accommodation, individual or group</a:t>
            </a:r>
          </a:p>
        </p:txBody>
      </p:sp>
      <p:sp>
        <p:nvSpPr>
          <p:cNvPr id="33" name="TextBox 32"/>
          <p:cNvSpPr txBox="1"/>
          <p:nvPr/>
        </p:nvSpPr>
        <p:spPr>
          <a:xfrm>
            <a:off x="617220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Budget management</a:t>
            </a:r>
          </a:p>
        </p:txBody>
      </p:sp>
      <p:sp>
        <p:nvSpPr>
          <p:cNvPr id="34" name="Rounded Rectangle 33"/>
          <p:cNvSpPr/>
          <p:nvPr/>
        </p:nvSpPr>
        <p:spPr>
          <a:xfrm>
            <a:off x="9281160" y="324612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Keep a booked stay</a:t>
            </a:r>
          </a:p>
        </p:txBody>
      </p:sp>
      <p:sp>
        <p:nvSpPr>
          <p:cNvPr id="35" name="Rounded Rectangle 34"/>
          <p:cNvSpPr/>
          <p:nvPr/>
        </p:nvSpPr>
        <p:spPr>
          <a:xfrm>
            <a:off x="548640" y="3749039"/>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13232" y="3877055"/>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7" name="TextBox 36"/>
          <p:cNvSpPr txBox="1"/>
          <p:nvPr/>
        </p:nvSpPr>
        <p:spPr>
          <a:xfrm>
            <a:off x="1115568" y="3749039"/>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Jiahang Bian</a:t>
            </a:r>
          </a:p>
        </p:txBody>
      </p:sp>
      <p:sp>
        <p:nvSpPr>
          <p:cNvPr id="38" name="TextBox 37"/>
          <p:cNvSpPr txBox="1"/>
          <p:nvPr/>
        </p:nvSpPr>
        <p:spPr>
          <a:xfrm>
            <a:off x="306324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Destination guide</a:t>
            </a:r>
          </a:p>
        </p:txBody>
      </p:sp>
      <p:sp>
        <p:nvSpPr>
          <p:cNvPr id="39" name="TextBox 38"/>
          <p:cNvSpPr txBox="1"/>
          <p:nvPr/>
        </p:nvSpPr>
        <p:spPr>
          <a:xfrm>
            <a:off x="617220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Dining with dietary needs</a:t>
            </a:r>
          </a:p>
        </p:txBody>
      </p:sp>
      <p:sp>
        <p:nvSpPr>
          <p:cNvPr id="40" name="Rounded Rectangle 39"/>
          <p:cNvSpPr/>
          <p:nvPr/>
        </p:nvSpPr>
        <p:spPr>
          <a:xfrm>
            <a:off x="9281160" y="388620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Weather-based packing</a:t>
            </a:r>
          </a:p>
        </p:txBody>
      </p:sp>
      <p:sp>
        <p:nvSpPr>
          <p:cNvPr id="41" name="Rounded Rectangle 40"/>
          <p:cNvSpPr/>
          <p:nvPr/>
        </p:nvSpPr>
        <p:spPr>
          <a:xfrm>
            <a:off x="548640" y="438912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713232" y="4517136"/>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43" name="TextBox 42"/>
          <p:cNvSpPr txBox="1"/>
          <p:nvPr/>
        </p:nvSpPr>
        <p:spPr>
          <a:xfrm>
            <a:off x="1115568" y="438912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Weihao Wang</a:t>
            </a:r>
          </a:p>
        </p:txBody>
      </p:sp>
      <p:sp>
        <p:nvSpPr>
          <p:cNvPr id="44" name="TextBox 43"/>
          <p:cNvSpPr txBox="1"/>
          <p:nvPr/>
        </p:nvSpPr>
        <p:spPr>
          <a:xfrm>
            <a:off x="306324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Chat, timeline and map editing</a:t>
            </a:r>
          </a:p>
        </p:txBody>
      </p:sp>
      <p:sp>
        <p:nvSpPr>
          <p:cNvPr id="45" name="TextBox 44"/>
          <p:cNvSpPr txBox="1"/>
          <p:nvPr/>
        </p:nvSpPr>
        <p:spPr>
          <a:xfrm>
            <a:off x="617220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Preferences and memory</a:t>
            </a:r>
          </a:p>
        </p:txBody>
      </p:sp>
      <p:sp>
        <p:nvSpPr>
          <p:cNvPr id="46" name="Rounded Rectangle 45"/>
          <p:cNvSpPr/>
          <p:nvPr/>
        </p:nvSpPr>
        <p:spPr>
          <a:xfrm>
            <a:off x="9281160" y="452628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Accounts and cloud sync</a:t>
            </a:r>
          </a:p>
        </p:txBody>
      </p:sp>
      <p:sp>
        <p:nvSpPr>
          <p:cNvPr id="47" name="Rounded Rectangle 46"/>
          <p:cNvSpPr/>
          <p:nvPr/>
        </p:nvSpPr>
        <p:spPr>
          <a:xfrm>
            <a:off x="548640" y="5184648"/>
            <a:ext cx="11094415" cy="1005840"/>
          </a:xfrm>
          <a:prstGeom prst="roundRect">
            <a:avLst>
              <a:gd name="adj" fmla="val 10909"/>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scale-F2A65A.png"/>
          <p:cNvPicPr>
            <a:picLocks noChangeAspect="1"/>
          </p:cNvPicPr>
          <p:nvPr/>
        </p:nvPicPr>
        <p:blipFill>
          <a:blip r:embed="rId3"/>
          <a:stretch>
            <a:fillRect/>
          </a:stretch>
        </p:blipFill>
        <p:spPr>
          <a:xfrm>
            <a:off x="868680" y="5477256"/>
            <a:ext cx="420624" cy="420624"/>
          </a:xfrm>
          <a:prstGeom prst="rect">
            <a:avLst/>
          </a:prstGeom>
        </p:spPr>
      </p:pic>
      <p:sp>
        <p:nvSpPr>
          <p:cNvPr id="49" name="TextBox 48"/>
          <p:cNvSpPr txBox="1"/>
          <p:nvPr/>
        </p:nvSpPr>
        <p:spPr>
          <a:xfrm>
            <a:off x="1554480" y="5276088"/>
            <a:ext cx="2926080" cy="822960"/>
          </a:xfrm>
          <a:prstGeom prst="rect">
            <a:avLst/>
          </a:prstGeom>
          <a:noFill/>
        </p:spPr>
        <p:txBody>
          <a:bodyPr wrap="square" lIns="0" rIns="0" tIns="0" bIns="0" anchor="ctr">
            <a:spAutoFit/>
          </a:bodyPr>
          <a:lstStyle/>
          <a:p>
            <a:pPr algn="l">
              <a:lnSpc>
                <a:spcPct val="115000"/>
              </a:lnSpc>
              <a:spcAft>
                <a:spcPts val="0"/>
              </a:spcAft>
            </a:pPr>
            <a:r>
              <a:rPr sz="2000" b="1" i="0">
                <a:solidFill>
                  <a:srgbClr val="FFFFFF"/>
                </a:solidFill>
                <a:latin typeface="Georgia"/>
              </a:rPr>
              <a:t>Models choose,
code decides.</a:t>
            </a:r>
          </a:p>
        </p:txBody>
      </p:sp>
      <p:sp>
        <p:nvSpPr>
          <p:cNvPr id="50" name="TextBox 49"/>
          <p:cNvSpPr txBox="1"/>
          <p:nvPr/>
        </p:nvSpPr>
        <p:spPr>
          <a:xfrm>
            <a:off x="4572000" y="5276088"/>
            <a:ext cx="6796735" cy="822960"/>
          </a:xfrm>
          <a:prstGeom prst="rect">
            <a:avLst/>
          </a:prstGeom>
          <a:noFill/>
        </p:spPr>
        <p:txBody>
          <a:bodyPr wrap="square" lIns="0" rIns="0" tIns="0" bIns="0" anchor="ctr">
            <a:spAutoFit/>
          </a:bodyPr>
          <a:lstStyle/>
          <a:p>
            <a:pPr algn="l">
              <a:lnSpc>
                <a:spcPct val="115000"/>
              </a:lnSpc>
              <a:spcAft>
                <a:spcPts val="0"/>
              </a:spcAft>
            </a:pPr>
            <a:r>
              <a:rPr sz="1400" b="0" i="0">
                <a:solidFill>
                  <a:srgbClr val="C9D3E3"/>
                </a:solidFill>
                <a:latin typeface="Arial"/>
              </a:rPr>
              <a:t>Agreed scope: a single-user planner with AUD estimates; no booking or payment. No invented prices, no relaxed preferences.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FEATURE MODEL</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Seven feature groups with their constraints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07 / 24</a:t>
            </a:r>
          </a:p>
        </p:txBody>
      </p:sp>
      <p:sp>
        <p:nvSpPr>
          <p:cNvPr id="14" name="Rounded Rectangle 13"/>
          <p:cNvSpPr/>
          <p:nvPr/>
        </p:nvSpPr>
        <p:spPr>
          <a:xfrm>
            <a:off x="548640"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messages-square-C2571A.png"/>
          <p:cNvPicPr>
            <a:picLocks noChangeAspect="1"/>
          </p:cNvPicPr>
          <p:nvPr/>
        </p:nvPicPr>
        <p:blipFill>
          <a:blip r:embed="rId3"/>
          <a:stretch>
            <a:fillRect/>
          </a:stretch>
        </p:blipFill>
        <p:spPr>
          <a:xfrm>
            <a:off x="749808" y="1664208"/>
            <a:ext cx="292608" cy="292608"/>
          </a:xfrm>
          <a:prstGeom prst="rect">
            <a:avLst/>
          </a:prstGeom>
        </p:spPr>
      </p:pic>
      <p:sp>
        <p:nvSpPr>
          <p:cNvPr id="16" name="TextBox 15"/>
          <p:cNvSpPr txBox="1"/>
          <p:nvPr/>
        </p:nvSpPr>
        <p:spPr>
          <a:xfrm>
            <a:off x="1152144"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Conversation</a:t>
            </a:r>
          </a:p>
        </p:txBody>
      </p:sp>
      <p:sp>
        <p:nvSpPr>
          <p:cNvPr id="17" name="TextBox 16"/>
          <p:cNvSpPr txBox="1"/>
          <p:nvPr/>
        </p:nvSpPr>
        <p:spPr>
          <a:xfrm>
            <a:off x="749808"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Chat intake</a:t>
            </a:r>
          </a:p>
          <a:p>
            <a:pPr algn="l">
              <a:lnSpc>
                <a:spcPct val="112000"/>
              </a:lnSpc>
              <a:spcAft>
                <a:spcPts val="100"/>
              </a:spcAft>
            </a:pPr>
            <a:r>
              <a:rPr sz="1150" b="0" i="0">
                <a:solidFill>
                  <a:srgbClr val="2A3550"/>
                </a:solidFill>
                <a:latin typeface="Arial"/>
              </a:rPr>
              <a:t>● Brief extraction</a:t>
            </a:r>
          </a:p>
          <a:p>
            <a:pPr algn="l">
              <a:lnSpc>
                <a:spcPct val="112000"/>
              </a:lnSpc>
              <a:spcAft>
                <a:spcPts val="100"/>
              </a:spcAft>
            </a:pPr>
            <a:r>
              <a:rPr sz="1150" b="0" i="0">
                <a:solidFill>
                  <a:srgbClr val="2A3550"/>
                </a:solidFill>
                <a:latin typeface="Arial"/>
              </a:rPr>
              <a:t>   ⊕ LLM | rule parser</a:t>
            </a:r>
          </a:p>
          <a:p>
            <a:pPr algn="l">
              <a:lnSpc>
                <a:spcPct val="112000"/>
              </a:lnSpc>
              <a:spcAft>
                <a:spcPts val="100"/>
              </a:spcAft>
            </a:pPr>
            <a:r>
              <a:rPr sz="1150" b="0" i="0">
                <a:solidFill>
                  <a:srgbClr val="2A3550"/>
                </a:solidFill>
                <a:latin typeface="Arial"/>
              </a:rPr>
              <a:t>● Clarifying questions</a:t>
            </a:r>
          </a:p>
          <a:p>
            <a:pPr algn="l">
              <a:lnSpc>
                <a:spcPct val="112000"/>
              </a:lnSpc>
              <a:spcAft>
                <a:spcPts val="100"/>
              </a:spcAft>
            </a:pPr>
            <a:r>
              <a:rPr sz="1150" b="0" i="0">
                <a:solidFill>
                  <a:srgbClr val="2A3550"/>
                </a:solidFill>
                <a:latin typeface="Arial"/>
              </a:rPr>
              <a:t>○ Attachments</a:t>
            </a:r>
          </a:p>
        </p:txBody>
      </p:sp>
      <p:sp>
        <p:nvSpPr>
          <p:cNvPr id="18" name="Rounded Rectangle 17"/>
          <p:cNvSpPr/>
          <p:nvPr/>
        </p:nvSpPr>
        <p:spPr>
          <a:xfrm>
            <a:off x="3363391"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workflow-C2571A.png"/>
          <p:cNvPicPr>
            <a:picLocks noChangeAspect="1"/>
          </p:cNvPicPr>
          <p:nvPr/>
        </p:nvPicPr>
        <p:blipFill>
          <a:blip r:embed="rId4"/>
          <a:stretch>
            <a:fillRect/>
          </a:stretch>
        </p:blipFill>
        <p:spPr>
          <a:xfrm>
            <a:off x="3564559" y="1664208"/>
            <a:ext cx="292608" cy="292608"/>
          </a:xfrm>
          <a:prstGeom prst="rect">
            <a:avLst/>
          </a:prstGeom>
        </p:spPr>
      </p:pic>
      <p:sp>
        <p:nvSpPr>
          <p:cNvPr id="20" name="TextBox 19"/>
          <p:cNvSpPr txBox="1"/>
          <p:nvPr/>
        </p:nvSpPr>
        <p:spPr>
          <a:xfrm>
            <a:off x="3966895"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Multi-agent planning</a:t>
            </a:r>
          </a:p>
        </p:txBody>
      </p:sp>
      <p:sp>
        <p:nvSpPr>
          <p:cNvPr id="21" name="TextBox 20"/>
          <p:cNvSpPr txBox="1"/>
          <p:nvPr/>
        </p:nvSpPr>
        <p:spPr>
          <a:xfrm>
            <a:off x="3564559"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Supervisor delegation</a:t>
            </a:r>
          </a:p>
          <a:p>
            <a:pPr algn="l">
              <a:lnSpc>
                <a:spcPct val="112000"/>
              </a:lnSpc>
              <a:spcAft>
                <a:spcPts val="100"/>
              </a:spcAft>
            </a:pPr>
            <a:r>
              <a:rPr sz="1150" b="0" i="0">
                <a:solidFill>
                  <a:srgbClr val="2A3550"/>
                </a:solidFill>
                <a:latin typeface="Arial"/>
              </a:rPr>
              <a:t>● Staged planning board</a:t>
            </a:r>
          </a:p>
          <a:p>
            <a:pPr algn="l">
              <a:lnSpc>
                <a:spcPct val="112000"/>
              </a:lnSpc>
              <a:spcAft>
                <a:spcPts val="100"/>
              </a:spcAft>
            </a:pPr>
            <a:r>
              <a:rPr sz="1150" b="0" i="0">
                <a:solidFill>
                  <a:srgbClr val="2A3550"/>
                </a:solidFill>
                <a:latin typeface="Arial"/>
              </a:rPr>
              <a:t>● Conflict detection</a:t>
            </a:r>
          </a:p>
          <a:p>
            <a:pPr algn="l">
              <a:lnSpc>
                <a:spcPct val="112000"/>
              </a:lnSpc>
              <a:spcAft>
                <a:spcPts val="100"/>
              </a:spcAft>
            </a:pPr>
            <a:r>
              <a:rPr sz="1150" b="0" i="0">
                <a:solidFill>
                  <a:srgbClr val="2A3550"/>
                </a:solidFill>
                <a:latin typeface="Arial"/>
              </a:rPr>
              <a:t>   ⊗ budget, time, geography, infeasible</a:t>
            </a:r>
          </a:p>
          <a:p>
            <a:pPr algn="l">
              <a:lnSpc>
                <a:spcPct val="112000"/>
              </a:lnSpc>
              <a:spcAft>
                <a:spcPts val="100"/>
              </a:spcAft>
            </a:pPr>
            <a:r>
              <a:rPr sz="1150" b="0" i="0">
                <a:solidFill>
                  <a:srgbClr val="2A3550"/>
                </a:solidFill>
                <a:latin typeface="Arial"/>
              </a:rPr>
              <a:t>● Targeted revision ≤ 3</a:t>
            </a:r>
          </a:p>
        </p:txBody>
      </p:sp>
      <p:sp>
        <p:nvSpPr>
          <p:cNvPr id="22" name="Rounded Rectangle 21"/>
          <p:cNvSpPr/>
          <p:nvPr/>
        </p:nvSpPr>
        <p:spPr>
          <a:xfrm>
            <a:off x="6178143"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boxes-C2571A.png"/>
          <p:cNvPicPr>
            <a:picLocks noChangeAspect="1"/>
          </p:cNvPicPr>
          <p:nvPr/>
        </p:nvPicPr>
        <p:blipFill>
          <a:blip r:embed="rId5"/>
          <a:stretch>
            <a:fillRect/>
          </a:stretch>
        </p:blipFill>
        <p:spPr>
          <a:xfrm>
            <a:off x="6379311" y="1664208"/>
            <a:ext cx="292608" cy="292608"/>
          </a:xfrm>
          <a:prstGeom prst="rect">
            <a:avLst/>
          </a:prstGeom>
        </p:spPr>
      </p:pic>
      <p:sp>
        <p:nvSpPr>
          <p:cNvPr id="24" name="TextBox 23"/>
          <p:cNvSpPr txBox="1"/>
          <p:nvPr/>
        </p:nvSpPr>
        <p:spPr>
          <a:xfrm>
            <a:off x="6781647"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roles</a:t>
            </a:r>
          </a:p>
        </p:txBody>
      </p:sp>
      <p:sp>
        <p:nvSpPr>
          <p:cNvPr id="25" name="TextBox 24"/>
          <p:cNvSpPr txBox="1"/>
          <p:nvPr/>
        </p:nvSpPr>
        <p:spPr>
          <a:xfrm>
            <a:off x="6379311"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Itinerary  ● Dining</a:t>
            </a:r>
          </a:p>
          <a:p>
            <a:pPr algn="l">
              <a:lnSpc>
                <a:spcPct val="112000"/>
              </a:lnSpc>
              <a:spcAft>
                <a:spcPts val="100"/>
              </a:spcAft>
            </a:pPr>
            <a:r>
              <a:rPr sz="1150" b="0" i="0">
                <a:solidFill>
                  <a:srgbClr val="2A3550"/>
                </a:solidFill>
                <a:latin typeface="Arial"/>
              </a:rPr>
              <a:t>● Transport</a:t>
            </a:r>
          </a:p>
          <a:p>
            <a:pPr algn="l">
              <a:lnSpc>
                <a:spcPct val="112000"/>
              </a:lnSpc>
              <a:spcAft>
                <a:spcPts val="100"/>
              </a:spcAft>
            </a:pPr>
            <a:r>
              <a:rPr sz="1150" b="0" i="0">
                <a:solidFill>
                  <a:srgbClr val="2A3550"/>
                </a:solidFill>
                <a:latin typeface="Arial"/>
              </a:rPr>
              <a:t>   ○ Traveller arranges flights</a:t>
            </a:r>
          </a:p>
          <a:p>
            <a:pPr algn="l">
              <a:lnSpc>
                <a:spcPct val="112000"/>
              </a:lnSpc>
              <a:spcAft>
                <a:spcPts val="100"/>
              </a:spcAft>
            </a:pPr>
            <a:r>
              <a:rPr sz="1150" b="0" i="0">
                <a:solidFill>
                  <a:srgbClr val="2A3550"/>
                </a:solidFill>
                <a:latin typeface="Arial"/>
              </a:rPr>
              <a:t>● Accommodation</a:t>
            </a:r>
          </a:p>
          <a:p>
            <a:pPr algn="l">
              <a:lnSpc>
                <a:spcPct val="112000"/>
              </a:lnSpc>
              <a:spcAft>
                <a:spcPts val="100"/>
              </a:spcAft>
            </a:pPr>
            <a:r>
              <a:rPr sz="1150" b="0" i="0">
                <a:solidFill>
                  <a:srgbClr val="2A3550"/>
                </a:solidFill>
                <a:latin typeface="Arial"/>
              </a:rPr>
              <a:t>   ⊕ shared | individual  ○ booked</a:t>
            </a:r>
          </a:p>
          <a:p>
            <a:pPr algn="l">
              <a:lnSpc>
                <a:spcPct val="112000"/>
              </a:lnSpc>
              <a:spcAft>
                <a:spcPts val="100"/>
              </a:spcAft>
            </a:pPr>
            <a:r>
              <a:rPr sz="1150" b="0" i="0">
                <a:solidFill>
                  <a:srgbClr val="2A3550"/>
                </a:solidFill>
                <a:latin typeface="Arial"/>
              </a:rPr>
              <a:t>● Destination  ○ packing</a:t>
            </a:r>
          </a:p>
        </p:txBody>
      </p:sp>
      <p:sp>
        <p:nvSpPr>
          <p:cNvPr id="26" name="Rounded Rectangle 25"/>
          <p:cNvSpPr/>
          <p:nvPr/>
        </p:nvSpPr>
        <p:spPr>
          <a:xfrm>
            <a:off x="8992895"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wallet-C2571A.png"/>
          <p:cNvPicPr>
            <a:picLocks noChangeAspect="1"/>
          </p:cNvPicPr>
          <p:nvPr/>
        </p:nvPicPr>
        <p:blipFill>
          <a:blip r:embed="rId6"/>
          <a:stretch>
            <a:fillRect/>
          </a:stretch>
        </p:blipFill>
        <p:spPr>
          <a:xfrm>
            <a:off x="9194063" y="1664208"/>
            <a:ext cx="292608" cy="292608"/>
          </a:xfrm>
          <a:prstGeom prst="rect">
            <a:avLst/>
          </a:prstGeom>
        </p:spPr>
      </p:pic>
      <p:sp>
        <p:nvSpPr>
          <p:cNvPr id="28" name="TextBox 27"/>
          <p:cNvSpPr txBox="1"/>
          <p:nvPr/>
        </p:nvSpPr>
        <p:spPr>
          <a:xfrm>
            <a:off x="9596399"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Budget</a:t>
            </a:r>
          </a:p>
        </p:txBody>
      </p:sp>
      <p:sp>
        <p:nvSpPr>
          <p:cNvPr id="29" name="TextBox 28"/>
          <p:cNvSpPr txBox="1"/>
          <p:nvPr/>
        </p:nvSpPr>
        <p:spPr>
          <a:xfrm>
            <a:off x="9194063"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Cost roll-up in AUD</a:t>
            </a:r>
          </a:p>
          <a:p>
            <a:pPr algn="l">
              <a:lnSpc>
                <a:spcPct val="112000"/>
              </a:lnSpc>
              <a:spcAft>
                <a:spcPts val="100"/>
              </a:spcAft>
            </a:pPr>
            <a:r>
              <a:rPr sz="1150" b="0" i="0">
                <a:solidFill>
                  <a:srgbClr val="2A3550"/>
                </a:solidFill>
                <a:latin typeface="Arial"/>
              </a:rPr>
              <a:t>● Stage allocation</a:t>
            </a:r>
          </a:p>
          <a:p>
            <a:pPr algn="l">
              <a:lnSpc>
                <a:spcPct val="112000"/>
              </a:lnSpc>
              <a:spcAft>
                <a:spcPts val="100"/>
              </a:spcAft>
            </a:pPr>
            <a:r>
              <a:rPr sz="1150" b="0" i="0">
                <a:solidFill>
                  <a:srgbClr val="2A3550"/>
                </a:solidFill>
                <a:latin typeface="Arial"/>
              </a:rPr>
              <a:t>● Minimum-cost floor</a:t>
            </a:r>
          </a:p>
        </p:txBody>
      </p:sp>
      <p:sp>
        <p:nvSpPr>
          <p:cNvPr id="30" name="Rounded Rectangle 29"/>
          <p:cNvSpPr/>
          <p:nvPr/>
        </p:nvSpPr>
        <p:spPr>
          <a:xfrm>
            <a:off x="548640"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shield-check-C2571A.png"/>
          <p:cNvPicPr>
            <a:picLocks noChangeAspect="1"/>
          </p:cNvPicPr>
          <p:nvPr/>
        </p:nvPicPr>
        <p:blipFill>
          <a:blip r:embed="rId7"/>
          <a:stretch>
            <a:fillRect/>
          </a:stretch>
        </p:blipFill>
        <p:spPr>
          <a:xfrm>
            <a:off x="749808" y="3703320"/>
            <a:ext cx="292608" cy="292608"/>
          </a:xfrm>
          <a:prstGeom prst="rect">
            <a:avLst/>
          </a:prstGeom>
        </p:spPr>
      </p:pic>
      <p:sp>
        <p:nvSpPr>
          <p:cNvPr id="32" name="TextBox 31"/>
          <p:cNvSpPr txBox="1"/>
          <p:nvPr/>
        </p:nvSpPr>
        <p:spPr>
          <a:xfrm>
            <a:off x="1152144"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Evidence &amp; tools</a:t>
            </a:r>
          </a:p>
        </p:txBody>
      </p:sp>
      <p:sp>
        <p:nvSpPr>
          <p:cNvPr id="33" name="TextBox 32"/>
          <p:cNvSpPr txBox="1"/>
          <p:nvPr/>
        </p:nvSpPr>
        <p:spPr>
          <a:xfrm>
            <a:off x="749808"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Live providers | mock fixtures</a:t>
            </a:r>
          </a:p>
          <a:p>
            <a:pPr algn="l">
              <a:lnSpc>
                <a:spcPct val="112000"/>
              </a:lnSpc>
              <a:spcAft>
                <a:spcPts val="100"/>
              </a:spcAft>
            </a:pPr>
            <a:r>
              <a:rPr sz="1150" b="0" i="0">
                <a:solidFill>
                  <a:srgbClr val="2A3550"/>
                </a:solidFill>
                <a:latin typeface="Arial"/>
              </a:rPr>
              <a:t>● Provenance labels</a:t>
            </a:r>
          </a:p>
        </p:txBody>
      </p:sp>
      <p:sp>
        <p:nvSpPr>
          <p:cNvPr id="34" name="Rounded Rectangle 33"/>
          <p:cNvSpPr/>
          <p:nvPr/>
        </p:nvSpPr>
        <p:spPr>
          <a:xfrm>
            <a:off x="3363391"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monitor-C2571A.png"/>
          <p:cNvPicPr>
            <a:picLocks noChangeAspect="1"/>
          </p:cNvPicPr>
          <p:nvPr/>
        </p:nvPicPr>
        <p:blipFill>
          <a:blip r:embed="rId8"/>
          <a:stretch>
            <a:fillRect/>
          </a:stretch>
        </p:blipFill>
        <p:spPr>
          <a:xfrm>
            <a:off x="3564559" y="3703320"/>
            <a:ext cx="292608" cy="292608"/>
          </a:xfrm>
          <a:prstGeom prst="rect">
            <a:avLst/>
          </a:prstGeom>
        </p:spPr>
      </p:pic>
      <p:sp>
        <p:nvSpPr>
          <p:cNvPr id="36" name="TextBox 35"/>
          <p:cNvSpPr txBox="1"/>
          <p:nvPr/>
        </p:nvSpPr>
        <p:spPr>
          <a:xfrm>
            <a:off x="3966895"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Workspace</a:t>
            </a:r>
          </a:p>
        </p:txBody>
      </p:sp>
      <p:sp>
        <p:nvSpPr>
          <p:cNvPr id="37" name="TextBox 36"/>
          <p:cNvSpPr txBox="1"/>
          <p:nvPr/>
        </p:nvSpPr>
        <p:spPr>
          <a:xfrm>
            <a:off x="3564559"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Timeline | map</a:t>
            </a:r>
          </a:p>
          <a:p>
            <a:pPr algn="l">
              <a:lnSpc>
                <a:spcPct val="112000"/>
              </a:lnSpc>
              <a:spcAft>
                <a:spcPts val="100"/>
              </a:spcAft>
            </a:pPr>
            <a:r>
              <a:rPr sz="1150" b="0" i="0">
                <a:solidFill>
                  <a:srgbClr val="2A3550"/>
                </a:solidFill>
                <a:latin typeface="Arial"/>
              </a:rPr>
              <a:t>● Plan editing</a:t>
            </a:r>
          </a:p>
          <a:p>
            <a:pPr algn="l">
              <a:lnSpc>
                <a:spcPct val="112000"/>
              </a:lnSpc>
              <a:spcAft>
                <a:spcPts val="100"/>
              </a:spcAft>
            </a:pPr>
            <a:r>
              <a:rPr sz="1150" b="0" i="0">
                <a:solidFill>
                  <a:srgbClr val="2A3550"/>
                </a:solidFill>
                <a:latin typeface="Arial"/>
              </a:rPr>
              <a:t>● Preferences &amp; filters</a:t>
            </a:r>
          </a:p>
          <a:p>
            <a:pPr algn="l">
              <a:lnSpc>
                <a:spcPct val="112000"/>
              </a:lnSpc>
              <a:spcAft>
                <a:spcPts val="100"/>
              </a:spcAft>
            </a:pPr>
            <a:r>
              <a:rPr sz="1150" b="0" i="0">
                <a:solidFill>
                  <a:srgbClr val="2A3550"/>
                </a:solidFill>
                <a:latin typeface="Arial"/>
              </a:rPr>
              <a:t>○ Accounts &amp; cloud sync</a:t>
            </a:r>
          </a:p>
          <a:p>
            <a:pPr algn="l">
              <a:lnSpc>
                <a:spcPct val="112000"/>
              </a:lnSpc>
              <a:spcAft>
                <a:spcPts val="100"/>
              </a:spcAft>
            </a:pPr>
            <a:r>
              <a:rPr sz="1150" b="0" i="0">
                <a:solidFill>
                  <a:srgbClr val="2A3550"/>
                </a:solidFill>
                <a:latin typeface="Arial"/>
              </a:rPr>
              <a:t>○ Agent Lab</a:t>
            </a:r>
          </a:p>
        </p:txBody>
      </p:sp>
      <p:sp>
        <p:nvSpPr>
          <p:cNvPr id="38" name="Rounded Rectangle 37"/>
          <p:cNvSpPr/>
          <p:nvPr/>
        </p:nvSpPr>
        <p:spPr>
          <a:xfrm>
            <a:off x="6178143"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cpu-C2571A.png"/>
          <p:cNvPicPr>
            <a:picLocks noChangeAspect="1"/>
          </p:cNvPicPr>
          <p:nvPr/>
        </p:nvPicPr>
        <p:blipFill>
          <a:blip r:embed="rId9"/>
          <a:stretch>
            <a:fillRect/>
          </a:stretch>
        </p:blipFill>
        <p:spPr>
          <a:xfrm>
            <a:off x="6379311" y="3703320"/>
            <a:ext cx="292608" cy="292608"/>
          </a:xfrm>
          <a:prstGeom prst="rect">
            <a:avLst/>
          </a:prstGeom>
        </p:spPr>
      </p:pic>
      <p:sp>
        <p:nvSpPr>
          <p:cNvPr id="40" name="TextBox 39"/>
          <p:cNvSpPr txBox="1"/>
          <p:nvPr/>
        </p:nvSpPr>
        <p:spPr>
          <a:xfrm>
            <a:off x="6781647"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Memory</a:t>
            </a:r>
          </a:p>
        </p:txBody>
      </p:sp>
      <p:sp>
        <p:nvSpPr>
          <p:cNvPr id="41" name="TextBox 40"/>
          <p:cNvSpPr txBox="1"/>
          <p:nvPr/>
        </p:nvSpPr>
        <p:spPr>
          <a:xfrm>
            <a:off x="6379311"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Session chat history</a:t>
            </a:r>
          </a:p>
          <a:p>
            <a:pPr algn="l">
              <a:lnSpc>
                <a:spcPct val="112000"/>
              </a:lnSpc>
              <a:spcAft>
                <a:spcPts val="100"/>
              </a:spcAft>
            </a:pPr>
            <a:r>
              <a:rPr sz="1150" b="0" i="0">
                <a:solidFill>
                  <a:srgbClr val="2A3550"/>
                </a:solidFill>
                <a:latin typeface="Arial"/>
              </a:rPr>
              <a:t>● Long-term preferences</a:t>
            </a:r>
          </a:p>
          <a:p>
            <a:pPr algn="l">
              <a:lnSpc>
                <a:spcPct val="112000"/>
              </a:lnSpc>
              <a:spcAft>
                <a:spcPts val="100"/>
              </a:spcAft>
            </a:pPr>
            <a:r>
              <a:rPr sz="1150" b="0" i="0">
                <a:solidFill>
                  <a:srgbClr val="2A3550"/>
                </a:solidFill>
                <a:latin typeface="Arial"/>
              </a:rPr>
              <a:t>⊕ Redis REST | in-process</a:t>
            </a:r>
          </a:p>
        </p:txBody>
      </p:sp>
      <p:sp>
        <p:nvSpPr>
          <p:cNvPr id="42" name="Rounded Rectangle 41"/>
          <p:cNvSpPr/>
          <p:nvPr/>
        </p:nvSpPr>
        <p:spPr>
          <a:xfrm>
            <a:off x="8992895" y="3520440"/>
            <a:ext cx="2650159" cy="1874519"/>
          </a:xfrm>
          <a:prstGeom prst="roundRect">
            <a:avLst>
              <a:gd name="adj" fmla="val 58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221495" y="3703320"/>
            <a:ext cx="2238679" cy="1600199"/>
          </a:xfrm>
          <a:prstGeom prst="rect">
            <a:avLst/>
          </a:prstGeom>
          <a:noFill/>
        </p:spPr>
        <p:txBody>
          <a:bodyPr wrap="square" lIns="0" rIns="0" tIns="0" bIns="0" anchor="t">
            <a:spAutoFit/>
          </a:bodyPr>
          <a:lstStyle/>
          <a:p>
            <a:pPr algn="l">
              <a:lnSpc>
                <a:spcPct val="110000"/>
              </a:lnSpc>
              <a:spcAft>
                <a:spcPts val="200"/>
              </a:spcAft>
            </a:pPr>
            <a:r>
              <a:rPr sz="1050" b="1" i="0">
                <a:solidFill>
                  <a:srgbClr val="F2A65A"/>
                </a:solidFill>
                <a:latin typeface="Arial"/>
              </a:rPr>
              <a:t>Notation</a:t>
            </a:r>
          </a:p>
          <a:p>
            <a:pPr algn="l">
              <a:lnSpc>
                <a:spcPct val="110000"/>
              </a:lnSpc>
              <a:spcAft>
                <a:spcPts val="200"/>
              </a:spcAft>
            </a:pPr>
            <a:r>
              <a:rPr sz="1050" b="0" i="0">
                <a:solidFill>
                  <a:srgbClr val="DDE3EE"/>
                </a:solidFill>
                <a:latin typeface="Arial"/>
              </a:rPr>
              <a:t>● mandatory   ○ optional</a:t>
            </a:r>
          </a:p>
          <a:p>
            <a:pPr algn="l">
              <a:lnSpc>
                <a:spcPct val="110000"/>
              </a:lnSpc>
              <a:spcAft>
                <a:spcPts val="200"/>
              </a:spcAft>
            </a:pPr>
            <a:r>
              <a:rPr sz="1050" b="0" i="0">
                <a:solidFill>
                  <a:srgbClr val="DDE3EE"/>
                </a:solidFill>
                <a:latin typeface="Arial"/>
              </a:rPr>
              <a:t>⊕ exactly one   ⊗ one or more</a:t>
            </a:r>
          </a:p>
          <a:p>
            <a:pPr algn="l">
              <a:lnSpc>
                <a:spcPct val="110000"/>
              </a:lnSpc>
              <a:spcAft>
                <a:spcPts val="200"/>
              </a:spcAft>
            </a:pPr>
            <a:r>
              <a:rPr sz="1050" b="1" i="0">
                <a:solidFill>
                  <a:srgbClr val="F2A65A"/>
                </a:solidFill>
                <a:latin typeface="Arial"/>
              </a:rPr>
              <a:t>Constraints</a:t>
            </a:r>
          </a:p>
          <a:p>
            <a:pPr algn="l">
              <a:lnSpc>
                <a:spcPct val="110000"/>
              </a:lnSpc>
              <a:spcAft>
                <a:spcPts val="200"/>
              </a:spcAft>
            </a:pPr>
            <a:r>
              <a:rPr sz="1050" b="0" i="0">
                <a:solidFill>
                  <a:srgbClr val="DDE3EE"/>
                </a:solidFill>
                <a:latin typeface="Arial"/>
              </a:rPr>
              <a:t>Revision requires conflict detection; infeasible budget requires the floor; live providers require keys.</a:t>
            </a:r>
          </a:p>
        </p:txBody>
      </p:sp>
      <p:sp>
        <p:nvSpPr>
          <p:cNvPr id="44" name="TextBox 43"/>
          <p:cNvSpPr txBox="1"/>
          <p:nvPr/>
        </p:nvSpPr>
        <p:spPr>
          <a:xfrm>
            <a:off x="548640" y="5943600"/>
            <a:ext cx="11094415" cy="274320"/>
          </a:xfrm>
          <a:prstGeom prst="rect">
            <a:avLst/>
          </a:prstGeom>
          <a:noFill/>
        </p:spPr>
        <p:txBody>
          <a:bodyPr wrap="square" lIns="0" rIns="0" tIns="0" bIns="0" anchor="t">
            <a:spAutoFit/>
          </a:bodyPr>
          <a:lstStyle/>
          <a:p>
            <a:pPr algn="l">
              <a:lnSpc>
                <a:spcPct val="115000"/>
              </a:lnSpc>
              <a:spcAft>
                <a:spcPts val="0"/>
              </a:spcAft>
            </a:pPr>
            <a:r>
              <a:rPr sz="1200" b="1" i="0">
                <a:solidFill>
                  <a:srgbClr val="C2571A"/>
                </a:solidFill>
                <a:latin typeface="Arial"/>
              </a:rPr>
              <a:t>Non-functional:  </a:t>
            </a:r>
            <a:r>
              <a:rPr sz="1200" b="0" i="0">
                <a:solidFill>
                  <a:srgbClr val="2A3550"/>
                </a:solidFill>
                <a:latin typeface="Arial"/>
              </a:rPr>
              <a:t>schema checks at every boundary · money in integer cents · a provenance label on every section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USE CASES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Ten use cases, one traveller, three external systems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08 / 24</a:t>
            </a:r>
          </a:p>
        </p:txBody>
      </p:sp>
      <p:sp>
        <p:nvSpPr>
          <p:cNvPr id="14" name="Rounded Rectangle 13"/>
          <p:cNvSpPr/>
          <p:nvPr/>
        </p:nvSpPr>
        <p:spPr>
          <a:xfrm>
            <a:off x="548640" y="1481328"/>
            <a:ext cx="3931920" cy="4754880"/>
          </a:xfrm>
          <a:prstGeom prst="roundRect">
            <a:avLst>
              <a:gd name="adj" fmla="val 279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use-case.png"/>
          <p:cNvPicPr>
            <a:picLocks noChangeAspect="1"/>
          </p:cNvPicPr>
          <p:nvPr/>
        </p:nvPicPr>
        <p:blipFill>
          <a:blip r:embed="rId3"/>
          <a:stretch>
            <a:fillRect/>
          </a:stretch>
        </p:blipFill>
        <p:spPr>
          <a:xfrm>
            <a:off x="715060" y="1609344"/>
            <a:ext cx="3599078" cy="4498848"/>
          </a:xfrm>
          <a:prstGeom prst="rect">
            <a:avLst/>
          </a:prstGeom>
        </p:spPr>
      </p:pic>
      <p:sp>
        <p:nvSpPr>
          <p:cNvPr id="16" name="TextBox 15"/>
          <p:cNvSpPr txBox="1"/>
          <p:nvPr/>
        </p:nvSpPr>
        <p:spPr>
          <a:xfrm>
            <a:off x="4754879"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WHO OWNS WHICH USE CASE</a:t>
            </a:r>
          </a:p>
        </p:txBody>
      </p:sp>
      <p:sp>
        <p:nvSpPr>
          <p:cNvPr id="17" name="Rounded Rectangle 16"/>
          <p:cNvSpPr/>
          <p:nvPr/>
        </p:nvSpPr>
        <p:spPr>
          <a:xfrm>
            <a:off x="4754879" y="184708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901183" y="1965960"/>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9" name="TextBox 18"/>
          <p:cNvSpPr txBox="1"/>
          <p:nvPr/>
        </p:nvSpPr>
        <p:spPr>
          <a:xfrm>
            <a:off x="5321807" y="184708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Generate Itinerary</a:t>
            </a:r>
          </a:p>
        </p:txBody>
      </p:sp>
      <p:sp>
        <p:nvSpPr>
          <p:cNvPr id="20" name="TextBox 19"/>
          <p:cNvSpPr txBox="1"/>
          <p:nvPr/>
        </p:nvSpPr>
        <p:spPr>
          <a:xfrm>
            <a:off x="9326880" y="1847088"/>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«include» three use cases</a:t>
            </a:r>
          </a:p>
        </p:txBody>
      </p:sp>
      <p:sp>
        <p:nvSpPr>
          <p:cNvPr id="21" name="Rounded Rectangle 20"/>
          <p:cNvSpPr/>
          <p:nvPr/>
        </p:nvSpPr>
        <p:spPr>
          <a:xfrm>
            <a:off x="4754879" y="246888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901183" y="2587752"/>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23" name="TextBox 22"/>
          <p:cNvSpPr txBox="1"/>
          <p:nvPr/>
        </p:nvSpPr>
        <p:spPr>
          <a:xfrm>
            <a:off x="5321807" y="246888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Transportation</a:t>
            </a:r>
          </a:p>
        </p:txBody>
      </p:sp>
      <p:sp>
        <p:nvSpPr>
          <p:cNvPr id="24" name="TextBox 23"/>
          <p:cNvSpPr txBox="1"/>
          <p:nvPr/>
        </p:nvSpPr>
        <p:spPr>
          <a:xfrm>
            <a:off x="9326880" y="2468880"/>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Maps / Routes API</a:t>
            </a:r>
          </a:p>
        </p:txBody>
      </p:sp>
      <p:sp>
        <p:nvSpPr>
          <p:cNvPr id="25" name="Rounded Rectangle 24"/>
          <p:cNvSpPr/>
          <p:nvPr/>
        </p:nvSpPr>
        <p:spPr>
          <a:xfrm>
            <a:off x="4754879" y="3090672"/>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901183" y="3209544"/>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7" name="TextBox 26"/>
          <p:cNvSpPr txBox="1"/>
          <p:nvPr/>
        </p:nvSpPr>
        <p:spPr>
          <a:xfrm>
            <a:off x="5321807" y="3090672"/>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Accommodation</a:t>
            </a:r>
          </a:p>
        </p:txBody>
      </p:sp>
      <p:sp>
        <p:nvSpPr>
          <p:cNvPr id="28" name="TextBox 27"/>
          <p:cNvSpPr txBox="1"/>
          <p:nvPr/>
        </p:nvSpPr>
        <p:spPr>
          <a:xfrm>
            <a:off x="9326880" y="3090672"/>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Hotel search</a:t>
            </a:r>
          </a:p>
        </p:txBody>
      </p:sp>
      <p:sp>
        <p:nvSpPr>
          <p:cNvPr id="29" name="Rounded Rectangle 28"/>
          <p:cNvSpPr/>
          <p:nvPr/>
        </p:nvSpPr>
        <p:spPr>
          <a:xfrm>
            <a:off x="4754879" y="3712464"/>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4901183" y="383133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31" name="TextBox 30"/>
          <p:cNvSpPr txBox="1"/>
          <p:nvPr/>
        </p:nvSpPr>
        <p:spPr>
          <a:xfrm>
            <a:off x="5321807" y="3712464"/>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Manage Budget</a:t>
            </a:r>
          </a:p>
        </p:txBody>
      </p:sp>
      <p:sp>
        <p:nvSpPr>
          <p:cNvPr id="32" name="TextBox 31"/>
          <p:cNvSpPr txBox="1"/>
          <p:nvPr/>
        </p:nvSpPr>
        <p:spPr>
          <a:xfrm>
            <a:off x="9326880" y="3712464"/>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«extend» Edit Itinerary</a:t>
            </a:r>
          </a:p>
        </p:txBody>
      </p:sp>
      <p:sp>
        <p:nvSpPr>
          <p:cNvPr id="33" name="Rounded Rectangle 32"/>
          <p:cNvSpPr/>
          <p:nvPr/>
        </p:nvSpPr>
        <p:spPr>
          <a:xfrm>
            <a:off x="4754879" y="4334256"/>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4901183" y="4453128"/>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5" name="TextBox 34"/>
          <p:cNvSpPr txBox="1"/>
          <p:nvPr/>
        </p:nvSpPr>
        <p:spPr>
          <a:xfrm>
            <a:off x="5321807" y="4334256"/>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Weather clothing advice</a:t>
            </a:r>
          </a:p>
        </p:txBody>
      </p:sp>
      <p:sp>
        <p:nvSpPr>
          <p:cNvPr id="36" name="TextBox 35"/>
          <p:cNvSpPr txBox="1"/>
          <p:nvPr/>
        </p:nvSpPr>
        <p:spPr>
          <a:xfrm>
            <a:off x="9326880" y="4334256"/>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Weather API</a:t>
            </a:r>
          </a:p>
        </p:txBody>
      </p:sp>
      <p:sp>
        <p:nvSpPr>
          <p:cNvPr id="37" name="Rounded Rectangle 36"/>
          <p:cNvSpPr/>
          <p:nvPr/>
        </p:nvSpPr>
        <p:spPr>
          <a:xfrm>
            <a:off x="4754879" y="495604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01183" y="5074920"/>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9" name="TextBox 38"/>
          <p:cNvSpPr txBox="1"/>
          <p:nvPr/>
        </p:nvSpPr>
        <p:spPr>
          <a:xfrm>
            <a:off x="5321807" y="495604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Food recommendation</a:t>
            </a:r>
          </a:p>
        </p:txBody>
      </p:sp>
      <p:sp>
        <p:nvSpPr>
          <p:cNvPr id="40" name="Rounded Rectangle 39"/>
          <p:cNvSpPr/>
          <p:nvPr/>
        </p:nvSpPr>
        <p:spPr>
          <a:xfrm>
            <a:off x="4754879" y="557784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4901183" y="5696712"/>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42" name="TextBox 41"/>
          <p:cNvSpPr txBox="1"/>
          <p:nvPr/>
        </p:nvSpPr>
        <p:spPr>
          <a:xfrm>
            <a:off x="5321807" y="557784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Set Preferences · Submit Requirement · Edit · 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B · Tingsong Jin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6B4FA0"/>
                </a:solidFill>
                <a:latin typeface="Arial"/>
              </a:rPr>
              <a:t>INDIVIDUAL BEHAVIOUR MODELS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09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6B4FA0"/>
                </a:solidFill>
                <a:latin typeface="Arial"/>
              </a:rPr>
              <a:t>Ad hoc requirement  </a:t>
            </a:r>
            <a:r>
              <a:rPr sz="1300" b="0" i="1">
                <a:solidFill>
                  <a:srgbClr val="5A6478"/>
                </a:solidFill>
                <a:latin typeface="Arial"/>
              </a:rPr>
              <a:t>[AH-B1, one line in the traveller's words]</a:t>
            </a:r>
            <a:r>
              <a:rPr sz="1300" b="1" i="0">
                <a:solidFill>
                  <a:srgbClr val="6B4FA0"/>
                </a:solidFill>
                <a:latin typeface="Arial"/>
              </a:rPr>
              <a:t>      Use case  </a:t>
            </a:r>
            <a:r>
              <a:rPr sz="1300" b="0" i="1">
                <a:solidFill>
                  <a:srgbClr val="5A6478"/>
                </a:solidFill>
                <a:latin typeface="Arial"/>
              </a:rPr>
              <a:t>[UC-Bx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6B4FA0"/>
                </a:solidFill>
                <a:latin typeface="Arial"/>
              </a:rPr>
              <a:t>LLM step  </a:t>
            </a:r>
            <a:r>
              <a:rPr sz="1000" b="0" i="1">
                <a:solidFill>
                  <a:srgbClr val="5A6478"/>
                </a:solidFill>
                <a:latin typeface="Arial"/>
              </a:rPr>
              <a:t>[where it sits]  </a:t>
            </a:r>
            <a:r>
              <a:rPr sz="1000" b="1" i="0">
                <a:solidFill>
                  <a:srgbClr val="6B4FA0"/>
                </a:solidFill>
                <a:latin typeface="Arial"/>
              </a:rPr>
              <a:t>Code check  </a:t>
            </a:r>
            <a:r>
              <a:rPr sz="1000" b="0" i="1">
                <a:solidFill>
                  <a:srgbClr val="5A6478"/>
                </a:solidFill>
                <a:latin typeface="Arial"/>
              </a:rPr>
              <a:t>[what validates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ACCOMMODATION AND BUDGET</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From one ad hoc requirement to two use cases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10 / 24</a:t>
            </a:r>
          </a:p>
        </p:txBody>
      </p:sp>
      <p:sp>
        <p:nvSpPr>
          <p:cNvPr id="14" name="Rounded Rectangle 13"/>
          <p:cNvSpPr/>
          <p:nvPr/>
        </p:nvSpPr>
        <p:spPr>
          <a:xfrm>
            <a:off x="548640" y="1481328"/>
            <a:ext cx="11094415" cy="1783080"/>
          </a:xfrm>
          <a:prstGeom prst="roundRect">
            <a:avLst>
              <a:gd name="adj" fmla="val 61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quote-F2A65A.png"/>
          <p:cNvPicPr>
            <a:picLocks noChangeAspect="1"/>
          </p:cNvPicPr>
          <p:nvPr/>
        </p:nvPicPr>
        <p:blipFill>
          <a:blip r:embed="rId3"/>
          <a:stretch>
            <a:fillRect/>
          </a:stretch>
        </p:blipFill>
        <p:spPr>
          <a:xfrm>
            <a:off x="868680" y="1755648"/>
            <a:ext cx="502920" cy="502920"/>
          </a:xfrm>
          <a:prstGeom prst="rect">
            <a:avLst/>
          </a:prstGeom>
        </p:spPr>
      </p:pic>
      <p:sp>
        <p:nvSpPr>
          <p:cNvPr id="16" name="TextBox 15"/>
          <p:cNvSpPr txBox="1"/>
          <p:nvPr/>
        </p:nvSpPr>
        <p:spPr>
          <a:xfrm>
            <a:off x="1645919" y="1709928"/>
            <a:ext cx="9631375" cy="1188720"/>
          </a:xfrm>
          <a:prstGeom prst="rect">
            <a:avLst/>
          </a:prstGeom>
          <a:noFill/>
        </p:spPr>
        <p:txBody>
          <a:bodyPr wrap="square" lIns="0" rIns="0" tIns="0" bIns="0" anchor="t">
            <a:spAutoFit/>
          </a:bodyPr>
          <a:lstStyle/>
          <a:p>
            <a:pPr algn="l">
              <a:lnSpc>
                <a:spcPct val="120000"/>
              </a:lnSpc>
              <a:spcAft>
                <a:spcPts val="0"/>
              </a:spcAft>
            </a:pPr>
            <a:r>
              <a:rPr sz="1650" b="0" i="1">
                <a:solidFill>
                  <a:srgbClr val="FFFFFF"/>
                </a:solidFill>
                <a:latin typeface="Georgia"/>
              </a:rPr>
              <a:t>Flights get paid first, so the hotel has to fit in whatever money is left. If the trip ends up over budget, swap the hotel for a cheaper one that still meets my rules. If no hotel can ever fit, tell me the minimum I'd need.</a:t>
            </a:r>
          </a:p>
        </p:txBody>
      </p:sp>
      <p:sp>
        <p:nvSpPr>
          <p:cNvPr id="17" name="TextBox 16"/>
          <p:cNvSpPr txBox="1"/>
          <p:nvPr/>
        </p:nvSpPr>
        <p:spPr>
          <a:xfrm>
            <a:off x="1645919" y="2898648"/>
            <a:ext cx="54864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AH-C1, in the traveller's words</a:t>
            </a:r>
          </a:p>
        </p:txBody>
      </p:sp>
      <p:sp>
        <p:nvSpPr>
          <p:cNvPr id="18" name="Rounded Rectangle 17"/>
          <p:cNvSpPr/>
          <p:nvPr/>
        </p:nvSpPr>
        <p:spPr>
          <a:xfrm>
            <a:off x="548640"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48640"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68680"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bed-double-C2571A.png"/>
          <p:cNvPicPr>
            <a:picLocks noChangeAspect="1"/>
          </p:cNvPicPr>
          <p:nvPr/>
        </p:nvPicPr>
        <p:blipFill>
          <a:blip r:embed="rId4"/>
          <a:stretch>
            <a:fillRect/>
          </a:stretch>
        </p:blipFill>
        <p:spPr>
          <a:xfrm>
            <a:off x="987552" y="3931920"/>
            <a:ext cx="329184" cy="329184"/>
          </a:xfrm>
          <a:prstGeom prst="rect">
            <a:avLst/>
          </a:prstGeom>
        </p:spPr>
      </p:pic>
      <p:sp>
        <p:nvSpPr>
          <p:cNvPr id="22" name="TextBox 21"/>
          <p:cNvSpPr txBox="1"/>
          <p:nvPr/>
        </p:nvSpPr>
        <p:spPr>
          <a:xfrm>
            <a:off x="1600200"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UC-C1  Arrange Accommodation</a:t>
            </a:r>
          </a:p>
        </p:txBody>
      </p:sp>
      <p:pic>
        <p:nvPicPr>
          <p:cNvPr id="23" name="Picture 22" descr="check-C2571A.png"/>
          <p:cNvPicPr>
            <a:picLocks noChangeAspect="1"/>
          </p:cNvPicPr>
          <p:nvPr/>
        </p:nvPicPr>
        <p:blipFill>
          <a:blip r:embed="rId5"/>
          <a:stretch>
            <a:fillRect/>
          </a:stretch>
        </p:blipFill>
        <p:spPr>
          <a:xfrm>
            <a:off x="914400" y="4581144"/>
            <a:ext cx="219456" cy="219456"/>
          </a:xfrm>
          <a:prstGeom prst="rect">
            <a:avLst/>
          </a:prstGeom>
        </p:spPr>
      </p:pic>
      <p:sp>
        <p:nvSpPr>
          <p:cNvPr id="24" name="TextBox 23"/>
          <p:cNvSpPr txBox="1"/>
          <p:nvPr/>
        </p:nvSpPr>
        <p:spPr>
          <a:xfrm>
            <a:off x="1280160"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Rooms from party size</a:t>
            </a:r>
          </a:p>
        </p:txBody>
      </p:sp>
      <p:pic>
        <p:nvPicPr>
          <p:cNvPr id="25" name="Picture 24" descr="check-C2571A.png"/>
          <p:cNvPicPr>
            <a:picLocks noChangeAspect="1"/>
          </p:cNvPicPr>
          <p:nvPr/>
        </p:nvPicPr>
        <p:blipFill>
          <a:blip r:embed="rId5"/>
          <a:stretch>
            <a:fillRect/>
          </a:stretch>
        </p:blipFill>
        <p:spPr>
          <a:xfrm>
            <a:off x="914400" y="4992624"/>
            <a:ext cx="219456" cy="219456"/>
          </a:xfrm>
          <a:prstGeom prst="rect">
            <a:avLst/>
          </a:prstGeom>
        </p:spPr>
      </p:pic>
      <p:sp>
        <p:nvSpPr>
          <p:cNvPr id="26" name="TextBox 25"/>
          <p:cNvSpPr txBox="1"/>
          <p:nvPr/>
        </p:nvSpPr>
        <p:spPr>
          <a:xfrm>
            <a:off x="1280160"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Filter by rating and free cancellation</a:t>
            </a:r>
          </a:p>
        </p:txBody>
      </p:sp>
      <p:pic>
        <p:nvPicPr>
          <p:cNvPr id="27" name="Picture 26" descr="check-C2571A.png"/>
          <p:cNvPicPr>
            <a:picLocks noChangeAspect="1"/>
          </p:cNvPicPr>
          <p:nvPr/>
        </p:nvPicPr>
        <p:blipFill>
          <a:blip r:embed="rId5"/>
          <a:stretch>
            <a:fillRect/>
          </a:stretch>
        </p:blipFill>
        <p:spPr>
          <a:xfrm>
            <a:off x="914400" y="5404104"/>
            <a:ext cx="219456" cy="219456"/>
          </a:xfrm>
          <a:prstGeom prst="rect">
            <a:avLst/>
          </a:prstGeom>
        </p:spPr>
      </p:pic>
      <p:sp>
        <p:nvSpPr>
          <p:cNvPr id="28" name="TextBox 27"/>
          <p:cNvSpPr txBox="1"/>
          <p:nvPr/>
        </p:nvSpPr>
        <p:spPr>
          <a:xfrm>
            <a:off x="1280160"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LLM picks one candidate id</a:t>
            </a:r>
          </a:p>
        </p:txBody>
      </p:sp>
      <p:pic>
        <p:nvPicPr>
          <p:cNvPr id="29" name="Picture 28" descr="check-C2571A.png"/>
          <p:cNvPicPr>
            <a:picLocks noChangeAspect="1"/>
          </p:cNvPicPr>
          <p:nvPr/>
        </p:nvPicPr>
        <p:blipFill>
          <a:blip r:embed="rId5"/>
          <a:stretch>
            <a:fillRect/>
          </a:stretch>
        </p:blipFill>
        <p:spPr>
          <a:xfrm>
            <a:off x="914400" y="5815584"/>
            <a:ext cx="219456" cy="219456"/>
          </a:xfrm>
          <a:prstGeom prst="rect">
            <a:avLst/>
          </a:prstGeom>
        </p:spPr>
      </p:pic>
      <p:sp>
        <p:nvSpPr>
          <p:cNvPr id="30" name="TextBox 29"/>
          <p:cNvSpPr txBox="1"/>
          <p:nvPr/>
        </p:nvSpPr>
        <p:spPr>
          <a:xfrm>
            <a:off x="1280160"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Code validates and prices it in cents</a:t>
            </a:r>
          </a:p>
        </p:txBody>
      </p:sp>
      <p:sp>
        <p:nvSpPr>
          <p:cNvPr id="31" name="Rounded Rectangle 30"/>
          <p:cNvSpPr/>
          <p:nvPr/>
        </p:nvSpPr>
        <p:spPr>
          <a:xfrm>
            <a:off x="6233007"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233007"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553047"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wallet-C2571A.png"/>
          <p:cNvPicPr>
            <a:picLocks noChangeAspect="1"/>
          </p:cNvPicPr>
          <p:nvPr/>
        </p:nvPicPr>
        <p:blipFill>
          <a:blip r:embed="rId6"/>
          <a:stretch>
            <a:fillRect/>
          </a:stretch>
        </p:blipFill>
        <p:spPr>
          <a:xfrm>
            <a:off x="6671919" y="3931920"/>
            <a:ext cx="329184" cy="329184"/>
          </a:xfrm>
          <a:prstGeom prst="rect">
            <a:avLst/>
          </a:prstGeom>
        </p:spPr>
      </p:pic>
      <p:sp>
        <p:nvSpPr>
          <p:cNvPr id="35" name="TextBox 34"/>
          <p:cNvSpPr txBox="1"/>
          <p:nvPr/>
        </p:nvSpPr>
        <p:spPr>
          <a:xfrm>
            <a:off x="7284567"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UC-C2  Manage Budget</a:t>
            </a:r>
          </a:p>
        </p:txBody>
      </p:sp>
      <p:pic>
        <p:nvPicPr>
          <p:cNvPr id="36" name="Picture 35" descr="check-C2571A.png"/>
          <p:cNvPicPr>
            <a:picLocks noChangeAspect="1"/>
          </p:cNvPicPr>
          <p:nvPr/>
        </p:nvPicPr>
        <p:blipFill>
          <a:blip r:embed="rId5"/>
          <a:stretch>
            <a:fillRect/>
          </a:stretch>
        </p:blipFill>
        <p:spPr>
          <a:xfrm>
            <a:off x="6598767" y="4581144"/>
            <a:ext cx="219456" cy="219456"/>
          </a:xfrm>
          <a:prstGeom prst="rect">
            <a:avLst/>
          </a:prstGeom>
        </p:spPr>
      </p:pic>
      <p:sp>
        <p:nvSpPr>
          <p:cNvPr id="37" name="TextBox 36"/>
          <p:cNvSpPr txBox="1"/>
          <p:nvPr/>
        </p:nvSpPr>
        <p:spPr>
          <a:xfrm>
            <a:off x="6964527"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Roll up costs in AUD</a:t>
            </a:r>
          </a:p>
        </p:txBody>
      </p:sp>
      <p:pic>
        <p:nvPicPr>
          <p:cNvPr id="38" name="Picture 37" descr="check-C2571A.png"/>
          <p:cNvPicPr>
            <a:picLocks noChangeAspect="1"/>
          </p:cNvPicPr>
          <p:nvPr/>
        </p:nvPicPr>
        <p:blipFill>
          <a:blip r:embed="rId5"/>
          <a:stretch>
            <a:fillRect/>
          </a:stretch>
        </p:blipFill>
        <p:spPr>
          <a:xfrm>
            <a:off x="6598767" y="4992624"/>
            <a:ext cx="219456" cy="219456"/>
          </a:xfrm>
          <a:prstGeom prst="rect">
            <a:avLst/>
          </a:prstGeom>
        </p:spPr>
      </p:pic>
      <p:sp>
        <p:nvSpPr>
          <p:cNvPr id="39" name="TextBox 38"/>
          <p:cNvSpPr txBox="1"/>
          <p:nvPr/>
        </p:nvSpPr>
        <p:spPr>
          <a:xfrm>
            <a:off x="6964527"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Spread an overrun over what each section can still cut</a:t>
            </a:r>
          </a:p>
        </p:txBody>
      </p:sp>
      <p:pic>
        <p:nvPicPr>
          <p:cNvPr id="40" name="Picture 39" descr="check-C2571A.png"/>
          <p:cNvPicPr>
            <a:picLocks noChangeAspect="1"/>
          </p:cNvPicPr>
          <p:nvPr/>
        </p:nvPicPr>
        <p:blipFill>
          <a:blip r:embed="rId5"/>
          <a:stretch>
            <a:fillRect/>
          </a:stretch>
        </p:blipFill>
        <p:spPr>
          <a:xfrm>
            <a:off x="6598767" y="5404104"/>
            <a:ext cx="219456" cy="219456"/>
          </a:xfrm>
          <a:prstGeom prst="rect">
            <a:avLst/>
          </a:prstGeom>
        </p:spPr>
      </p:pic>
      <p:sp>
        <p:nvSpPr>
          <p:cNvPr id="41" name="TextBox 40"/>
          <p:cNvSpPr txBox="1"/>
          <p:nvPr/>
        </p:nvSpPr>
        <p:spPr>
          <a:xfrm>
            <a:off x="6964527"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Revise only the sections asked to save</a:t>
            </a:r>
          </a:p>
        </p:txBody>
      </p:sp>
      <p:pic>
        <p:nvPicPr>
          <p:cNvPr id="42" name="Picture 41" descr="check-C2571A.png"/>
          <p:cNvPicPr>
            <a:picLocks noChangeAspect="1"/>
          </p:cNvPicPr>
          <p:nvPr/>
        </p:nvPicPr>
        <p:blipFill>
          <a:blip r:embed="rId5"/>
          <a:stretch>
            <a:fillRect/>
          </a:stretch>
        </p:blipFill>
        <p:spPr>
          <a:xfrm>
            <a:off x="6598767" y="5815584"/>
            <a:ext cx="219456" cy="219456"/>
          </a:xfrm>
          <a:prstGeom prst="rect">
            <a:avLst/>
          </a:prstGeom>
        </p:spPr>
      </p:pic>
      <p:sp>
        <p:nvSpPr>
          <p:cNvPr id="43" name="TextBox 42"/>
          <p:cNvSpPr txBox="1"/>
          <p:nvPr/>
        </p:nvSpPr>
        <p:spPr>
          <a:xfrm>
            <a:off x="6964527"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Report the minimum budget when nothing fits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Object diagram: a Tokyo trip that is AUD 640 over budget</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11 / 24</a:t>
            </a:r>
          </a:p>
        </p:txBody>
      </p:sp>
      <p:sp>
        <p:nvSpPr>
          <p:cNvPr id="14" name="Rounded Rectangle 13"/>
          <p:cNvSpPr/>
          <p:nvPr/>
        </p:nvSpPr>
        <p:spPr>
          <a:xfrm>
            <a:off x="548640" y="1481328"/>
            <a:ext cx="11094415" cy="3383280"/>
          </a:xfrm>
          <a:prstGeom prst="roundRect">
            <a:avLst>
              <a:gd name="adj" fmla="val 32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object.png"/>
          <p:cNvPicPr>
            <a:picLocks noChangeAspect="1"/>
          </p:cNvPicPr>
          <p:nvPr/>
        </p:nvPicPr>
        <p:blipFill>
          <a:blip r:embed="rId3"/>
          <a:stretch>
            <a:fillRect/>
          </a:stretch>
        </p:blipFill>
        <p:spPr>
          <a:xfrm>
            <a:off x="1735143" y="1609344"/>
            <a:ext cx="8721408" cy="3127248"/>
          </a:xfrm>
          <a:prstGeom prst="rect">
            <a:avLst/>
          </a:prstGeom>
        </p:spPr>
      </p:pic>
      <p:sp>
        <p:nvSpPr>
          <p:cNvPr id="16" name="Oval 15"/>
          <p:cNvSpPr/>
          <p:nvPr/>
        </p:nvSpPr>
        <p:spPr>
          <a:xfrm>
            <a:off x="4127191" y="347362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1632868" y="319217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9316429" y="1534728"/>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Rounded Rectangle 18"/>
          <p:cNvSpPr/>
          <p:nvPr/>
        </p:nvSpPr>
        <p:spPr>
          <a:xfrm>
            <a:off x="548640"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49808"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1115568"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Budget vs total</a:t>
            </a:r>
          </a:p>
        </p:txBody>
      </p:sp>
      <p:sp>
        <p:nvSpPr>
          <p:cNvPr id="22" name="TextBox 21"/>
          <p:cNvSpPr txBox="1"/>
          <p:nvPr/>
        </p:nvSpPr>
        <p:spPr>
          <a:xfrm>
            <a:off x="749808"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2,300 vs 2,940</a:t>
            </a:r>
          </a:p>
        </p:txBody>
      </p:sp>
      <p:sp>
        <p:nvSpPr>
          <p:cNvPr id="23" name="TextBox 22"/>
          <p:cNvSpPr txBox="1"/>
          <p:nvPr/>
        </p:nvSpPr>
        <p:spPr>
          <a:xfrm>
            <a:off x="749808"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 by AUD 640</a:t>
            </a:r>
          </a:p>
        </p:txBody>
      </p:sp>
      <p:sp>
        <p:nvSpPr>
          <p:cNvPr id="24" name="Rounded Rectangle 23"/>
          <p:cNvSpPr/>
          <p:nvPr/>
        </p:nvSpPr>
        <p:spPr>
          <a:xfrm>
            <a:off x="4307738"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08906"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6" name="TextBox 25"/>
          <p:cNvSpPr txBox="1"/>
          <p:nvPr/>
        </p:nvSpPr>
        <p:spPr>
          <a:xfrm>
            <a:off x="4874666"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Accommodation asked to save</a:t>
            </a:r>
          </a:p>
        </p:txBody>
      </p:sp>
      <p:sp>
        <p:nvSpPr>
          <p:cNvPr id="27" name="TextBox 26"/>
          <p:cNvSpPr txBox="1"/>
          <p:nvPr/>
        </p:nvSpPr>
        <p:spPr>
          <a:xfrm>
            <a:off x="4508906"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379.26</a:t>
            </a:r>
          </a:p>
        </p:txBody>
      </p:sp>
      <p:sp>
        <p:nvSpPr>
          <p:cNvPr id="28" name="TextBox 27"/>
          <p:cNvSpPr txBox="1"/>
          <p:nvPr/>
        </p:nvSpPr>
        <p:spPr>
          <a:xfrm>
            <a:off x="4508906"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overrun spread by room to cut</a:t>
            </a:r>
          </a:p>
        </p:txBody>
      </p:sp>
      <p:sp>
        <p:nvSpPr>
          <p:cNvPr id="29" name="Rounded Rectangle 28"/>
          <p:cNvSpPr/>
          <p:nvPr/>
        </p:nvSpPr>
        <p:spPr>
          <a:xfrm>
            <a:off x="8066836"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31" name="TextBox 30"/>
          <p:cNvSpPr txBox="1"/>
          <p:nvPr/>
        </p:nvSpPr>
        <p:spPr>
          <a:xfrm>
            <a:off x="8633764"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Hotel moves</a:t>
            </a:r>
          </a:p>
        </p:txBody>
      </p:sp>
      <p:sp>
        <p:nvSpPr>
          <p:cNvPr id="32" name="TextBox 31"/>
          <p:cNvSpPr txBox="1"/>
          <p:nvPr/>
        </p:nvSpPr>
        <p:spPr>
          <a:xfrm>
            <a:off x="8268004"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standard → saver</a:t>
            </a:r>
          </a:p>
        </p:txBody>
      </p:sp>
      <p:sp>
        <p:nvSpPr>
          <p:cNvPr id="33" name="TextBox 32"/>
          <p:cNvSpPr txBox="1"/>
          <p:nvPr/>
        </p:nvSpPr>
        <p:spPr>
          <a:xfrm>
            <a:off x="8268004"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AUD 1,520 → AUD 880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Collaboration and structured class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12 / 24</a:t>
            </a:r>
          </a:p>
        </p:txBody>
      </p:sp>
      <p:sp>
        <p:nvSpPr>
          <p:cNvPr id="14" name="TextBox 13"/>
          <p:cNvSpPr txBox="1"/>
          <p:nvPr/>
        </p:nvSpPr>
        <p:spPr>
          <a:xfrm>
            <a:off x="548640" y="148132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COLLABORATION  ·  NEGOTIATE TRIP PLAN</a:t>
            </a:r>
          </a:p>
        </p:txBody>
      </p:sp>
      <p:sp>
        <p:nvSpPr>
          <p:cNvPr id="15" name="Rounded Rectangle 14"/>
          <p:cNvSpPr/>
          <p:nvPr/>
        </p:nvSpPr>
        <p:spPr>
          <a:xfrm>
            <a:off x="548640" y="1801368"/>
            <a:ext cx="7863840" cy="1828800"/>
          </a:xfrm>
          <a:prstGeom prst="roundRect">
            <a:avLst>
              <a:gd name="adj" fmla="val 6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ollaboration.png"/>
          <p:cNvPicPr>
            <a:picLocks noChangeAspect="1"/>
          </p:cNvPicPr>
          <p:nvPr/>
        </p:nvPicPr>
        <p:blipFill>
          <a:blip r:embed="rId3"/>
          <a:stretch>
            <a:fillRect/>
          </a:stretch>
        </p:blipFill>
        <p:spPr>
          <a:xfrm>
            <a:off x="855079" y="1929384"/>
            <a:ext cx="7250961" cy="1572768"/>
          </a:xfrm>
          <a:prstGeom prst="rect">
            <a:avLst/>
          </a:prstGeom>
        </p:spPr>
      </p:pic>
      <p:sp>
        <p:nvSpPr>
          <p:cNvPr id="17" name="Oval 16"/>
          <p:cNvSpPr/>
          <p:nvPr/>
        </p:nvSpPr>
        <p:spPr>
          <a:xfrm>
            <a:off x="3292010" y="242133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8" name="TextBox 17"/>
          <p:cNvSpPr txBox="1"/>
          <p:nvPr/>
        </p:nvSpPr>
        <p:spPr>
          <a:xfrm>
            <a:off x="548640" y="385876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STRUCTURED CLASS  ·  TRIPPLANNINGWORKFLOW</a:t>
            </a:r>
          </a:p>
        </p:txBody>
      </p:sp>
      <p:sp>
        <p:nvSpPr>
          <p:cNvPr id="19" name="Rounded Rectangle 18"/>
          <p:cNvSpPr/>
          <p:nvPr/>
        </p:nvSpPr>
        <p:spPr>
          <a:xfrm>
            <a:off x="548640" y="4178808"/>
            <a:ext cx="7863840" cy="2057400"/>
          </a:xfrm>
          <a:prstGeom prst="roundRect">
            <a:avLst>
              <a:gd name="adj" fmla="val 533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tructured-class.png"/>
          <p:cNvPicPr>
            <a:picLocks noChangeAspect="1"/>
          </p:cNvPicPr>
          <p:nvPr/>
        </p:nvPicPr>
        <p:blipFill>
          <a:blip r:embed="rId4"/>
          <a:stretch>
            <a:fillRect/>
          </a:stretch>
        </p:blipFill>
        <p:spPr>
          <a:xfrm>
            <a:off x="2020954" y="4306824"/>
            <a:ext cx="4919210" cy="1801368"/>
          </a:xfrm>
          <a:prstGeom prst="rect">
            <a:avLst/>
          </a:prstGeom>
        </p:spPr>
      </p:pic>
      <p:sp>
        <p:nvSpPr>
          <p:cNvPr id="21" name="Oval 20"/>
          <p:cNvSpPr/>
          <p:nvPr/>
        </p:nvSpPr>
        <p:spPr>
          <a:xfrm>
            <a:off x="4195823" y="44758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2" name="Oval 21"/>
          <p:cNvSpPr/>
          <p:nvPr/>
        </p:nvSpPr>
        <p:spPr>
          <a:xfrm>
            <a:off x="5991335" y="420569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23" name="Oval 22"/>
          <p:cNvSpPr/>
          <p:nvPr/>
        </p:nvSpPr>
        <p:spPr>
          <a:xfrm>
            <a:off x="868680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4" name="TextBox 23"/>
          <p:cNvSpPr txBox="1"/>
          <p:nvPr/>
        </p:nvSpPr>
        <p:spPr>
          <a:xfrm>
            <a:off x="9070848" y="157276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Roles, not classes</a:t>
            </a:r>
          </a:p>
          <a:p>
            <a:pPr algn="l">
              <a:lnSpc>
                <a:spcPct val="115000"/>
              </a:lnSpc>
              <a:spcAft>
                <a:spcPts val="200"/>
              </a:spcAft>
            </a:pPr>
            <a:r>
              <a:rPr sz="1300" b="0" i="0">
                <a:solidFill>
                  <a:srgbClr val="2A3550"/>
                </a:solidFill>
                <a:latin typeface="Arial"/>
              </a:rPr>
              <a:t>My budget code plays the judge: it turns proposals into targeted revision requests.</a:t>
            </a:r>
          </a:p>
        </p:txBody>
      </p:sp>
      <p:sp>
        <p:nvSpPr>
          <p:cNvPr id="25" name="Oval 24"/>
          <p:cNvSpPr/>
          <p:nvPr/>
        </p:nvSpPr>
        <p:spPr>
          <a:xfrm>
            <a:off x="8686800" y="309067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6" name="TextBox 25"/>
          <p:cNvSpPr txBox="1"/>
          <p:nvPr/>
        </p:nvSpPr>
        <p:spPr>
          <a:xfrm>
            <a:off x="9070848" y="308152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Parts with multiplicity</a:t>
            </a:r>
          </a:p>
          <a:p>
            <a:pPr algn="l">
              <a:lnSpc>
                <a:spcPct val="115000"/>
              </a:lnSpc>
              <a:spcAft>
                <a:spcPts val="200"/>
              </a:spcAft>
            </a:pPr>
            <a:r>
              <a:rPr sz="1300" b="0" i="0">
                <a:solidFill>
                  <a:srgbClr val="2A3550"/>
                </a:solidFill>
                <a:latin typeface="Arial"/>
              </a:rPr>
              <a:t>The policy and budget calculator are parts of the workflow, one of each.</a:t>
            </a:r>
          </a:p>
        </p:txBody>
      </p:sp>
      <p:sp>
        <p:nvSpPr>
          <p:cNvPr id="27" name="Oval 26"/>
          <p:cNvSpPr/>
          <p:nvPr/>
        </p:nvSpPr>
        <p:spPr>
          <a:xfrm>
            <a:off x="8686800" y="45994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8" name="TextBox 27"/>
          <p:cNvSpPr txBox="1"/>
          <p:nvPr/>
        </p:nvSpPr>
        <p:spPr>
          <a:xfrm>
            <a:off x="9070848" y="459028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Injected ports</a:t>
            </a:r>
          </a:p>
          <a:p>
            <a:pPr algn="l">
              <a:lnSpc>
                <a:spcPct val="115000"/>
              </a:lnSpc>
              <a:spcAft>
                <a:spcPts val="200"/>
              </a:spcAft>
            </a:pPr>
            <a:r>
              <a:rPr sz="1300" b="0" i="0">
                <a:solidFill>
                  <a:srgbClr val="2A3550"/>
                </a:solidFill>
                <a:latin typeface="Arial"/>
              </a:rPr>
              <a:t>Plan, progress, tools, memory and model enter only through ports, so tests swap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ACTIVITY DIAGRAM · UC-C1</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chooses once; code checks before any price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13 / 24</a:t>
            </a:r>
          </a:p>
        </p:txBody>
      </p:sp>
      <p:sp>
        <p:nvSpPr>
          <p:cNvPr id="14" name="Rounded Rectangle 13"/>
          <p:cNvSpPr/>
          <p:nvPr/>
        </p:nvSpPr>
        <p:spPr>
          <a:xfrm>
            <a:off x="548640" y="1481328"/>
            <a:ext cx="11094415" cy="3703320"/>
          </a:xfrm>
          <a:prstGeom prst="roundRect">
            <a:avLst>
              <a:gd name="adj" fmla="val 296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activity.png"/>
          <p:cNvPicPr>
            <a:picLocks noChangeAspect="1"/>
          </p:cNvPicPr>
          <p:nvPr/>
        </p:nvPicPr>
        <p:blipFill>
          <a:blip r:embed="rId3"/>
          <a:stretch>
            <a:fillRect/>
          </a:stretch>
        </p:blipFill>
        <p:spPr>
          <a:xfrm>
            <a:off x="838545" y="1609344"/>
            <a:ext cx="10514603" cy="3447287"/>
          </a:xfrm>
          <a:prstGeom prst="rect">
            <a:avLst/>
          </a:prstGeom>
        </p:spPr>
      </p:pic>
      <p:sp>
        <p:nvSpPr>
          <p:cNvPr id="16" name="Oval 15"/>
          <p:cNvSpPr/>
          <p:nvPr/>
        </p:nvSpPr>
        <p:spPr>
          <a:xfrm>
            <a:off x="9113068" y="388528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3960912" y="257531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2068284" y="1747967"/>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7746170" y="26097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0" name="Oval 19"/>
          <p:cNvSpPr/>
          <p:nvPr/>
        </p:nvSpPr>
        <p:spPr>
          <a:xfrm>
            <a:off x="548640"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932688"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LLM, once</a:t>
            </a:r>
          </a:p>
          <a:p>
            <a:pPr algn="l">
              <a:lnSpc>
                <a:spcPct val="115000"/>
              </a:lnSpc>
              <a:spcAft>
                <a:spcPts val="200"/>
              </a:spcAft>
            </a:pPr>
            <a:r>
              <a:rPr sz="1250" b="0" i="0">
                <a:solidFill>
                  <a:srgbClr val="2A3550"/>
                </a:solidFill>
                <a:latin typeface="Arial"/>
              </a:rPr>
              <a:t>Chooses one candidate id per stay.</a:t>
            </a:r>
          </a:p>
        </p:txBody>
      </p:sp>
      <p:sp>
        <p:nvSpPr>
          <p:cNvPr id="22" name="Oval 21"/>
          <p:cNvSpPr/>
          <p:nvPr/>
        </p:nvSpPr>
        <p:spPr>
          <a:xfrm>
            <a:off x="3367963"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3752011"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Guarded</a:t>
            </a:r>
          </a:p>
          <a:p>
            <a:pPr algn="l">
              <a:lnSpc>
                <a:spcPct val="115000"/>
              </a:lnSpc>
              <a:spcAft>
                <a:spcPts val="200"/>
              </a:spcAft>
            </a:pPr>
            <a:r>
              <a:rPr sz="1250" b="0" i="0">
                <a:solidFill>
                  <a:srgbClr val="2A3550"/>
                </a:solidFill>
                <a:latin typeface="Arial"/>
              </a:rPr>
              <a:t>Unknown id or off-schema output falls back to a deterministic pick.</a:t>
            </a:r>
          </a:p>
        </p:txBody>
      </p:sp>
      <p:sp>
        <p:nvSpPr>
          <p:cNvPr id="24" name="Oval 23"/>
          <p:cNvSpPr/>
          <p:nvPr/>
        </p:nvSpPr>
        <p:spPr>
          <a:xfrm>
            <a:off x="6187287"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6571335"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Booked stay</a:t>
            </a:r>
          </a:p>
          <a:p>
            <a:pPr algn="l">
              <a:lnSpc>
                <a:spcPct val="115000"/>
              </a:lnSpc>
              <a:spcAft>
                <a:spcPts val="200"/>
              </a:spcAft>
            </a:pPr>
            <a:r>
              <a:rPr sz="1250" b="0" i="0">
                <a:solidFill>
                  <a:srgbClr val="2A3550"/>
                </a:solidFill>
                <a:latin typeface="Arial"/>
              </a:rPr>
              <a:t>Skips the search entirely.</a:t>
            </a:r>
          </a:p>
        </p:txBody>
      </p:sp>
      <p:sp>
        <p:nvSpPr>
          <p:cNvPr id="26" name="Oval 25"/>
          <p:cNvSpPr/>
          <p:nvPr/>
        </p:nvSpPr>
        <p:spPr>
          <a:xfrm>
            <a:off x="9006611"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7" name="TextBox 26"/>
          <p:cNvSpPr txBox="1"/>
          <p:nvPr/>
        </p:nvSpPr>
        <p:spPr>
          <a:xfrm>
            <a:off x="9390659"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Priced in cents</a:t>
            </a:r>
          </a:p>
          <a:p>
            <a:pPr algn="l">
              <a:lnSpc>
                <a:spcPct val="115000"/>
              </a:lnSpc>
              <a:spcAft>
                <a:spcPts val="200"/>
              </a:spcAft>
            </a:pPr>
            <a:r>
              <a:rPr sz="1250" b="0" i="0">
                <a:solidFill>
                  <a:srgbClr val="2A3550"/>
                </a:solidFill>
                <a:latin typeface="Arial"/>
              </a:rPr>
              <a:t>Plus the cheapest eligible total as the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SEQUENCE DIAGRAM · UC-C2</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Budget overrun and a targeted revision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14 / 24</a:t>
            </a:r>
          </a:p>
        </p:txBody>
      </p:sp>
      <p:sp>
        <p:nvSpPr>
          <p:cNvPr id="14" name="Rounded Rectangle 13"/>
          <p:cNvSpPr/>
          <p:nvPr/>
        </p:nvSpPr>
        <p:spPr>
          <a:xfrm>
            <a:off x="548640" y="1481328"/>
            <a:ext cx="7223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sequence.png"/>
          <p:cNvPicPr>
            <a:picLocks noChangeAspect="1"/>
          </p:cNvPicPr>
          <p:nvPr/>
        </p:nvPicPr>
        <p:blipFill>
          <a:blip r:embed="rId3"/>
          <a:stretch>
            <a:fillRect/>
          </a:stretch>
        </p:blipFill>
        <p:spPr>
          <a:xfrm>
            <a:off x="1223752" y="1609344"/>
            <a:ext cx="5873534" cy="4498848"/>
          </a:xfrm>
          <a:prstGeom prst="rect">
            <a:avLst/>
          </a:prstGeom>
        </p:spPr>
      </p:pic>
      <p:sp>
        <p:nvSpPr>
          <p:cNvPr id="16" name="Oval 15"/>
          <p:cNvSpPr/>
          <p:nvPr/>
        </p:nvSpPr>
        <p:spPr>
          <a:xfrm>
            <a:off x="6255303" y="333920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4610713" y="38565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4728184" y="426146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3024859" y="49362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20" name="Oval 19"/>
          <p:cNvSpPr/>
          <p:nvPr/>
        </p:nvSpPr>
        <p:spPr>
          <a:xfrm>
            <a:off x="8046719"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1" name="TextBox 20"/>
          <p:cNvSpPr txBox="1"/>
          <p:nvPr/>
        </p:nvSpPr>
        <p:spPr>
          <a:xfrm>
            <a:off x="8430767" y="1572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1</a:t>
            </a:r>
          </a:p>
          <a:p>
            <a:pPr algn="l">
              <a:lnSpc>
                <a:spcPct val="115000"/>
              </a:lnSpc>
              <a:spcAft>
                <a:spcPts val="200"/>
              </a:spcAft>
            </a:pPr>
            <a:r>
              <a:rPr sz="1300" b="0" i="0">
                <a:solidFill>
                  <a:srgbClr val="2A3550"/>
                </a:solidFill>
                <a:latin typeface="Arial"/>
              </a:rPr>
              <a:t>The total is over budget.</a:t>
            </a:r>
          </a:p>
        </p:txBody>
      </p:sp>
      <p:sp>
        <p:nvSpPr>
          <p:cNvPr id="22" name="Oval 21"/>
          <p:cNvSpPr/>
          <p:nvPr/>
        </p:nvSpPr>
        <p:spPr>
          <a:xfrm>
            <a:off x="8046719" y="2724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3" name="TextBox 22"/>
          <p:cNvSpPr txBox="1"/>
          <p:nvPr/>
        </p:nvSpPr>
        <p:spPr>
          <a:xfrm>
            <a:off x="8430767" y="2715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detectConflicts</a:t>
            </a:r>
          </a:p>
          <a:p>
            <a:pPr algn="l">
              <a:lnSpc>
                <a:spcPct val="115000"/>
              </a:lnSpc>
              <a:spcAft>
                <a:spcPts val="200"/>
              </a:spcAft>
            </a:pPr>
            <a:r>
              <a:rPr sz="1300" b="0" i="0">
                <a:solidFill>
                  <a:srgbClr val="2A3550"/>
                </a:solidFill>
                <a:latin typeface="Arial"/>
              </a:rPr>
              <a:t>Sends a revision request with a target saving.</a:t>
            </a:r>
          </a:p>
        </p:txBody>
      </p:sp>
      <p:sp>
        <p:nvSpPr>
          <p:cNvPr id="24" name="Oval 23"/>
          <p:cNvSpPr/>
          <p:nvPr/>
        </p:nvSpPr>
        <p:spPr>
          <a:xfrm>
            <a:off x="8046719" y="3867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8430767" y="3858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2</a:t>
            </a:r>
          </a:p>
          <a:p>
            <a:pPr algn="l">
              <a:lnSpc>
                <a:spcPct val="115000"/>
              </a:lnSpc>
              <a:spcAft>
                <a:spcPts val="200"/>
              </a:spcAft>
            </a:pPr>
            <a:r>
              <a:rPr sz="1300" b="0" i="0">
                <a:solidFill>
                  <a:srgbClr val="2A3550"/>
                </a:solidFill>
                <a:latin typeface="Arial"/>
              </a:rPr>
              <a:t>Only the targeted agents revise.</a:t>
            </a:r>
          </a:p>
        </p:txBody>
      </p:sp>
      <p:sp>
        <p:nvSpPr>
          <p:cNvPr id="26" name="Oval 25"/>
          <p:cNvSpPr/>
          <p:nvPr/>
        </p:nvSpPr>
        <p:spPr>
          <a:xfrm>
            <a:off x="8046719" y="5010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7" name="TextBox 26"/>
          <p:cNvSpPr txBox="1"/>
          <p:nvPr/>
        </p:nvSpPr>
        <p:spPr>
          <a:xfrm>
            <a:off x="8430767" y="5001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Kept only if better</a:t>
            </a:r>
          </a:p>
          <a:p>
            <a:pPr algn="l">
              <a:lnSpc>
                <a:spcPct val="115000"/>
              </a:lnSpc>
              <a:spcAft>
                <a:spcPts val="200"/>
              </a:spcAft>
            </a:pPr>
            <a:r>
              <a:rPr sz="1300" b="0" i="0">
                <a:solidFill>
                  <a:srgbClr val="2A3550"/>
                </a:solidFill>
                <a:latin typeface="Arial"/>
              </a:rPr>
              <a:t>Otherwise the previous proposals stay. Infeasible: one conflict naming the minimum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077163" cy="27432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C · Yi Qiao</a:t>
            </a:r>
          </a:p>
        </p:txBody>
      </p:sp>
      <p:sp>
        <p:nvSpPr>
          <p:cNvPr id="4" name="TextBox 3"/>
          <p:cNvSpPr txBox="1"/>
          <p:nvPr/>
        </p:nvSpPr>
        <p:spPr>
          <a:xfrm>
            <a:off x="1772107"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STATE MACHINE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accommodation section within one planning turn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15 / 24</a:t>
            </a:r>
          </a:p>
        </p:txBody>
      </p:sp>
      <p:sp>
        <p:nvSpPr>
          <p:cNvPr id="14" name="Rounded Rectangle 13"/>
          <p:cNvSpPr/>
          <p:nvPr/>
        </p:nvSpPr>
        <p:spPr>
          <a:xfrm>
            <a:off x="548640" y="1481328"/>
            <a:ext cx="4937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state.png"/>
          <p:cNvPicPr>
            <a:picLocks noChangeAspect="1"/>
          </p:cNvPicPr>
          <p:nvPr/>
        </p:nvPicPr>
        <p:blipFill>
          <a:blip r:embed="rId3"/>
          <a:stretch>
            <a:fillRect/>
          </a:stretch>
        </p:blipFill>
        <p:spPr>
          <a:xfrm>
            <a:off x="950727" y="1609344"/>
            <a:ext cx="4133584" cy="4498848"/>
          </a:xfrm>
          <a:prstGeom prst="rect">
            <a:avLst/>
          </a:prstGeom>
        </p:spPr>
      </p:pic>
      <p:sp>
        <p:nvSpPr>
          <p:cNvPr id="16" name="TextBox 15"/>
          <p:cNvSpPr txBox="1"/>
          <p:nvPr/>
        </p:nvSpPr>
        <p:spPr>
          <a:xfrm>
            <a:off x="580644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INTERNAL STATE</a:t>
            </a:r>
          </a:p>
        </p:txBody>
      </p:sp>
      <p:sp>
        <p:nvSpPr>
          <p:cNvPr id="17" name="TextBox 16"/>
          <p:cNvSpPr txBox="1"/>
          <p:nvPr/>
        </p:nvSpPr>
        <p:spPr>
          <a:xfrm>
            <a:off x="9539935" y="1481328"/>
            <a:ext cx="2103120" cy="274320"/>
          </a:xfrm>
          <a:prstGeom prst="rect">
            <a:avLst/>
          </a:prstGeom>
          <a:noFill/>
        </p:spPr>
        <p:txBody>
          <a:bodyPr wrap="square" lIns="0" rIns="0" tIns="0" bIns="0" anchor="t">
            <a:spAutoFit/>
          </a:bodyPr>
          <a:lstStyle/>
          <a:p>
            <a:pPr algn="r">
              <a:lnSpc>
                <a:spcPct val="115000"/>
              </a:lnSpc>
              <a:spcAft>
                <a:spcPts val="0"/>
              </a:spcAft>
            </a:pPr>
            <a:r>
              <a:rPr sz="1100" b="1" i="0">
                <a:solidFill>
                  <a:srgbClr val="5A6478"/>
                </a:solidFill>
                <a:latin typeface="Arial"/>
              </a:rPr>
              <a:t>TRAVELLER SEES</a:t>
            </a:r>
          </a:p>
        </p:txBody>
      </p:sp>
      <p:sp>
        <p:nvSpPr>
          <p:cNvPr id="18" name="Rounded Rectangle 17"/>
          <p:cNvSpPr/>
          <p:nvPr/>
        </p:nvSpPr>
        <p:spPr>
          <a:xfrm>
            <a:off x="5806440" y="1847088"/>
            <a:ext cx="5836615" cy="1417320"/>
          </a:xfrm>
          <a:prstGeom prst="roundRect">
            <a:avLst>
              <a:gd name="adj" fmla="val 774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035040" y="2075688"/>
            <a:ext cx="992124"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Waiting</a:t>
            </a:r>
          </a:p>
        </p:txBody>
      </p:sp>
      <p:sp>
        <p:nvSpPr>
          <p:cNvPr id="20" name="Rounded Rectangle 19"/>
          <p:cNvSpPr/>
          <p:nvPr/>
        </p:nvSpPr>
        <p:spPr>
          <a:xfrm>
            <a:off x="7136892" y="207568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Planning</a:t>
            </a:r>
          </a:p>
        </p:txBody>
      </p:sp>
      <p:sp>
        <p:nvSpPr>
          <p:cNvPr id="21" name="Rounded Rectangle 20"/>
          <p:cNvSpPr/>
          <p:nvPr/>
        </p:nvSpPr>
        <p:spPr>
          <a:xfrm>
            <a:off x="8334756" y="2075688"/>
            <a:ext cx="704088"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Kept</a:t>
            </a:r>
          </a:p>
        </p:txBody>
      </p:sp>
      <p:sp>
        <p:nvSpPr>
          <p:cNvPr id="22" name="Rounded Rectangle 21"/>
          <p:cNvSpPr/>
          <p:nvPr/>
        </p:nvSpPr>
        <p:spPr>
          <a:xfrm>
            <a:off x="6035040" y="2487168"/>
            <a:ext cx="137617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UnderReview</a:t>
            </a:r>
          </a:p>
        </p:txBody>
      </p:sp>
      <p:sp>
        <p:nvSpPr>
          <p:cNvPr id="23" name="Rounded Rectangle 22"/>
          <p:cNvSpPr/>
          <p:nvPr/>
        </p:nvSpPr>
        <p:spPr>
          <a:xfrm>
            <a:off x="7520940" y="248716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Revising</a:t>
            </a:r>
          </a:p>
        </p:txBody>
      </p:sp>
      <p:pic>
        <p:nvPicPr>
          <p:cNvPr id="24" name="Picture 23" descr="arrow-right-9AA5B8.png"/>
          <p:cNvPicPr>
            <a:picLocks noChangeAspect="1"/>
          </p:cNvPicPr>
          <p:nvPr/>
        </p:nvPicPr>
        <p:blipFill>
          <a:blip r:embed="rId4"/>
          <a:stretch>
            <a:fillRect/>
          </a:stretch>
        </p:blipFill>
        <p:spPr>
          <a:xfrm>
            <a:off x="9402775" y="2436876"/>
            <a:ext cx="237744" cy="237744"/>
          </a:xfrm>
          <a:prstGeom prst="rect">
            <a:avLst/>
          </a:prstGeom>
        </p:spPr>
      </p:pic>
      <p:sp>
        <p:nvSpPr>
          <p:cNvPr id="25" name="Rounded Rectangle 24"/>
          <p:cNvSpPr/>
          <p:nvPr/>
        </p:nvSpPr>
        <p:spPr>
          <a:xfrm>
            <a:off x="9859975" y="2382012"/>
            <a:ext cx="1554480" cy="347472"/>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14213D"/>
                </a:solidFill>
                <a:latin typeface="Arial"/>
              </a:rPr>
              <a:t>planning</a:t>
            </a:r>
          </a:p>
        </p:txBody>
      </p:sp>
      <p:sp>
        <p:nvSpPr>
          <p:cNvPr id="26" name="Rounded Rectangle 25"/>
          <p:cNvSpPr/>
          <p:nvPr/>
        </p:nvSpPr>
        <p:spPr>
          <a:xfrm>
            <a:off x="5806440" y="3447288"/>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035040" y="3675887"/>
            <a:ext cx="800100"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Draft</a:t>
            </a:r>
          </a:p>
        </p:txBody>
      </p:sp>
      <p:pic>
        <p:nvPicPr>
          <p:cNvPr id="28" name="Picture 27" descr="arrow-right-9AA5B8.png"/>
          <p:cNvPicPr>
            <a:picLocks noChangeAspect="1"/>
          </p:cNvPicPr>
          <p:nvPr/>
        </p:nvPicPr>
        <p:blipFill>
          <a:blip r:embed="rId4"/>
          <a:stretch>
            <a:fillRect/>
          </a:stretch>
        </p:blipFill>
        <p:spPr>
          <a:xfrm>
            <a:off x="9402775" y="3703320"/>
            <a:ext cx="237744" cy="237744"/>
          </a:xfrm>
          <a:prstGeom prst="rect">
            <a:avLst/>
          </a:prstGeom>
        </p:spPr>
      </p:pic>
      <p:sp>
        <p:nvSpPr>
          <p:cNvPr id="29" name="Rounded Rectangle 28"/>
          <p:cNvSpPr/>
          <p:nvPr/>
        </p:nvSpPr>
        <p:spPr>
          <a:xfrm>
            <a:off x="9859975" y="3648456"/>
            <a:ext cx="1554480" cy="347472"/>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2E7D4F"/>
                </a:solidFill>
                <a:latin typeface="Arial"/>
              </a:rPr>
              <a:t>draft</a:t>
            </a:r>
          </a:p>
        </p:txBody>
      </p:sp>
      <p:sp>
        <p:nvSpPr>
          <p:cNvPr id="30" name="Rounded Rectangle 29"/>
          <p:cNvSpPr/>
          <p:nvPr/>
        </p:nvSpPr>
        <p:spPr>
          <a:xfrm>
            <a:off x="5806440" y="4379976"/>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035040" y="4608576"/>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NeedsYou</a:t>
            </a:r>
          </a:p>
        </p:txBody>
      </p:sp>
      <p:pic>
        <p:nvPicPr>
          <p:cNvPr id="32" name="Picture 31" descr="arrow-right-9AA5B8.png"/>
          <p:cNvPicPr>
            <a:picLocks noChangeAspect="1"/>
          </p:cNvPicPr>
          <p:nvPr/>
        </p:nvPicPr>
        <p:blipFill>
          <a:blip r:embed="rId4"/>
          <a:stretch>
            <a:fillRect/>
          </a:stretch>
        </p:blipFill>
        <p:spPr>
          <a:xfrm>
            <a:off x="9402775" y="4636008"/>
            <a:ext cx="237744" cy="237744"/>
          </a:xfrm>
          <a:prstGeom prst="rect">
            <a:avLst/>
          </a:prstGeom>
        </p:spPr>
      </p:pic>
      <p:sp>
        <p:nvSpPr>
          <p:cNvPr id="33" name="Rounded Rectangle 32"/>
          <p:cNvSpPr/>
          <p:nvPr/>
        </p:nvSpPr>
        <p:spPr>
          <a:xfrm>
            <a:off x="9859975" y="4581144"/>
            <a:ext cx="1554480" cy="347472"/>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C2571A"/>
                </a:solidFill>
                <a:latin typeface="Arial"/>
              </a:rPr>
              <a:t>needs_you</a:t>
            </a:r>
          </a:p>
        </p:txBody>
      </p:sp>
      <p:sp>
        <p:nvSpPr>
          <p:cNvPr id="34" name="Rounded Rectangle 33"/>
          <p:cNvSpPr/>
          <p:nvPr/>
        </p:nvSpPr>
        <p:spPr>
          <a:xfrm>
            <a:off x="5806440" y="5312664"/>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035040" y="5541264"/>
            <a:ext cx="89611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Failed</a:t>
            </a:r>
          </a:p>
        </p:txBody>
      </p:sp>
      <p:pic>
        <p:nvPicPr>
          <p:cNvPr id="36" name="Picture 35" descr="arrow-right-9AA5B8.png"/>
          <p:cNvPicPr>
            <a:picLocks noChangeAspect="1"/>
          </p:cNvPicPr>
          <p:nvPr/>
        </p:nvPicPr>
        <p:blipFill>
          <a:blip r:embed="rId4"/>
          <a:stretch>
            <a:fillRect/>
          </a:stretch>
        </p:blipFill>
        <p:spPr>
          <a:xfrm>
            <a:off x="9402775" y="5568696"/>
            <a:ext cx="237744" cy="237744"/>
          </a:xfrm>
          <a:prstGeom prst="rect">
            <a:avLst/>
          </a:prstGeom>
        </p:spPr>
      </p:pic>
      <p:sp>
        <p:nvSpPr>
          <p:cNvPr id="37" name="Rounded Rectangle 36"/>
          <p:cNvSpPr/>
          <p:nvPr/>
        </p:nvSpPr>
        <p:spPr>
          <a:xfrm>
            <a:off x="9859975" y="5513832"/>
            <a:ext cx="1554480" cy="347472"/>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9B2C2C"/>
                </a:solidFill>
                <a:latin typeface="Arial"/>
              </a:rPr>
              <a:t>run stops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ELEMENTARY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Six class diagrams drawn from the code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16 / 24</a:t>
            </a:r>
          </a:p>
        </p:txBody>
      </p:sp>
      <p:sp>
        <p:nvSpPr>
          <p:cNvPr id="14" name="Rounded Rectangle 13"/>
          <p:cNvSpPr/>
          <p:nvPr/>
        </p:nvSpPr>
        <p:spPr>
          <a:xfrm>
            <a:off x="548640" y="1481328"/>
            <a:ext cx="11094415" cy="3794760"/>
          </a:xfrm>
          <a:prstGeom prst="roundRect">
            <a:avLst>
              <a:gd name="adj" fmla="val 289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lass-spine.png"/>
          <p:cNvPicPr>
            <a:picLocks noChangeAspect="1"/>
          </p:cNvPicPr>
          <p:nvPr/>
        </p:nvPicPr>
        <p:blipFill>
          <a:blip r:embed="rId3"/>
          <a:stretch>
            <a:fillRect/>
          </a:stretch>
        </p:blipFill>
        <p:spPr>
          <a:xfrm>
            <a:off x="2087579" y="1609344"/>
            <a:ext cx="8016535" cy="3538728"/>
          </a:xfrm>
          <a:prstGeom prst="rect">
            <a:avLst/>
          </a:prstGeom>
        </p:spPr>
      </p:pic>
      <p:sp>
        <p:nvSpPr>
          <p:cNvPr id="16" name="Rounded Rectangle 15"/>
          <p:cNvSpPr/>
          <p:nvPr/>
        </p:nvSpPr>
        <p:spPr>
          <a:xfrm>
            <a:off x="548640" y="5458968"/>
            <a:ext cx="1734769" cy="777240"/>
          </a:xfrm>
          <a:prstGeom prst="roundRect">
            <a:avLst>
              <a:gd name="adj" fmla="val 14117"/>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F2A65A"/>
                </a:solidFill>
                <a:latin typeface="Georgia"/>
              </a:rPr>
              <a:t>1</a:t>
            </a:r>
          </a:p>
        </p:txBody>
      </p:sp>
      <p:sp>
        <p:nvSpPr>
          <p:cNvPr id="18" name="TextBox 17"/>
          <p:cNvSpPr txBox="1"/>
          <p:nvPr/>
        </p:nvSpPr>
        <p:spPr>
          <a:xfrm>
            <a:off x="731520"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FFFFFF"/>
                </a:solidFill>
                <a:latin typeface="Arial"/>
              </a:rPr>
              <a:t>Structural spine</a:t>
            </a:r>
          </a:p>
        </p:txBody>
      </p:sp>
      <p:sp>
        <p:nvSpPr>
          <p:cNvPr id="19" name="Rounded Rectangle 18"/>
          <p:cNvSpPr/>
          <p:nvPr/>
        </p:nvSpPr>
        <p:spPr>
          <a:xfrm>
            <a:off x="2420569"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603449"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2</a:t>
            </a:r>
          </a:p>
        </p:txBody>
      </p:sp>
      <p:sp>
        <p:nvSpPr>
          <p:cNvPr id="21" name="TextBox 20"/>
          <p:cNvSpPr txBox="1"/>
          <p:nvPr/>
        </p:nvSpPr>
        <p:spPr>
          <a:xfrm>
            <a:off x="2603449"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Domain contracts</a:t>
            </a:r>
          </a:p>
        </p:txBody>
      </p:sp>
      <p:sp>
        <p:nvSpPr>
          <p:cNvPr id="22" name="Rounded Rectangle 21"/>
          <p:cNvSpPr/>
          <p:nvPr/>
        </p:nvSpPr>
        <p:spPr>
          <a:xfrm>
            <a:off x="4292498"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5378"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3</a:t>
            </a:r>
          </a:p>
        </p:txBody>
      </p:sp>
      <p:sp>
        <p:nvSpPr>
          <p:cNvPr id="24" name="TextBox 23"/>
          <p:cNvSpPr txBox="1"/>
          <p:nvPr/>
        </p:nvSpPr>
        <p:spPr>
          <a:xfrm>
            <a:off x="4475378"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Specialists</a:t>
            </a:r>
          </a:p>
        </p:txBody>
      </p:sp>
      <p:sp>
        <p:nvSpPr>
          <p:cNvPr id="25" name="Rounded Rectangle 24"/>
          <p:cNvSpPr/>
          <p:nvPr/>
        </p:nvSpPr>
        <p:spPr>
          <a:xfrm>
            <a:off x="6164427"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347307"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4</a:t>
            </a:r>
          </a:p>
        </p:txBody>
      </p:sp>
      <p:sp>
        <p:nvSpPr>
          <p:cNvPr id="27" name="TextBox 26"/>
          <p:cNvSpPr txBox="1"/>
          <p:nvPr/>
        </p:nvSpPr>
        <p:spPr>
          <a:xfrm>
            <a:off x="6347307"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Ports and adapters</a:t>
            </a:r>
          </a:p>
        </p:txBody>
      </p:sp>
      <p:sp>
        <p:nvSpPr>
          <p:cNvPr id="28" name="Rounded Rectangle 27"/>
          <p:cNvSpPr/>
          <p:nvPr/>
        </p:nvSpPr>
        <p:spPr>
          <a:xfrm>
            <a:off x="803635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1923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5</a:t>
            </a:r>
          </a:p>
        </p:txBody>
      </p:sp>
      <p:sp>
        <p:nvSpPr>
          <p:cNvPr id="30" name="TextBox 29"/>
          <p:cNvSpPr txBox="1"/>
          <p:nvPr/>
        </p:nvSpPr>
        <p:spPr>
          <a:xfrm>
            <a:off x="821923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Use case trace</a:t>
            </a:r>
          </a:p>
        </p:txBody>
      </p:sp>
      <p:sp>
        <p:nvSpPr>
          <p:cNvPr id="31" name="Rounded Rectangle 30"/>
          <p:cNvSpPr/>
          <p:nvPr/>
        </p:nvSpPr>
        <p:spPr>
          <a:xfrm>
            <a:off x="990828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09116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6</a:t>
            </a:r>
          </a:p>
        </p:txBody>
      </p:sp>
      <p:sp>
        <p:nvSpPr>
          <p:cNvPr id="33" name="TextBox 32"/>
          <p:cNvSpPr txBox="1"/>
          <p:nvPr/>
        </p:nvSpPr>
        <p:spPr>
          <a:xfrm>
            <a:off x="1009116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Generalisation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ELEMENTARY STRUCTURE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Specialist interface, five realisations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17 / 24</a:t>
            </a:r>
          </a:p>
        </p:txBody>
      </p:sp>
      <p:sp>
        <p:nvSpPr>
          <p:cNvPr id="14" name="Rounded Rectangle 13"/>
          <p:cNvSpPr/>
          <p:nvPr/>
        </p:nvSpPr>
        <p:spPr>
          <a:xfrm>
            <a:off x="548640" y="1481328"/>
            <a:ext cx="11094415" cy="3108960"/>
          </a:xfrm>
          <a:prstGeom prst="roundRect">
            <a:avLst>
              <a:gd name="adj" fmla="val 352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lass-specialists.png"/>
          <p:cNvPicPr>
            <a:picLocks noChangeAspect="1"/>
          </p:cNvPicPr>
          <p:nvPr/>
        </p:nvPicPr>
        <p:blipFill>
          <a:blip r:embed="rId3"/>
          <a:stretch>
            <a:fillRect/>
          </a:stretch>
        </p:blipFill>
        <p:spPr>
          <a:xfrm>
            <a:off x="2783990" y="1609344"/>
            <a:ext cx="6623713" cy="2852928"/>
          </a:xfrm>
          <a:prstGeom prst="rect">
            <a:avLst/>
          </a:prstGeom>
        </p:spPr>
      </p:pic>
      <p:sp>
        <p:nvSpPr>
          <p:cNvPr id="16" name="Oval 15"/>
          <p:cNvSpPr/>
          <p:nvPr/>
        </p:nvSpPr>
        <p:spPr>
          <a:xfrm>
            <a:off x="5263197" y="28415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5461909" y="24849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Rounded Rectangle 17"/>
          <p:cNvSpPr/>
          <p:nvPr/>
        </p:nvSpPr>
        <p:spPr>
          <a:xfrm>
            <a:off x="548640"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49808"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0" name="TextBox 19"/>
          <p:cNvSpPr txBox="1"/>
          <p:nvPr/>
        </p:nvSpPr>
        <p:spPr>
          <a:xfrm>
            <a:off x="1115568"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interface</a:t>
            </a:r>
          </a:p>
        </p:txBody>
      </p:sp>
      <p:sp>
        <p:nvSpPr>
          <p:cNvPr id="21" name="Rounded Rectangle 20"/>
          <p:cNvSpPr/>
          <p:nvPr/>
        </p:nvSpPr>
        <p:spPr>
          <a:xfrm>
            <a:off x="749808" y="5340096"/>
            <a:ext cx="1415948"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realisation × 5</a:t>
            </a:r>
          </a:p>
        </p:txBody>
      </p:sp>
      <p:sp>
        <p:nvSpPr>
          <p:cNvPr id="22" name="TextBox 21"/>
          <p:cNvSpPr txBox="1"/>
          <p:nvPr/>
        </p:nvSpPr>
        <p:spPr>
          <a:xfrm>
            <a:off x="749808"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The graph loops over agents without knowing their models.</a:t>
            </a:r>
          </a:p>
        </p:txBody>
      </p:sp>
      <p:sp>
        <p:nvSpPr>
          <p:cNvPr id="23" name="Rounded Rectangle 22"/>
          <p:cNvSpPr/>
          <p:nvPr/>
        </p:nvSpPr>
        <p:spPr>
          <a:xfrm>
            <a:off x="4307738"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5" name="TextBox 24"/>
          <p:cNvSpPr txBox="1"/>
          <p:nvPr/>
        </p:nvSpPr>
        <p:spPr>
          <a:xfrm>
            <a:off x="4874666"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Registry ◇ Specialist</a:t>
            </a:r>
          </a:p>
        </p:txBody>
      </p:sp>
      <p:sp>
        <p:nvSpPr>
          <p:cNvPr id="26" name="Rounded Rectangle 25"/>
          <p:cNvSpPr/>
          <p:nvPr/>
        </p:nvSpPr>
        <p:spPr>
          <a:xfrm>
            <a:off x="4508906" y="5340096"/>
            <a:ext cx="1565727"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aggregation 1 → 5</a:t>
            </a:r>
          </a:p>
        </p:txBody>
      </p:sp>
      <p:sp>
        <p:nvSpPr>
          <p:cNvPr id="27" name="TextBox 26"/>
          <p:cNvSpPr txBox="1"/>
          <p:nvPr/>
        </p:nvSpPr>
        <p:spPr>
          <a:xfrm>
            <a:off x="4508906"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Agents live on their own; the registry only lists them.</a:t>
            </a:r>
          </a:p>
        </p:txBody>
      </p:sp>
      <p:sp>
        <p:nvSpPr>
          <p:cNvPr id="28" name="Rounded Rectangle 27"/>
          <p:cNvSpPr/>
          <p:nvPr/>
        </p:nvSpPr>
        <p:spPr>
          <a:xfrm>
            <a:off x="8066836"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68004"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TripPlan ◆ TripSection</a:t>
            </a:r>
          </a:p>
        </p:txBody>
      </p:sp>
      <p:sp>
        <p:nvSpPr>
          <p:cNvPr id="30" name="Rounded Rectangle 29"/>
          <p:cNvSpPr/>
          <p:nvPr/>
        </p:nvSpPr>
        <p:spPr>
          <a:xfrm>
            <a:off x="8268004" y="5340096"/>
            <a:ext cx="1790395"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composition 1 → 0..*</a:t>
            </a:r>
          </a:p>
        </p:txBody>
      </p:sp>
      <p:sp>
        <p:nvSpPr>
          <p:cNvPr id="31" name="TextBox 30"/>
          <p:cNvSpPr txBox="1"/>
          <p:nvPr/>
        </p:nvSpPr>
        <p:spPr>
          <a:xfrm>
            <a:off x="8268004"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section cannot outlive its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DESIGN RATIONALE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What we chose, and what we discarded</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18 / 24</a:t>
            </a:r>
          </a:p>
        </p:txBody>
      </p:sp>
      <p:sp>
        <p:nvSpPr>
          <p:cNvPr id="14" name="TextBox 13"/>
          <p:cNvSpPr txBox="1"/>
          <p:nvPr/>
        </p:nvSpPr>
        <p:spPr>
          <a:xfrm>
            <a:off x="73152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DECISION</a:t>
            </a:r>
          </a:p>
        </p:txBody>
      </p:sp>
      <p:sp>
        <p:nvSpPr>
          <p:cNvPr id="15" name="TextBox 14"/>
          <p:cNvSpPr txBox="1"/>
          <p:nvPr/>
        </p:nvSpPr>
        <p:spPr>
          <a:xfrm>
            <a:off x="35661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2E7D4F"/>
                </a:solidFill>
                <a:latin typeface="Arial"/>
              </a:rPr>
              <a:t>CHOSEN</a:t>
            </a:r>
          </a:p>
        </p:txBody>
      </p:sp>
      <p:sp>
        <p:nvSpPr>
          <p:cNvPr id="16" name="TextBox 15"/>
          <p:cNvSpPr txBox="1"/>
          <p:nvPr/>
        </p:nvSpPr>
        <p:spPr>
          <a:xfrm>
            <a:off x="74523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9B2C2C"/>
                </a:solidFill>
                <a:latin typeface="Arial"/>
              </a:rPr>
              <a:t>DISCARDED, AND WHY</a:t>
            </a:r>
          </a:p>
        </p:txBody>
      </p:sp>
      <p:sp>
        <p:nvSpPr>
          <p:cNvPr id="17" name="Rounded Rectangle 16"/>
          <p:cNvSpPr/>
          <p:nvPr/>
        </p:nvSpPr>
        <p:spPr>
          <a:xfrm>
            <a:off x="548640" y="182880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7240" y="182880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Who drives the loop</a:t>
            </a:r>
          </a:p>
        </p:txBody>
      </p:sp>
      <p:sp>
        <p:nvSpPr>
          <p:cNvPr id="19" name="Rounded Rectangle 18"/>
          <p:cNvSpPr/>
          <p:nvPr/>
        </p:nvSpPr>
        <p:spPr>
          <a:xfrm>
            <a:off x="3136392" y="200253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2E7D4F.png"/>
          <p:cNvPicPr>
            <a:picLocks noChangeAspect="1"/>
          </p:cNvPicPr>
          <p:nvPr/>
        </p:nvPicPr>
        <p:blipFill>
          <a:blip r:embed="rId3"/>
          <a:stretch>
            <a:fillRect/>
          </a:stretch>
        </p:blipFill>
        <p:spPr>
          <a:xfrm>
            <a:off x="3182112" y="2048256"/>
            <a:ext cx="182880" cy="182880"/>
          </a:xfrm>
          <a:prstGeom prst="rect">
            <a:avLst/>
          </a:prstGeom>
        </p:spPr>
      </p:pic>
      <p:sp>
        <p:nvSpPr>
          <p:cNvPr id="21" name="TextBox 20"/>
          <p:cNvSpPr txBox="1"/>
          <p:nvPr/>
        </p:nvSpPr>
        <p:spPr>
          <a:xfrm>
            <a:off x="3566160" y="182880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Deterministic LangGraph</a:t>
            </a:r>
          </a:p>
        </p:txBody>
      </p:sp>
      <p:sp>
        <p:nvSpPr>
          <p:cNvPr id="22" name="Rounded Rectangle 21"/>
          <p:cNvSpPr/>
          <p:nvPr/>
        </p:nvSpPr>
        <p:spPr>
          <a:xfrm>
            <a:off x="7022592" y="200253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x-9B2C2C.png"/>
          <p:cNvPicPr>
            <a:picLocks noChangeAspect="1"/>
          </p:cNvPicPr>
          <p:nvPr/>
        </p:nvPicPr>
        <p:blipFill>
          <a:blip r:embed="rId4"/>
          <a:stretch>
            <a:fillRect/>
          </a:stretch>
        </p:blipFill>
        <p:spPr>
          <a:xfrm>
            <a:off x="7068312" y="2048256"/>
            <a:ext cx="182880" cy="182880"/>
          </a:xfrm>
          <a:prstGeom prst="rect">
            <a:avLst/>
          </a:prstGeom>
        </p:spPr>
      </p:pic>
      <p:sp>
        <p:nvSpPr>
          <p:cNvPr id="24" name="TextBox 23"/>
          <p:cNvSpPr txBox="1"/>
          <p:nvPr/>
        </p:nvSpPr>
        <p:spPr>
          <a:xfrm>
            <a:off x="7452360" y="182880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Model-driven loop</a:t>
            </a:r>
            <a:r>
              <a:rPr sz="1250" b="0" i="0">
                <a:solidFill>
                  <a:srgbClr val="5A6478"/>
                </a:solidFill>
                <a:latin typeface="Arial"/>
              </a:rPr>
              <a:t>  limits and costs must be testable</a:t>
            </a:r>
          </a:p>
        </p:txBody>
      </p:sp>
      <p:sp>
        <p:nvSpPr>
          <p:cNvPr id="25" name="Rounded Rectangle 24"/>
          <p:cNvSpPr/>
          <p:nvPr/>
        </p:nvSpPr>
        <p:spPr>
          <a:xfrm>
            <a:off x="548640" y="2551176"/>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77240" y="2551176"/>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Collaboration</a:t>
            </a:r>
          </a:p>
        </p:txBody>
      </p:sp>
      <p:sp>
        <p:nvSpPr>
          <p:cNvPr id="27" name="Rounded Rectangle 26"/>
          <p:cNvSpPr/>
          <p:nvPr/>
        </p:nvSpPr>
        <p:spPr>
          <a:xfrm>
            <a:off x="3136392" y="2724912"/>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heck-2E7D4F.png"/>
          <p:cNvPicPr>
            <a:picLocks noChangeAspect="1"/>
          </p:cNvPicPr>
          <p:nvPr/>
        </p:nvPicPr>
        <p:blipFill>
          <a:blip r:embed="rId3"/>
          <a:stretch>
            <a:fillRect/>
          </a:stretch>
        </p:blipFill>
        <p:spPr>
          <a:xfrm>
            <a:off x="3182112" y="2770632"/>
            <a:ext cx="182880" cy="182880"/>
          </a:xfrm>
          <a:prstGeom prst="rect">
            <a:avLst/>
          </a:prstGeom>
        </p:spPr>
      </p:pic>
      <p:sp>
        <p:nvSpPr>
          <p:cNvPr id="29" name="TextBox 28"/>
          <p:cNvSpPr txBox="1"/>
          <p:nvPr/>
        </p:nvSpPr>
        <p:spPr>
          <a:xfrm>
            <a:off x="3566160" y="2551176"/>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Staged board with budget shares</a:t>
            </a:r>
          </a:p>
        </p:txBody>
      </p:sp>
      <p:sp>
        <p:nvSpPr>
          <p:cNvPr id="30" name="Rounded Rectangle 29"/>
          <p:cNvSpPr/>
          <p:nvPr/>
        </p:nvSpPr>
        <p:spPr>
          <a:xfrm>
            <a:off x="7022592" y="2724912"/>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x-9B2C2C.png"/>
          <p:cNvPicPr>
            <a:picLocks noChangeAspect="1"/>
          </p:cNvPicPr>
          <p:nvPr/>
        </p:nvPicPr>
        <p:blipFill>
          <a:blip r:embed="rId4"/>
          <a:stretch>
            <a:fillRect/>
          </a:stretch>
        </p:blipFill>
        <p:spPr>
          <a:xfrm>
            <a:off x="7068312" y="2770632"/>
            <a:ext cx="182880" cy="182880"/>
          </a:xfrm>
          <a:prstGeom prst="rect">
            <a:avLst/>
          </a:prstGeom>
        </p:spPr>
      </p:pic>
      <p:sp>
        <p:nvSpPr>
          <p:cNvPr id="32" name="TextBox 31"/>
          <p:cNvSpPr txBox="1"/>
          <p:nvPr/>
        </p:nvSpPr>
        <p:spPr>
          <a:xfrm>
            <a:off x="7452360" y="2551176"/>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Free agent-to-agent chat</a:t>
            </a:r>
            <a:r>
              <a:rPr sz="1250" b="0" i="0">
                <a:solidFill>
                  <a:srgbClr val="5A6478"/>
                </a:solidFill>
                <a:latin typeface="Arial"/>
              </a:rPr>
              <a:t>  control flow would live in model output</a:t>
            </a:r>
          </a:p>
        </p:txBody>
      </p:sp>
      <p:sp>
        <p:nvSpPr>
          <p:cNvPr id="33" name="Rounded Rectangle 32"/>
          <p:cNvSpPr/>
          <p:nvPr/>
        </p:nvSpPr>
        <p:spPr>
          <a:xfrm>
            <a:off x="548640" y="3273552"/>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77240" y="3273552"/>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Human in the loop</a:t>
            </a:r>
          </a:p>
        </p:txBody>
      </p:sp>
      <p:sp>
        <p:nvSpPr>
          <p:cNvPr id="35" name="Rounded Rectangle 34"/>
          <p:cNvSpPr/>
          <p:nvPr/>
        </p:nvSpPr>
        <p:spPr>
          <a:xfrm>
            <a:off x="3136392" y="3447288"/>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check-2E7D4F.png"/>
          <p:cNvPicPr>
            <a:picLocks noChangeAspect="1"/>
          </p:cNvPicPr>
          <p:nvPr/>
        </p:nvPicPr>
        <p:blipFill>
          <a:blip r:embed="rId3"/>
          <a:stretch>
            <a:fillRect/>
          </a:stretch>
        </p:blipFill>
        <p:spPr>
          <a:xfrm>
            <a:off x="3182112" y="3493008"/>
            <a:ext cx="182880" cy="182880"/>
          </a:xfrm>
          <a:prstGeom prst="rect">
            <a:avLst/>
          </a:prstGeom>
        </p:spPr>
      </p:pic>
      <p:sp>
        <p:nvSpPr>
          <p:cNvPr id="37" name="TextBox 36"/>
          <p:cNvSpPr txBox="1"/>
          <p:nvPr/>
        </p:nvSpPr>
        <p:spPr>
          <a:xfrm>
            <a:off x="3566160" y="3273552"/>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Traveller edits; sections show needs_you</a:t>
            </a:r>
          </a:p>
        </p:txBody>
      </p:sp>
      <p:sp>
        <p:nvSpPr>
          <p:cNvPr id="38" name="Rounded Rectangle 37"/>
          <p:cNvSpPr/>
          <p:nvPr/>
        </p:nvSpPr>
        <p:spPr>
          <a:xfrm>
            <a:off x="7022592" y="3447288"/>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x-9B2C2C.png"/>
          <p:cNvPicPr>
            <a:picLocks noChangeAspect="1"/>
          </p:cNvPicPr>
          <p:nvPr/>
        </p:nvPicPr>
        <p:blipFill>
          <a:blip r:embed="rId4"/>
          <a:stretch>
            <a:fillRect/>
          </a:stretch>
        </p:blipFill>
        <p:spPr>
          <a:xfrm>
            <a:off x="7068312" y="3493008"/>
            <a:ext cx="182880" cy="182880"/>
          </a:xfrm>
          <a:prstGeom prst="rect">
            <a:avLst/>
          </a:prstGeom>
        </p:spPr>
      </p:pic>
      <p:sp>
        <p:nvSpPr>
          <p:cNvPr id="40" name="TextBox 39"/>
          <p:cNvSpPr txBox="1"/>
          <p:nvPr/>
        </p:nvSpPr>
        <p:spPr>
          <a:xfrm>
            <a:off x="7452360" y="3273552"/>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Approval checkpoints</a:t>
            </a:r>
            <a:r>
              <a:rPr sz="1250" b="0" i="0">
                <a:solidFill>
                  <a:srgbClr val="5A6478"/>
                </a:solidFill>
                <a:latin typeface="Arial"/>
              </a:rPr>
              <a:t>  confirming applied nothing</a:t>
            </a:r>
          </a:p>
        </p:txBody>
      </p:sp>
      <p:sp>
        <p:nvSpPr>
          <p:cNvPr id="41" name="Rounded Rectangle 40"/>
          <p:cNvSpPr/>
          <p:nvPr/>
        </p:nvSpPr>
        <p:spPr>
          <a:xfrm>
            <a:off x="548640" y="3995928"/>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77240" y="3995928"/>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LLM provider</a:t>
            </a:r>
          </a:p>
        </p:txBody>
      </p:sp>
      <p:sp>
        <p:nvSpPr>
          <p:cNvPr id="43" name="Rounded Rectangle 42"/>
          <p:cNvSpPr/>
          <p:nvPr/>
        </p:nvSpPr>
        <p:spPr>
          <a:xfrm>
            <a:off x="3136392" y="4169664"/>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check-2E7D4F.png"/>
          <p:cNvPicPr>
            <a:picLocks noChangeAspect="1"/>
          </p:cNvPicPr>
          <p:nvPr/>
        </p:nvPicPr>
        <p:blipFill>
          <a:blip r:embed="rId3"/>
          <a:stretch>
            <a:fillRect/>
          </a:stretch>
        </p:blipFill>
        <p:spPr>
          <a:xfrm>
            <a:off x="3182112" y="4215384"/>
            <a:ext cx="182880" cy="182880"/>
          </a:xfrm>
          <a:prstGeom prst="rect">
            <a:avLst/>
          </a:prstGeom>
        </p:spPr>
      </p:pic>
      <p:sp>
        <p:nvSpPr>
          <p:cNvPr id="45" name="TextBox 44"/>
          <p:cNvSpPr txBox="1"/>
          <p:nvPr/>
        </p:nvSpPr>
        <p:spPr>
          <a:xfrm>
            <a:off x="3566160" y="3995928"/>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DeepSeek</a:t>
            </a:r>
          </a:p>
        </p:txBody>
      </p:sp>
      <p:sp>
        <p:nvSpPr>
          <p:cNvPr id="46" name="Rounded Rectangle 45"/>
          <p:cNvSpPr/>
          <p:nvPr/>
        </p:nvSpPr>
        <p:spPr>
          <a:xfrm>
            <a:off x="7022592" y="4169664"/>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x-9B2C2C.png"/>
          <p:cNvPicPr>
            <a:picLocks noChangeAspect="1"/>
          </p:cNvPicPr>
          <p:nvPr/>
        </p:nvPicPr>
        <p:blipFill>
          <a:blip r:embed="rId4"/>
          <a:stretch>
            <a:fillRect/>
          </a:stretch>
        </p:blipFill>
        <p:spPr>
          <a:xfrm>
            <a:off x="7068312" y="4215384"/>
            <a:ext cx="182880" cy="182880"/>
          </a:xfrm>
          <a:prstGeom prst="rect">
            <a:avLst/>
          </a:prstGeom>
        </p:spPr>
      </p:pic>
      <p:sp>
        <p:nvSpPr>
          <p:cNvPr id="48" name="TextBox 47"/>
          <p:cNvSpPr txBox="1"/>
          <p:nvPr/>
        </p:nvSpPr>
        <p:spPr>
          <a:xfrm>
            <a:off x="7452360" y="3995928"/>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MiniMax</a:t>
            </a:r>
            <a:r>
              <a:rPr sz="1250" b="0" i="0">
                <a:solidFill>
                  <a:srgbClr val="5A6478"/>
                </a:solidFill>
                <a:latin typeface="Arial"/>
              </a:rPr>
              <a:t>  pages took 37–81 s against 15–23 s</a:t>
            </a:r>
          </a:p>
        </p:txBody>
      </p:sp>
      <p:sp>
        <p:nvSpPr>
          <p:cNvPr id="49" name="Rounded Rectangle 48"/>
          <p:cNvSpPr/>
          <p:nvPr/>
        </p:nvSpPr>
        <p:spPr>
          <a:xfrm>
            <a:off x="548640" y="4718304"/>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77240" y="4718304"/>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Prices</a:t>
            </a:r>
          </a:p>
        </p:txBody>
      </p:sp>
      <p:sp>
        <p:nvSpPr>
          <p:cNvPr id="51" name="Rounded Rectangle 50"/>
          <p:cNvSpPr/>
          <p:nvPr/>
        </p:nvSpPr>
        <p:spPr>
          <a:xfrm>
            <a:off x="3136392" y="4892040"/>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check-2E7D4F.png"/>
          <p:cNvPicPr>
            <a:picLocks noChangeAspect="1"/>
          </p:cNvPicPr>
          <p:nvPr/>
        </p:nvPicPr>
        <p:blipFill>
          <a:blip r:embed="rId3"/>
          <a:stretch>
            <a:fillRect/>
          </a:stretch>
        </p:blipFill>
        <p:spPr>
          <a:xfrm>
            <a:off x="3182112" y="4937760"/>
            <a:ext cx="182880" cy="182880"/>
          </a:xfrm>
          <a:prstGeom prst="rect">
            <a:avLst/>
          </a:prstGeom>
        </p:spPr>
      </p:pic>
      <p:sp>
        <p:nvSpPr>
          <p:cNvPr id="53" name="TextBox 52"/>
          <p:cNvSpPr txBox="1"/>
          <p:nvPr/>
        </p:nvSpPr>
        <p:spPr>
          <a:xfrm>
            <a:off x="3566160" y="4718304"/>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Tools only, with provenance</a:t>
            </a:r>
          </a:p>
        </p:txBody>
      </p:sp>
      <p:sp>
        <p:nvSpPr>
          <p:cNvPr id="54" name="Rounded Rectangle 53"/>
          <p:cNvSpPr/>
          <p:nvPr/>
        </p:nvSpPr>
        <p:spPr>
          <a:xfrm>
            <a:off x="7022592" y="4892040"/>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5" name="Picture 54" descr="x-9B2C2C.png"/>
          <p:cNvPicPr>
            <a:picLocks noChangeAspect="1"/>
          </p:cNvPicPr>
          <p:nvPr/>
        </p:nvPicPr>
        <p:blipFill>
          <a:blip r:embed="rId4"/>
          <a:stretch>
            <a:fillRect/>
          </a:stretch>
        </p:blipFill>
        <p:spPr>
          <a:xfrm>
            <a:off x="7068312" y="4937760"/>
            <a:ext cx="182880" cy="182880"/>
          </a:xfrm>
          <a:prstGeom prst="rect">
            <a:avLst/>
          </a:prstGeom>
        </p:spPr>
      </p:pic>
      <p:sp>
        <p:nvSpPr>
          <p:cNvPr id="56" name="TextBox 55"/>
          <p:cNvSpPr txBox="1"/>
          <p:nvPr/>
        </p:nvSpPr>
        <p:spPr>
          <a:xfrm>
            <a:off x="7452360" y="4718304"/>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 estimates</a:t>
            </a:r>
            <a:r>
              <a:rPr sz="1250" b="0" i="0">
                <a:solidFill>
                  <a:srgbClr val="5A6478"/>
                </a:solidFill>
                <a:latin typeface="Arial"/>
              </a:rPr>
              <a:t>  it invents hotels and fares</a:t>
            </a:r>
          </a:p>
        </p:txBody>
      </p:sp>
      <p:sp>
        <p:nvSpPr>
          <p:cNvPr id="57" name="Rounded Rectangle 56"/>
          <p:cNvSpPr/>
          <p:nvPr/>
        </p:nvSpPr>
        <p:spPr>
          <a:xfrm>
            <a:off x="548640" y="544068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7240" y="544068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Server state</a:t>
            </a:r>
          </a:p>
        </p:txBody>
      </p:sp>
      <p:sp>
        <p:nvSpPr>
          <p:cNvPr id="59" name="Rounded Rectangle 58"/>
          <p:cNvSpPr/>
          <p:nvPr/>
        </p:nvSpPr>
        <p:spPr>
          <a:xfrm>
            <a:off x="3136392" y="561441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0" name="Picture 59" descr="check-2E7D4F.png"/>
          <p:cNvPicPr>
            <a:picLocks noChangeAspect="1"/>
          </p:cNvPicPr>
          <p:nvPr/>
        </p:nvPicPr>
        <p:blipFill>
          <a:blip r:embed="rId3"/>
          <a:stretch>
            <a:fillRect/>
          </a:stretch>
        </p:blipFill>
        <p:spPr>
          <a:xfrm>
            <a:off x="3182112" y="5660136"/>
            <a:ext cx="182880" cy="182880"/>
          </a:xfrm>
          <a:prstGeom prst="rect">
            <a:avLst/>
          </a:prstGeom>
        </p:spPr>
      </p:pic>
      <p:sp>
        <p:nvSpPr>
          <p:cNvPr id="61" name="TextBox 60"/>
          <p:cNvSpPr txBox="1"/>
          <p:nvPr/>
        </p:nvSpPr>
        <p:spPr>
          <a:xfrm>
            <a:off x="3566160" y="544068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Redis REST store</a:t>
            </a:r>
          </a:p>
        </p:txBody>
      </p:sp>
      <p:sp>
        <p:nvSpPr>
          <p:cNvPr id="62" name="Rounded Rectangle 61"/>
          <p:cNvSpPr/>
          <p:nvPr/>
        </p:nvSpPr>
        <p:spPr>
          <a:xfrm>
            <a:off x="7022592" y="561441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3" name="Picture 62" descr="x-9B2C2C.png"/>
          <p:cNvPicPr>
            <a:picLocks noChangeAspect="1"/>
          </p:cNvPicPr>
          <p:nvPr/>
        </p:nvPicPr>
        <p:blipFill>
          <a:blip r:embed="rId4"/>
          <a:stretch>
            <a:fillRect/>
          </a:stretch>
        </p:blipFill>
        <p:spPr>
          <a:xfrm>
            <a:off x="7068312" y="5660136"/>
            <a:ext cx="182880" cy="182880"/>
          </a:xfrm>
          <a:prstGeom prst="rect">
            <a:avLst/>
          </a:prstGeom>
        </p:spPr>
      </p:pic>
      <p:sp>
        <p:nvSpPr>
          <p:cNvPr id="64" name="TextBox 63"/>
          <p:cNvSpPr txBox="1"/>
          <p:nvPr/>
        </p:nvSpPr>
        <p:spPr>
          <a:xfrm>
            <a:off x="7452360" y="544068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Process memory</a:t>
            </a:r>
            <a:r>
              <a:rPr sz="1250" b="0" i="0">
                <a:solidFill>
                  <a:srgbClr val="5A6478"/>
                </a:solidFill>
                <a:latin typeface="Arial"/>
              </a:rPr>
              <a:t>  lost on cold starts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433779" cy="274320"/>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D · Jiahang Bian</a:t>
            </a:r>
          </a:p>
        </p:txBody>
      </p:sp>
      <p:sp>
        <p:nvSpPr>
          <p:cNvPr id="4" name="TextBox 3"/>
          <p:cNvSpPr txBox="1"/>
          <p:nvPr/>
        </p:nvSpPr>
        <p:spPr>
          <a:xfrm>
            <a:off x="2128723"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E7D4F"/>
                </a:solidFill>
                <a:latin typeface="Arial"/>
              </a:rPr>
              <a:t>INDIVIDUAL BEHAVIOUR MODELS · UC-D1</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D</a:t>
            </a:r>
          </a:p>
        </p:txBody>
      </p:sp>
      <p:sp>
        <p:nvSpPr>
          <p:cNvPr id="9" name="Oval 8"/>
          <p:cNvSpPr/>
          <p:nvPr/>
        </p:nvSpPr>
        <p:spPr>
          <a:xfrm>
            <a:off x="11368735"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Evidence first; the LLM drafts, code decides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19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2E7D4F"/>
                </a:solidFill>
                <a:latin typeface="Arial"/>
              </a:rPr>
              <a:t>Ad hoc requirement  </a:t>
            </a:r>
            <a:r>
              <a:rPr sz="1200" b="0" i="0">
                <a:solidFill>
                  <a:srgbClr val="2A3550"/>
                </a:solidFill>
                <a:latin typeface="Arial"/>
              </a:rPr>
              <a:t>AH-D1: pack for my real Kyoto dates; vegetarian, peanut allergy; never claim allergy-safe unless confirmed</a:t>
            </a:r>
            <a:r>
              <a:rPr sz="1200" b="1" i="0">
                <a:solidFill>
                  <a:srgbClr val="2E7D4F"/>
                </a:solidFill>
                <a:latin typeface="Arial"/>
              </a:rPr>
              <a:t>      Use case  </a:t>
            </a:r>
            <a:r>
              <a:rPr sz="1200" b="0" i="0">
                <a:solidFill>
                  <a:srgbClr val="2A3550"/>
                </a:solidFill>
                <a:latin typeface="Arial"/>
              </a:rPr>
              <a:t>UC-D1 Weather-based clothing + dining</a:t>
            </a:r>
          </a:p>
        </p:txBody>
      </p:sp>
      <p:sp>
        <p:nvSpPr>
          <p:cNvPr id="17" name="TextBox 16"/>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8" name="Rounded Rectangle 17"/>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d-activity.png"/>
          <p:cNvPicPr>
            <a:picLocks noChangeAspect="1"/>
          </p:cNvPicPr>
          <p:nvPr/>
        </p:nvPicPr>
        <p:blipFill>
          <a:blip r:embed="rId3"/>
          <a:stretch>
            <a:fillRect/>
          </a:stretch>
        </p:blipFill>
        <p:spPr>
          <a:xfrm>
            <a:off x="1203614" y="2679192"/>
            <a:ext cx="2266268" cy="3429000"/>
          </a:xfrm>
          <a:prstGeom prst="rect">
            <a:avLst/>
          </a:prstGeom>
        </p:spPr>
      </p:pic>
      <p:sp>
        <p:nvSpPr>
          <p:cNvPr id="20" name="TextBox 19"/>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21" name="Rounded Rectangle 20"/>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d-sequence.png"/>
          <p:cNvPicPr>
            <a:picLocks noChangeAspect="1"/>
          </p:cNvPicPr>
          <p:nvPr/>
        </p:nvPicPr>
        <p:blipFill>
          <a:blip r:embed="rId4"/>
          <a:stretch>
            <a:fillRect/>
          </a:stretch>
        </p:blipFill>
        <p:spPr>
          <a:xfrm>
            <a:off x="4435754" y="2735489"/>
            <a:ext cx="3320186" cy="3316404"/>
          </a:xfrm>
          <a:prstGeom prst="rect">
            <a:avLst/>
          </a:prstGeom>
        </p:spPr>
      </p:pic>
      <p:sp>
        <p:nvSpPr>
          <p:cNvPr id="23" name="TextBox 22"/>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24" name="Rounded Rectangle 23"/>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d-state.png"/>
          <p:cNvPicPr>
            <a:picLocks noChangeAspect="1"/>
          </p:cNvPicPr>
          <p:nvPr/>
        </p:nvPicPr>
        <p:blipFill>
          <a:blip r:embed="rId5"/>
          <a:stretch>
            <a:fillRect/>
          </a:stretch>
        </p:blipFill>
        <p:spPr>
          <a:xfrm>
            <a:off x="8426196" y="2679192"/>
            <a:ext cx="28575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PACKAGE DIAGRAM</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Dependencies point inward to the shared contracts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20 / 24</a:t>
            </a:r>
          </a:p>
        </p:txBody>
      </p:sp>
      <p:sp>
        <p:nvSpPr>
          <p:cNvPr id="14" name="Rounded Rectangle 13"/>
          <p:cNvSpPr/>
          <p:nvPr/>
        </p:nvSpPr>
        <p:spPr>
          <a:xfrm>
            <a:off x="548640" y="1481328"/>
            <a:ext cx="11094415" cy="3017520"/>
          </a:xfrm>
          <a:prstGeom prst="roundRect">
            <a:avLst>
              <a:gd name="adj" fmla="val 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package.png"/>
          <p:cNvPicPr>
            <a:picLocks noChangeAspect="1"/>
          </p:cNvPicPr>
          <p:nvPr/>
        </p:nvPicPr>
        <p:blipFill>
          <a:blip r:embed="rId3"/>
          <a:stretch>
            <a:fillRect/>
          </a:stretch>
        </p:blipFill>
        <p:spPr>
          <a:xfrm>
            <a:off x="706326" y="1609344"/>
            <a:ext cx="10779042" cy="2761487"/>
          </a:xfrm>
          <a:prstGeom prst="rect">
            <a:avLst/>
          </a:prstGeom>
        </p:spPr>
      </p:pic>
      <p:sp>
        <p:nvSpPr>
          <p:cNvPr id="16" name="Oval 15"/>
          <p:cNvSpPr/>
          <p:nvPr/>
        </p:nvSpPr>
        <p:spPr>
          <a:xfrm>
            <a:off x="10485885" y="277008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838642" y="293577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Rounded Rectangle 17"/>
          <p:cNvSpPr/>
          <p:nvPr/>
        </p:nvSpPr>
        <p:spPr>
          <a:xfrm>
            <a:off x="548640"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ackage-2F5DA8.png"/>
          <p:cNvPicPr>
            <a:picLocks noChangeAspect="1"/>
          </p:cNvPicPr>
          <p:nvPr/>
        </p:nvPicPr>
        <p:blipFill>
          <a:blip r:embed="rId4"/>
          <a:stretch>
            <a:fillRect/>
          </a:stretch>
        </p:blipFill>
        <p:spPr>
          <a:xfrm>
            <a:off x="777240" y="4864608"/>
            <a:ext cx="329184" cy="329184"/>
          </a:xfrm>
          <a:prstGeom prst="rect">
            <a:avLst/>
          </a:prstGeom>
        </p:spPr>
      </p:pic>
      <p:sp>
        <p:nvSpPr>
          <p:cNvPr id="20" name="TextBox 19"/>
          <p:cNvSpPr txBox="1"/>
          <p:nvPr/>
        </p:nvSpPr>
        <p:spPr>
          <a:xfrm>
            <a:off x="777240"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Six packages</a:t>
            </a:r>
          </a:p>
        </p:txBody>
      </p:sp>
      <p:sp>
        <p:nvSpPr>
          <p:cNvPr id="21" name="TextBox 20"/>
          <p:cNvSpPr txBox="1"/>
          <p:nvPr/>
        </p:nvSpPr>
        <p:spPr>
          <a:xfrm>
            <a:off x="777240"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One monorepo, each package with an owner.</a:t>
            </a:r>
          </a:p>
        </p:txBody>
      </p:sp>
      <p:sp>
        <p:nvSpPr>
          <p:cNvPr id="22" name="Rounded Rectangle 21"/>
          <p:cNvSpPr/>
          <p:nvPr/>
        </p:nvSpPr>
        <p:spPr>
          <a:xfrm>
            <a:off x="3367963"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target-2F5DA8.png"/>
          <p:cNvPicPr>
            <a:picLocks noChangeAspect="1"/>
          </p:cNvPicPr>
          <p:nvPr/>
        </p:nvPicPr>
        <p:blipFill>
          <a:blip r:embed="rId5"/>
          <a:stretch>
            <a:fillRect/>
          </a:stretch>
        </p:blipFill>
        <p:spPr>
          <a:xfrm>
            <a:off x="3596563" y="4864608"/>
            <a:ext cx="329184" cy="329184"/>
          </a:xfrm>
          <a:prstGeom prst="rect">
            <a:avLst/>
          </a:prstGeom>
        </p:spPr>
      </p:pic>
      <p:sp>
        <p:nvSpPr>
          <p:cNvPr id="24" name="Oval 23"/>
          <p:cNvSpPr/>
          <p:nvPr/>
        </p:nvSpPr>
        <p:spPr>
          <a:xfrm>
            <a:off x="5547207"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5" name="TextBox 24"/>
          <p:cNvSpPr txBox="1"/>
          <p:nvPr/>
        </p:nvSpPr>
        <p:spPr>
          <a:xfrm>
            <a:off x="3596563"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shared: no dependencies</a:t>
            </a:r>
          </a:p>
        </p:txBody>
      </p:sp>
      <p:sp>
        <p:nvSpPr>
          <p:cNvPr id="26" name="TextBox 25"/>
          <p:cNvSpPr txBox="1"/>
          <p:nvPr/>
        </p:nvSpPr>
        <p:spPr>
          <a:xfrm>
            <a:off x="3596563"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It holds the Zod contracts and ports.</a:t>
            </a:r>
          </a:p>
        </p:txBody>
      </p:sp>
      <p:sp>
        <p:nvSpPr>
          <p:cNvPr id="27" name="Rounded Rectangle 26"/>
          <p:cNvSpPr/>
          <p:nvPr/>
        </p:nvSpPr>
        <p:spPr>
          <a:xfrm>
            <a:off x="6187287"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monitor-2F5DA8.png"/>
          <p:cNvPicPr>
            <a:picLocks noChangeAspect="1"/>
          </p:cNvPicPr>
          <p:nvPr/>
        </p:nvPicPr>
        <p:blipFill>
          <a:blip r:embed="rId6"/>
          <a:stretch>
            <a:fillRect/>
          </a:stretch>
        </p:blipFill>
        <p:spPr>
          <a:xfrm>
            <a:off x="6415887" y="4864608"/>
            <a:ext cx="329184" cy="329184"/>
          </a:xfrm>
          <a:prstGeom prst="rect">
            <a:avLst/>
          </a:prstGeom>
        </p:spPr>
      </p:pic>
      <p:sp>
        <p:nvSpPr>
          <p:cNvPr id="29" name="Oval 28"/>
          <p:cNvSpPr/>
          <p:nvPr/>
        </p:nvSpPr>
        <p:spPr>
          <a:xfrm>
            <a:off x="8366531"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30" name="TextBox 29"/>
          <p:cNvSpPr txBox="1"/>
          <p:nvPr/>
        </p:nvSpPr>
        <p:spPr>
          <a:xfrm>
            <a:off x="6415887"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Nothing imports web</a:t>
            </a:r>
          </a:p>
        </p:txBody>
      </p:sp>
      <p:sp>
        <p:nvSpPr>
          <p:cNvPr id="31" name="TextBox 30"/>
          <p:cNvSpPr txBox="1"/>
          <p:nvPr/>
        </p:nvSpPr>
        <p:spPr>
          <a:xfrm>
            <a:off x="6415887"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So the planner runs and is tested without a browser.</a:t>
            </a:r>
          </a:p>
        </p:txBody>
      </p:sp>
      <p:sp>
        <p:nvSpPr>
          <p:cNvPr id="32" name="Rounded Rectangle 31"/>
          <p:cNvSpPr/>
          <p:nvPr/>
        </p:nvSpPr>
        <p:spPr>
          <a:xfrm>
            <a:off x="9006611"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boxes-2F5DA8.png"/>
          <p:cNvPicPr>
            <a:picLocks noChangeAspect="1"/>
          </p:cNvPicPr>
          <p:nvPr/>
        </p:nvPicPr>
        <p:blipFill>
          <a:blip r:embed="rId7"/>
          <a:stretch>
            <a:fillRect/>
          </a:stretch>
        </p:blipFill>
        <p:spPr>
          <a:xfrm>
            <a:off x="9235211" y="4864608"/>
            <a:ext cx="329184" cy="329184"/>
          </a:xfrm>
          <a:prstGeom prst="rect">
            <a:avLst/>
          </a:prstGeom>
        </p:spPr>
      </p:pic>
      <p:sp>
        <p:nvSpPr>
          <p:cNvPr id="34" name="TextBox 33"/>
          <p:cNvSpPr txBox="1"/>
          <p:nvPr/>
        </p:nvSpPr>
        <p:spPr>
          <a:xfrm>
            <a:off x="9235211"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Plug in at interfaces</a:t>
            </a:r>
          </a:p>
        </p:txBody>
      </p:sp>
      <p:sp>
        <p:nvSpPr>
          <p:cNvPr id="35" name="TextBox 34"/>
          <p:cNvSpPr txBox="1"/>
          <p:nvPr/>
        </p:nvSpPr>
        <p:spPr>
          <a:xfrm>
            <a:off x="9235211"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new specialist, provider or store.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DEPLOYMENT</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serverless app, optional cloud services</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21 / 24</a:t>
            </a:r>
          </a:p>
        </p:txBody>
      </p:sp>
      <p:sp>
        <p:nvSpPr>
          <p:cNvPr id="14" name="Rounded Rectangle 13"/>
          <p:cNvSpPr/>
          <p:nvPr/>
        </p:nvSpPr>
        <p:spPr>
          <a:xfrm>
            <a:off x="548640" y="1481328"/>
            <a:ext cx="63093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deployment.png"/>
          <p:cNvPicPr>
            <a:picLocks noChangeAspect="1"/>
          </p:cNvPicPr>
          <p:nvPr/>
        </p:nvPicPr>
        <p:blipFill>
          <a:blip r:embed="rId3"/>
          <a:stretch>
            <a:fillRect/>
          </a:stretch>
        </p:blipFill>
        <p:spPr>
          <a:xfrm>
            <a:off x="879968" y="1609344"/>
            <a:ext cx="5646702" cy="4498848"/>
          </a:xfrm>
          <a:prstGeom prst="rect">
            <a:avLst/>
          </a:prstGeom>
        </p:spPr>
      </p:pic>
      <p:sp>
        <p:nvSpPr>
          <p:cNvPr id="16" name="Oval 15"/>
          <p:cNvSpPr/>
          <p:nvPr/>
        </p:nvSpPr>
        <p:spPr>
          <a:xfrm>
            <a:off x="912209" y="358664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7" name="Oval 16"/>
          <p:cNvSpPr/>
          <p:nvPr/>
        </p:nvSpPr>
        <p:spPr>
          <a:xfrm>
            <a:off x="3566160" y="304678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8" name="Oval 17"/>
          <p:cNvSpPr/>
          <p:nvPr/>
        </p:nvSpPr>
        <p:spPr>
          <a:xfrm>
            <a:off x="5429571" y="390156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9" name="Oval 18"/>
          <p:cNvSpPr/>
          <p:nvPr/>
        </p:nvSpPr>
        <p:spPr>
          <a:xfrm>
            <a:off x="713232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20" name="TextBox 19"/>
          <p:cNvSpPr txBox="1"/>
          <p:nvPr/>
        </p:nvSpPr>
        <p:spPr>
          <a:xfrm>
            <a:off x="7516368" y="157276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Browser</a:t>
            </a:r>
          </a:p>
          <a:p>
            <a:pPr algn="l">
              <a:lnSpc>
                <a:spcPct val="115000"/>
              </a:lnSpc>
              <a:spcAft>
                <a:spcPts val="200"/>
              </a:spcAft>
            </a:pPr>
            <a:r>
              <a:rPr sz="1350" b="0" i="0">
                <a:solidFill>
                  <a:srgbClr val="2A3550"/>
                </a:solidFill>
                <a:latin typeface="Arial"/>
              </a:rPr>
              <a:t>Chats and trips in local storage; progress streams as NDJSON.</a:t>
            </a:r>
          </a:p>
        </p:txBody>
      </p:sp>
      <p:sp>
        <p:nvSpPr>
          <p:cNvPr id="21" name="Oval 20"/>
          <p:cNvSpPr/>
          <p:nvPr/>
        </p:nvSpPr>
        <p:spPr>
          <a:xfrm>
            <a:off x="7132320" y="277063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2" name="TextBox 21"/>
          <p:cNvSpPr txBox="1"/>
          <p:nvPr/>
        </p:nvSpPr>
        <p:spPr>
          <a:xfrm>
            <a:off x="7516368" y="276148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Server</a:t>
            </a:r>
          </a:p>
          <a:p>
            <a:pPr algn="l">
              <a:lnSpc>
                <a:spcPct val="115000"/>
              </a:lnSpc>
              <a:spcAft>
                <a:spcPts val="200"/>
              </a:spcAft>
            </a:pPr>
            <a:r>
              <a:rPr sz="1350" b="0" i="0">
                <a:solidFill>
                  <a:srgbClr val="2A3550"/>
                </a:solidFill>
                <a:latin typeface="Arial"/>
              </a:rPr>
              <a:t>Next.js API routes and the orchestrator.</a:t>
            </a:r>
          </a:p>
        </p:txBody>
      </p:sp>
      <p:sp>
        <p:nvSpPr>
          <p:cNvPr id="23" name="Oval 22"/>
          <p:cNvSpPr/>
          <p:nvPr/>
        </p:nvSpPr>
        <p:spPr>
          <a:xfrm>
            <a:off x="7132320" y="395935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4" name="TextBox 23"/>
          <p:cNvSpPr txBox="1"/>
          <p:nvPr/>
        </p:nvSpPr>
        <p:spPr>
          <a:xfrm>
            <a:off x="7516368" y="395020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Optional</a:t>
            </a:r>
          </a:p>
          <a:p>
            <a:pPr algn="l">
              <a:lnSpc>
                <a:spcPct val="115000"/>
              </a:lnSpc>
              <a:spcAft>
                <a:spcPts val="200"/>
              </a:spcAft>
            </a:pPr>
            <a:r>
              <a:rPr sz="1350" b="0" i="0">
                <a:solidFill>
                  <a:srgbClr val="2A3550"/>
                </a:solidFill>
                <a:latin typeface="Arial"/>
              </a:rPr>
              <a:t>Redis REST memory, Postgres account sync, Clerk sign-in.</a:t>
            </a:r>
          </a:p>
        </p:txBody>
      </p:sp>
      <p:sp>
        <p:nvSpPr>
          <p:cNvPr id="25" name="Rounded Rectangle 24"/>
          <p:cNvSpPr/>
          <p:nvPr/>
        </p:nvSpPr>
        <p:spPr>
          <a:xfrm>
            <a:off x="7132320" y="5047488"/>
            <a:ext cx="4510735" cy="1051560"/>
          </a:xfrm>
          <a:prstGeom prst="roundRect">
            <a:avLst>
              <a:gd name="adj" fmla="val 1043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wifi-off-F2A65A.png"/>
          <p:cNvPicPr>
            <a:picLocks noChangeAspect="1"/>
          </p:cNvPicPr>
          <p:nvPr/>
        </p:nvPicPr>
        <p:blipFill>
          <a:blip r:embed="rId4"/>
          <a:stretch>
            <a:fillRect/>
          </a:stretch>
        </p:blipFill>
        <p:spPr>
          <a:xfrm>
            <a:off x="7360920" y="5394960"/>
            <a:ext cx="347472" cy="347472"/>
          </a:xfrm>
          <a:prstGeom prst="rect">
            <a:avLst/>
          </a:prstGeom>
        </p:spPr>
      </p:pic>
      <p:sp>
        <p:nvSpPr>
          <p:cNvPr id="27" name="TextBox 26"/>
          <p:cNvSpPr txBox="1"/>
          <p:nvPr/>
        </p:nvSpPr>
        <p:spPr>
          <a:xfrm>
            <a:off x="7909560" y="5138928"/>
            <a:ext cx="3596335" cy="868680"/>
          </a:xfrm>
          <a:prstGeom prst="rect">
            <a:avLst/>
          </a:prstGeom>
          <a:noFill/>
        </p:spPr>
        <p:txBody>
          <a:bodyPr wrap="square" lIns="0" rIns="0" tIns="0" bIns="0" anchor="ctr">
            <a:spAutoFit/>
          </a:bodyPr>
          <a:lstStyle/>
          <a:p>
            <a:pPr algn="l">
              <a:lnSpc>
                <a:spcPct val="115000"/>
              </a:lnSpc>
              <a:spcAft>
                <a:spcPts val="0"/>
              </a:spcAft>
            </a:pPr>
            <a:r>
              <a:rPr sz="1400" b="1" i="0">
                <a:solidFill>
                  <a:srgbClr val="F2A65A"/>
                </a:solidFill>
                <a:latin typeface="Arial"/>
              </a:rPr>
              <a:t>No keys?  </a:t>
            </a:r>
            <a:r>
              <a:rPr sz="1400" b="0" i="0">
                <a:solidFill>
                  <a:srgbClr val="FFFFFF"/>
                </a:solidFill>
                <a:latin typeface="Arial"/>
              </a:rPr>
              <a:t>The same build runs offline on mock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CHANGE ASSESSMENT AND ACCEPTANCE</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How a change gets in</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22 / 24</a:t>
            </a:r>
          </a:p>
        </p:txBody>
      </p:sp>
      <p:sp>
        <p:nvSpPr>
          <p:cNvPr id="14" name="Rounded Rectangle 13"/>
          <p:cNvSpPr/>
          <p:nvPr/>
        </p:nvSpPr>
        <p:spPr>
          <a:xfrm>
            <a:off x="548640"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68680"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it-pull-request-2F5DA8.png"/>
          <p:cNvPicPr>
            <a:picLocks noChangeAspect="1"/>
          </p:cNvPicPr>
          <p:nvPr/>
        </p:nvPicPr>
        <p:blipFill>
          <a:blip r:embed="rId3"/>
          <a:stretch>
            <a:fillRect/>
          </a:stretch>
        </p:blipFill>
        <p:spPr>
          <a:xfrm>
            <a:off x="987552" y="1874520"/>
            <a:ext cx="329184" cy="329184"/>
          </a:xfrm>
          <a:prstGeom prst="rect">
            <a:avLst/>
          </a:prstGeom>
        </p:spPr>
      </p:pic>
      <p:sp>
        <p:nvSpPr>
          <p:cNvPr id="18" name="TextBox 17"/>
          <p:cNvSpPr txBox="1"/>
          <p:nvPr/>
        </p:nvSpPr>
        <p:spPr>
          <a:xfrm>
            <a:off x="1600200"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Assess</a:t>
            </a:r>
          </a:p>
        </p:txBody>
      </p:sp>
      <p:pic>
        <p:nvPicPr>
          <p:cNvPr id="19" name="Picture 18" descr="check-2F5DA8.png"/>
          <p:cNvPicPr>
            <a:picLocks noChangeAspect="1"/>
          </p:cNvPicPr>
          <p:nvPr/>
        </p:nvPicPr>
        <p:blipFill>
          <a:blip r:embed="rId4"/>
          <a:stretch>
            <a:fillRect/>
          </a:stretch>
        </p:blipFill>
        <p:spPr>
          <a:xfrm>
            <a:off x="914400" y="2569464"/>
            <a:ext cx="219456" cy="219456"/>
          </a:xfrm>
          <a:prstGeom prst="rect">
            <a:avLst/>
          </a:prstGeom>
        </p:spPr>
      </p:pic>
      <p:sp>
        <p:nvSpPr>
          <p:cNvPr id="20" name="TextBox 19"/>
          <p:cNvSpPr txBox="1"/>
          <p:nvPr/>
        </p:nvSpPr>
        <p:spPr>
          <a:xfrm>
            <a:off x="1280160"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Trace it to a requirement and use case</a:t>
            </a:r>
          </a:p>
        </p:txBody>
      </p:sp>
      <p:pic>
        <p:nvPicPr>
          <p:cNvPr id="21" name="Picture 20" descr="check-2F5DA8.png"/>
          <p:cNvPicPr>
            <a:picLocks noChangeAspect="1"/>
          </p:cNvPicPr>
          <p:nvPr/>
        </p:nvPicPr>
        <p:blipFill>
          <a:blip r:embed="rId4"/>
          <a:stretch>
            <a:fillRect/>
          </a:stretch>
        </p:blipFill>
        <p:spPr>
          <a:xfrm>
            <a:off x="914400" y="3081528"/>
            <a:ext cx="219456" cy="219456"/>
          </a:xfrm>
          <a:prstGeom prst="rect">
            <a:avLst/>
          </a:prstGeom>
        </p:spPr>
      </p:pic>
      <p:sp>
        <p:nvSpPr>
          <p:cNvPr id="22" name="TextBox 21"/>
          <p:cNvSpPr txBox="1"/>
          <p:nvPr/>
        </p:nvSpPr>
        <p:spPr>
          <a:xfrm>
            <a:off x="1280160"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Shared contract touched? Write a decision note and tell every owner</a:t>
            </a:r>
          </a:p>
        </p:txBody>
      </p:sp>
      <p:pic>
        <p:nvPicPr>
          <p:cNvPr id="23" name="Picture 22" descr="check-2F5DA8.png"/>
          <p:cNvPicPr>
            <a:picLocks noChangeAspect="1"/>
          </p:cNvPicPr>
          <p:nvPr/>
        </p:nvPicPr>
        <p:blipFill>
          <a:blip r:embed="rId4"/>
          <a:stretch>
            <a:fillRect/>
          </a:stretch>
        </p:blipFill>
        <p:spPr>
          <a:xfrm>
            <a:off x="914400" y="3813048"/>
            <a:ext cx="219456" cy="219456"/>
          </a:xfrm>
          <a:prstGeom prst="rect">
            <a:avLst/>
          </a:prstGeom>
        </p:spPr>
      </p:pic>
      <p:sp>
        <p:nvSpPr>
          <p:cNvPr id="24" name="TextBox 23"/>
          <p:cNvSpPr txBox="1"/>
          <p:nvPr/>
        </p:nvSpPr>
        <p:spPr>
          <a:xfrm>
            <a:off x="1280160" y="377647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Reversing a decision? Supersede it in writing</a:t>
            </a:r>
          </a:p>
        </p:txBody>
      </p:sp>
      <p:sp>
        <p:nvSpPr>
          <p:cNvPr id="25" name="Rounded Rectangle 24"/>
          <p:cNvSpPr/>
          <p:nvPr/>
        </p:nvSpPr>
        <p:spPr>
          <a:xfrm>
            <a:off x="6233007"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233007"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553047"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clipboard-check-2F5DA8.png"/>
          <p:cNvPicPr>
            <a:picLocks noChangeAspect="1"/>
          </p:cNvPicPr>
          <p:nvPr/>
        </p:nvPicPr>
        <p:blipFill>
          <a:blip r:embed="rId5"/>
          <a:stretch>
            <a:fillRect/>
          </a:stretch>
        </p:blipFill>
        <p:spPr>
          <a:xfrm>
            <a:off x="6671919" y="1874520"/>
            <a:ext cx="329184" cy="329184"/>
          </a:xfrm>
          <a:prstGeom prst="rect">
            <a:avLst/>
          </a:prstGeom>
        </p:spPr>
      </p:pic>
      <p:sp>
        <p:nvSpPr>
          <p:cNvPr id="29" name="TextBox 28"/>
          <p:cNvSpPr txBox="1"/>
          <p:nvPr/>
        </p:nvSpPr>
        <p:spPr>
          <a:xfrm>
            <a:off x="7284567"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Accept</a:t>
            </a:r>
          </a:p>
        </p:txBody>
      </p:sp>
      <p:pic>
        <p:nvPicPr>
          <p:cNvPr id="30" name="Picture 29" descr="check-2F5DA8.png"/>
          <p:cNvPicPr>
            <a:picLocks noChangeAspect="1"/>
          </p:cNvPicPr>
          <p:nvPr/>
        </p:nvPicPr>
        <p:blipFill>
          <a:blip r:embed="rId4"/>
          <a:stretch>
            <a:fillRect/>
          </a:stretch>
        </p:blipFill>
        <p:spPr>
          <a:xfrm>
            <a:off x="6598767" y="2569464"/>
            <a:ext cx="219456" cy="219456"/>
          </a:xfrm>
          <a:prstGeom prst="rect">
            <a:avLst/>
          </a:prstGeom>
        </p:spPr>
      </p:pic>
      <p:sp>
        <p:nvSpPr>
          <p:cNvPr id="31" name="TextBox 30"/>
          <p:cNvSpPr txBox="1"/>
          <p:nvPr/>
        </p:nvSpPr>
        <p:spPr>
          <a:xfrm>
            <a:off x="6964527"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CI green: types, lint, tests, build, docs</a:t>
            </a:r>
          </a:p>
        </p:txBody>
      </p:sp>
      <p:pic>
        <p:nvPicPr>
          <p:cNvPr id="32" name="Picture 31" descr="check-2F5DA8.png"/>
          <p:cNvPicPr>
            <a:picLocks noChangeAspect="1"/>
          </p:cNvPicPr>
          <p:nvPr/>
        </p:nvPicPr>
        <p:blipFill>
          <a:blip r:embed="rId4"/>
          <a:stretch>
            <a:fillRect/>
          </a:stretch>
        </p:blipFill>
        <p:spPr>
          <a:xfrm>
            <a:off x="6598767" y="3081528"/>
            <a:ext cx="219456" cy="219456"/>
          </a:xfrm>
          <a:prstGeom prst="rect">
            <a:avLst/>
          </a:prstGeom>
        </p:spPr>
      </p:pic>
      <p:sp>
        <p:nvSpPr>
          <p:cNvPr id="33" name="TextBox 32"/>
          <p:cNvSpPr txBox="1"/>
          <p:nvPr/>
        </p:nvSpPr>
        <p:spPr>
          <a:xfrm>
            <a:off x="6964527"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End-to-end test leaves a repeatable artifact</a:t>
            </a:r>
          </a:p>
        </p:txBody>
      </p:sp>
      <p:pic>
        <p:nvPicPr>
          <p:cNvPr id="34" name="Picture 33" descr="check-2F5DA8.png"/>
          <p:cNvPicPr>
            <a:picLocks noChangeAspect="1"/>
          </p:cNvPicPr>
          <p:nvPr/>
        </p:nvPicPr>
        <p:blipFill>
          <a:blip r:embed="rId4"/>
          <a:stretch>
            <a:fillRect/>
          </a:stretch>
        </p:blipFill>
        <p:spPr>
          <a:xfrm>
            <a:off x="6598767" y="3593592"/>
            <a:ext cx="219456" cy="219456"/>
          </a:xfrm>
          <a:prstGeom prst="rect">
            <a:avLst/>
          </a:prstGeom>
        </p:spPr>
      </p:pic>
      <p:sp>
        <p:nvSpPr>
          <p:cNvPr id="35" name="TextBox 34"/>
          <p:cNvSpPr txBox="1"/>
          <p:nvPr/>
        </p:nvSpPr>
        <p:spPr>
          <a:xfrm>
            <a:off x="6964527" y="3557016"/>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Use case postconditions still hold</a:t>
            </a:r>
          </a:p>
        </p:txBody>
      </p:sp>
      <p:pic>
        <p:nvPicPr>
          <p:cNvPr id="36" name="Picture 35" descr="check-2F5DA8.png"/>
          <p:cNvPicPr>
            <a:picLocks noChangeAspect="1"/>
          </p:cNvPicPr>
          <p:nvPr/>
        </p:nvPicPr>
        <p:blipFill>
          <a:blip r:embed="rId4"/>
          <a:stretch>
            <a:fillRect/>
          </a:stretch>
        </p:blipFill>
        <p:spPr>
          <a:xfrm>
            <a:off x="6598767" y="4105656"/>
            <a:ext cx="219456" cy="219456"/>
          </a:xfrm>
          <a:prstGeom prst="rect">
            <a:avLst/>
          </a:prstGeom>
        </p:spPr>
      </p:pic>
      <p:sp>
        <p:nvSpPr>
          <p:cNvPr id="37" name="TextBox 36"/>
          <p:cNvSpPr txBox="1"/>
          <p:nvPr/>
        </p:nvSpPr>
        <p:spPr>
          <a:xfrm>
            <a:off x="6964527" y="4069080"/>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Docs and models updated in the same pull request</a:t>
            </a:r>
          </a:p>
        </p:txBody>
      </p:sp>
      <p:sp>
        <p:nvSpPr>
          <p:cNvPr id="38" name="Rounded Rectangle 37"/>
          <p:cNvSpPr/>
          <p:nvPr/>
        </p:nvSpPr>
        <p:spPr>
          <a:xfrm>
            <a:off x="548640" y="5047488"/>
            <a:ext cx="11094415" cy="1188720"/>
          </a:xfrm>
          <a:prstGeom prst="roundRect">
            <a:avLst>
              <a:gd name="adj" fmla="val 9230"/>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68680" y="5212079"/>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KEY ASSUMPTIONS</a:t>
            </a:r>
          </a:p>
        </p:txBody>
      </p:sp>
      <p:sp>
        <p:nvSpPr>
          <p:cNvPr id="40" name="Rounded Rectangle 39"/>
          <p:cNvSpPr/>
          <p:nvPr/>
        </p:nvSpPr>
        <p:spPr>
          <a:xfrm>
            <a:off x="868680" y="5614416"/>
            <a:ext cx="2097084"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One traveller per trip</a:t>
            </a:r>
          </a:p>
        </p:txBody>
      </p:sp>
      <p:sp>
        <p:nvSpPr>
          <p:cNvPr id="41" name="Rounded Rectangle 40"/>
          <p:cNvSpPr/>
          <p:nvPr/>
        </p:nvSpPr>
        <p:spPr>
          <a:xfrm>
            <a:off x="3075492" y="5614416"/>
            <a:ext cx="1440911"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AUD everywhere</a:t>
            </a:r>
          </a:p>
        </p:txBody>
      </p:sp>
      <p:sp>
        <p:nvSpPr>
          <p:cNvPr id="42" name="Rounded Rectangle 41"/>
          <p:cNvSpPr/>
          <p:nvPr/>
        </p:nvSpPr>
        <p:spPr>
          <a:xfrm>
            <a:off x="4626132" y="5614416"/>
            <a:ext cx="217910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Estimates, not bookings</a:t>
            </a:r>
          </a:p>
        </p:txBody>
      </p:sp>
      <p:sp>
        <p:nvSpPr>
          <p:cNvPr id="43" name="Rounded Rectangle 42"/>
          <p:cNvSpPr/>
          <p:nvPr/>
        </p:nvSpPr>
        <p:spPr>
          <a:xfrm>
            <a:off x="6914967" y="5614416"/>
            <a:ext cx="1768998"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Flights paid first</a:t>
            </a:r>
          </a:p>
        </p:txBody>
      </p:sp>
      <p:sp>
        <p:nvSpPr>
          <p:cNvPr id="44" name="Rounded Rectangle 43"/>
          <p:cNvSpPr/>
          <p:nvPr/>
        </p:nvSpPr>
        <p:spPr>
          <a:xfrm>
            <a:off x="8793693" y="5614416"/>
            <a:ext cx="267123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Models and providers can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548640" y="347472"/>
            <a:ext cx="1362456" cy="274320"/>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FFFFFF"/>
                </a:solidFill>
                <a:latin typeface="Arial"/>
              </a:rPr>
              <a:t>E · Weihao Wang</a:t>
            </a:r>
          </a:p>
        </p:txBody>
      </p:sp>
      <p:sp>
        <p:nvSpPr>
          <p:cNvPr id="4" name="TextBox 3"/>
          <p:cNvSpPr txBox="1"/>
          <p:nvPr/>
        </p:nvSpPr>
        <p:spPr>
          <a:xfrm>
            <a:off x="205740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2F5DA8"/>
                </a:solidFill>
                <a:latin typeface="Arial"/>
              </a:rPr>
              <a:t>INDIVIDUAL BEHAVIOUR MODELS</a:t>
            </a:r>
          </a:p>
        </p:txBody>
      </p:sp>
      <p:sp>
        <p:nvSpPr>
          <p:cNvPr id="5" name="Oval 4"/>
          <p:cNvSpPr/>
          <p:nvPr/>
        </p:nvSpPr>
        <p:spPr>
          <a:xfrm>
            <a:off x="10051999"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A</a:t>
            </a:r>
          </a:p>
        </p:txBody>
      </p:sp>
      <p:sp>
        <p:nvSpPr>
          <p:cNvPr id="6" name="Oval 5"/>
          <p:cNvSpPr/>
          <p:nvPr/>
        </p:nvSpPr>
        <p:spPr>
          <a:xfrm>
            <a:off x="10381183"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B</a:t>
            </a:r>
          </a:p>
        </p:txBody>
      </p:sp>
      <p:sp>
        <p:nvSpPr>
          <p:cNvPr id="7" name="Oval 6"/>
          <p:cNvSpPr/>
          <p:nvPr/>
        </p:nvSpPr>
        <p:spPr>
          <a:xfrm>
            <a:off x="10710367"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C</a:t>
            </a:r>
          </a:p>
        </p:txBody>
      </p:sp>
      <p:sp>
        <p:nvSpPr>
          <p:cNvPr id="8" name="Oval 7"/>
          <p:cNvSpPr/>
          <p:nvPr/>
        </p:nvSpPr>
        <p:spPr>
          <a:xfrm>
            <a:off x="11039551" y="347472"/>
            <a:ext cx="274320" cy="274320"/>
          </a:xfrm>
          <a:prstGeom prst="ellipse">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8A93A6"/>
                </a:solidFill>
                <a:latin typeface="Arial"/>
              </a:rPr>
              <a:t>D</a:t>
            </a:r>
          </a:p>
        </p:txBody>
      </p:sp>
      <p:sp>
        <p:nvSpPr>
          <p:cNvPr id="9" name="Oval 8"/>
          <p:cNvSpPr/>
          <p:nvPr/>
        </p:nvSpPr>
        <p:spPr>
          <a:xfrm>
            <a:off x="11368735" y="347472"/>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Arial"/>
              </a:rPr>
              <a:t>E</a:t>
            </a:r>
          </a:p>
        </p:txBody>
      </p:sp>
      <p:sp>
        <p:nvSpPr>
          <p:cNvPr id="10" name="TextBox 9"/>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[E's use case]: activity, sequence and state machine</a:t>
            </a:r>
          </a:p>
        </p:txBody>
      </p:sp>
      <p:sp>
        <p:nvSpPr>
          <p:cNvPr id="11" name="Rectangle 10"/>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13" name="TextBox 12"/>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23 / 24</a:t>
            </a:r>
          </a:p>
        </p:txBody>
      </p:sp>
      <p:sp>
        <p:nvSpPr>
          <p:cNvPr id="14" name="Rounded Rectangle 13"/>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1645920"/>
            <a:ext cx="54864" cy="237744"/>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300" b="1" i="0">
                <a:solidFill>
                  <a:srgbClr val="2F5DA8"/>
                </a:solidFill>
                <a:latin typeface="Arial"/>
              </a:rPr>
              <a:t>Ad hoc requirement  </a:t>
            </a:r>
            <a:r>
              <a:rPr sz="1300" b="0" i="1">
                <a:solidFill>
                  <a:srgbClr val="5A6478"/>
                </a:solidFill>
                <a:latin typeface="Arial"/>
              </a:rPr>
              <a:t>[AH-E1, one line in the traveller's words]</a:t>
            </a:r>
            <a:r>
              <a:rPr sz="1300" b="1" i="0">
                <a:solidFill>
                  <a:srgbClr val="2F5DA8"/>
                </a:solidFill>
                <a:latin typeface="Arial"/>
              </a:rPr>
              <a:t>      Use case  </a:t>
            </a:r>
            <a:r>
              <a:rPr sz="1300" b="0" i="1">
                <a:solidFill>
                  <a:srgbClr val="5A6478"/>
                </a:solidFill>
                <a:latin typeface="Arial"/>
              </a:rPr>
              <a:t>[UC-Ex name]</a:t>
            </a:r>
          </a:p>
        </p:txBody>
      </p:sp>
      <p:sp>
        <p:nvSpPr>
          <p:cNvPr id="17" name="Rounded Rectangle 16"/>
          <p:cNvSpPr/>
          <p:nvPr/>
        </p:nvSpPr>
        <p:spPr>
          <a:xfrm>
            <a:off x="548640"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49808"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9" name="TextBox 18"/>
          <p:cNvSpPr txBox="1"/>
          <p:nvPr/>
        </p:nvSpPr>
        <p:spPr>
          <a:xfrm>
            <a:off x="1115568"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Activity diagram</a:t>
            </a:r>
          </a:p>
        </p:txBody>
      </p:sp>
      <p:pic>
        <p:nvPicPr>
          <p:cNvPr id="20" name="Picture 19" descr="image-plus-9AA5B8.png"/>
          <p:cNvPicPr>
            <a:picLocks noChangeAspect="1"/>
          </p:cNvPicPr>
          <p:nvPr/>
        </p:nvPicPr>
        <p:blipFill>
          <a:blip r:embed="rId3"/>
          <a:stretch>
            <a:fillRect/>
          </a:stretch>
        </p:blipFill>
        <p:spPr>
          <a:xfrm>
            <a:off x="2062429" y="3648456"/>
            <a:ext cx="548640" cy="548640"/>
          </a:xfrm>
          <a:prstGeom prst="rect">
            <a:avLst/>
          </a:prstGeom>
        </p:spPr>
      </p:pic>
      <p:sp>
        <p:nvSpPr>
          <p:cNvPr id="21" name="TextBox 20"/>
          <p:cNvSpPr txBox="1"/>
          <p:nvPr/>
        </p:nvSpPr>
        <p:spPr>
          <a:xfrm>
            <a:off x="731520"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2" name="TextBox 21"/>
          <p:cNvSpPr txBox="1"/>
          <p:nvPr/>
        </p:nvSpPr>
        <p:spPr>
          <a:xfrm>
            <a:off x="731520"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
        <p:nvSpPr>
          <p:cNvPr id="23" name="Rounded Rectangle 22"/>
          <p:cNvSpPr/>
          <p:nvPr/>
        </p:nvSpPr>
        <p:spPr>
          <a:xfrm>
            <a:off x="4307738"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508906"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25" name="TextBox 24"/>
          <p:cNvSpPr txBox="1"/>
          <p:nvPr/>
        </p:nvSpPr>
        <p:spPr>
          <a:xfrm>
            <a:off x="4874666"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Sequence diagram</a:t>
            </a:r>
          </a:p>
        </p:txBody>
      </p:sp>
      <p:pic>
        <p:nvPicPr>
          <p:cNvPr id="26" name="Picture 25" descr="image-plus-9AA5B8.png"/>
          <p:cNvPicPr>
            <a:picLocks noChangeAspect="1"/>
          </p:cNvPicPr>
          <p:nvPr/>
        </p:nvPicPr>
        <p:blipFill>
          <a:blip r:embed="rId3"/>
          <a:stretch>
            <a:fillRect/>
          </a:stretch>
        </p:blipFill>
        <p:spPr>
          <a:xfrm>
            <a:off x="5821527" y="3648456"/>
            <a:ext cx="548640" cy="548640"/>
          </a:xfrm>
          <a:prstGeom prst="rect">
            <a:avLst/>
          </a:prstGeom>
        </p:spPr>
      </p:pic>
      <p:sp>
        <p:nvSpPr>
          <p:cNvPr id="27" name="TextBox 26"/>
          <p:cNvSpPr txBox="1"/>
          <p:nvPr/>
        </p:nvSpPr>
        <p:spPr>
          <a:xfrm>
            <a:off x="4490618"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28" name="TextBox 27"/>
          <p:cNvSpPr txBox="1"/>
          <p:nvPr/>
        </p:nvSpPr>
        <p:spPr>
          <a:xfrm>
            <a:off x="4490618"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
        <p:nvSpPr>
          <p:cNvPr id="29" name="Rounded Rectangle 28"/>
          <p:cNvSpPr/>
          <p:nvPr/>
        </p:nvSpPr>
        <p:spPr>
          <a:xfrm>
            <a:off x="8066836" y="2231136"/>
            <a:ext cx="3576218" cy="4005072"/>
          </a:xfrm>
          <a:prstGeom prst="roundRect">
            <a:avLst>
              <a:gd name="adj" fmla="val 3068"/>
            </a:avLst>
          </a:prstGeom>
          <a:solidFill>
            <a:srgbClr val="FBFAF7"/>
          </a:solidFill>
          <a:ln w="15875">
            <a:solidFill>
              <a:srgbClr val="B9C0C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68004" y="2432304"/>
            <a:ext cx="274320" cy="274320"/>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31" name="TextBox 30"/>
          <p:cNvSpPr txBox="1"/>
          <p:nvPr/>
        </p:nvSpPr>
        <p:spPr>
          <a:xfrm>
            <a:off x="8633764" y="2414016"/>
            <a:ext cx="2844698" cy="310896"/>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State machine</a:t>
            </a:r>
          </a:p>
        </p:txBody>
      </p:sp>
      <p:pic>
        <p:nvPicPr>
          <p:cNvPr id="32" name="Picture 31" descr="image-plus-9AA5B8.png"/>
          <p:cNvPicPr>
            <a:picLocks noChangeAspect="1"/>
          </p:cNvPicPr>
          <p:nvPr/>
        </p:nvPicPr>
        <p:blipFill>
          <a:blip r:embed="rId3"/>
          <a:stretch>
            <a:fillRect/>
          </a:stretch>
        </p:blipFill>
        <p:spPr>
          <a:xfrm>
            <a:off x="9580626" y="3648456"/>
            <a:ext cx="548640" cy="548640"/>
          </a:xfrm>
          <a:prstGeom prst="rect">
            <a:avLst/>
          </a:prstGeom>
        </p:spPr>
      </p:pic>
      <p:sp>
        <p:nvSpPr>
          <p:cNvPr id="33" name="TextBox 32"/>
          <p:cNvSpPr txBox="1"/>
          <p:nvPr/>
        </p:nvSpPr>
        <p:spPr>
          <a:xfrm>
            <a:off x="8249716" y="4334256"/>
            <a:ext cx="3210458" cy="822960"/>
          </a:xfrm>
          <a:prstGeom prst="rect">
            <a:avLst/>
          </a:prstGeom>
          <a:noFill/>
        </p:spPr>
        <p:txBody>
          <a:bodyPr wrap="square" lIns="0" rIns="0" tIns="0" bIns="0" anchor="t">
            <a:spAutoFit/>
          </a:bodyPr>
          <a:lstStyle/>
          <a:p>
            <a:pPr algn="ctr">
              <a:lnSpc>
                <a:spcPct val="115000"/>
              </a:lnSpc>
              <a:spcAft>
                <a:spcPts val="300"/>
              </a:spcAft>
            </a:pPr>
            <a:r>
              <a:rPr sz="1150" b="0" i="0">
                <a:solidFill>
                  <a:srgbClr val="8A93A6"/>
                </a:solidFill>
                <a:latin typeface="Arial"/>
              </a:rPr>
              <a:t>Drop your diagram here</a:t>
            </a:r>
          </a:p>
          <a:p>
            <a:pPr algn="ctr">
              <a:lnSpc>
                <a:spcPct val="115000"/>
              </a:lnSpc>
              <a:spcAft>
                <a:spcPts val="300"/>
              </a:spcAft>
            </a:pPr>
            <a:r>
              <a:rPr sz="1150" b="0" i="0">
                <a:solidFill>
                  <a:srgbClr val="8A93A6"/>
                </a:solidFill>
                <a:latin typeface="Arial"/>
              </a:rPr>
              <a:t>Fit to this box, keep the label row</a:t>
            </a:r>
          </a:p>
        </p:txBody>
      </p:sp>
      <p:sp>
        <p:nvSpPr>
          <p:cNvPr id="34" name="TextBox 33"/>
          <p:cNvSpPr txBox="1"/>
          <p:nvPr/>
        </p:nvSpPr>
        <p:spPr>
          <a:xfrm>
            <a:off x="8249716" y="5669280"/>
            <a:ext cx="3210458" cy="365760"/>
          </a:xfrm>
          <a:prstGeom prst="rect">
            <a:avLst/>
          </a:prstGeom>
          <a:noFill/>
        </p:spPr>
        <p:txBody>
          <a:bodyPr wrap="square" lIns="0" rIns="0" tIns="0" bIns="0" anchor="t">
            <a:spAutoFit/>
          </a:bodyPr>
          <a:lstStyle/>
          <a:p>
            <a:pPr algn="ctr">
              <a:lnSpc>
                <a:spcPct val="115000"/>
              </a:lnSpc>
              <a:spcAft>
                <a:spcPts val="0"/>
              </a:spcAft>
            </a:pPr>
            <a:r>
              <a:rPr sz="1000" b="1" i="0">
                <a:solidFill>
                  <a:srgbClr val="2F5DA8"/>
                </a:solidFill>
                <a:latin typeface="Arial"/>
              </a:rPr>
              <a:t>LLM step  </a:t>
            </a:r>
            <a:r>
              <a:rPr sz="1000" b="0" i="1">
                <a:solidFill>
                  <a:srgbClr val="5A6478"/>
                </a:solidFill>
                <a:latin typeface="Arial"/>
              </a:rPr>
              <a:t>[where it sits]  </a:t>
            </a:r>
            <a:r>
              <a:rPr sz="1000" b="1" i="0">
                <a:solidFill>
                  <a:srgbClr val="2F5DA8"/>
                </a:solidFill>
                <a:latin typeface="Arial"/>
              </a:rPr>
              <a:t>Code check  </a:t>
            </a:r>
            <a:r>
              <a:rPr sz="1000" b="0" i="1">
                <a:solidFill>
                  <a:srgbClr val="5A6478"/>
                </a:solidFill>
                <a:latin typeface="Arial"/>
              </a:rPr>
              <a:t>[what validates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188720"/>
            <a:ext cx="54864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SUMMARY</a:t>
            </a:r>
          </a:p>
        </p:txBody>
      </p:sp>
      <p:sp>
        <p:nvSpPr>
          <p:cNvPr id="3" name="TextBox 2"/>
          <p:cNvSpPr txBox="1"/>
          <p:nvPr/>
        </p:nvSpPr>
        <p:spPr>
          <a:xfrm>
            <a:off x="822960" y="169164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Models</a:t>
            </a:r>
            <a:r>
              <a:rPr sz="4800" b="1" i="0">
                <a:solidFill>
                  <a:srgbClr val="FFFFFF"/>
                </a:solidFill>
                <a:latin typeface="Georgia"/>
              </a:rPr>
              <a:t> choose.</a:t>
            </a:r>
          </a:p>
        </p:txBody>
      </p:sp>
      <p:sp>
        <p:nvSpPr>
          <p:cNvPr id="4" name="TextBox 3"/>
          <p:cNvSpPr txBox="1"/>
          <p:nvPr/>
        </p:nvSpPr>
        <p:spPr>
          <a:xfrm>
            <a:off x="822960" y="256032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Code</a:t>
            </a:r>
            <a:r>
              <a:rPr sz="4800" b="1" i="0">
                <a:solidFill>
                  <a:srgbClr val="FFFFFF"/>
                </a:solidFill>
                <a:latin typeface="Georgia"/>
              </a:rPr>
              <a:t> decides.</a:t>
            </a:r>
          </a:p>
        </p:txBody>
      </p:sp>
      <p:sp>
        <p:nvSpPr>
          <p:cNvPr id="5" name="TextBox 4"/>
          <p:cNvSpPr txBox="1"/>
          <p:nvPr/>
        </p:nvSpPr>
        <p:spPr>
          <a:xfrm>
            <a:off x="822960" y="3429000"/>
            <a:ext cx="10058400" cy="822960"/>
          </a:xfrm>
          <a:prstGeom prst="rect">
            <a:avLst/>
          </a:prstGeom>
          <a:noFill/>
        </p:spPr>
        <p:txBody>
          <a:bodyPr wrap="square" lIns="0" rIns="0" tIns="0" bIns="0" anchor="t">
            <a:spAutoFit/>
          </a:bodyPr>
          <a:lstStyle/>
          <a:p>
            <a:pPr algn="l">
              <a:lnSpc>
                <a:spcPct val="115000"/>
              </a:lnSpc>
              <a:spcAft>
                <a:spcPts val="0"/>
              </a:spcAft>
            </a:pPr>
            <a:r>
              <a:rPr sz="4800" b="1" i="0">
                <a:solidFill>
                  <a:srgbClr val="F2A65A"/>
                </a:solidFill>
                <a:latin typeface="Georgia"/>
              </a:rPr>
              <a:t>The traveller</a:t>
            </a:r>
            <a:r>
              <a:rPr sz="4800" b="1" i="0">
                <a:solidFill>
                  <a:srgbClr val="FFFFFF"/>
                </a:solidFill>
                <a:latin typeface="Georgia"/>
              </a:rPr>
              <a:t> stays in control.</a:t>
            </a:r>
          </a:p>
        </p:txBody>
      </p:sp>
      <p:sp>
        <p:nvSpPr>
          <p:cNvPr id="6" name="Rectangle 5"/>
          <p:cNvSpPr/>
          <p:nvPr/>
        </p:nvSpPr>
        <p:spPr>
          <a:xfrm>
            <a:off x="841248" y="4434840"/>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709160"/>
            <a:ext cx="10058400" cy="365760"/>
          </a:xfrm>
          <a:prstGeom prst="rect">
            <a:avLst/>
          </a:prstGeom>
          <a:noFill/>
        </p:spPr>
        <p:txBody>
          <a:bodyPr wrap="square" lIns="0" rIns="0" tIns="0" bIns="0" anchor="t">
            <a:spAutoFit/>
          </a:bodyPr>
          <a:lstStyle/>
          <a:p>
            <a:pPr algn="l">
              <a:lnSpc>
                <a:spcPct val="115000"/>
              </a:lnSpc>
              <a:spcAft>
                <a:spcPts val="0"/>
              </a:spcAft>
            </a:pPr>
            <a:r>
              <a:rPr sz="1700" b="0" i="0">
                <a:solidFill>
                  <a:srgbClr val="C9D3E3"/>
                </a:solidFill>
                <a:latin typeface="Arial"/>
              </a:rPr>
              <a:t>Stage 2: verify live providers end to end, extend the Agent Lab, and track the work in Jira.</a:t>
            </a:r>
          </a:p>
        </p:txBody>
      </p:sp>
      <p:sp>
        <p:nvSpPr>
          <p:cNvPr id="8" name="TextBox 7"/>
          <p:cNvSpPr txBox="1"/>
          <p:nvPr/>
        </p:nvSpPr>
        <p:spPr>
          <a:xfrm>
            <a:off x="822960" y="5257800"/>
            <a:ext cx="10058400" cy="365760"/>
          </a:xfrm>
          <a:prstGeom prst="rect">
            <a:avLst/>
          </a:prstGeom>
          <a:noFill/>
        </p:spPr>
        <p:txBody>
          <a:bodyPr wrap="square" lIns="0" rIns="0" tIns="0" bIns="0" anchor="t">
            <a:spAutoFit/>
          </a:bodyPr>
          <a:lstStyle/>
          <a:p>
            <a:pPr algn="l">
              <a:lnSpc>
                <a:spcPct val="115000"/>
              </a:lnSpc>
              <a:spcAft>
                <a:spcPts val="0"/>
              </a:spcAft>
            </a:pPr>
            <a:r>
              <a:rPr sz="1400" b="0" i="0">
                <a:solidFill>
                  <a:srgbClr val="8A93A6"/>
                </a:solidFill>
                <a:latin typeface="Arial"/>
              </a:rPr>
              <a:t>github.com/Lilstanie/AI_TRIP_PLANNER</a:t>
            </a:r>
          </a:p>
        </p:txBody>
      </p:sp>
      <p:sp>
        <p:nvSpPr>
          <p:cNvPr id="9" name="Oval 8"/>
          <p:cNvSpPr/>
          <p:nvPr/>
        </p:nvSpPr>
        <p:spPr>
          <a:xfrm>
            <a:off x="9357055" y="5989320"/>
            <a:ext cx="347472" cy="347472"/>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0" name="Oval 9"/>
          <p:cNvSpPr/>
          <p:nvPr/>
        </p:nvSpPr>
        <p:spPr>
          <a:xfrm>
            <a:off x="9814255" y="5989320"/>
            <a:ext cx="347472" cy="347472"/>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11" name="Oval 10"/>
          <p:cNvSpPr/>
          <p:nvPr/>
        </p:nvSpPr>
        <p:spPr>
          <a:xfrm>
            <a:off x="10271455" y="5989320"/>
            <a:ext cx="347472" cy="34747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12" name="Oval 11"/>
          <p:cNvSpPr/>
          <p:nvPr/>
        </p:nvSpPr>
        <p:spPr>
          <a:xfrm>
            <a:off x="10728655" y="5989320"/>
            <a:ext cx="347472" cy="347472"/>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13" name="Oval 12"/>
          <p:cNvSpPr/>
          <p:nvPr/>
        </p:nvSpPr>
        <p:spPr>
          <a:xfrm>
            <a:off x="11185855" y="5989320"/>
            <a:ext cx="347472" cy="347472"/>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